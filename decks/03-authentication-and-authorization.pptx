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7705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third video in our series about the ODA Canvas. This one is about authentication and authorization. Traditionally, every application ships with its own identity management. Operations teams then have to integrate each one, and manage users and roles in many places. An ODA Component is different. It doesn't implement identity management at all. Instead, it declares the roles it supports. The Canvas configures those roles in one shared identity platform. That could be Keycloak, Microsoft Entra ID, or another identity platform.</a:t>
            </a:r>
          </a:p>
          <a:p>
            <a:endParaRPr/>
          </a:p>
          <a:p>
            <a:r>
              <a:t>In this video we'll look at how that works. We'll see how a component's YAML declares its security needs, and how the Canvas sets up its clients and roles. Then we'll run a complete example with three components. You'll see a role grant that also connects one component to another.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 answers four questions. First, what is the job of the component, and what is the job of the Canvas? Second, how does the Canvas get permission to manage a component? Third, how does a component define the roles that others can be granted? And fourth, how does granting one of those roles connect one component to another?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ODA component does not bring its own identity management. Instead, its YAML specification declares what it needs, in the security function section. When the component is deployed, the component operator copies those requirements into an identity config resource. An identity config operator then configures the identity platform to match. The reference Canvas has operators for Keycloak and for Microsoft Entra ID. Another identity platform can be used, through the same standard pattern.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operator first creates a client for the component. This client is the component's own identity. When the component calls another component's API, it uses this client to get an access token. So every call between components carries the identity of the caller.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Canvas has its own identity too, called the Canvas system client. Every component must name one of its roles as its Canvas system role. When the component is deployed, the operator grants that role to the Canvas system client. That's how the Canvas earns permission to call the component's management and security APIs.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component can define its other roles in two ways. Static roles are listed directly in its YAML. Dynamic roles are published through a TM Forum Open API, the TMF672 roles and permissions API. The operator registers for events on that API. When the component adds a permission set, the matching role is added in the identity platform. When it removes one, the role is removed. A product catalog might add a role for each new partner catalog.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Roles are how access is granted. Other systems, or other components, are given roles on a component's client. The reference Canvas can go one step further. Its dependency management operator watches for role grants. Suppose a component is granted a role on another component. The operator then connects its dependent API to the matching exposed API. So a component can only discover an API it has been allowed to call.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scenario. A product catalog holds two catalogs. One is a communication service provider's retail catalog, and one is a wholesale catalog for MVNOs. A product order capture and validation component depends on the catalog, to check what is ordered. It also depends on a product inventory, where the ordered products are created.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start by deploying the product catalog component. In the Canvas Portal we follow it until it is complete. Its security function names a Canvas system role, and exposes the TMF672 roles and permissions API for its other roles.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Keycloak, the identity config operator has created a client for the new component. It holds the Canvas system role that the component declared. This is the role the Canvas uses to manage the component. Nobody configured any of this by hand.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go further, here is what static roles look like. This example from the Canvas test kit lists three roles in its YAML. There's an administrator and two catalog owners. When a component like this is deployed, the operator adds all three to its client. Our three components use dynamic roles instead.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load the catalog's test data. Along with the products, it creates two permission specification sets through the TMF672 API. One is for the CSP, and one is for MVNOs. The component publishes an event for each. The operator receives them, and the two new roles appear on the component's client in Keycloak.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we deploy the product inventory and the product order components. Both get their own clients in Keycloak. The order component declares two dependencies, on the product catalog API and the product inventory API. The Canvas Portal shows both dependencies as unmet. The APIs exist, but the order component hasn't been granted access to either of them.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act as the identity administrator. We open the order component's service account in Keycloak and assign it the CSP role on the product catalog. Within a few seconds, the Canvas Portal shows the catalog dependency as met, with the catalog's address filled in. One grant gave permission and made the connection.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do the same for the product inventory, granting the order component the CSP role on the inventory's client. The second dependency is now met too. The order component is ready to do its job.</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send a valid product order to the order component. It's a retail customer of the CSP, ordering an unlimited SIM-only plan. The order is accepted and acknowledged.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Behind the scenes, the order component looked up each ordered offering in the product catalog. It used the address it was given when access was granted. The offering was found, so the order was valid. Then it created the product in the product inventory. The customer's new product is now in the inventory, ready to use.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the cleanup. As each component is uninstalled, the operator deletes its client from Keycloak, along with every role the component defined. The grants to the Canvas system client and to other components go with them. No orphaned identities or permissions are left behind.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the answers. Components declare their security needs, and the Canvas configures a shared identity platform. Each component gets a client, its own identity for outbound calls. The Canvas gets access through the Canvas system role. Components define other roles statically, or dynamically through TMF672. And granting a role can also resolve a dependency.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authentication design, the use cases and the operator documentation are all in the oda-canvas repository on GitHub. The example components and their test data are in the reference example components repository. If you'd like to contribute, please get involved.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1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1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9.mp4"/><Relationship Id="rId1" Type="http://schemas.microsoft.com/office/2007/relationships/media" Target="../media/media9.mp4"/><Relationship Id="rId5" Type="http://schemas.openxmlformats.org/officeDocument/2006/relationships/image" Target="../media/image1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0.mp4"/><Relationship Id="rId1" Type="http://schemas.microsoft.com/office/2007/relationships/media" Target="../media/media10.mp4"/><Relationship Id="rId5" Type="http://schemas.openxmlformats.org/officeDocument/2006/relationships/image" Target="../media/image1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1.mp4"/><Relationship Id="rId1" Type="http://schemas.microsoft.com/office/2007/relationships/media" Target="../media/media11.mp4"/><Relationship Id="rId5" Type="http://schemas.openxmlformats.org/officeDocument/2006/relationships/image" Target="../media/image2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2.mp4"/><Relationship Id="rId1" Type="http://schemas.microsoft.com/office/2007/relationships/media" Target="../media/media12.mp4"/><Relationship Id="rId5" Type="http://schemas.openxmlformats.org/officeDocument/2006/relationships/image" Target="../media/image2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3.mp4"/><Relationship Id="rId1" Type="http://schemas.microsoft.com/office/2007/relationships/media" Target="../media/media13.mp4"/><Relationship Id="rId5" Type="http://schemas.openxmlformats.org/officeDocument/2006/relationships/image" Target="../media/image2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4.mp4"/><Relationship Id="rId1" Type="http://schemas.microsoft.com/office/2007/relationships/media" Target="../media/media14.mp4"/><Relationship Id="rId5" Type="http://schemas.openxmlformats.org/officeDocument/2006/relationships/image" Target="../media/image2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5.mp4"/><Relationship Id="rId1" Type="http://schemas.microsoft.com/office/2007/relationships/media" Target="../media/media15.mp4"/><Relationship Id="rId5" Type="http://schemas.openxmlformats.org/officeDocument/2006/relationships/image" Target="../media/image2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github.com/tmforum-oda/reference-example-components"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hyperlink" Target="https://github.com/tmforum-oda/oda-canvas/tree/main/source/operators" TargetMode="External"/><Relationship Id="rId5" Type="http://schemas.openxmlformats.org/officeDocument/2006/relationships/hyperlink" Target="https://github.com/tmforum-oda/oda-canvas/tree/main/usecase-library" TargetMode="External"/><Relationship Id="rId4" Type="http://schemas.openxmlformats.org/officeDocument/2006/relationships/hyperlink" Target="https://github.com/tmforum-oda/oda-canvas/blob/main/Authentication-design.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titl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Title (presenter introduction)</a:t>
            </a:r>
          </a:p>
        </p:txBody>
      </p:sp>
      <p:pic>
        <p:nvPicPr>
          <p:cNvPr id="4" name="Canvas" descr="canvas-dark.png"/>
          <p:cNvPicPr>
            <a:picLocks noChangeAspect="1"/>
          </p:cNvPicPr>
          <p:nvPr/>
        </p:nvPicPr>
        <p:blipFill>
          <a:blip r:embed="rId4"/>
          <a:stretch>
            <a:fillRect/>
          </a:stretch>
        </p:blipFill>
        <p:spPr>
          <a:xfrm>
            <a:off x="6350000" y="3556000"/>
            <a:ext cx="5207000" cy="1923336"/>
          </a:xfrm>
          <a:prstGeom prst="rect">
            <a:avLst/>
          </a:prstGeom>
        </p:spPr>
      </p:pic>
      <p:pic>
        <p:nvPicPr>
          <p:cNvPr id="5" name="Component" descr="oda.png"/>
          <p:cNvPicPr>
            <a:picLocks noChangeAspect="1"/>
          </p:cNvPicPr>
          <p:nvPr/>
        </p:nvPicPr>
        <p:blipFill>
          <a:blip r:embed="rId5"/>
          <a:stretch>
            <a:fillRect/>
          </a:stretch>
        </p:blipFill>
        <p:spPr>
          <a:xfrm>
            <a:off x="8032750" y="1492250"/>
            <a:ext cx="1841500" cy="1739194"/>
          </a:xfrm>
          <a:prstGeom prst="rect">
            <a:avLst/>
          </a:prstGeom>
        </p:spPr>
      </p:pic>
      <p:pic>
        <p:nvPicPr>
          <p:cNvPr id="6" name="Shield" descr="icon-shield-ff6b6b.png"/>
          <p:cNvPicPr>
            <a:picLocks noChangeAspect="1"/>
          </p:cNvPicPr>
          <p:nvPr/>
        </p:nvPicPr>
        <p:blipFill>
          <a:blip r:embed="rId6"/>
          <a:stretch>
            <a:fillRect/>
          </a:stretch>
        </p:blipFill>
        <p:spPr>
          <a:xfrm>
            <a:off x="10160000" y="1587500"/>
            <a:ext cx="825500" cy="825500"/>
          </a:xfrm>
          <a:prstGeom prst="rect">
            <a:avLst/>
          </a:prstGeom>
        </p:spPr>
      </p:pic>
      <p:sp>
        <p:nvSpPr>
          <p:cNvPr id="7" name="Intro"/>
          <p:cNvSpPr txBox="1"/>
          <p:nvPr/>
        </p:nvSpPr>
        <p:spPr>
          <a:xfrm>
            <a:off x="762000" y="1905000"/>
            <a:ext cx="5715000" cy="381000"/>
          </a:xfrm>
          <a:prstGeom prst="rect">
            <a:avLst/>
          </a:prstGeom>
          <a:noFill/>
        </p:spPr>
        <p:txBody>
          <a:bodyPr wrap="square" lIns="0" tIns="0" rIns="0" bIns="0" anchor="t">
            <a:spAutoFit/>
          </a:bodyPr>
          <a:lstStyle/>
          <a:p>
            <a:pPr algn="l">
              <a:lnSpc>
                <a:spcPct val="115000"/>
              </a:lnSpc>
            </a:pPr>
            <a:r>
              <a:rPr sz="2000" b="1">
                <a:solidFill>
                  <a:srgbClr val="8F9BB8"/>
                </a:solidFill>
                <a:latin typeface="Segoe UI"/>
              </a:rPr>
              <a:t>Training series · Part 3</a:t>
            </a:r>
          </a:p>
        </p:txBody>
      </p:sp>
      <p:sp>
        <p:nvSpPr>
          <p:cNvPr id="8" name="Name"/>
          <p:cNvSpPr txBox="1"/>
          <p:nvPr/>
        </p:nvSpPr>
        <p:spPr>
          <a:xfrm>
            <a:off x="762000" y="2286000"/>
            <a:ext cx="5715000" cy="1651000"/>
          </a:xfrm>
          <a:prstGeom prst="rect">
            <a:avLst/>
          </a:prstGeom>
          <a:noFill/>
        </p:spPr>
        <p:txBody>
          <a:bodyPr wrap="square" lIns="0" tIns="0" rIns="0" bIns="0" anchor="t">
            <a:spAutoFit/>
          </a:bodyPr>
          <a:lstStyle/>
          <a:p>
            <a:pPr algn="l">
              <a:lnSpc>
                <a:spcPct val="100000"/>
              </a:lnSpc>
            </a:pPr>
            <a:r>
              <a:rPr sz="4800" b="1">
                <a:solidFill>
                  <a:srgbClr val="F2F5FB"/>
                </a:solidFill>
                <a:latin typeface="Segoe UI"/>
              </a:rPr>
              <a:t>Authentication</a:t>
            </a:r>
          </a:p>
          <a:p>
            <a:pPr algn="l">
              <a:lnSpc>
                <a:spcPct val="100000"/>
              </a:lnSpc>
            </a:pPr>
            <a:r>
              <a:rPr sz="4800" b="1">
                <a:solidFill>
                  <a:srgbClr val="F2F5FB"/>
                </a:solidFill>
                <a:latin typeface="Segoe UI"/>
              </a:rPr>
              <a:t>and </a:t>
            </a:r>
            <a:r>
              <a:rPr sz="4800" b="1">
                <a:solidFill>
                  <a:srgbClr val="FF6B6B"/>
                </a:solidFill>
                <a:latin typeface="Segoe UI"/>
              </a:rPr>
              <a:t>Authorization</a:t>
            </a:r>
          </a:p>
        </p:txBody>
      </p:sp>
      <p:sp>
        <p:nvSpPr>
          <p:cNvPr id="9" name="Subtitle"/>
          <p:cNvSpPr txBox="1"/>
          <p:nvPr/>
        </p:nvSpPr>
        <p:spPr>
          <a:xfrm>
            <a:off x="787400" y="4064000"/>
            <a:ext cx="5461000" cy="317500"/>
          </a:xfrm>
          <a:prstGeom prst="rect">
            <a:avLst/>
          </a:prstGeom>
          <a:noFill/>
        </p:spPr>
        <p:txBody>
          <a:bodyPr wrap="square" lIns="0" tIns="0" rIns="0" bIns="0" anchor="t">
            <a:spAutoFit/>
          </a:bodyPr>
          <a:lstStyle/>
          <a:p>
            <a:pPr algn="l">
              <a:lnSpc>
                <a:spcPct val="115000"/>
              </a:lnSpc>
            </a:pPr>
            <a:r>
              <a:rPr sz="2200" b="1">
                <a:solidFill>
                  <a:srgbClr val="8F9BB8"/>
                </a:solidFill>
                <a:latin typeface="Segoe UI"/>
              </a:rPr>
              <a:t>in the ODA Canvas</a:t>
            </a:r>
          </a:p>
        </p:txBody>
      </p:sp>
      <p:sp>
        <p:nvSpPr>
          <p:cNvPr id="10" name="Demo"/>
          <p:cNvSpPr/>
          <p:nvPr/>
        </p:nvSpPr>
        <p:spPr>
          <a:xfrm>
            <a:off x="787400" y="4699000"/>
            <a:ext cx="4622800" cy="285750"/>
          </a:xfrm>
          <a:prstGeom prst="roundRect">
            <a:avLst>
              <a:gd name="adj" fmla="val 50000"/>
            </a:avLst>
          </a:prstGeom>
          <a:solidFill>
            <a:srgbClr val="FF6B6B">
              <a:alpha val="15000"/>
            </a:srgbClr>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With a live demo: three components and Keycloak</a:t>
            </a:r>
          </a:p>
        </p:txBody>
      </p:sp>
    </p:spTree>
  </p:cSld>
  <p:clrMapOvr>
    <a:masterClrMapping/>
  </p:clrMapOvr>
  <mc:AlternateContent xmlns:mc="http://schemas.openxmlformats.org/markup-compatibility/2006">
    <mc:Choice xmlns:p14="http://schemas.microsoft.com/office/powerpoint/2010/main" Requires="p14">
      <p:transition spd="slow" p14:dur="2000" advTm="55100"/>
    </mc:Choice>
    <mc:Fallback>
      <p:transition spd="slow" advTm="55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p:tgtEl>
                                          <p:spTgt spid="7"/>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800"/>
                                        <p:tgtEl>
                                          <p:spTgt spid="8"/>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800"/>
                                        <p:tgtEl>
                                          <p:spTgt spid="9"/>
                                        </p:tgtEl>
                                      </p:cBhvr>
                                    </p:animEffect>
                                  </p:childTnLst>
                                </p:cTn>
                              </p:par>
                              <p:par>
                                <p:cTn id="14" presetID="10" presetClass="entr" presetSubtype="0" fill="hold" nodeType="withEffect">
                                  <p:stCondLst>
                                    <p:cond delay="9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800"/>
                                        <p:tgtEl>
                                          <p:spTgt spid="4"/>
                                        </p:tgtEl>
                                      </p:cBhvr>
                                    </p:animEffect>
                                  </p:childTnLst>
                                </p:cTn>
                              </p:par>
                              <p:par>
                                <p:cTn id="17" presetID="58" presetClass="entr" presetSubtype="0" accel="100000" fill="hold" nodeType="withEffect">
                                  <p:stCondLst>
                                    <p:cond delay="1600"/>
                                  </p:stCondLst>
                                  <p:childTnLst>
                                    <p:set>
                                      <p:cBhvr>
                                        <p:cTn id="18" dur="1" fill="hold">
                                          <p:stCondLst>
                                            <p:cond delay="0"/>
                                          </p:stCondLst>
                                        </p:cTn>
                                        <p:tgtEl>
                                          <p:spTgt spid="5"/>
                                        </p:tgtEl>
                                        <p:attrNameLst>
                                          <p:attrName>style.visibility</p:attrName>
                                        </p:attrNameLst>
                                      </p:cBhvr>
                                      <p:to>
                                        <p:strVal val="visible"/>
                                      </p:to>
                                    </p:set>
                                    <p:anim calcmode="lin" valueType="num">
                                      <p:cBhvr>
                                        <p:cTn id="19" dur="800" fill="hold"/>
                                        <p:tgtEl>
                                          <p:spTgt spid="5"/>
                                        </p:tgtEl>
                                        <p:attrNameLst>
                                          <p:attrName>ppt_w</p:attrName>
                                        </p:attrNameLst>
                                      </p:cBhvr>
                                      <p:tavLst>
                                        <p:tav tm="0">
                                          <p:val>
                                            <p:strVal val="#ppt_w*2.5"/>
                                          </p:val>
                                        </p:tav>
                                        <p:tav tm="100000">
                                          <p:val>
                                            <p:strVal val="#ppt_w"/>
                                          </p:val>
                                        </p:tav>
                                      </p:tavLst>
                                    </p:anim>
                                    <p:anim calcmode="lin" valueType="num">
                                      <p:cBhvr>
                                        <p:cTn id="20" dur="800" fill="hold"/>
                                        <p:tgtEl>
                                          <p:spTgt spid="5"/>
                                        </p:tgtEl>
                                        <p:attrNameLst>
                                          <p:attrName>ppt_h</p:attrName>
                                        </p:attrNameLst>
                                      </p:cBhvr>
                                      <p:tavLst>
                                        <p:tav tm="0">
                                          <p:val>
                                            <p:strVal val="#ppt_h*0.01"/>
                                          </p:val>
                                        </p:tav>
                                        <p:tav tm="100000">
                                          <p:val>
                                            <p:strVal val="#ppt_h"/>
                                          </p:val>
                                        </p:tav>
                                      </p:tavLst>
                                    </p:anim>
                                    <p:anim calcmode="lin" valueType="num">
                                      <p:cBhvr>
                                        <p:cTn id="21" dur="800" fill="hold"/>
                                        <p:tgtEl>
                                          <p:spTgt spid="5"/>
                                        </p:tgtEl>
                                        <p:attrNameLst>
                                          <p:attrName>ppt_x</p:attrName>
                                        </p:attrNameLst>
                                      </p:cBhvr>
                                      <p:tavLst>
                                        <p:tav tm="0">
                                          <p:val>
                                            <p:strVal val="#ppt_x"/>
                                          </p:val>
                                        </p:tav>
                                        <p:tav tm="100000">
                                          <p:val>
                                            <p:strVal val="#ppt_x"/>
                                          </p:val>
                                        </p:tav>
                                      </p:tavLst>
                                    </p:anim>
                                    <p:anim calcmode="lin" valueType="num">
                                      <p:cBhvr>
                                        <p:cTn id="22" dur="800" fill="hold"/>
                                        <p:tgtEl>
                                          <p:spTgt spid="5"/>
                                        </p:tgtEl>
                                        <p:attrNameLst>
                                          <p:attrName>ppt_y</p:attrName>
                                        </p:attrNameLst>
                                      </p:cBhvr>
                                      <p:tavLst>
                                        <p:tav tm="0">
                                          <p:val>
                                            <p:strVal val="#ppt_h+1"/>
                                          </p:val>
                                        </p:tav>
                                        <p:tav tm="100000">
                                          <p:val>
                                            <p:strVal val="#ppt_y"/>
                                          </p:val>
                                        </p:tav>
                                      </p:tavLst>
                                    </p:anim>
                                    <p:animEffect transition="in" filter="fade">
                                      <p:cBhvr>
                                        <p:cTn id="23" dur="800"/>
                                        <p:tgtEl>
                                          <p:spTgt spid="5"/>
                                        </p:tgtEl>
                                      </p:cBhvr>
                                    </p:animEffect>
                                  </p:childTnLst>
                                </p:cTn>
                              </p:par>
                              <p:par>
                                <p:cTn id="24" presetID="58" presetClass="entr" presetSubtype="0" accel="100000" fill="hold" nodeType="withEffect">
                                  <p:stCondLst>
                                    <p:cond delay="2400"/>
                                  </p:stCondLst>
                                  <p:childTnLst>
                                    <p:set>
                                      <p:cBhvr>
                                        <p:cTn id="25" dur="1" fill="hold">
                                          <p:stCondLst>
                                            <p:cond delay="0"/>
                                          </p:stCondLst>
                                        </p:cTn>
                                        <p:tgtEl>
                                          <p:spTgt spid="6"/>
                                        </p:tgtEl>
                                        <p:attrNameLst>
                                          <p:attrName>style.visibility</p:attrName>
                                        </p:attrNameLst>
                                      </p:cBhvr>
                                      <p:to>
                                        <p:strVal val="visible"/>
                                      </p:to>
                                    </p:set>
                                    <p:anim calcmode="lin" valueType="num">
                                      <p:cBhvr>
                                        <p:cTn id="26" dur="600" fill="hold"/>
                                        <p:tgtEl>
                                          <p:spTgt spid="6"/>
                                        </p:tgtEl>
                                        <p:attrNameLst>
                                          <p:attrName>ppt_w</p:attrName>
                                        </p:attrNameLst>
                                      </p:cBhvr>
                                      <p:tavLst>
                                        <p:tav tm="0">
                                          <p:val>
                                            <p:strVal val="#ppt_w*2.5"/>
                                          </p:val>
                                        </p:tav>
                                        <p:tav tm="100000">
                                          <p:val>
                                            <p:strVal val="#ppt_w"/>
                                          </p:val>
                                        </p:tav>
                                      </p:tavLst>
                                    </p:anim>
                                    <p:anim calcmode="lin" valueType="num">
                                      <p:cBhvr>
                                        <p:cTn id="27" dur="600" fill="hold"/>
                                        <p:tgtEl>
                                          <p:spTgt spid="6"/>
                                        </p:tgtEl>
                                        <p:attrNameLst>
                                          <p:attrName>ppt_h</p:attrName>
                                        </p:attrNameLst>
                                      </p:cBhvr>
                                      <p:tavLst>
                                        <p:tav tm="0">
                                          <p:val>
                                            <p:strVal val="#ppt_h*0.01"/>
                                          </p:val>
                                        </p:tav>
                                        <p:tav tm="100000">
                                          <p:val>
                                            <p:strVal val="#ppt_h"/>
                                          </p:val>
                                        </p:tav>
                                      </p:tavLst>
                                    </p:anim>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h+1"/>
                                          </p:val>
                                        </p:tav>
                                        <p:tav tm="100000">
                                          <p:val>
                                            <p:strVal val="#ppt_y"/>
                                          </p:val>
                                        </p:tav>
                                      </p:tavLst>
                                    </p:anim>
                                    <p:animEffect transition="in" filter="fade">
                                      <p:cBhvr>
                                        <p:cTn id="30" dur="600"/>
                                        <p:tgtEl>
                                          <p:spTgt spid="6"/>
                                        </p:tgtEl>
                                      </p:cBhvr>
                                    </p:animEffect>
                                  </p:childTnLst>
                                </p:cTn>
                              </p:par>
                              <p:par>
                                <p:cTn id="31" presetID="10" presetClass="entr" presetSubtype="0" fill="hold" grpId="0" nodeType="withEffect">
                                  <p:stCondLst>
                                    <p:cond delay="1320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Four questions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F6B6B"/>
                </a:solidFill>
                <a:latin typeface="Segoe UI"/>
              </a:rPr>
              <a:t>IN THIS VIDEO</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Four questions</a:t>
            </a:r>
          </a:p>
        </p:txBody>
      </p:sp>
      <p:grpSp>
        <p:nvGrpSpPr>
          <p:cNvPr id="10" name="Card 1"/>
          <p:cNvGrpSpPr/>
          <p:nvPr/>
        </p:nvGrpSpPr>
        <p:grpSpPr>
          <a:xfrm>
            <a:off x="762000" y="1714500"/>
            <a:ext cx="5207000" cy="1905000"/>
            <a:chOff x="762000" y="1714500"/>
            <a:chExt cx="5207000" cy="1905000"/>
          </a:xfrm>
        </p:grpSpPr>
        <p:sp>
          <p:nvSpPr>
            <p:cNvPr id="6" name="Shape 4"/>
            <p:cNvSpPr/>
            <p:nvPr/>
          </p:nvSpPr>
          <p:spPr>
            <a:xfrm>
              <a:off x="762000" y="1714500"/>
              <a:ext cx="5207000" cy="1905000"/>
            </a:xfrm>
            <a:prstGeom prst="roundRect">
              <a:avLst>
                <a:gd name="adj" fmla="val 8666"/>
              </a:avLst>
            </a:prstGeom>
            <a:solidFill>
              <a:srgbClr val="111A30"/>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hape 5"/>
            <p:cNvSpPr txBox="1"/>
            <p:nvPr/>
          </p:nvSpPr>
          <p:spPr>
            <a:xfrm>
              <a:off x="977900" y="1905000"/>
              <a:ext cx="762000" cy="254000"/>
            </a:xfrm>
            <a:prstGeom prst="rect">
              <a:avLst/>
            </a:prstGeom>
            <a:noFill/>
          </p:spPr>
          <p:txBody>
            <a:bodyPr wrap="square" lIns="0" tIns="0" rIns="0" bIns="0" anchor="t">
              <a:spAutoFit/>
            </a:bodyPr>
            <a:lstStyle/>
            <a:p>
              <a:pPr algn="l">
                <a:lnSpc>
                  <a:spcPct val="115000"/>
                </a:lnSpc>
              </a:pPr>
              <a:r>
                <a:rPr sz="1500" b="1">
                  <a:solidFill>
                    <a:srgbClr val="FF6B6B"/>
                  </a:solidFill>
                  <a:latin typeface="Segoe UI"/>
                </a:rPr>
                <a:t>Q1</a:t>
              </a:r>
            </a:p>
          </p:txBody>
        </p:sp>
        <p:pic>
          <p:nvPicPr>
            <p:cNvPr id="8" name="Shape 6" descr="icon-people-ff6b6b.png"/>
            <p:cNvPicPr>
              <a:picLocks noChangeAspect="1"/>
            </p:cNvPicPr>
            <p:nvPr/>
          </p:nvPicPr>
          <p:blipFill>
            <a:blip r:embed="rId4"/>
            <a:stretch>
              <a:fillRect/>
            </a:stretch>
          </p:blipFill>
          <p:spPr>
            <a:xfrm>
              <a:off x="5207000" y="1905000"/>
              <a:ext cx="533400" cy="533400"/>
            </a:xfrm>
            <a:prstGeom prst="rect">
              <a:avLst/>
            </a:prstGeom>
          </p:spPr>
        </p:pic>
        <p:sp>
          <p:nvSpPr>
            <p:cNvPr id="9" name="Shape 7"/>
            <p:cNvSpPr txBox="1"/>
            <p:nvPr/>
          </p:nvSpPr>
          <p:spPr>
            <a:xfrm>
              <a:off x="977900" y="2247900"/>
              <a:ext cx="4191000" cy="381000"/>
            </a:xfrm>
            <a:prstGeom prst="rect">
              <a:avLst/>
            </a:prstGeom>
            <a:noFill/>
          </p:spPr>
          <p:txBody>
            <a:bodyPr wrap="square" lIns="0" tIns="0" rIns="0" bIns="0" anchor="t">
              <a:spAutoFit/>
            </a:bodyPr>
            <a:lstStyle/>
            <a:p>
              <a:pPr algn="l">
                <a:lnSpc>
                  <a:spcPct val="105000"/>
                </a:lnSpc>
              </a:pPr>
              <a:r>
                <a:rPr sz="1700" b="1">
                  <a:solidFill>
                    <a:srgbClr val="F2F5FB"/>
                  </a:solidFill>
                  <a:latin typeface="Segoe UI"/>
                </a:rPr>
                <a:t>Who does what?</a:t>
              </a:r>
            </a:p>
          </p:txBody>
        </p:sp>
      </p:grpSp>
      <p:sp>
        <p:nvSpPr>
          <p:cNvPr id="11" name="Body 1"/>
          <p:cNvSpPr txBox="1"/>
          <p:nvPr/>
        </p:nvSpPr>
        <p:spPr>
          <a:xfrm>
            <a:off x="977900" y="2730500"/>
            <a:ext cx="4762500" cy="762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The job of the component, and the job of the Canvas</a:t>
            </a:r>
          </a:p>
        </p:txBody>
      </p:sp>
      <p:grpSp>
        <p:nvGrpSpPr>
          <p:cNvPr id="16" name="Card 2"/>
          <p:cNvGrpSpPr/>
          <p:nvPr/>
        </p:nvGrpSpPr>
        <p:grpSpPr>
          <a:xfrm>
            <a:off x="6159500" y="1714500"/>
            <a:ext cx="5207000" cy="1905000"/>
            <a:chOff x="6159500" y="1714500"/>
            <a:chExt cx="5207000" cy="1905000"/>
          </a:xfrm>
        </p:grpSpPr>
        <p:sp>
          <p:nvSpPr>
            <p:cNvPr id="12" name="Shape 10"/>
            <p:cNvSpPr/>
            <p:nvPr/>
          </p:nvSpPr>
          <p:spPr>
            <a:xfrm>
              <a:off x="6159500" y="1714500"/>
              <a:ext cx="5207000" cy="1905000"/>
            </a:xfrm>
            <a:prstGeom prst="roundRect">
              <a:avLst>
                <a:gd name="adj" fmla="val 8666"/>
              </a:avLst>
            </a:prstGeom>
            <a:solidFill>
              <a:srgbClr val="111A30"/>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Shape 11"/>
            <p:cNvSpPr txBox="1"/>
            <p:nvPr/>
          </p:nvSpPr>
          <p:spPr>
            <a:xfrm>
              <a:off x="6375400" y="1905000"/>
              <a:ext cx="762000" cy="254000"/>
            </a:xfrm>
            <a:prstGeom prst="rect">
              <a:avLst/>
            </a:prstGeom>
            <a:noFill/>
          </p:spPr>
          <p:txBody>
            <a:bodyPr wrap="square" lIns="0" tIns="0" rIns="0" bIns="0" anchor="t">
              <a:spAutoFit/>
            </a:bodyPr>
            <a:lstStyle/>
            <a:p>
              <a:pPr algn="l">
                <a:lnSpc>
                  <a:spcPct val="115000"/>
                </a:lnSpc>
              </a:pPr>
              <a:r>
                <a:rPr sz="1500" b="1">
                  <a:solidFill>
                    <a:srgbClr val="FF6B6B"/>
                  </a:solidFill>
                  <a:latin typeface="Segoe UI"/>
                </a:rPr>
                <a:t>Q2</a:t>
              </a:r>
            </a:p>
          </p:txBody>
        </p:sp>
        <p:pic>
          <p:nvPicPr>
            <p:cNvPr id="14" name="Shape 12" descr="icon-key-ff6b6b.png"/>
            <p:cNvPicPr>
              <a:picLocks noChangeAspect="1"/>
            </p:cNvPicPr>
            <p:nvPr/>
          </p:nvPicPr>
          <p:blipFill>
            <a:blip r:embed="rId5"/>
            <a:stretch>
              <a:fillRect/>
            </a:stretch>
          </p:blipFill>
          <p:spPr>
            <a:xfrm>
              <a:off x="10604500" y="1905000"/>
              <a:ext cx="533400" cy="533400"/>
            </a:xfrm>
            <a:prstGeom prst="rect">
              <a:avLst/>
            </a:prstGeom>
          </p:spPr>
        </p:pic>
        <p:sp>
          <p:nvSpPr>
            <p:cNvPr id="15" name="Shape 13"/>
            <p:cNvSpPr txBox="1"/>
            <p:nvPr/>
          </p:nvSpPr>
          <p:spPr>
            <a:xfrm>
              <a:off x="6375400" y="2247900"/>
              <a:ext cx="4191000" cy="381000"/>
            </a:xfrm>
            <a:prstGeom prst="rect">
              <a:avLst/>
            </a:prstGeom>
            <a:noFill/>
          </p:spPr>
          <p:txBody>
            <a:bodyPr wrap="square" lIns="0" tIns="0" rIns="0" bIns="0" anchor="t">
              <a:spAutoFit/>
            </a:bodyPr>
            <a:lstStyle/>
            <a:p>
              <a:pPr algn="l">
                <a:lnSpc>
                  <a:spcPct val="105000"/>
                </a:lnSpc>
              </a:pPr>
              <a:r>
                <a:rPr sz="1700" b="1">
                  <a:solidFill>
                    <a:srgbClr val="F2F5FB"/>
                  </a:solidFill>
                  <a:latin typeface="Segoe UI"/>
                </a:rPr>
                <a:t>How does the Canvas get in?</a:t>
              </a:r>
            </a:p>
          </p:txBody>
        </p:sp>
      </p:grpSp>
      <p:sp>
        <p:nvSpPr>
          <p:cNvPr id="17" name="Body 2"/>
          <p:cNvSpPr txBox="1"/>
          <p:nvPr/>
        </p:nvSpPr>
        <p:spPr>
          <a:xfrm>
            <a:off x="6375400" y="2730500"/>
            <a:ext cx="4762500" cy="762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Permission to manage a component</a:t>
            </a:r>
          </a:p>
        </p:txBody>
      </p:sp>
      <p:grpSp>
        <p:nvGrpSpPr>
          <p:cNvPr id="22" name="Card 3"/>
          <p:cNvGrpSpPr/>
          <p:nvPr/>
        </p:nvGrpSpPr>
        <p:grpSpPr>
          <a:xfrm>
            <a:off x="762000" y="3810000"/>
            <a:ext cx="5207000" cy="1905000"/>
            <a:chOff x="762000" y="3810000"/>
            <a:chExt cx="5207000" cy="1905000"/>
          </a:xfrm>
        </p:grpSpPr>
        <p:sp>
          <p:nvSpPr>
            <p:cNvPr id="18" name="Shape 16"/>
            <p:cNvSpPr/>
            <p:nvPr/>
          </p:nvSpPr>
          <p:spPr>
            <a:xfrm>
              <a:off x="762000" y="3810000"/>
              <a:ext cx="5207000" cy="1905000"/>
            </a:xfrm>
            <a:prstGeom prst="roundRect">
              <a:avLst>
                <a:gd name="adj" fmla="val 8666"/>
              </a:avLst>
            </a:prstGeom>
            <a:solidFill>
              <a:srgbClr val="111A30"/>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Shape 17"/>
            <p:cNvSpPr txBox="1"/>
            <p:nvPr/>
          </p:nvSpPr>
          <p:spPr>
            <a:xfrm>
              <a:off x="977900" y="4000500"/>
              <a:ext cx="762000" cy="254000"/>
            </a:xfrm>
            <a:prstGeom prst="rect">
              <a:avLst/>
            </a:prstGeom>
            <a:noFill/>
          </p:spPr>
          <p:txBody>
            <a:bodyPr wrap="square" lIns="0" tIns="0" rIns="0" bIns="0" anchor="t">
              <a:spAutoFit/>
            </a:bodyPr>
            <a:lstStyle/>
            <a:p>
              <a:pPr algn="l">
                <a:lnSpc>
                  <a:spcPct val="115000"/>
                </a:lnSpc>
              </a:pPr>
              <a:r>
                <a:rPr sz="1500" b="1">
                  <a:solidFill>
                    <a:srgbClr val="FF6B6B"/>
                  </a:solidFill>
                  <a:latin typeface="Segoe UI"/>
                </a:rPr>
                <a:t>Q3</a:t>
              </a:r>
            </a:p>
          </p:txBody>
        </p:sp>
        <p:pic>
          <p:nvPicPr>
            <p:cNvPr id="20" name="Shape 18" descr="icon-doc-ff6b6b.png"/>
            <p:cNvPicPr>
              <a:picLocks noChangeAspect="1"/>
            </p:cNvPicPr>
            <p:nvPr/>
          </p:nvPicPr>
          <p:blipFill>
            <a:blip r:embed="rId6"/>
            <a:stretch>
              <a:fillRect/>
            </a:stretch>
          </p:blipFill>
          <p:spPr>
            <a:xfrm>
              <a:off x="5207000" y="4000500"/>
              <a:ext cx="533400" cy="533400"/>
            </a:xfrm>
            <a:prstGeom prst="rect">
              <a:avLst/>
            </a:prstGeom>
          </p:spPr>
        </p:pic>
        <p:sp>
          <p:nvSpPr>
            <p:cNvPr id="21" name="Shape 19"/>
            <p:cNvSpPr txBox="1"/>
            <p:nvPr/>
          </p:nvSpPr>
          <p:spPr>
            <a:xfrm>
              <a:off x="977900" y="4343400"/>
              <a:ext cx="4191000" cy="381000"/>
            </a:xfrm>
            <a:prstGeom prst="rect">
              <a:avLst/>
            </a:prstGeom>
            <a:noFill/>
          </p:spPr>
          <p:txBody>
            <a:bodyPr wrap="square" lIns="0" tIns="0" rIns="0" bIns="0" anchor="t">
              <a:spAutoFit/>
            </a:bodyPr>
            <a:lstStyle/>
            <a:p>
              <a:pPr algn="l">
                <a:lnSpc>
                  <a:spcPct val="105000"/>
                </a:lnSpc>
              </a:pPr>
              <a:r>
                <a:rPr sz="1700" b="1">
                  <a:solidFill>
                    <a:srgbClr val="F2F5FB"/>
                  </a:solidFill>
                  <a:latin typeface="Segoe UI"/>
                </a:rPr>
                <a:t>How are roles defined?</a:t>
              </a:r>
            </a:p>
          </p:txBody>
        </p:sp>
      </p:grpSp>
      <p:sp>
        <p:nvSpPr>
          <p:cNvPr id="23" name="Body 3"/>
          <p:cNvSpPr txBox="1"/>
          <p:nvPr/>
        </p:nvSpPr>
        <p:spPr>
          <a:xfrm>
            <a:off x="977900" y="4826000"/>
            <a:ext cx="4762500" cy="762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Roles that others can be granted</a:t>
            </a:r>
          </a:p>
        </p:txBody>
      </p:sp>
      <p:grpSp>
        <p:nvGrpSpPr>
          <p:cNvPr id="28" name="Card 4"/>
          <p:cNvGrpSpPr/>
          <p:nvPr/>
        </p:nvGrpSpPr>
        <p:grpSpPr>
          <a:xfrm>
            <a:off x="6159500" y="3810000"/>
            <a:ext cx="5207000" cy="1905000"/>
            <a:chOff x="6159500" y="3810000"/>
            <a:chExt cx="5207000" cy="1905000"/>
          </a:xfrm>
        </p:grpSpPr>
        <p:sp>
          <p:nvSpPr>
            <p:cNvPr id="24" name="Shape 22"/>
            <p:cNvSpPr/>
            <p:nvPr/>
          </p:nvSpPr>
          <p:spPr>
            <a:xfrm>
              <a:off x="6159500" y="3810000"/>
              <a:ext cx="5207000" cy="1905000"/>
            </a:xfrm>
            <a:prstGeom prst="roundRect">
              <a:avLst>
                <a:gd name="adj" fmla="val 8666"/>
              </a:avLst>
            </a:prstGeom>
            <a:solidFill>
              <a:srgbClr val="111A30"/>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Shape 23"/>
            <p:cNvSpPr txBox="1"/>
            <p:nvPr/>
          </p:nvSpPr>
          <p:spPr>
            <a:xfrm>
              <a:off x="6375400" y="4000500"/>
              <a:ext cx="762000" cy="254000"/>
            </a:xfrm>
            <a:prstGeom prst="rect">
              <a:avLst/>
            </a:prstGeom>
            <a:noFill/>
          </p:spPr>
          <p:txBody>
            <a:bodyPr wrap="square" lIns="0" tIns="0" rIns="0" bIns="0" anchor="t">
              <a:spAutoFit/>
            </a:bodyPr>
            <a:lstStyle/>
            <a:p>
              <a:pPr algn="l">
                <a:lnSpc>
                  <a:spcPct val="115000"/>
                </a:lnSpc>
              </a:pPr>
              <a:r>
                <a:rPr sz="1500" b="1">
                  <a:solidFill>
                    <a:srgbClr val="FF6B6B"/>
                  </a:solidFill>
                  <a:latin typeface="Segoe UI"/>
                </a:rPr>
                <a:t>Q4</a:t>
              </a:r>
            </a:p>
          </p:txBody>
        </p:sp>
        <p:pic>
          <p:nvPicPr>
            <p:cNvPr id="26" name="Shape 24" descr="icon-link-ff6b6b.png"/>
            <p:cNvPicPr>
              <a:picLocks noChangeAspect="1"/>
            </p:cNvPicPr>
            <p:nvPr/>
          </p:nvPicPr>
          <p:blipFill>
            <a:blip r:embed="rId7"/>
            <a:stretch>
              <a:fillRect/>
            </a:stretch>
          </p:blipFill>
          <p:spPr>
            <a:xfrm>
              <a:off x="10604500" y="4000500"/>
              <a:ext cx="533400" cy="533400"/>
            </a:xfrm>
            <a:prstGeom prst="rect">
              <a:avLst/>
            </a:prstGeom>
          </p:spPr>
        </p:pic>
        <p:sp>
          <p:nvSpPr>
            <p:cNvPr id="27" name="Shape 25"/>
            <p:cNvSpPr txBox="1"/>
            <p:nvPr/>
          </p:nvSpPr>
          <p:spPr>
            <a:xfrm>
              <a:off x="6375400" y="4343400"/>
              <a:ext cx="4191000" cy="381000"/>
            </a:xfrm>
            <a:prstGeom prst="rect">
              <a:avLst/>
            </a:prstGeom>
            <a:noFill/>
          </p:spPr>
          <p:txBody>
            <a:bodyPr wrap="square" lIns="0" tIns="0" rIns="0" bIns="0" anchor="t">
              <a:spAutoFit/>
            </a:bodyPr>
            <a:lstStyle/>
            <a:p>
              <a:pPr algn="l">
                <a:lnSpc>
                  <a:spcPct val="105000"/>
                </a:lnSpc>
              </a:pPr>
              <a:r>
                <a:rPr sz="1700" b="1">
                  <a:solidFill>
                    <a:srgbClr val="F2F5FB"/>
                  </a:solidFill>
                  <a:latin typeface="Segoe UI"/>
                </a:rPr>
                <a:t>How does a grant connect components?</a:t>
              </a:r>
            </a:p>
          </p:txBody>
        </p:sp>
      </p:grpSp>
      <p:sp>
        <p:nvSpPr>
          <p:cNvPr id="29" name="Body 4"/>
          <p:cNvSpPr txBox="1"/>
          <p:nvPr/>
        </p:nvSpPr>
        <p:spPr>
          <a:xfrm>
            <a:off x="6375400" y="4826000"/>
            <a:ext cx="4762500" cy="762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From a role grant to a working dependency</a:t>
            </a:r>
          </a:p>
        </p:txBody>
      </p:sp>
    </p:spTree>
  </p:cSld>
  <p:clrMapOvr>
    <a:masterClrMapping/>
  </p:clrMapOvr>
  <mc:AlternateContent xmlns:mc="http://schemas.openxmlformats.org/markup-compatibility/2006">
    <mc:Choice xmlns:p14="http://schemas.microsoft.com/office/powerpoint/2010/main" Requires="p14">
      <p:transition spd="slow" p14:dur="2000" advTm="24700"/>
    </mc:Choice>
    <mc:Fallback>
      <p:transition spd="slow" advTm="2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160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700" fill="hold"/>
                                        <p:tgtEl>
                                          <p:spTgt spid="10"/>
                                        </p:tgtEl>
                                        <p:attrNameLst>
                                          <p:attrName>ppt_x</p:attrName>
                                        </p:attrNameLst>
                                      </p:cBhvr>
                                      <p:tavLst>
                                        <p:tav tm="0">
                                          <p:val>
                                            <p:strVal val="#ppt_x"/>
                                          </p:val>
                                        </p:tav>
                                        <p:tav tm="100000">
                                          <p:val>
                                            <p:strVal val="#ppt_x"/>
                                          </p:val>
                                        </p:tav>
                                      </p:tavLst>
                                    </p:anim>
                                    <p:anim calcmode="lin" valueType="num">
                                      <p:cBhvr additive="base">
                                        <p:cTn id="14" dur="700" fill="hold"/>
                                        <p:tgtEl>
                                          <p:spTgt spid="10"/>
                                        </p:tgtEl>
                                        <p:attrNameLst>
                                          <p:attrName>ppt_y</p:attrName>
                                        </p:attrNameLst>
                                      </p:cBhvr>
                                      <p:tavLst>
                                        <p:tav tm="0">
                                          <p:val>
                                            <p:strVal val="1+#ppt_h/2"/>
                                          </p:val>
                                        </p:tav>
                                        <p:tav tm="100000">
                                          <p:val>
                                            <p:strVal val="#ppt_y"/>
                                          </p:val>
                                        </p:tav>
                                      </p:tavLst>
                                    </p:anim>
                                  </p:childTnLst>
                                </p:cTn>
                              </p:par>
                              <p:par>
                                <p:cTn id="15" presetID="10" presetClass="entr" presetSubtype="0" fill="hold" grpId="0" nodeType="withEffect">
                                  <p:stCondLst>
                                    <p:cond delay="160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600"/>
                                        <p:tgtEl>
                                          <p:spTgt spid="11"/>
                                        </p:tgtEl>
                                      </p:cBhvr>
                                    </p:animEffect>
                                  </p:childTnLst>
                                </p:cTn>
                              </p:par>
                              <p:par>
                                <p:cTn id="18" presetID="2" presetClass="entr" presetSubtype="4" fill="hold" nodeType="withEffect">
                                  <p:stCondLst>
                                    <p:cond delay="800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700" fill="hold"/>
                                        <p:tgtEl>
                                          <p:spTgt spid="16"/>
                                        </p:tgtEl>
                                        <p:attrNameLst>
                                          <p:attrName>ppt_x</p:attrName>
                                        </p:attrNameLst>
                                      </p:cBhvr>
                                      <p:tavLst>
                                        <p:tav tm="0">
                                          <p:val>
                                            <p:strVal val="#ppt_x"/>
                                          </p:val>
                                        </p:tav>
                                        <p:tav tm="100000">
                                          <p:val>
                                            <p:strVal val="#ppt_x"/>
                                          </p:val>
                                        </p:tav>
                                      </p:tavLst>
                                    </p:anim>
                                    <p:anim calcmode="lin" valueType="num">
                                      <p:cBhvr additive="base">
                                        <p:cTn id="21" dur="700" fill="hold"/>
                                        <p:tgtEl>
                                          <p:spTgt spid="16"/>
                                        </p:tgtEl>
                                        <p:attrNameLst>
                                          <p:attrName>ppt_y</p:attrName>
                                        </p:attrNameLst>
                                      </p:cBhvr>
                                      <p:tavLst>
                                        <p:tav tm="0">
                                          <p:val>
                                            <p:strVal val="1+#ppt_h/2"/>
                                          </p:val>
                                        </p:tav>
                                        <p:tav tm="100000">
                                          <p:val>
                                            <p:strVal val="#ppt_y"/>
                                          </p:val>
                                        </p:tav>
                                      </p:tavLst>
                                    </p:anim>
                                  </p:childTnLst>
                                </p:cTn>
                              </p:par>
                              <p:par>
                                <p:cTn id="22" presetID="10" presetClass="entr" presetSubtype="0" fill="hold" grpId="0" nodeType="withEffect">
                                  <p:stCondLst>
                                    <p:cond delay="800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600"/>
                                        <p:tgtEl>
                                          <p:spTgt spid="17"/>
                                        </p:tgtEl>
                                      </p:cBhvr>
                                    </p:animEffect>
                                  </p:childTnLst>
                                </p:cTn>
                              </p:par>
                              <p:par>
                                <p:cTn id="25" presetID="2" presetClass="entr" presetSubtype="4" fill="hold" nodeType="withEffect">
                                  <p:stCondLst>
                                    <p:cond delay="1240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700" fill="hold"/>
                                        <p:tgtEl>
                                          <p:spTgt spid="22"/>
                                        </p:tgtEl>
                                        <p:attrNameLst>
                                          <p:attrName>ppt_x</p:attrName>
                                        </p:attrNameLst>
                                      </p:cBhvr>
                                      <p:tavLst>
                                        <p:tav tm="0">
                                          <p:val>
                                            <p:strVal val="#ppt_x"/>
                                          </p:val>
                                        </p:tav>
                                        <p:tav tm="100000">
                                          <p:val>
                                            <p:strVal val="#ppt_x"/>
                                          </p:val>
                                        </p:tav>
                                      </p:tavLst>
                                    </p:anim>
                                    <p:anim calcmode="lin" valueType="num">
                                      <p:cBhvr additive="base">
                                        <p:cTn id="28" dur="700" fill="hold"/>
                                        <p:tgtEl>
                                          <p:spTgt spid="22"/>
                                        </p:tgtEl>
                                        <p:attrNameLst>
                                          <p:attrName>ppt_y</p:attrName>
                                        </p:attrNameLst>
                                      </p:cBhvr>
                                      <p:tavLst>
                                        <p:tav tm="0">
                                          <p:val>
                                            <p:strVal val="1+#ppt_h/2"/>
                                          </p:val>
                                        </p:tav>
                                        <p:tav tm="100000">
                                          <p:val>
                                            <p:strVal val="#ppt_y"/>
                                          </p:val>
                                        </p:tav>
                                      </p:tavLst>
                                    </p:anim>
                                  </p:childTnLst>
                                </p:cTn>
                              </p:par>
                              <p:par>
                                <p:cTn id="29" presetID="10" presetClass="entr" presetSubtype="0" fill="hold" grpId="0" nodeType="withEffect">
                                  <p:stCondLst>
                                    <p:cond delay="1240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600"/>
                                        <p:tgtEl>
                                          <p:spTgt spid="23"/>
                                        </p:tgtEl>
                                      </p:cBhvr>
                                    </p:animEffect>
                                  </p:childTnLst>
                                </p:cTn>
                              </p:par>
                              <p:par>
                                <p:cTn id="32" presetID="2" presetClass="entr" presetSubtype="4" fill="hold" nodeType="withEffect">
                                  <p:stCondLst>
                                    <p:cond delay="17600"/>
                                  </p:stCondLst>
                                  <p:childTnLst>
                                    <p:set>
                                      <p:cBhvr>
                                        <p:cTn id="33" dur="1" fill="hold">
                                          <p:stCondLst>
                                            <p:cond delay="0"/>
                                          </p:stCondLst>
                                        </p:cTn>
                                        <p:tgtEl>
                                          <p:spTgt spid="28"/>
                                        </p:tgtEl>
                                        <p:attrNameLst>
                                          <p:attrName>style.visibility</p:attrName>
                                        </p:attrNameLst>
                                      </p:cBhvr>
                                      <p:to>
                                        <p:strVal val="visible"/>
                                      </p:to>
                                    </p:set>
                                    <p:anim calcmode="lin" valueType="num">
                                      <p:cBhvr additive="base">
                                        <p:cTn id="34" dur="700" fill="hold"/>
                                        <p:tgtEl>
                                          <p:spTgt spid="28"/>
                                        </p:tgtEl>
                                        <p:attrNameLst>
                                          <p:attrName>ppt_x</p:attrName>
                                        </p:attrNameLst>
                                      </p:cBhvr>
                                      <p:tavLst>
                                        <p:tav tm="0">
                                          <p:val>
                                            <p:strVal val="#ppt_x"/>
                                          </p:val>
                                        </p:tav>
                                        <p:tav tm="100000">
                                          <p:val>
                                            <p:strVal val="#ppt_x"/>
                                          </p:val>
                                        </p:tav>
                                      </p:tavLst>
                                    </p:anim>
                                    <p:anim calcmode="lin" valueType="num">
                                      <p:cBhvr additive="base">
                                        <p:cTn id="35" dur="700" fill="hold"/>
                                        <p:tgtEl>
                                          <p:spTgt spid="28"/>
                                        </p:tgtEl>
                                        <p:attrNameLst>
                                          <p:attrName>ppt_y</p:attrName>
                                        </p:attrNameLst>
                                      </p:cBhvr>
                                      <p:tavLst>
                                        <p:tav tm="0">
                                          <p:val>
                                            <p:strVal val="1+#ppt_h/2"/>
                                          </p:val>
                                        </p:tav>
                                        <p:tav tm="100000">
                                          <p:val>
                                            <p:strVal val="#ppt_y"/>
                                          </p:val>
                                        </p:tav>
                                      </p:tavLst>
                                    </p:anim>
                                  </p:childTnLst>
                                </p:cTn>
                              </p:par>
                              <p:par>
                                <p:cTn id="36" presetID="10" presetClass="entr" presetSubtype="0" fill="hold" grpId="0" nodeType="withEffect">
                                  <p:stCondLst>
                                    <p:cond delay="1760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1" grpId="0"/>
      <p:bldP spid="17" grpId="0"/>
      <p:bldP spid="23"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Components declare, the Canvas implements</a:t>
            </a:r>
          </a:p>
        </p:txBody>
      </p:sp>
      <p:pic>
        <p:nvPicPr>
          <p:cNvPr id="3" name="Clip 0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700"/>
    </mc:Choice>
    <mc:Fallback>
      <p:transition spd="slow" advTm="30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Every component gets its own client</a:t>
            </a:r>
          </a:p>
        </p:txBody>
      </p:sp>
      <p:pic>
        <p:nvPicPr>
          <p:cNvPr id="3" name="Clip 0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700"/>
    </mc:Choice>
    <mc:Fallback>
      <p:transition spd="slow" advTm="1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Canvas system role</a:t>
            </a:r>
          </a:p>
        </p:txBody>
      </p:sp>
      <p:pic>
        <p:nvPicPr>
          <p:cNvPr id="3" name="Clip 0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100"/>
    </mc:Choice>
    <mc:Fallback>
      <p:transition spd="slow" advTm="2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4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Static and dynamic roles</a:t>
            </a:r>
          </a:p>
        </p:txBody>
      </p:sp>
      <p:pic>
        <p:nvPicPr>
          <p:cNvPr id="3" name="Clip 0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700"/>
    </mc:Choice>
    <mc:Fallback>
      <p:transition spd="slow" advTm="3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A grant is also a connection</a:t>
            </a:r>
          </a:p>
        </p:txBody>
      </p:sp>
      <p:pic>
        <p:nvPicPr>
          <p:cNvPr id="3" name="Clip 0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500"/>
    </mc:Choice>
    <mc:Fallback>
      <p:transition spd="slow" advTm="29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8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The scenario</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F6B6B"/>
                </a:solidFill>
                <a:latin typeface="Segoe UI"/>
              </a:rPr>
              <a:t>LIVE DEMO</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The scenario</a:t>
            </a:r>
          </a:p>
        </p:txBody>
      </p:sp>
      <p:grpSp>
        <p:nvGrpSpPr>
          <p:cNvPr id="9" name="Catalog"/>
          <p:cNvGrpSpPr/>
          <p:nvPr/>
        </p:nvGrpSpPr>
        <p:grpSpPr>
          <a:xfrm>
            <a:off x="7239000" y="1587500"/>
            <a:ext cx="3175000" cy="2381250"/>
            <a:chOff x="7239000" y="1587500"/>
            <a:chExt cx="3175000" cy="2381250"/>
          </a:xfrm>
        </p:grpSpPr>
        <p:pic>
          <p:nvPicPr>
            <p:cNvPr id="6" name="Shape 4" descr="oda.png"/>
            <p:cNvPicPr>
              <a:picLocks noChangeAspect="1"/>
            </p:cNvPicPr>
            <p:nvPr/>
          </p:nvPicPr>
          <p:blipFill>
            <a:blip r:embed="rId4"/>
            <a:stretch>
              <a:fillRect/>
            </a:stretch>
          </p:blipFill>
          <p:spPr>
            <a:xfrm>
              <a:off x="7874000" y="1587500"/>
              <a:ext cx="1905000" cy="1799167"/>
            </a:xfrm>
            <a:prstGeom prst="rect">
              <a:avLst/>
            </a:prstGeom>
          </p:spPr>
        </p:pic>
        <p:sp>
          <p:nvSpPr>
            <p:cNvPr id="7" name="Shape 5"/>
            <p:cNvSpPr txBox="1"/>
            <p:nvPr/>
          </p:nvSpPr>
          <p:spPr>
            <a:xfrm>
              <a:off x="7239000" y="3429000"/>
              <a:ext cx="3175000" cy="317500"/>
            </a:xfrm>
            <a:prstGeom prst="rect">
              <a:avLst/>
            </a:prstGeom>
            <a:noFill/>
          </p:spPr>
          <p:txBody>
            <a:bodyPr wrap="square" lIns="0" tIns="0" rIns="0" bIns="0" anchor="t">
              <a:spAutoFit/>
            </a:bodyPr>
            <a:lstStyle/>
            <a:p>
              <a:pPr algn="ctr">
                <a:lnSpc>
                  <a:spcPct val="115000"/>
                </a:lnSpc>
              </a:pPr>
              <a:r>
                <a:rPr sz="1600" b="1">
                  <a:solidFill>
                    <a:srgbClr val="F2F5FB"/>
                  </a:solidFill>
                  <a:latin typeface="Segoe UI"/>
                </a:rPr>
                <a:t>Product Catalog · pc1</a:t>
              </a:r>
            </a:p>
          </p:txBody>
        </p:sp>
        <p:sp>
          <p:nvSpPr>
            <p:cNvPr id="8" name="Shape 6"/>
            <p:cNvSpPr txBox="1"/>
            <p:nvPr/>
          </p:nvSpPr>
          <p:spPr>
            <a:xfrm>
              <a:off x="7239000" y="3714750"/>
              <a:ext cx="3175000" cy="254000"/>
            </a:xfrm>
            <a:prstGeom prst="rect">
              <a:avLst/>
            </a:prstGeom>
            <a:noFill/>
          </p:spPr>
          <p:txBody>
            <a:bodyPr wrap="square" lIns="0" tIns="0" rIns="0" bIns="0" anchor="t">
              <a:spAutoFit/>
            </a:bodyPr>
            <a:lstStyle/>
            <a:p>
              <a:pPr algn="ctr">
                <a:lnSpc>
                  <a:spcPct val="115000"/>
                </a:lnSpc>
              </a:pPr>
              <a:r>
                <a:rPr sz="1200" b="0">
                  <a:solidFill>
                    <a:srgbClr val="8F9BB8"/>
                  </a:solidFill>
                  <a:latin typeface="Segoe UI"/>
                </a:rPr>
                <a:t>TMFC001</a:t>
              </a:r>
            </a:p>
          </p:txBody>
        </p:sp>
      </p:grpSp>
      <p:sp>
        <p:nvSpPr>
          <p:cNvPr id="10" name="CSP"/>
          <p:cNvSpPr/>
          <p:nvPr/>
        </p:nvSpPr>
        <p:spPr>
          <a:xfrm>
            <a:off x="7493000" y="4191000"/>
            <a:ext cx="2127250" cy="285750"/>
          </a:xfrm>
          <a:prstGeom prst="roundRect">
            <a:avLst>
              <a:gd name="adj" fmla="val 50000"/>
            </a:avLst>
          </a:prstGeom>
          <a:solidFill>
            <a:srgbClr val="FF6B6B">
              <a:alpha val="15000"/>
            </a:srgbClr>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CSP · retail catalog</a:t>
            </a:r>
          </a:p>
        </p:txBody>
      </p:sp>
      <p:sp>
        <p:nvSpPr>
          <p:cNvPr id="11" name="MVNO"/>
          <p:cNvSpPr/>
          <p:nvPr/>
        </p:nvSpPr>
        <p:spPr>
          <a:xfrm>
            <a:off x="7493000" y="4572000"/>
            <a:ext cx="2495550" cy="285750"/>
          </a:xfrm>
          <a:prstGeom prst="roundRect">
            <a:avLst>
              <a:gd name="adj" fmla="val 50000"/>
            </a:avLst>
          </a:prstGeom>
          <a:solidFill>
            <a:srgbClr val="FF6B6B">
              <a:alpha val="15000"/>
            </a:srgbClr>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MVNO · wholesale catalog</a:t>
            </a:r>
          </a:p>
        </p:txBody>
      </p:sp>
      <p:grpSp>
        <p:nvGrpSpPr>
          <p:cNvPr id="15" name="Order"/>
          <p:cNvGrpSpPr/>
          <p:nvPr/>
        </p:nvGrpSpPr>
        <p:grpSpPr>
          <a:xfrm>
            <a:off x="127000" y="2667000"/>
            <a:ext cx="4826000" cy="2635250"/>
            <a:chOff x="127000" y="2667000"/>
            <a:chExt cx="4826000" cy="2635250"/>
          </a:xfrm>
        </p:grpSpPr>
        <p:pic>
          <p:nvPicPr>
            <p:cNvPr id="12" name="Shape 10" descr="oda.png"/>
            <p:cNvPicPr>
              <a:picLocks noChangeAspect="1"/>
            </p:cNvPicPr>
            <p:nvPr/>
          </p:nvPicPr>
          <p:blipFill>
            <a:blip r:embed="rId4"/>
            <a:stretch>
              <a:fillRect/>
            </a:stretch>
          </p:blipFill>
          <p:spPr>
            <a:xfrm>
              <a:off x="1460500" y="2667000"/>
              <a:ext cx="2159000" cy="2039056"/>
            </a:xfrm>
            <a:prstGeom prst="rect">
              <a:avLst/>
            </a:prstGeom>
          </p:spPr>
        </p:pic>
        <p:sp>
          <p:nvSpPr>
            <p:cNvPr id="13" name="Shape 11"/>
            <p:cNvSpPr txBox="1"/>
            <p:nvPr/>
          </p:nvSpPr>
          <p:spPr>
            <a:xfrm>
              <a:off x="127000" y="4762500"/>
              <a:ext cx="4826000" cy="317500"/>
            </a:xfrm>
            <a:prstGeom prst="rect">
              <a:avLst/>
            </a:prstGeom>
            <a:noFill/>
          </p:spPr>
          <p:txBody>
            <a:bodyPr wrap="square" lIns="0" tIns="0" rIns="0" bIns="0" anchor="t">
              <a:spAutoFit/>
            </a:bodyPr>
            <a:lstStyle/>
            <a:p>
              <a:pPr algn="ctr">
                <a:lnSpc>
                  <a:spcPct val="115000"/>
                </a:lnSpc>
              </a:pPr>
              <a:r>
                <a:rPr sz="1400" b="1">
                  <a:solidFill>
                    <a:srgbClr val="F2F5FB"/>
                  </a:solidFill>
                  <a:latin typeface="Segoe UI"/>
                </a:rPr>
                <a:t>Product Order Capture and Validation · po1</a:t>
              </a:r>
            </a:p>
          </p:txBody>
        </p:sp>
        <p:sp>
          <p:nvSpPr>
            <p:cNvPr id="14" name="Shape 12"/>
            <p:cNvSpPr txBox="1"/>
            <p:nvPr/>
          </p:nvSpPr>
          <p:spPr>
            <a:xfrm>
              <a:off x="127000" y="5048250"/>
              <a:ext cx="4826000" cy="254000"/>
            </a:xfrm>
            <a:prstGeom prst="rect">
              <a:avLst/>
            </a:prstGeom>
            <a:noFill/>
          </p:spPr>
          <p:txBody>
            <a:bodyPr wrap="square" lIns="0" tIns="0" rIns="0" bIns="0" anchor="t">
              <a:spAutoFit/>
            </a:bodyPr>
            <a:lstStyle/>
            <a:p>
              <a:pPr algn="ctr">
                <a:lnSpc>
                  <a:spcPct val="115000"/>
                </a:lnSpc>
              </a:pPr>
              <a:r>
                <a:rPr sz="1200" b="0">
                  <a:solidFill>
                    <a:srgbClr val="8F9BB8"/>
                  </a:solidFill>
                  <a:latin typeface="Segoe UI"/>
                </a:rPr>
                <a:t>TMFC002</a:t>
              </a:r>
            </a:p>
          </p:txBody>
        </p:sp>
      </p:grpSp>
      <p:cxnSp>
        <p:nvCxnSpPr>
          <p:cNvPr id="16" name="Dep catalog"/>
          <p:cNvCxnSpPr/>
          <p:nvPr/>
        </p:nvCxnSpPr>
        <p:spPr>
          <a:xfrm flipV="1">
            <a:off x="3810000" y="2540000"/>
            <a:ext cx="3873500" cy="762000"/>
          </a:xfrm>
          <a:prstGeom prst="line">
            <a:avLst/>
          </a:prstGeom>
          <a:ln w="31750">
            <a:solidFill>
              <a:srgbClr val="8B6CFF"/>
            </a:solidFill>
            <a:tailEnd type="triangle" w="med"/>
          </a:ln>
        </p:spPr>
        <p:style>
          <a:lnRef idx="2">
            <a:schemeClr val="accent1"/>
          </a:lnRef>
          <a:fillRef idx="0">
            <a:schemeClr val="accent1"/>
          </a:fillRef>
          <a:effectRef idx="1">
            <a:schemeClr val="accent1"/>
          </a:effectRef>
          <a:fontRef idx="minor">
            <a:schemeClr val="tx1"/>
          </a:fontRef>
        </p:style>
      </p:cxnSp>
      <p:sp>
        <p:nvSpPr>
          <p:cNvPr id="17" name="TMF620"/>
          <p:cNvSpPr/>
          <p:nvPr/>
        </p:nvSpPr>
        <p:spPr>
          <a:xfrm>
            <a:off x="4826000" y="2413000"/>
            <a:ext cx="2578100" cy="266700"/>
          </a:xfrm>
          <a:prstGeom prst="roundRect">
            <a:avLst>
              <a:gd name="adj" fmla="val 50000"/>
            </a:avLst>
          </a:prstGeom>
          <a:solidFill>
            <a:srgbClr val="8B6CFF">
              <a:alpha val="15000"/>
            </a:srgbClr>
          </a:solidFill>
          <a:ln w="12700">
            <a:solidFill>
              <a:srgbClr val="8B6C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depends on TMF620 · catalog</a:t>
            </a:r>
          </a:p>
        </p:txBody>
      </p:sp>
      <p:grpSp>
        <p:nvGrpSpPr>
          <p:cNvPr id="21" name="Inventory"/>
          <p:cNvGrpSpPr/>
          <p:nvPr/>
        </p:nvGrpSpPr>
        <p:grpSpPr>
          <a:xfrm>
            <a:off x="7874000" y="5016500"/>
            <a:ext cx="4191000" cy="1319389"/>
            <a:chOff x="7874000" y="5016500"/>
            <a:chExt cx="4191000" cy="1319389"/>
          </a:xfrm>
        </p:grpSpPr>
        <p:pic>
          <p:nvPicPr>
            <p:cNvPr id="18" name="Shape 16" descr="oda.png"/>
            <p:cNvPicPr>
              <a:picLocks noChangeAspect="1"/>
            </p:cNvPicPr>
            <p:nvPr/>
          </p:nvPicPr>
          <p:blipFill>
            <a:blip r:embed="rId4"/>
            <a:stretch>
              <a:fillRect/>
            </a:stretch>
          </p:blipFill>
          <p:spPr>
            <a:xfrm>
              <a:off x="7874000" y="5016500"/>
              <a:ext cx="1397000" cy="1319389"/>
            </a:xfrm>
            <a:prstGeom prst="rect">
              <a:avLst/>
            </a:prstGeom>
          </p:spPr>
        </p:pic>
        <p:sp>
          <p:nvSpPr>
            <p:cNvPr id="19" name="Shape 17"/>
            <p:cNvSpPr txBox="1"/>
            <p:nvPr/>
          </p:nvSpPr>
          <p:spPr>
            <a:xfrm>
              <a:off x="9398000" y="5334000"/>
              <a:ext cx="2667000" cy="317500"/>
            </a:xfrm>
            <a:prstGeom prst="rect">
              <a:avLst/>
            </a:prstGeom>
            <a:noFill/>
          </p:spPr>
          <p:txBody>
            <a:bodyPr wrap="square" lIns="0" tIns="0" rIns="0" bIns="0" anchor="t">
              <a:spAutoFit/>
            </a:bodyPr>
            <a:lstStyle/>
            <a:p>
              <a:pPr algn="l">
                <a:lnSpc>
                  <a:spcPct val="115000"/>
                </a:lnSpc>
              </a:pPr>
              <a:r>
                <a:rPr sz="1600" b="1">
                  <a:solidFill>
                    <a:srgbClr val="F2F5FB"/>
                  </a:solidFill>
                  <a:latin typeface="Segoe UI"/>
                </a:rPr>
                <a:t>Product Inventory · pi1</a:t>
              </a:r>
            </a:p>
          </p:txBody>
        </p:sp>
        <p:sp>
          <p:nvSpPr>
            <p:cNvPr id="20" name="Shape 18"/>
            <p:cNvSpPr txBox="1"/>
            <p:nvPr/>
          </p:nvSpPr>
          <p:spPr>
            <a:xfrm>
              <a:off x="9398000" y="5619750"/>
              <a:ext cx="2667000" cy="254000"/>
            </a:xfrm>
            <a:prstGeom prst="rect">
              <a:avLst/>
            </a:prstGeom>
            <a:noFill/>
          </p:spPr>
          <p:txBody>
            <a:bodyPr wrap="square" lIns="0" tIns="0" rIns="0" bIns="0" anchor="t">
              <a:spAutoFit/>
            </a:bodyPr>
            <a:lstStyle/>
            <a:p>
              <a:pPr algn="l">
                <a:lnSpc>
                  <a:spcPct val="115000"/>
                </a:lnSpc>
              </a:pPr>
              <a:r>
                <a:rPr sz="1200" b="0">
                  <a:solidFill>
                    <a:srgbClr val="8F9BB8"/>
                  </a:solidFill>
                  <a:latin typeface="Segoe UI"/>
                </a:rPr>
                <a:t>TMFC005</a:t>
              </a:r>
            </a:p>
          </p:txBody>
        </p:sp>
      </p:grpSp>
      <p:cxnSp>
        <p:nvCxnSpPr>
          <p:cNvPr id="22" name="Dep inventory"/>
          <p:cNvCxnSpPr/>
          <p:nvPr/>
        </p:nvCxnSpPr>
        <p:spPr>
          <a:xfrm>
            <a:off x="3810000" y="4445000"/>
            <a:ext cx="3937000" cy="1206500"/>
          </a:xfrm>
          <a:prstGeom prst="line">
            <a:avLst/>
          </a:prstGeom>
          <a:ln w="31750">
            <a:solidFill>
              <a:srgbClr val="8B6CFF"/>
            </a:solidFill>
            <a:tailEnd type="triangle" w="med"/>
          </a:ln>
        </p:spPr>
        <p:style>
          <a:lnRef idx="2">
            <a:schemeClr val="accent1"/>
          </a:lnRef>
          <a:fillRef idx="0">
            <a:schemeClr val="accent1"/>
          </a:fillRef>
          <a:effectRef idx="1">
            <a:schemeClr val="accent1"/>
          </a:effectRef>
          <a:fontRef idx="minor">
            <a:schemeClr val="tx1"/>
          </a:fontRef>
        </p:style>
      </p:cxnSp>
      <p:sp>
        <p:nvSpPr>
          <p:cNvPr id="23" name="TMF637"/>
          <p:cNvSpPr/>
          <p:nvPr/>
        </p:nvSpPr>
        <p:spPr>
          <a:xfrm>
            <a:off x="3937000" y="5651500"/>
            <a:ext cx="2749550" cy="266700"/>
          </a:xfrm>
          <a:prstGeom prst="roundRect">
            <a:avLst>
              <a:gd name="adj" fmla="val 50000"/>
            </a:avLst>
          </a:prstGeom>
          <a:solidFill>
            <a:srgbClr val="8B6CFF">
              <a:alpha val="15000"/>
            </a:srgbClr>
          </a:solidFill>
          <a:ln w="12700">
            <a:solidFill>
              <a:srgbClr val="8B6C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depends on TMF637 · inventory</a:t>
            </a:r>
          </a:p>
        </p:txBody>
      </p:sp>
    </p:spTree>
  </p:cSld>
  <p:clrMapOvr>
    <a:masterClrMapping/>
  </p:clrMapOvr>
  <mc:AlternateContent xmlns:mc="http://schemas.openxmlformats.org/markup-compatibility/2006">
    <mc:Choice xmlns:p14="http://schemas.microsoft.com/office/powerpoint/2010/main" Requires="p14">
      <p:transition spd="slow" p14:dur="2000" advTm="23100"/>
    </mc:Choice>
    <mc:Fallback>
      <p:transition spd="slow" advTm="2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58" presetClass="entr" presetSubtype="0" accel="100000" fill="hold" nodeType="withEffect">
                                  <p:stCondLst>
                                    <p:cond delay="1200"/>
                                  </p:stCondLst>
                                  <p:childTnLst>
                                    <p:set>
                                      <p:cBhvr>
                                        <p:cTn id="12" dur="1" fill="hold">
                                          <p:stCondLst>
                                            <p:cond delay="0"/>
                                          </p:stCondLst>
                                        </p:cTn>
                                        <p:tgtEl>
                                          <p:spTgt spid="9"/>
                                        </p:tgtEl>
                                        <p:attrNameLst>
                                          <p:attrName>style.visibility</p:attrName>
                                        </p:attrNameLst>
                                      </p:cBhvr>
                                      <p:to>
                                        <p:strVal val="visible"/>
                                      </p:to>
                                    </p:set>
                                    <p:anim calcmode="lin" valueType="num">
                                      <p:cBhvr>
                                        <p:cTn id="13" dur="700" fill="hold"/>
                                        <p:tgtEl>
                                          <p:spTgt spid="9"/>
                                        </p:tgtEl>
                                        <p:attrNameLst>
                                          <p:attrName>ppt_w</p:attrName>
                                        </p:attrNameLst>
                                      </p:cBhvr>
                                      <p:tavLst>
                                        <p:tav tm="0">
                                          <p:val>
                                            <p:strVal val="#ppt_w*2.5"/>
                                          </p:val>
                                        </p:tav>
                                        <p:tav tm="100000">
                                          <p:val>
                                            <p:strVal val="#ppt_w"/>
                                          </p:val>
                                        </p:tav>
                                      </p:tavLst>
                                    </p:anim>
                                    <p:anim calcmode="lin" valueType="num">
                                      <p:cBhvr>
                                        <p:cTn id="14" dur="700" fill="hold"/>
                                        <p:tgtEl>
                                          <p:spTgt spid="9"/>
                                        </p:tgtEl>
                                        <p:attrNameLst>
                                          <p:attrName>ppt_h</p:attrName>
                                        </p:attrNameLst>
                                      </p:cBhvr>
                                      <p:tavLst>
                                        <p:tav tm="0">
                                          <p:val>
                                            <p:strVal val="#ppt_h*0.01"/>
                                          </p:val>
                                        </p:tav>
                                        <p:tav tm="100000">
                                          <p:val>
                                            <p:strVal val="#ppt_h"/>
                                          </p:val>
                                        </p:tav>
                                      </p:tavLst>
                                    </p:anim>
                                    <p:anim calcmode="lin" valueType="num">
                                      <p:cBhvr>
                                        <p:cTn id="15" dur="700" fill="hold"/>
                                        <p:tgtEl>
                                          <p:spTgt spid="9"/>
                                        </p:tgtEl>
                                        <p:attrNameLst>
                                          <p:attrName>ppt_x</p:attrName>
                                        </p:attrNameLst>
                                      </p:cBhvr>
                                      <p:tavLst>
                                        <p:tav tm="0">
                                          <p:val>
                                            <p:strVal val="#ppt_x"/>
                                          </p:val>
                                        </p:tav>
                                        <p:tav tm="100000">
                                          <p:val>
                                            <p:strVal val="#ppt_x"/>
                                          </p:val>
                                        </p:tav>
                                      </p:tavLst>
                                    </p:anim>
                                    <p:anim calcmode="lin" valueType="num">
                                      <p:cBhvr>
                                        <p:cTn id="16" dur="700" fill="hold"/>
                                        <p:tgtEl>
                                          <p:spTgt spid="9"/>
                                        </p:tgtEl>
                                        <p:attrNameLst>
                                          <p:attrName>ppt_y</p:attrName>
                                        </p:attrNameLst>
                                      </p:cBhvr>
                                      <p:tavLst>
                                        <p:tav tm="0">
                                          <p:val>
                                            <p:strVal val="#ppt_h+1"/>
                                          </p:val>
                                        </p:tav>
                                        <p:tav tm="100000">
                                          <p:val>
                                            <p:strVal val="#ppt_y"/>
                                          </p:val>
                                        </p:tav>
                                      </p:tavLst>
                                    </p:anim>
                                    <p:animEffect transition="in" filter="fade">
                                      <p:cBhvr>
                                        <p:cTn id="17" dur="700"/>
                                        <p:tgtEl>
                                          <p:spTgt spid="9"/>
                                        </p:tgtEl>
                                      </p:cBhvr>
                                    </p:animEffect>
                                  </p:childTnLst>
                                </p:cTn>
                              </p:par>
                              <p:par>
                                <p:cTn id="18" presetID="2" presetClass="entr" presetSubtype="4" fill="hold" grpId="0" nodeType="withEffect">
                                  <p:stCondLst>
                                    <p:cond delay="380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600" fill="hold"/>
                                        <p:tgtEl>
                                          <p:spTgt spid="10"/>
                                        </p:tgtEl>
                                        <p:attrNameLst>
                                          <p:attrName>ppt_x</p:attrName>
                                        </p:attrNameLst>
                                      </p:cBhvr>
                                      <p:tavLst>
                                        <p:tav tm="0">
                                          <p:val>
                                            <p:strVal val="#ppt_x"/>
                                          </p:val>
                                        </p:tav>
                                        <p:tav tm="100000">
                                          <p:val>
                                            <p:strVal val="#ppt_x"/>
                                          </p:val>
                                        </p:tav>
                                      </p:tavLst>
                                    </p:anim>
                                    <p:anim calcmode="lin" valueType="num">
                                      <p:cBhvr additive="base">
                                        <p:cTn id="21" dur="600" fill="hold"/>
                                        <p:tgtEl>
                                          <p:spTgt spid="10"/>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560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600" fill="hold"/>
                                        <p:tgtEl>
                                          <p:spTgt spid="11"/>
                                        </p:tgtEl>
                                        <p:attrNameLst>
                                          <p:attrName>ppt_x</p:attrName>
                                        </p:attrNameLst>
                                      </p:cBhvr>
                                      <p:tavLst>
                                        <p:tav tm="0">
                                          <p:val>
                                            <p:strVal val="#ppt_x"/>
                                          </p:val>
                                        </p:tav>
                                        <p:tav tm="100000">
                                          <p:val>
                                            <p:strVal val="#ppt_x"/>
                                          </p:val>
                                        </p:tav>
                                      </p:tavLst>
                                    </p:anim>
                                    <p:anim calcmode="lin" valueType="num">
                                      <p:cBhvr additive="base">
                                        <p:cTn id="25" dur="600" fill="hold"/>
                                        <p:tgtEl>
                                          <p:spTgt spid="11"/>
                                        </p:tgtEl>
                                        <p:attrNameLst>
                                          <p:attrName>ppt_y</p:attrName>
                                        </p:attrNameLst>
                                      </p:cBhvr>
                                      <p:tavLst>
                                        <p:tav tm="0">
                                          <p:val>
                                            <p:strVal val="1+#ppt_h/2"/>
                                          </p:val>
                                        </p:tav>
                                        <p:tav tm="100000">
                                          <p:val>
                                            <p:strVal val="#ppt_y"/>
                                          </p:val>
                                        </p:tav>
                                      </p:tavLst>
                                    </p:anim>
                                  </p:childTnLst>
                                </p:cTn>
                              </p:par>
                              <p:par>
                                <p:cTn id="26" presetID="58" presetClass="entr" presetSubtype="0" accel="100000" fill="hold" nodeType="withEffect">
                                  <p:stCondLst>
                                    <p:cond delay="10000"/>
                                  </p:stCondLst>
                                  <p:childTnLst>
                                    <p:set>
                                      <p:cBhvr>
                                        <p:cTn id="27" dur="1" fill="hold">
                                          <p:stCondLst>
                                            <p:cond delay="0"/>
                                          </p:stCondLst>
                                        </p:cTn>
                                        <p:tgtEl>
                                          <p:spTgt spid="15"/>
                                        </p:tgtEl>
                                        <p:attrNameLst>
                                          <p:attrName>style.visibility</p:attrName>
                                        </p:attrNameLst>
                                      </p:cBhvr>
                                      <p:to>
                                        <p:strVal val="visible"/>
                                      </p:to>
                                    </p:set>
                                    <p:anim calcmode="lin" valueType="num">
                                      <p:cBhvr>
                                        <p:cTn id="28" dur="700" fill="hold"/>
                                        <p:tgtEl>
                                          <p:spTgt spid="15"/>
                                        </p:tgtEl>
                                        <p:attrNameLst>
                                          <p:attrName>ppt_w</p:attrName>
                                        </p:attrNameLst>
                                      </p:cBhvr>
                                      <p:tavLst>
                                        <p:tav tm="0">
                                          <p:val>
                                            <p:strVal val="#ppt_w*2.5"/>
                                          </p:val>
                                        </p:tav>
                                        <p:tav tm="100000">
                                          <p:val>
                                            <p:strVal val="#ppt_w"/>
                                          </p:val>
                                        </p:tav>
                                      </p:tavLst>
                                    </p:anim>
                                    <p:anim calcmode="lin" valueType="num">
                                      <p:cBhvr>
                                        <p:cTn id="29" dur="700" fill="hold"/>
                                        <p:tgtEl>
                                          <p:spTgt spid="15"/>
                                        </p:tgtEl>
                                        <p:attrNameLst>
                                          <p:attrName>ppt_h</p:attrName>
                                        </p:attrNameLst>
                                      </p:cBhvr>
                                      <p:tavLst>
                                        <p:tav tm="0">
                                          <p:val>
                                            <p:strVal val="#ppt_h*0.01"/>
                                          </p:val>
                                        </p:tav>
                                        <p:tav tm="100000">
                                          <p:val>
                                            <p:strVal val="#ppt_h"/>
                                          </p:val>
                                        </p:tav>
                                      </p:tavLst>
                                    </p:anim>
                                    <p:anim calcmode="lin" valueType="num">
                                      <p:cBhvr>
                                        <p:cTn id="30" dur="700" fill="hold"/>
                                        <p:tgtEl>
                                          <p:spTgt spid="15"/>
                                        </p:tgtEl>
                                        <p:attrNameLst>
                                          <p:attrName>ppt_x</p:attrName>
                                        </p:attrNameLst>
                                      </p:cBhvr>
                                      <p:tavLst>
                                        <p:tav tm="0">
                                          <p:val>
                                            <p:strVal val="#ppt_x"/>
                                          </p:val>
                                        </p:tav>
                                        <p:tav tm="100000">
                                          <p:val>
                                            <p:strVal val="#ppt_x"/>
                                          </p:val>
                                        </p:tav>
                                      </p:tavLst>
                                    </p:anim>
                                    <p:anim calcmode="lin" valueType="num">
                                      <p:cBhvr>
                                        <p:cTn id="31" dur="700" fill="hold"/>
                                        <p:tgtEl>
                                          <p:spTgt spid="15"/>
                                        </p:tgtEl>
                                        <p:attrNameLst>
                                          <p:attrName>ppt_y</p:attrName>
                                        </p:attrNameLst>
                                      </p:cBhvr>
                                      <p:tavLst>
                                        <p:tav tm="0">
                                          <p:val>
                                            <p:strVal val="#ppt_h+1"/>
                                          </p:val>
                                        </p:tav>
                                        <p:tav tm="100000">
                                          <p:val>
                                            <p:strVal val="#ppt_y"/>
                                          </p:val>
                                        </p:tav>
                                      </p:tavLst>
                                    </p:anim>
                                    <p:animEffect transition="in" filter="fade">
                                      <p:cBhvr>
                                        <p:cTn id="32" dur="700"/>
                                        <p:tgtEl>
                                          <p:spTgt spid="15"/>
                                        </p:tgtEl>
                                      </p:cBhvr>
                                    </p:animEffect>
                                  </p:childTnLst>
                                </p:cTn>
                              </p:par>
                              <p:par>
                                <p:cTn id="33" presetID="10" presetClass="entr" presetSubtype="0" fill="hold" nodeType="withEffect">
                                  <p:stCondLst>
                                    <p:cond delay="120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600"/>
                                        <p:tgtEl>
                                          <p:spTgt spid="16"/>
                                        </p:tgtEl>
                                      </p:cBhvr>
                                    </p:animEffect>
                                  </p:childTnLst>
                                </p:cTn>
                              </p:par>
                              <p:par>
                                <p:cTn id="36" presetID="10" presetClass="entr" presetSubtype="0" fill="hold" grpId="0" nodeType="withEffect">
                                  <p:stCondLst>
                                    <p:cond delay="1240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600"/>
                                        <p:tgtEl>
                                          <p:spTgt spid="17"/>
                                        </p:tgtEl>
                                      </p:cBhvr>
                                    </p:animEffect>
                                  </p:childTnLst>
                                </p:cTn>
                              </p:par>
                              <p:par>
                                <p:cTn id="39" presetID="58" presetClass="entr" presetSubtype="0" accel="100000" fill="hold" nodeType="withEffect">
                                  <p:stCondLst>
                                    <p:cond delay="16400"/>
                                  </p:stCondLst>
                                  <p:childTnLst>
                                    <p:set>
                                      <p:cBhvr>
                                        <p:cTn id="40" dur="1" fill="hold">
                                          <p:stCondLst>
                                            <p:cond delay="0"/>
                                          </p:stCondLst>
                                        </p:cTn>
                                        <p:tgtEl>
                                          <p:spTgt spid="21"/>
                                        </p:tgtEl>
                                        <p:attrNameLst>
                                          <p:attrName>style.visibility</p:attrName>
                                        </p:attrNameLst>
                                      </p:cBhvr>
                                      <p:to>
                                        <p:strVal val="visible"/>
                                      </p:to>
                                    </p:set>
                                    <p:anim calcmode="lin" valueType="num">
                                      <p:cBhvr>
                                        <p:cTn id="41" dur="700" fill="hold"/>
                                        <p:tgtEl>
                                          <p:spTgt spid="21"/>
                                        </p:tgtEl>
                                        <p:attrNameLst>
                                          <p:attrName>ppt_w</p:attrName>
                                        </p:attrNameLst>
                                      </p:cBhvr>
                                      <p:tavLst>
                                        <p:tav tm="0">
                                          <p:val>
                                            <p:strVal val="#ppt_w*2.5"/>
                                          </p:val>
                                        </p:tav>
                                        <p:tav tm="100000">
                                          <p:val>
                                            <p:strVal val="#ppt_w"/>
                                          </p:val>
                                        </p:tav>
                                      </p:tavLst>
                                    </p:anim>
                                    <p:anim calcmode="lin" valueType="num">
                                      <p:cBhvr>
                                        <p:cTn id="42" dur="700" fill="hold"/>
                                        <p:tgtEl>
                                          <p:spTgt spid="21"/>
                                        </p:tgtEl>
                                        <p:attrNameLst>
                                          <p:attrName>ppt_h</p:attrName>
                                        </p:attrNameLst>
                                      </p:cBhvr>
                                      <p:tavLst>
                                        <p:tav tm="0">
                                          <p:val>
                                            <p:strVal val="#ppt_h*0.01"/>
                                          </p:val>
                                        </p:tav>
                                        <p:tav tm="100000">
                                          <p:val>
                                            <p:strVal val="#ppt_h"/>
                                          </p:val>
                                        </p:tav>
                                      </p:tavLst>
                                    </p:anim>
                                    <p:anim calcmode="lin" valueType="num">
                                      <p:cBhvr>
                                        <p:cTn id="43" dur="700" fill="hold"/>
                                        <p:tgtEl>
                                          <p:spTgt spid="21"/>
                                        </p:tgtEl>
                                        <p:attrNameLst>
                                          <p:attrName>ppt_x</p:attrName>
                                        </p:attrNameLst>
                                      </p:cBhvr>
                                      <p:tavLst>
                                        <p:tav tm="0">
                                          <p:val>
                                            <p:strVal val="#ppt_x"/>
                                          </p:val>
                                        </p:tav>
                                        <p:tav tm="100000">
                                          <p:val>
                                            <p:strVal val="#ppt_x"/>
                                          </p:val>
                                        </p:tav>
                                      </p:tavLst>
                                    </p:anim>
                                    <p:anim calcmode="lin" valueType="num">
                                      <p:cBhvr>
                                        <p:cTn id="44" dur="700" fill="hold"/>
                                        <p:tgtEl>
                                          <p:spTgt spid="21"/>
                                        </p:tgtEl>
                                        <p:attrNameLst>
                                          <p:attrName>ppt_y</p:attrName>
                                        </p:attrNameLst>
                                      </p:cBhvr>
                                      <p:tavLst>
                                        <p:tav tm="0">
                                          <p:val>
                                            <p:strVal val="#ppt_h+1"/>
                                          </p:val>
                                        </p:tav>
                                        <p:tav tm="100000">
                                          <p:val>
                                            <p:strVal val="#ppt_y"/>
                                          </p:val>
                                        </p:tav>
                                      </p:tavLst>
                                    </p:anim>
                                    <p:animEffect transition="in" filter="fade">
                                      <p:cBhvr>
                                        <p:cTn id="45" dur="700"/>
                                        <p:tgtEl>
                                          <p:spTgt spid="21"/>
                                        </p:tgtEl>
                                      </p:cBhvr>
                                    </p:animEffect>
                                  </p:childTnLst>
                                </p:cTn>
                              </p:par>
                              <p:par>
                                <p:cTn id="46" presetID="10" presetClass="entr" presetSubtype="0" fill="hold" nodeType="withEffect">
                                  <p:stCondLst>
                                    <p:cond delay="1740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600"/>
                                        <p:tgtEl>
                                          <p:spTgt spid="22"/>
                                        </p:tgtEl>
                                      </p:cBhvr>
                                    </p:animEffect>
                                  </p:childTnLst>
                                </p:cTn>
                              </p:par>
                              <p:par>
                                <p:cTn id="49" presetID="10" presetClass="entr" presetSubtype="0" fill="hold" grpId="0" nodeType="withEffect">
                                  <p:stCondLst>
                                    <p:cond delay="1780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animBg="1"/>
      <p:bldP spid="11" grpId="0" animBg="1"/>
      <p:bldP spid="17"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Deploy the product catalog</a:t>
            </a:r>
          </a:p>
        </p:txBody>
      </p:sp>
      <p:pic>
        <p:nvPicPr>
          <p:cNvPr id="3" name="Clip 0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7100"/>
    </mc:Choice>
    <mc:Fallback>
      <p:transition spd="slow" advTm="1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4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Its client appears in Keycloak</a:t>
            </a:r>
          </a:p>
        </p:txBody>
      </p:sp>
      <p:pic>
        <p:nvPicPr>
          <p:cNvPr id="3" name="Clip 1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300"/>
    </mc:Choice>
    <mc:Fallback>
      <p:transition spd="slow" advTm="1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Static roles</a:t>
            </a:r>
          </a:p>
        </p:txBody>
      </p:sp>
      <p:pic>
        <p:nvPicPr>
          <p:cNvPr id="3" name="Clip 1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700"/>
    </mc:Choice>
    <mc:Fallback>
      <p:transition spd="slow" advTm="2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Dynamic roles through TMF672</a:t>
            </a:r>
          </a:p>
        </p:txBody>
      </p:sp>
      <p:pic>
        <p:nvPicPr>
          <p:cNvPr id="3" name="Clip 1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100"/>
    </mc:Choice>
    <mc:Fallback>
      <p:transition spd="slow" advTm="2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4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Deploy the order and inventory components</a:t>
            </a:r>
          </a:p>
        </p:txBody>
      </p:sp>
      <p:pic>
        <p:nvPicPr>
          <p:cNvPr id="3" name="Clip 1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300"/>
    </mc:Choice>
    <mc:Fallback>
      <p:transition spd="slow" advTm="24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Grant a catalog role, and the dependency is met</a:t>
            </a:r>
          </a:p>
        </p:txBody>
      </p:sp>
      <p:pic>
        <p:nvPicPr>
          <p:cNvPr id="3" name="Clip 1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700"/>
    </mc:Choice>
    <mc:Fallback>
      <p:transition spd="slow" advTm="2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same for the inventory</a:t>
            </a:r>
          </a:p>
        </p:txBody>
      </p:sp>
      <p:pic>
        <p:nvPicPr>
          <p:cNvPr id="3" name="Clip 1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500"/>
    </mc:Choice>
    <mc:Fallback>
      <p:transition spd="slow" advTm="1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8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Send a product order</a:t>
            </a:r>
          </a:p>
        </p:txBody>
      </p:sp>
      <p:pic>
        <p:nvPicPr>
          <p:cNvPr id="3" name="Clip 1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100"/>
    </mc:Choice>
    <mc:Fallback>
      <p:transition spd="slow" advTm="1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4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What happened behind the scenes</a:t>
            </a:r>
          </a:p>
        </p:txBody>
      </p:sp>
      <p:pic>
        <p:nvPicPr>
          <p:cNvPr id="3" name="Clip 1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900"/>
    </mc:Choice>
    <mc:Fallback>
      <p:transition spd="slow" advTm="23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2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Automated cleanup</a:t>
            </a:r>
          </a:p>
        </p:txBody>
      </p:sp>
      <p:pic>
        <p:nvPicPr>
          <p:cNvPr id="3" name="Clip 18">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100"/>
    </mc:Choice>
    <mc:Fallback>
      <p:transition spd="slow" advTm="19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4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Answers to the four questions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F6B6B"/>
                </a:solidFill>
                <a:latin typeface="Segoe UI"/>
              </a:rPr>
              <a:t>RECAP</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Answers to the four questions</a:t>
            </a:r>
          </a:p>
        </p:txBody>
      </p:sp>
      <p:grpSp>
        <p:nvGrpSpPr>
          <p:cNvPr id="10" name="Card 1"/>
          <p:cNvGrpSpPr/>
          <p:nvPr/>
        </p:nvGrpSpPr>
        <p:grpSpPr>
          <a:xfrm>
            <a:off x="762000" y="1714500"/>
            <a:ext cx="5207000" cy="1905000"/>
            <a:chOff x="762000" y="1714500"/>
            <a:chExt cx="5207000" cy="1905000"/>
          </a:xfrm>
        </p:grpSpPr>
        <p:sp>
          <p:nvSpPr>
            <p:cNvPr id="6" name="Shape 4"/>
            <p:cNvSpPr/>
            <p:nvPr/>
          </p:nvSpPr>
          <p:spPr>
            <a:xfrm>
              <a:off x="762000" y="1714500"/>
              <a:ext cx="5207000" cy="1905000"/>
            </a:xfrm>
            <a:prstGeom prst="roundRect">
              <a:avLst>
                <a:gd name="adj" fmla="val 8666"/>
              </a:avLst>
            </a:prstGeom>
            <a:solidFill>
              <a:srgbClr val="111A30"/>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hape 5"/>
            <p:cNvSpPr txBox="1"/>
            <p:nvPr/>
          </p:nvSpPr>
          <p:spPr>
            <a:xfrm>
              <a:off x="977900" y="1905000"/>
              <a:ext cx="762000" cy="254000"/>
            </a:xfrm>
            <a:prstGeom prst="rect">
              <a:avLst/>
            </a:prstGeom>
            <a:noFill/>
          </p:spPr>
          <p:txBody>
            <a:bodyPr wrap="square" lIns="0" tIns="0" rIns="0" bIns="0" anchor="t">
              <a:spAutoFit/>
            </a:bodyPr>
            <a:lstStyle/>
            <a:p>
              <a:pPr algn="l">
                <a:lnSpc>
                  <a:spcPct val="115000"/>
                </a:lnSpc>
              </a:pPr>
              <a:r>
                <a:rPr sz="1500" b="1">
                  <a:solidFill>
                    <a:srgbClr val="FF6B6B"/>
                  </a:solidFill>
                  <a:latin typeface="Segoe UI"/>
                </a:rPr>
                <a:t>Q1</a:t>
              </a:r>
            </a:p>
          </p:txBody>
        </p:sp>
        <p:pic>
          <p:nvPicPr>
            <p:cNvPr id="8" name="Shape 6" descr="icon-people-ff6b6b.png"/>
            <p:cNvPicPr>
              <a:picLocks noChangeAspect="1"/>
            </p:cNvPicPr>
            <p:nvPr/>
          </p:nvPicPr>
          <p:blipFill>
            <a:blip r:embed="rId4"/>
            <a:stretch>
              <a:fillRect/>
            </a:stretch>
          </p:blipFill>
          <p:spPr>
            <a:xfrm>
              <a:off x="5207000" y="1905000"/>
              <a:ext cx="533400" cy="533400"/>
            </a:xfrm>
            <a:prstGeom prst="rect">
              <a:avLst/>
            </a:prstGeom>
          </p:spPr>
        </p:pic>
        <p:sp>
          <p:nvSpPr>
            <p:cNvPr id="9" name="Shape 7"/>
            <p:cNvSpPr txBox="1"/>
            <p:nvPr/>
          </p:nvSpPr>
          <p:spPr>
            <a:xfrm>
              <a:off x="977900" y="2247900"/>
              <a:ext cx="4191000" cy="381000"/>
            </a:xfrm>
            <a:prstGeom prst="rect">
              <a:avLst/>
            </a:prstGeom>
            <a:noFill/>
          </p:spPr>
          <p:txBody>
            <a:bodyPr wrap="square" lIns="0" tIns="0" rIns="0" bIns="0" anchor="t">
              <a:spAutoFit/>
            </a:bodyPr>
            <a:lstStyle/>
            <a:p>
              <a:pPr algn="l">
                <a:lnSpc>
                  <a:spcPct val="105000"/>
                </a:lnSpc>
              </a:pPr>
              <a:r>
                <a:rPr sz="1700" b="1">
                  <a:solidFill>
                    <a:srgbClr val="F2F5FB"/>
                  </a:solidFill>
                  <a:latin typeface="Segoe UI"/>
                </a:rPr>
                <a:t>Who does what?</a:t>
              </a:r>
            </a:p>
          </p:txBody>
        </p:sp>
      </p:grpSp>
      <p:sp>
        <p:nvSpPr>
          <p:cNvPr id="11" name="Body 1"/>
          <p:cNvSpPr txBox="1"/>
          <p:nvPr/>
        </p:nvSpPr>
        <p:spPr>
          <a:xfrm>
            <a:off x="977900" y="2730500"/>
            <a:ext cx="4762500" cy="762000"/>
          </a:xfrm>
          <a:prstGeom prst="rect">
            <a:avLst/>
          </a:prstGeom>
          <a:noFill/>
        </p:spPr>
        <p:txBody>
          <a:bodyPr wrap="square" lIns="0" tIns="0" rIns="0" bIns="0" anchor="t">
            <a:spAutoFit/>
          </a:bodyPr>
          <a:lstStyle/>
          <a:p>
            <a:pPr algn="l">
              <a:lnSpc>
                <a:spcPct val="115000"/>
              </a:lnSpc>
            </a:pPr>
            <a:r>
              <a:rPr sz="1400" b="1">
                <a:solidFill>
                  <a:srgbClr val="F2F5FB"/>
                </a:solidFill>
                <a:latin typeface="Segoe UI"/>
              </a:rPr>
              <a:t>Components declare their needs. The Canvas configures the identity platform, with a client per component.</a:t>
            </a:r>
          </a:p>
        </p:txBody>
      </p:sp>
      <p:grpSp>
        <p:nvGrpSpPr>
          <p:cNvPr id="16" name="Card 2"/>
          <p:cNvGrpSpPr/>
          <p:nvPr/>
        </p:nvGrpSpPr>
        <p:grpSpPr>
          <a:xfrm>
            <a:off x="6159500" y="1714500"/>
            <a:ext cx="5207000" cy="1905000"/>
            <a:chOff x="6159500" y="1714500"/>
            <a:chExt cx="5207000" cy="1905000"/>
          </a:xfrm>
        </p:grpSpPr>
        <p:sp>
          <p:nvSpPr>
            <p:cNvPr id="12" name="Shape 10"/>
            <p:cNvSpPr/>
            <p:nvPr/>
          </p:nvSpPr>
          <p:spPr>
            <a:xfrm>
              <a:off x="6159500" y="1714500"/>
              <a:ext cx="5207000" cy="1905000"/>
            </a:xfrm>
            <a:prstGeom prst="roundRect">
              <a:avLst>
                <a:gd name="adj" fmla="val 8666"/>
              </a:avLst>
            </a:prstGeom>
            <a:solidFill>
              <a:srgbClr val="111A30"/>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Shape 11"/>
            <p:cNvSpPr txBox="1"/>
            <p:nvPr/>
          </p:nvSpPr>
          <p:spPr>
            <a:xfrm>
              <a:off x="6375400" y="1905000"/>
              <a:ext cx="762000" cy="254000"/>
            </a:xfrm>
            <a:prstGeom prst="rect">
              <a:avLst/>
            </a:prstGeom>
            <a:noFill/>
          </p:spPr>
          <p:txBody>
            <a:bodyPr wrap="square" lIns="0" tIns="0" rIns="0" bIns="0" anchor="t">
              <a:spAutoFit/>
            </a:bodyPr>
            <a:lstStyle/>
            <a:p>
              <a:pPr algn="l">
                <a:lnSpc>
                  <a:spcPct val="115000"/>
                </a:lnSpc>
              </a:pPr>
              <a:r>
                <a:rPr sz="1500" b="1">
                  <a:solidFill>
                    <a:srgbClr val="FF6B6B"/>
                  </a:solidFill>
                  <a:latin typeface="Segoe UI"/>
                </a:rPr>
                <a:t>Q2</a:t>
              </a:r>
            </a:p>
          </p:txBody>
        </p:sp>
        <p:pic>
          <p:nvPicPr>
            <p:cNvPr id="14" name="Shape 12" descr="icon-key-ff6b6b.png"/>
            <p:cNvPicPr>
              <a:picLocks noChangeAspect="1"/>
            </p:cNvPicPr>
            <p:nvPr/>
          </p:nvPicPr>
          <p:blipFill>
            <a:blip r:embed="rId5"/>
            <a:stretch>
              <a:fillRect/>
            </a:stretch>
          </p:blipFill>
          <p:spPr>
            <a:xfrm>
              <a:off x="10604500" y="1905000"/>
              <a:ext cx="533400" cy="533400"/>
            </a:xfrm>
            <a:prstGeom prst="rect">
              <a:avLst/>
            </a:prstGeom>
          </p:spPr>
        </p:pic>
        <p:sp>
          <p:nvSpPr>
            <p:cNvPr id="15" name="Shape 13"/>
            <p:cNvSpPr txBox="1"/>
            <p:nvPr/>
          </p:nvSpPr>
          <p:spPr>
            <a:xfrm>
              <a:off x="6375400" y="2247900"/>
              <a:ext cx="4191000" cy="381000"/>
            </a:xfrm>
            <a:prstGeom prst="rect">
              <a:avLst/>
            </a:prstGeom>
            <a:noFill/>
          </p:spPr>
          <p:txBody>
            <a:bodyPr wrap="square" lIns="0" tIns="0" rIns="0" bIns="0" anchor="t">
              <a:spAutoFit/>
            </a:bodyPr>
            <a:lstStyle/>
            <a:p>
              <a:pPr algn="l">
                <a:lnSpc>
                  <a:spcPct val="105000"/>
                </a:lnSpc>
              </a:pPr>
              <a:r>
                <a:rPr sz="1700" b="1">
                  <a:solidFill>
                    <a:srgbClr val="F2F5FB"/>
                  </a:solidFill>
                  <a:latin typeface="Segoe UI"/>
                </a:rPr>
                <a:t>How does the Canvas get in?</a:t>
              </a:r>
            </a:p>
          </p:txBody>
        </p:sp>
      </p:grpSp>
      <p:sp>
        <p:nvSpPr>
          <p:cNvPr id="17" name="Body 2"/>
          <p:cNvSpPr txBox="1"/>
          <p:nvPr/>
        </p:nvSpPr>
        <p:spPr>
          <a:xfrm>
            <a:off x="6375400" y="2730500"/>
            <a:ext cx="4762500" cy="762000"/>
          </a:xfrm>
          <a:prstGeom prst="rect">
            <a:avLst/>
          </a:prstGeom>
          <a:noFill/>
        </p:spPr>
        <p:txBody>
          <a:bodyPr wrap="square" lIns="0" tIns="0" rIns="0" bIns="0" anchor="t">
            <a:spAutoFit/>
          </a:bodyPr>
          <a:lstStyle/>
          <a:p>
            <a:pPr algn="l">
              <a:lnSpc>
                <a:spcPct val="115000"/>
              </a:lnSpc>
            </a:pPr>
            <a:r>
              <a:rPr sz="1400" b="1">
                <a:solidFill>
                  <a:srgbClr val="F2F5FB"/>
                </a:solidFill>
                <a:latin typeface="Segoe UI"/>
              </a:rPr>
              <a:t>Every component names a Canvas system role, which is granted to the Canvas system client.</a:t>
            </a:r>
          </a:p>
        </p:txBody>
      </p:sp>
      <p:grpSp>
        <p:nvGrpSpPr>
          <p:cNvPr id="22" name="Card 3"/>
          <p:cNvGrpSpPr/>
          <p:nvPr/>
        </p:nvGrpSpPr>
        <p:grpSpPr>
          <a:xfrm>
            <a:off x="762000" y="3810000"/>
            <a:ext cx="5207000" cy="1905000"/>
            <a:chOff x="762000" y="3810000"/>
            <a:chExt cx="5207000" cy="1905000"/>
          </a:xfrm>
        </p:grpSpPr>
        <p:sp>
          <p:nvSpPr>
            <p:cNvPr id="18" name="Shape 16"/>
            <p:cNvSpPr/>
            <p:nvPr/>
          </p:nvSpPr>
          <p:spPr>
            <a:xfrm>
              <a:off x="762000" y="3810000"/>
              <a:ext cx="5207000" cy="1905000"/>
            </a:xfrm>
            <a:prstGeom prst="roundRect">
              <a:avLst>
                <a:gd name="adj" fmla="val 8666"/>
              </a:avLst>
            </a:prstGeom>
            <a:solidFill>
              <a:srgbClr val="111A30"/>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Shape 17"/>
            <p:cNvSpPr txBox="1"/>
            <p:nvPr/>
          </p:nvSpPr>
          <p:spPr>
            <a:xfrm>
              <a:off x="977900" y="4000500"/>
              <a:ext cx="762000" cy="254000"/>
            </a:xfrm>
            <a:prstGeom prst="rect">
              <a:avLst/>
            </a:prstGeom>
            <a:noFill/>
          </p:spPr>
          <p:txBody>
            <a:bodyPr wrap="square" lIns="0" tIns="0" rIns="0" bIns="0" anchor="t">
              <a:spAutoFit/>
            </a:bodyPr>
            <a:lstStyle/>
            <a:p>
              <a:pPr algn="l">
                <a:lnSpc>
                  <a:spcPct val="115000"/>
                </a:lnSpc>
              </a:pPr>
              <a:r>
                <a:rPr sz="1500" b="1">
                  <a:solidFill>
                    <a:srgbClr val="FF6B6B"/>
                  </a:solidFill>
                  <a:latin typeface="Segoe UI"/>
                </a:rPr>
                <a:t>Q3</a:t>
              </a:r>
            </a:p>
          </p:txBody>
        </p:sp>
        <p:pic>
          <p:nvPicPr>
            <p:cNvPr id="20" name="Shape 18" descr="icon-doc-ff6b6b.png"/>
            <p:cNvPicPr>
              <a:picLocks noChangeAspect="1"/>
            </p:cNvPicPr>
            <p:nvPr/>
          </p:nvPicPr>
          <p:blipFill>
            <a:blip r:embed="rId6"/>
            <a:stretch>
              <a:fillRect/>
            </a:stretch>
          </p:blipFill>
          <p:spPr>
            <a:xfrm>
              <a:off x="5207000" y="4000500"/>
              <a:ext cx="533400" cy="533400"/>
            </a:xfrm>
            <a:prstGeom prst="rect">
              <a:avLst/>
            </a:prstGeom>
          </p:spPr>
        </p:pic>
        <p:sp>
          <p:nvSpPr>
            <p:cNvPr id="21" name="Shape 19"/>
            <p:cNvSpPr txBox="1"/>
            <p:nvPr/>
          </p:nvSpPr>
          <p:spPr>
            <a:xfrm>
              <a:off x="977900" y="4343400"/>
              <a:ext cx="4191000" cy="381000"/>
            </a:xfrm>
            <a:prstGeom prst="rect">
              <a:avLst/>
            </a:prstGeom>
            <a:noFill/>
          </p:spPr>
          <p:txBody>
            <a:bodyPr wrap="square" lIns="0" tIns="0" rIns="0" bIns="0" anchor="t">
              <a:spAutoFit/>
            </a:bodyPr>
            <a:lstStyle/>
            <a:p>
              <a:pPr algn="l">
                <a:lnSpc>
                  <a:spcPct val="105000"/>
                </a:lnSpc>
              </a:pPr>
              <a:r>
                <a:rPr sz="1700" b="1">
                  <a:solidFill>
                    <a:srgbClr val="F2F5FB"/>
                  </a:solidFill>
                  <a:latin typeface="Segoe UI"/>
                </a:rPr>
                <a:t>How are roles defined?</a:t>
              </a:r>
            </a:p>
          </p:txBody>
        </p:sp>
      </p:grpSp>
      <p:sp>
        <p:nvSpPr>
          <p:cNvPr id="23" name="Body 3"/>
          <p:cNvSpPr txBox="1"/>
          <p:nvPr/>
        </p:nvSpPr>
        <p:spPr>
          <a:xfrm>
            <a:off x="977900" y="4826000"/>
            <a:ext cx="4762500" cy="762000"/>
          </a:xfrm>
          <a:prstGeom prst="rect">
            <a:avLst/>
          </a:prstGeom>
          <a:noFill/>
        </p:spPr>
        <p:txBody>
          <a:bodyPr wrap="square" lIns="0" tIns="0" rIns="0" bIns="0" anchor="t">
            <a:spAutoFit/>
          </a:bodyPr>
          <a:lstStyle/>
          <a:p>
            <a:pPr algn="l">
              <a:lnSpc>
                <a:spcPct val="115000"/>
              </a:lnSpc>
            </a:pPr>
            <a:r>
              <a:rPr sz="1400" b="1">
                <a:solidFill>
                  <a:srgbClr val="F2F5FB"/>
                </a:solidFill>
                <a:latin typeface="Segoe UI"/>
              </a:rPr>
              <a:t>Statically in the YAML, or dynamically through TMF672 roles and permissions.</a:t>
            </a:r>
          </a:p>
        </p:txBody>
      </p:sp>
      <p:grpSp>
        <p:nvGrpSpPr>
          <p:cNvPr id="28" name="Card 4"/>
          <p:cNvGrpSpPr/>
          <p:nvPr/>
        </p:nvGrpSpPr>
        <p:grpSpPr>
          <a:xfrm>
            <a:off x="6159500" y="3810000"/>
            <a:ext cx="5207000" cy="1905000"/>
            <a:chOff x="6159500" y="3810000"/>
            <a:chExt cx="5207000" cy="1905000"/>
          </a:xfrm>
        </p:grpSpPr>
        <p:sp>
          <p:nvSpPr>
            <p:cNvPr id="24" name="Shape 22"/>
            <p:cNvSpPr/>
            <p:nvPr/>
          </p:nvSpPr>
          <p:spPr>
            <a:xfrm>
              <a:off x="6159500" y="3810000"/>
              <a:ext cx="5207000" cy="1905000"/>
            </a:xfrm>
            <a:prstGeom prst="roundRect">
              <a:avLst>
                <a:gd name="adj" fmla="val 8666"/>
              </a:avLst>
            </a:prstGeom>
            <a:solidFill>
              <a:srgbClr val="111A30"/>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Shape 23"/>
            <p:cNvSpPr txBox="1"/>
            <p:nvPr/>
          </p:nvSpPr>
          <p:spPr>
            <a:xfrm>
              <a:off x="6375400" y="4000500"/>
              <a:ext cx="762000" cy="254000"/>
            </a:xfrm>
            <a:prstGeom prst="rect">
              <a:avLst/>
            </a:prstGeom>
            <a:noFill/>
          </p:spPr>
          <p:txBody>
            <a:bodyPr wrap="square" lIns="0" tIns="0" rIns="0" bIns="0" anchor="t">
              <a:spAutoFit/>
            </a:bodyPr>
            <a:lstStyle/>
            <a:p>
              <a:pPr algn="l">
                <a:lnSpc>
                  <a:spcPct val="115000"/>
                </a:lnSpc>
              </a:pPr>
              <a:r>
                <a:rPr sz="1500" b="1">
                  <a:solidFill>
                    <a:srgbClr val="FF6B6B"/>
                  </a:solidFill>
                  <a:latin typeface="Segoe UI"/>
                </a:rPr>
                <a:t>Q4</a:t>
              </a:r>
            </a:p>
          </p:txBody>
        </p:sp>
        <p:pic>
          <p:nvPicPr>
            <p:cNvPr id="26" name="Shape 24" descr="icon-link-ff6b6b.png"/>
            <p:cNvPicPr>
              <a:picLocks noChangeAspect="1"/>
            </p:cNvPicPr>
            <p:nvPr/>
          </p:nvPicPr>
          <p:blipFill>
            <a:blip r:embed="rId7"/>
            <a:stretch>
              <a:fillRect/>
            </a:stretch>
          </p:blipFill>
          <p:spPr>
            <a:xfrm>
              <a:off x="10604500" y="4000500"/>
              <a:ext cx="533400" cy="533400"/>
            </a:xfrm>
            <a:prstGeom prst="rect">
              <a:avLst/>
            </a:prstGeom>
          </p:spPr>
        </p:pic>
        <p:sp>
          <p:nvSpPr>
            <p:cNvPr id="27" name="Shape 25"/>
            <p:cNvSpPr txBox="1"/>
            <p:nvPr/>
          </p:nvSpPr>
          <p:spPr>
            <a:xfrm>
              <a:off x="6375400" y="4343400"/>
              <a:ext cx="4191000" cy="381000"/>
            </a:xfrm>
            <a:prstGeom prst="rect">
              <a:avLst/>
            </a:prstGeom>
            <a:noFill/>
          </p:spPr>
          <p:txBody>
            <a:bodyPr wrap="square" lIns="0" tIns="0" rIns="0" bIns="0" anchor="t">
              <a:spAutoFit/>
            </a:bodyPr>
            <a:lstStyle/>
            <a:p>
              <a:pPr algn="l">
                <a:lnSpc>
                  <a:spcPct val="105000"/>
                </a:lnSpc>
              </a:pPr>
              <a:r>
                <a:rPr sz="1700" b="1">
                  <a:solidFill>
                    <a:srgbClr val="F2F5FB"/>
                  </a:solidFill>
                  <a:latin typeface="Segoe UI"/>
                </a:rPr>
                <a:t>How does a grant connect components?</a:t>
              </a:r>
            </a:p>
          </p:txBody>
        </p:sp>
      </p:grpSp>
      <p:sp>
        <p:nvSpPr>
          <p:cNvPr id="29" name="Body 4"/>
          <p:cNvSpPr txBox="1"/>
          <p:nvPr/>
        </p:nvSpPr>
        <p:spPr>
          <a:xfrm>
            <a:off x="6375400" y="4826000"/>
            <a:ext cx="4762500" cy="762000"/>
          </a:xfrm>
          <a:prstGeom prst="rect">
            <a:avLst/>
          </a:prstGeom>
          <a:noFill/>
        </p:spPr>
        <p:txBody>
          <a:bodyPr wrap="square" lIns="0" tIns="0" rIns="0" bIns="0" anchor="t">
            <a:spAutoFit/>
          </a:bodyPr>
          <a:lstStyle/>
          <a:p>
            <a:pPr algn="l">
              <a:lnSpc>
                <a:spcPct val="115000"/>
              </a:lnSpc>
            </a:pPr>
            <a:r>
              <a:rPr sz="1400" b="1">
                <a:solidFill>
                  <a:srgbClr val="F2F5FB"/>
                </a:solidFill>
                <a:latin typeface="Segoe UI"/>
              </a:rPr>
              <a:t>Granting a component a role can also resolve its dependency on that API.</a:t>
            </a:r>
          </a:p>
        </p:txBody>
      </p:sp>
    </p:spTree>
  </p:cSld>
  <p:clrMapOvr>
    <a:masterClrMapping/>
  </p:clrMapOvr>
  <mc:AlternateContent xmlns:mc="http://schemas.openxmlformats.org/markup-compatibility/2006">
    <mc:Choice xmlns:p14="http://schemas.microsoft.com/office/powerpoint/2010/main" Requires="p14">
      <p:transition spd="slow" p14:dur="2000" advTm="23100"/>
    </mc:Choice>
    <mc:Fallback>
      <p:transition spd="slow" advTm="2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nodeType="withEffect">
                                  <p:stCondLst>
                                    <p:cond delay="5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700"/>
                                        <p:tgtEl>
                                          <p:spTgt spid="10"/>
                                        </p:tgtEl>
                                      </p:cBhvr>
                                    </p:animEffect>
                                  </p:childTnLst>
                                </p:cTn>
                              </p:par>
                              <p:par>
                                <p:cTn id="14" presetID="10" presetClass="entr" presetSubtype="0" fill="hold" nodeType="withEffect">
                                  <p:stCondLst>
                                    <p:cond delay="8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700"/>
                                        <p:tgtEl>
                                          <p:spTgt spid="16"/>
                                        </p:tgtEl>
                                      </p:cBhvr>
                                    </p:animEffect>
                                  </p:childTnLst>
                                </p:cTn>
                              </p:par>
                              <p:par>
                                <p:cTn id="17" presetID="10" presetClass="entr" presetSubtype="0" fill="hold" nodeType="withEffect">
                                  <p:stCondLst>
                                    <p:cond delay="110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700"/>
                                        <p:tgtEl>
                                          <p:spTgt spid="22"/>
                                        </p:tgtEl>
                                      </p:cBhvr>
                                    </p:animEffect>
                                  </p:childTnLst>
                                </p:cTn>
                              </p:par>
                              <p:par>
                                <p:cTn id="20" presetID="10" presetClass="entr" presetSubtype="0" fill="hold" grpId="0" nodeType="withEffect">
                                  <p:stCondLst>
                                    <p:cond delay="1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00"/>
                                        <p:tgtEl>
                                          <p:spTgt spid="11"/>
                                        </p:tgtEl>
                                      </p:cBhvr>
                                    </p:animEffect>
                                  </p:childTnLst>
                                </p:cTn>
                              </p:par>
                              <p:par>
                                <p:cTn id="23" presetID="10" presetClass="entr" presetSubtype="0" fill="hold" nodeType="withEffect">
                                  <p:stCondLst>
                                    <p:cond delay="140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700"/>
                                        <p:tgtEl>
                                          <p:spTgt spid="28"/>
                                        </p:tgtEl>
                                      </p:cBhvr>
                                    </p:animEffect>
                                  </p:childTnLst>
                                </p:cTn>
                              </p:par>
                              <p:par>
                                <p:cTn id="26" presetID="10" presetClass="entr" presetSubtype="0" fill="hold" grpId="0" nodeType="withEffect">
                                  <p:stCondLst>
                                    <p:cond delay="1080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600"/>
                                        <p:tgtEl>
                                          <p:spTgt spid="17"/>
                                        </p:tgtEl>
                                      </p:cBhvr>
                                    </p:animEffect>
                                  </p:childTnLst>
                                </p:cTn>
                              </p:par>
                              <p:par>
                                <p:cTn id="29" presetID="10" presetClass="entr" presetSubtype="0" fill="hold" grpId="0" nodeType="withEffect">
                                  <p:stCondLst>
                                    <p:cond delay="1440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600"/>
                                        <p:tgtEl>
                                          <p:spTgt spid="23"/>
                                        </p:tgtEl>
                                      </p:cBhvr>
                                    </p:animEffect>
                                  </p:childTnLst>
                                </p:cTn>
                              </p:par>
                              <p:par>
                                <p:cTn id="32" presetID="10" presetClass="entr" presetSubtype="0" fill="hold" grpId="0" nodeType="withEffect">
                                  <p:stCondLst>
                                    <p:cond delay="1800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1" grpId="0"/>
      <p:bldP spid="17" grpId="0"/>
      <p:bldP spid="23" grpId="0"/>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titl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Find out more</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F6B6B"/>
                </a:solidFill>
                <a:latin typeface="Segoe UI"/>
              </a:rPr>
              <a:t>FIND OUT MORE</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Docs, use cases and examples</a:t>
            </a:r>
          </a:p>
        </p:txBody>
      </p:sp>
      <p:grpSp>
        <p:nvGrpSpPr>
          <p:cNvPr id="9" name="Link 1"/>
          <p:cNvGrpSpPr/>
          <p:nvPr/>
        </p:nvGrpSpPr>
        <p:grpSpPr>
          <a:xfrm>
            <a:off x="762000" y="1714500"/>
            <a:ext cx="10668000" cy="800100"/>
            <a:chOff x="762000" y="1714500"/>
            <a:chExt cx="10668000" cy="800100"/>
          </a:xfrm>
        </p:grpSpPr>
        <p:sp>
          <p:nvSpPr>
            <p:cNvPr id="6" name="Shape 4">
              <a:hlinkClick r:id="rId4"/>
            </p:cNvPr>
            <p:cNvSpPr/>
            <p:nvPr/>
          </p:nvSpPr>
          <p:spPr>
            <a:xfrm>
              <a:off x="762000" y="1714500"/>
              <a:ext cx="10668000" cy="800100"/>
            </a:xfrm>
            <a:prstGeom prst="roundRect">
              <a:avLst>
                <a:gd name="adj" fmla="val 17460"/>
              </a:avLst>
            </a:prstGeom>
            <a:solidFill>
              <a:srgbClr val="111A30"/>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hape 5">
              <a:hlinkClick r:id="rId4"/>
            </p:cNvPr>
            <p:cNvSpPr txBox="1"/>
            <p:nvPr/>
          </p:nvSpPr>
          <p:spPr>
            <a:xfrm>
              <a:off x="1016000" y="18288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Authentication design</a:t>
              </a:r>
            </a:p>
          </p:txBody>
        </p:sp>
        <p:sp>
          <p:nvSpPr>
            <p:cNvPr id="8" name="Shape 6">
              <a:hlinkClick r:id="rId4"/>
            </p:cNvPr>
            <p:cNvSpPr txBox="1"/>
            <p:nvPr/>
          </p:nvSpPr>
          <p:spPr>
            <a:xfrm>
              <a:off x="1016000" y="21717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github.com/tmforum-oda/oda-canvas › Authentication-design.md</a:t>
              </a:r>
            </a:p>
          </p:txBody>
        </p:sp>
      </p:grpSp>
      <p:grpSp>
        <p:nvGrpSpPr>
          <p:cNvPr id="13" name="Link 2"/>
          <p:cNvGrpSpPr/>
          <p:nvPr/>
        </p:nvGrpSpPr>
        <p:grpSpPr>
          <a:xfrm>
            <a:off x="762000" y="2667000"/>
            <a:ext cx="10668000" cy="800100"/>
            <a:chOff x="762000" y="2667000"/>
            <a:chExt cx="10668000" cy="800100"/>
          </a:xfrm>
        </p:grpSpPr>
        <p:sp>
          <p:nvSpPr>
            <p:cNvPr id="10" name="Shape 8">
              <a:hlinkClick r:id="rId5"/>
            </p:cNvPr>
            <p:cNvSpPr/>
            <p:nvPr/>
          </p:nvSpPr>
          <p:spPr>
            <a:xfrm>
              <a:off x="762000" y="2667000"/>
              <a:ext cx="10668000" cy="800100"/>
            </a:xfrm>
            <a:prstGeom prst="roundRect">
              <a:avLst>
                <a:gd name="adj" fmla="val 17460"/>
              </a:avLst>
            </a:prstGeom>
            <a:solidFill>
              <a:srgbClr val="111A30"/>
            </a:solidFill>
            <a:ln w="19050">
              <a:solidFill>
                <a:srgbClr val="2F6FED"/>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Shape 9">
              <a:hlinkClick r:id="rId5"/>
            </p:cNvPr>
            <p:cNvSpPr txBox="1"/>
            <p:nvPr/>
          </p:nvSpPr>
          <p:spPr>
            <a:xfrm>
              <a:off x="1016000" y="27813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Use cases</a:t>
              </a:r>
            </a:p>
          </p:txBody>
        </p:sp>
        <p:sp>
          <p:nvSpPr>
            <p:cNvPr id="12" name="Shape 10">
              <a:hlinkClick r:id="rId5"/>
            </p:cNvPr>
            <p:cNvSpPr txBox="1"/>
            <p:nvPr/>
          </p:nvSpPr>
          <p:spPr>
            <a:xfrm>
              <a:off x="1016000" y="31242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UC005 Configure clients and roles · UC007 Configure dependent APIs</a:t>
              </a:r>
            </a:p>
          </p:txBody>
        </p:sp>
      </p:grpSp>
      <p:grpSp>
        <p:nvGrpSpPr>
          <p:cNvPr id="17" name="Link 3"/>
          <p:cNvGrpSpPr/>
          <p:nvPr/>
        </p:nvGrpSpPr>
        <p:grpSpPr>
          <a:xfrm>
            <a:off x="762000" y="3619500"/>
            <a:ext cx="10668000" cy="800100"/>
            <a:chOff x="762000" y="3619500"/>
            <a:chExt cx="10668000" cy="800100"/>
          </a:xfrm>
        </p:grpSpPr>
        <p:sp>
          <p:nvSpPr>
            <p:cNvPr id="14" name="Shape 12">
              <a:hlinkClick r:id="rId6"/>
            </p:cNvPr>
            <p:cNvSpPr/>
            <p:nvPr/>
          </p:nvSpPr>
          <p:spPr>
            <a:xfrm>
              <a:off x="762000" y="3619500"/>
              <a:ext cx="10668000" cy="800100"/>
            </a:xfrm>
            <a:prstGeom prst="roundRect">
              <a:avLst>
                <a:gd name="adj" fmla="val 17460"/>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Shape 13">
              <a:hlinkClick r:id="rId6"/>
            </p:cNvPr>
            <p:cNvSpPr txBox="1"/>
            <p:nvPr/>
          </p:nvSpPr>
          <p:spPr>
            <a:xfrm>
              <a:off x="1016000" y="37338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Operators</a:t>
              </a:r>
            </a:p>
          </p:txBody>
        </p:sp>
        <p:sp>
          <p:nvSpPr>
            <p:cNvPr id="16" name="Shape 14">
              <a:hlinkClick r:id="rId6"/>
            </p:cNvPr>
            <p:cNvSpPr txBox="1"/>
            <p:nvPr/>
          </p:nvSpPr>
          <p:spPr>
            <a:xfrm>
              <a:off x="1016000" y="40767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TMFOP003 Identity Config · TMFOP005 Dependency Management</a:t>
              </a:r>
            </a:p>
          </p:txBody>
        </p:sp>
      </p:grpSp>
      <p:grpSp>
        <p:nvGrpSpPr>
          <p:cNvPr id="21" name="Link 4"/>
          <p:cNvGrpSpPr/>
          <p:nvPr/>
        </p:nvGrpSpPr>
        <p:grpSpPr>
          <a:xfrm>
            <a:off x="762000" y="4572000"/>
            <a:ext cx="10668000" cy="800100"/>
            <a:chOff x="762000" y="4572000"/>
            <a:chExt cx="10668000" cy="800100"/>
          </a:xfrm>
        </p:grpSpPr>
        <p:sp>
          <p:nvSpPr>
            <p:cNvPr id="18" name="Shape 16">
              <a:hlinkClick r:id="rId7"/>
            </p:cNvPr>
            <p:cNvSpPr/>
            <p:nvPr/>
          </p:nvSpPr>
          <p:spPr>
            <a:xfrm>
              <a:off x="762000" y="4572000"/>
              <a:ext cx="10668000" cy="800100"/>
            </a:xfrm>
            <a:prstGeom prst="roundRect">
              <a:avLst>
                <a:gd name="adj" fmla="val 17460"/>
              </a:avLst>
            </a:prstGeom>
            <a:solidFill>
              <a:srgbClr val="111A30"/>
            </a:solidFill>
            <a:ln w="19050">
              <a:solidFill>
                <a:srgbClr val="F5A62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Shape 17">
              <a:hlinkClick r:id="rId7"/>
            </p:cNvPr>
            <p:cNvSpPr txBox="1"/>
            <p:nvPr/>
          </p:nvSpPr>
          <p:spPr>
            <a:xfrm>
              <a:off x="1016000" y="46863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Example components and test data</a:t>
              </a:r>
            </a:p>
          </p:txBody>
        </p:sp>
        <p:sp>
          <p:nvSpPr>
            <p:cNvPr id="20" name="Shape 18">
              <a:hlinkClick r:id="rId7"/>
            </p:cNvPr>
            <p:cNvSpPr txBox="1"/>
            <p:nvPr/>
          </p:nvSpPr>
          <p:spPr>
            <a:xfrm>
              <a:off x="1016000" y="50292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github.com/tmforum-oda/reference-example-components</a:t>
              </a:r>
            </a:p>
          </p:txBody>
        </p:sp>
      </p:grpSp>
      <p:sp>
        <p:nvSpPr>
          <p:cNvPr id="22" name="Welcome"/>
          <p:cNvSpPr txBox="1"/>
          <p:nvPr/>
        </p:nvSpPr>
        <p:spPr>
          <a:xfrm>
            <a:off x="762000" y="5715000"/>
            <a:ext cx="10160000" cy="381000"/>
          </a:xfrm>
          <a:prstGeom prst="rect">
            <a:avLst/>
          </a:prstGeom>
          <a:noFill/>
        </p:spPr>
        <p:txBody>
          <a:bodyPr wrap="square" lIns="0" tIns="0" rIns="0" bIns="0" anchor="t">
            <a:spAutoFit/>
          </a:bodyPr>
          <a:lstStyle/>
          <a:p>
            <a:pPr algn="l">
              <a:lnSpc>
                <a:spcPct val="115000"/>
              </a:lnSpc>
            </a:pPr>
            <a:r>
              <a:rPr sz="2000" b="1">
                <a:solidFill>
                  <a:srgbClr val="1FC7A8"/>
                </a:solidFill>
                <a:latin typeface="Segoe UI"/>
              </a:rPr>
              <a:t>Comments and contributions welcome.</a:t>
            </a:r>
          </a:p>
        </p:txBody>
      </p:sp>
    </p:spTree>
  </p:cSld>
  <p:clrMapOvr>
    <a:masterClrMapping/>
  </p:clrMapOvr>
  <mc:AlternateContent xmlns:mc="http://schemas.openxmlformats.org/markup-compatibility/2006">
    <mc:Choice xmlns:p14="http://schemas.microsoft.com/office/powerpoint/2010/main" Requires="p14">
      <p:transition spd="slow" p14:dur="2000" advTm="17500"/>
    </mc:Choice>
    <mc:Fallback>
      <p:transition spd="slow" advTm="17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60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600" fill="hold"/>
                                        <p:tgtEl>
                                          <p:spTgt spid="9"/>
                                        </p:tgtEl>
                                        <p:attrNameLst>
                                          <p:attrName>ppt_x</p:attrName>
                                        </p:attrNameLst>
                                      </p:cBhvr>
                                      <p:tavLst>
                                        <p:tav tm="0">
                                          <p:val>
                                            <p:strVal val="#ppt_x"/>
                                          </p:val>
                                        </p:tav>
                                        <p:tav tm="100000">
                                          <p:val>
                                            <p:strVal val="#ppt_x"/>
                                          </p:val>
                                        </p:tav>
                                      </p:tavLst>
                                    </p:anim>
                                    <p:anim calcmode="lin" valueType="num">
                                      <p:cBhvr additive="base">
                                        <p:cTn id="14" dur="6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260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600" fill="hold"/>
                                        <p:tgtEl>
                                          <p:spTgt spid="13"/>
                                        </p:tgtEl>
                                        <p:attrNameLst>
                                          <p:attrName>ppt_x</p:attrName>
                                        </p:attrNameLst>
                                      </p:cBhvr>
                                      <p:tavLst>
                                        <p:tav tm="0">
                                          <p:val>
                                            <p:strVal val="#ppt_x"/>
                                          </p:val>
                                        </p:tav>
                                        <p:tav tm="100000">
                                          <p:val>
                                            <p:strVal val="#ppt_x"/>
                                          </p:val>
                                        </p:tav>
                                      </p:tavLst>
                                    </p:anim>
                                    <p:anim calcmode="lin" valueType="num">
                                      <p:cBhvr additive="base">
                                        <p:cTn id="18" dur="6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46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600" fill="hold"/>
                                        <p:tgtEl>
                                          <p:spTgt spid="17"/>
                                        </p:tgtEl>
                                        <p:attrNameLst>
                                          <p:attrName>ppt_x</p:attrName>
                                        </p:attrNameLst>
                                      </p:cBhvr>
                                      <p:tavLst>
                                        <p:tav tm="0">
                                          <p:val>
                                            <p:strVal val="#ppt_x"/>
                                          </p:val>
                                        </p:tav>
                                        <p:tav tm="100000">
                                          <p:val>
                                            <p:strVal val="#ppt_x"/>
                                          </p:val>
                                        </p:tav>
                                      </p:tavLst>
                                    </p:anim>
                                    <p:anim calcmode="lin" valueType="num">
                                      <p:cBhvr additive="base">
                                        <p:cTn id="22" dur="600" fill="hold"/>
                                        <p:tgtEl>
                                          <p:spTgt spid="1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720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600" fill="hold"/>
                                        <p:tgtEl>
                                          <p:spTgt spid="21"/>
                                        </p:tgtEl>
                                        <p:attrNameLst>
                                          <p:attrName>ppt_x</p:attrName>
                                        </p:attrNameLst>
                                      </p:cBhvr>
                                      <p:tavLst>
                                        <p:tav tm="0">
                                          <p:val>
                                            <p:strVal val="#ppt_x"/>
                                          </p:val>
                                        </p:tav>
                                        <p:tav tm="100000">
                                          <p:val>
                                            <p:strVal val="#ppt_x"/>
                                          </p:val>
                                        </p:tav>
                                      </p:tavLst>
                                    </p:anim>
                                    <p:anim calcmode="lin" valueType="num">
                                      <p:cBhvr additive="base">
                                        <p:cTn id="26" dur="600" fill="hold"/>
                                        <p:tgtEl>
                                          <p:spTgt spid="21"/>
                                        </p:tgtEl>
                                        <p:attrNameLst>
                                          <p:attrName>ppt_y</p:attrName>
                                        </p:attrNameLst>
                                      </p:cBhvr>
                                      <p:tavLst>
                                        <p:tav tm="0">
                                          <p:val>
                                            <p:strVal val="1+#ppt_h/2"/>
                                          </p:val>
                                        </p:tav>
                                        <p:tav tm="100000">
                                          <p:val>
                                            <p:strVal val="#ppt_y"/>
                                          </p:val>
                                        </p:tav>
                                      </p:tavLst>
                                    </p:anim>
                                  </p:childTnLst>
                                </p:cTn>
                              </p:par>
                              <p:par>
                                <p:cTn id="27" presetID="10" presetClass="entr" presetSubtype="0" fill="hold" grpId="0" nodeType="withEffect">
                                  <p:stCondLst>
                                    <p:cond delay="1280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1640</Words>
  <Application>Microsoft Office PowerPoint</Application>
  <PresentationFormat>Widescreen</PresentationFormat>
  <Paragraphs>98</Paragraphs>
  <Slides>20</Slides>
  <Notes>20</Notes>
  <HiddenSlides>0</HiddenSlides>
  <MMClips>15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Segoe UI</vt:lpstr>
      <vt:lpstr>Office Theme</vt:lpstr>
      <vt:lpstr>Title (presenter introduction)</vt:lpstr>
      <vt:lpstr>Four questions</vt:lpstr>
      <vt:lpstr>Components declare, the Canvas implements</vt:lpstr>
      <vt:lpstr>Every component gets its own client</vt:lpstr>
      <vt:lpstr>The Canvas system role</vt:lpstr>
      <vt:lpstr>Static and dynamic roles</vt:lpstr>
      <vt:lpstr>A grant is also a connection</vt:lpstr>
      <vt:lpstr>The scenario</vt:lpstr>
      <vt:lpstr>Deploy the product catalog</vt:lpstr>
      <vt:lpstr>Its client appears in Keycloak</vt:lpstr>
      <vt:lpstr>Static roles</vt:lpstr>
      <vt:lpstr>Dynamic roles through TMF672</vt:lpstr>
      <vt:lpstr>Deploy the order and inventory components</vt:lpstr>
      <vt:lpstr>Grant a catalog role, and the dependency is met</vt:lpstr>
      <vt:lpstr>The same for the inventory</vt:lpstr>
      <vt:lpstr>Send a product order</vt:lpstr>
      <vt:lpstr>What happened behind the scenes</vt:lpstr>
      <vt:lpstr>Automated cleanup</vt:lpstr>
      <vt:lpstr>Answers to the four questions</vt:lpstr>
      <vt:lpstr>Find out more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Authentication and Authorization in the ODA Canvas</dc:title>
  <dc:subject/>
  <dc:creator/>
  <cp:keywords/>
  <dc:description>generated using python-pptx</dc:description>
  <cp:lastModifiedBy>Lester Thomas</cp:lastModifiedBy>
  <cp:revision>2</cp:revision>
  <dcterms:created xsi:type="dcterms:W3CDTF">2013-01-27T09:14:16Z</dcterms:created>
  <dcterms:modified xsi:type="dcterms:W3CDTF">2026-10-18T09:20:57Z</dcterms:modified>
  <cp:category/>
</cp:coreProperties>
</file>