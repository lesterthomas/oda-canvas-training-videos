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859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agents are quickly becoming the way service providers deliver intelligent, autonomous services.</a:t>
            </a:r>
          </a:p>
          <a:p>
            <a:endParaRPr/>
          </a:p>
          <a:p>
            <a:r>
              <a:t>Most organisations started with a few pilots. Each team wired its agents directly to its favourite model provider. That works for a demo. At enterprise scale it brings lock-in, hidden costs and inconsistent guardrails. The AI-Native Canvas takes a different approach. Agents are packaged as ODA Components. They declare the tools and models they need, and the Canvas grants governed access.</a:t>
            </a:r>
          </a:p>
          <a:p>
            <a:endParaRPr/>
          </a:p>
          <a:p>
            <a:r>
              <a:t>In this video, we look at how components become tools for agents, and how agents become components. We cover model as a service and the model gateway. We look at the services needed to run AI at scale. And we finish with how AI is helping us build the Canvas itself.</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AI-Native Canvas work started from three questions. How do we expose ODA Components as tools for AI agents? How do we deploy the agents themselves as components? And how do we operate many agents, from many vendors, with proper governance? This video adds a fourth question. How can AI help us build the Canvas?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 Forum's Catalyst projects show where the industry is heading. At DTW twenty twenty-six, there were fifty-nine Catalysts. Nine in ten used AI. About half were built from AI agents, often several agents working together. More than half targeted autonomous networks. About one in five tackled trust, security and governance for agents. And several built the platform that agents need, such as registries, runtimes and a model gateway. Much of the work in the AI-Native Canvas is lessons learned from these Catalyst projects.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Components already declare the APIs they expose. That includes cross-industry APIs such as OpenMetrics. So adding MCP was simple. MCP became one more API type. The product catalog test component exposes an MCP server beside its Open APIs. MCP keeps long-lived connections open, unlike short REST calls. Because the component declares the type, the API operator configures the gateway for it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heart of an MCP server is its plain-language description of each tool and argument. Swagger files were written for API experts. Agents need more. In testing, detailed explanations and concrete examples made the difference. One agent only used the filter argument correctly once an example was added. Version five of the TM Forum Open APIs includes JSON examples. They cover request and response payloads, embedded directly in the Open API specifications. That lets us generate MCP servers automatically.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question is about packaging agents as components. Four assumptions shape the design. Models run as services on the platform, and agents reach them through APIs. Service providers keep approved catalogues of models. Agents are non-deterministic, so they need continuous evaluation, not just fixed tests. And agents need extra services, such as vector databases and anonymisation, which the Canvas should provide.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those assumptions, the component model extends naturally. A component already lists the APIs it depends on. Now it can list the AI models it depends on, in priority order. It describes its use case, and the guardrail thresholds it needs. The Canvas grants access to whichever models are on the approved list. This starts as an experimental resource of its own, called dependent AI model. Later it will join the main component specification.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TM Forum's Model as a Service guide starts with a simple observation. Training builds intelligence, but inference builds cost. Today, many teams wire their agents directly to model providers. That creates lock-in, hidden costs and inconsistent guardrails. Every team rebuilds the same plumbing. Model as a service puts a control plane between agents and models. It separates the demand for intelligence from its supply.</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guide weighed three options. Standardising on one hyperscaler's AI service was rejected. It just trades model lock-in for platform lock-in. Waiting for an industry-wide standard was judged premature, because the market moves too fast. Model as a service was selected. It gives a service provider its own standard layer today, without waiting for the market to settle.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control plane offers a consistent set of services. One standard API reaches every model, internal or external. A catalogue helps developers pick the most efficient model that does the job. Routing fails over when a provider goes down. Golden datasets catch silent quality drift. Tracing follows every request end to end. Guardrails block prompt attacks and redact personal data. And cost tracking stops a runaway agent from blowing the budget.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Canvas, this is the job of the Model-as-a-Service operator. It's experimental today. The operator reads the models a component depends on. It configures the model gateway. Then it gives the component a credential and an endpoint. From then on, every model call goes through the gateway. Guardrails are enforced, and each call is recorded for audit, observability and cost.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the Model Gateway will appear in the Canvas Portal. The list shows the AI models available through the gateway. They cover high, medium and fast reasoning, and multimodal models. Each comes from a primary or an open provider, with its own gateway endpoint. The Portal can test the connection. It gets a token, lists the models, and sends a prompt through the gateway.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guide also explains what drives the cost of each answer. It names six levers. The first three are capability, accuracy and latency. The next three are throughput, context window and token efficiency. A cheaper model is a false economy if it fails the task. But the most capable model is often more than a task needs. The aim is sufficient intelligence at the optimal cost.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run agents from many vendors, the Canvas needs a broader set of services. It needs access to language, embedding and multimodal models. It needs classical machine learning, with proper MLOps. It needs supporting services, such as vector databases. Observability must cover model calls, with LangSmith, OpenLLMetry or another platform. And it needs the model gateway, an evaluation framework, and a registry of agents, tools and use cases.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is how it fits together. Agentic components sit beside the standard components. Systems of record expose MCP, so agents can use them as tools. Agents publish agent cards, using agent-to-agent standards, so other agents can discover them. Agentic components are shown in white on purpose. Like engagement systems, agents can differentiate a service provider. They don't have to be standard, but they still follow the component model. The model and data operators, both experimental, extend the Canvas to models and data products.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everything on the Canvas is declared, the Canvas can describe itself. The reference implementation includes a resource inventory, based on the TMF six three nine Open API. It registers every component, API and agent. Like any TM Forum API, it is also offered as an MCP server. An operations agent, if requested and given the permissions, can ask what is deployed. It can also draw a component and its APIs. The MCP server also has Helm tools, so an agent can propose installing a component.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agents are non-deterministic, they should ship with evaluation data. Before deployment, a golden set of questions sets a baseline. The TM Forum AI assistant used eighty-seven questions. In production, real questions and answers are logged and scored. People and AI evaluators rate them for relevance, accuracy and completeness. So a change, such as a new model, is checked against the baseline before it goes live.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AI tools we use to build the Canvas follow the same rule. Google's DORA report studied AI-assisted software development. It found that AI is an amplifier. It magnifies the strengths of high-performing teams. It also magnifies the dysfunctions of struggling ones. With a modular, loosely coupled, API-first architecture, AI amplifies that. With a tightly coupled monolith, AI amplifies the chaos.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Open Digital Architecture is a good fit for AI development. Modular components give an agent small, well bounded tasks. Open APIs and shared data models give it clear contracts to code against. The component specification is declarative, so the result can be checked. And the use cases and BDD tests let an agent verify its own work.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repository documents itself for AI agents. There's an AGENTS dot M D file at the root, and in each main area of the repository. AGENTS dot M D is an open format that most coding agents read. It tells an agent what the project is, how it's structured, and the do's and don'ts. The operators folder, for example, explains the operator pattern and its code conventions.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 skills go a step further. A skill is a folder with a SKILL dot M D file, plus any scripts and references it needs. Its description tells the agent when to load it. Agent Skills is an open standard. The same skill works with Claude Code, GitHub Copilot and Codex. It works with Google Antigravity, Cursor or another agent too. That turns expert knowledge into a reusable asset. It's written once, and every contributor's agent can use it.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Canvas repository already has a set of skills. They cover operating the Canvas, writing use cases and BDD features, Helm charts and CI. The create-oda-operator skill helps anyone build a new Canvas operator with AI. It gives the agent the framework, the pinned versions, and a map of existing operators to copy from. A contributor's agent starts with the knowledge of the core team.</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where things stand. MCP as an exposed API type, and the resource inventory MCP server, are available today. The Model-as-a-Service operator, the model gateway and the data product operator are experimental. So is the dependent AI model resource, which will later join the component specification. A model manager for classical machine learning is still a proposal. And the AGENTS dot M D files and agent skills are ready to use now.</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find out more, read the AI-Native Canvas design in the oda-canvas repository. Then read TM Forum's Model as a Service guide. The work happens in the open, in the TM Forum Innovation Hub. If you'd like to contribute, point your coding agent at the repository. Its AGENTS dot M D files and skills will help it get started. The repository is on GitHub, at TM Forum dash ODA slash ODA Canvas.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9.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18.png"/><Relationship Id="rId10" Type="http://schemas.openxmlformats.org/officeDocument/2006/relationships/image" Target="../media/image21.png"/><Relationship Id="rId4" Type="http://schemas.openxmlformats.org/officeDocument/2006/relationships/image" Target="../media/image5.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2.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2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27.png"/><Relationship Id="rId10"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2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29.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9.mp4"/><Relationship Id="rId1" Type="http://schemas.microsoft.com/office/2007/relationships/media" Target="../media/media9.mp4"/><Relationship Id="rId5" Type="http://schemas.openxmlformats.org/officeDocument/2006/relationships/image" Target="../media/image3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0.mp4"/><Relationship Id="rId1" Type="http://schemas.microsoft.com/office/2007/relationships/media" Target="../media/media10.mp4"/><Relationship Id="rId5" Type="http://schemas.openxmlformats.org/officeDocument/2006/relationships/image" Target="../media/image3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1.mp4"/><Relationship Id="rId1" Type="http://schemas.microsoft.com/office/2007/relationships/media" Target="../media/media11.mp4"/><Relationship Id="rId5" Type="http://schemas.openxmlformats.org/officeDocument/2006/relationships/image" Target="../media/image3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2.mp4"/><Relationship Id="rId1" Type="http://schemas.microsoft.com/office/2007/relationships/media" Target="../media/media12.mp4"/><Relationship Id="rId5" Type="http://schemas.openxmlformats.org/officeDocument/2006/relationships/image" Target="../media/image3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3.mp4"/><Relationship Id="rId1" Type="http://schemas.microsoft.com/office/2007/relationships/media" Target="../media/media13.mp4"/><Relationship Id="rId5" Type="http://schemas.openxmlformats.org/officeDocument/2006/relationships/image" Target="../media/image39.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hyperlink" Target="https://github.com/tmforum-oda/oda-agent-skills-marketplace" TargetMode="External"/><Relationship Id="rId5" Type="http://schemas.openxmlformats.org/officeDocument/2006/relationships/hyperlink" Target="https://github.com/tmforum-oda/oda-canvas/tree/main/skills" TargetMode="External"/><Relationship Id="rId4" Type="http://schemas.openxmlformats.org/officeDocument/2006/relationships/hyperlink" Target="https://github.com/tmforum-oda/oda-canvas/blob/main/AI-Native-Canvas-design.m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The AI-Native ODA Canvas (presenter introduction)</a:t>
            </a:r>
          </a:p>
        </p:txBody>
      </p:sp>
      <p:pic>
        <p:nvPicPr>
          <p:cNvPr id="4" name="Canvas" descr="canvas-dark.png"/>
          <p:cNvPicPr>
            <a:picLocks noChangeAspect="1"/>
          </p:cNvPicPr>
          <p:nvPr/>
        </p:nvPicPr>
        <p:blipFill>
          <a:blip r:embed="rId4"/>
          <a:stretch>
            <a:fillRect/>
          </a:stretch>
        </p:blipFill>
        <p:spPr>
          <a:xfrm>
            <a:off x="6350000" y="3556000"/>
            <a:ext cx="5207000" cy="1923336"/>
          </a:xfrm>
          <a:prstGeom prst="rect">
            <a:avLst/>
          </a:prstGeom>
        </p:spPr>
      </p:pic>
      <p:pic>
        <p:nvPicPr>
          <p:cNvPr id="5" name="Agent" descr="oda-agent.png"/>
          <p:cNvPicPr>
            <a:picLocks noChangeAspect="1"/>
          </p:cNvPicPr>
          <p:nvPr/>
        </p:nvPicPr>
        <p:blipFill>
          <a:blip r:embed="rId5"/>
          <a:stretch>
            <a:fillRect/>
          </a:stretch>
        </p:blipFill>
        <p:spPr>
          <a:xfrm>
            <a:off x="8032750" y="1492250"/>
            <a:ext cx="1841500" cy="1739194"/>
          </a:xfrm>
          <a:prstGeom prst="rect">
            <a:avLst/>
          </a:prstGeom>
        </p:spPr>
      </p:pic>
      <p:pic>
        <p:nvPicPr>
          <p:cNvPr id="6" name="Spark" descr="icon-spark-f472b6.png"/>
          <p:cNvPicPr>
            <a:picLocks noChangeAspect="1"/>
          </p:cNvPicPr>
          <p:nvPr/>
        </p:nvPicPr>
        <p:blipFill>
          <a:blip r:embed="rId6"/>
          <a:stretch>
            <a:fillRect/>
          </a:stretch>
        </p:blipFill>
        <p:spPr>
          <a:xfrm>
            <a:off x="10160000" y="1587500"/>
            <a:ext cx="825500" cy="825500"/>
          </a:xfrm>
          <a:prstGeom prst="rect">
            <a:avLst/>
          </a:prstGeom>
        </p:spPr>
      </p:pic>
      <p:sp>
        <p:nvSpPr>
          <p:cNvPr id="7" name="Intro"/>
          <p:cNvSpPr txBox="1"/>
          <p:nvPr/>
        </p:nvSpPr>
        <p:spPr>
          <a:xfrm>
            <a:off x="762000" y="1905000"/>
            <a:ext cx="5715000" cy="381000"/>
          </a:xfrm>
          <a:prstGeom prst="rect">
            <a:avLst/>
          </a:prstGeom>
          <a:noFill/>
        </p:spPr>
        <p:txBody>
          <a:bodyPr wrap="square" lIns="0" tIns="0" rIns="0" bIns="0" anchor="t">
            <a:spAutoFit/>
          </a:bodyPr>
          <a:lstStyle/>
          <a:p>
            <a:pPr algn="l">
              <a:lnSpc>
                <a:spcPct val="115000"/>
              </a:lnSpc>
            </a:pPr>
            <a:r>
              <a:rPr sz="2000" b="1">
                <a:solidFill>
                  <a:srgbClr val="8F9BB8"/>
                </a:solidFill>
                <a:latin typeface="Segoe UI"/>
              </a:rPr>
              <a:t>Training series · Part 4</a:t>
            </a:r>
          </a:p>
        </p:txBody>
      </p:sp>
      <p:sp>
        <p:nvSpPr>
          <p:cNvPr id="8" name="Name"/>
          <p:cNvSpPr txBox="1"/>
          <p:nvPr/>
        </p:nvSpPr>
        <p:spPr>
          <a:xfrm>
            <a:off x="762000" y="2286000"/>
            <a:ext cx="6350000" cy="1651000"/>
          </a:xfrm>
          <a:prstGeom prst="rect">
            <a:avLst/>
          </a:prstGeom>
          <a:noFill/>
        </p:spPr>
        <p:txBody>
          <a:bodyPr wrap="square" lIns="0" tIns="0" rIns="0" bIns="0" anchor="t">
            <a:spAutoFit/>
          </a:bodyPr>
          <a:lstStyle/>
          <a:p>
            <a:pPr algn="l">
              <a:lnSpc>
                <a:spcPct val="100000"/>
              </a:lnSpc>
            </a:pPr>
            <a:r>
              <a:rPr sz="3900" b="1">
                <a:solidFill>
                  <a:srgbClr val="F2F5FB"/>
                </a:solidFill>
                <a:latin typeface="Segoe UI"/>
              </a:rPr>
              <a:t>The </a:t>
            </a:r>
            <a:r>
              <a:rPr sz="3900" b="1">
                <a:solidFill>
                  <a:srgbClr val="F472B6"/>
                </a:solidFill>
                <a:latin typeface="Segoe UI"/>
              </a:rPr>
              <a:t>AI-Native</a:t>
            </a:r>
          </a:p>
          <a:p>
            <a:pPr algn="l">
              <a:lnSpc>
                <a:spcPct val="100000"/>
              </a:lnSpc>
            </a:pPr>
            <a:r>
              <a:rPr sz="3900" b="1">
                <a:solidFill>
                  <a:srgbClr val="F2F5FB"/>
                </a:solidFill>
                <a:latin typeface="Segoe UI"/>
              </a:rPr>
              <a:t>ODA Canvas</a:t>
            </a:r>
          </a:p>
        </p:txBody>
      </p:sp>
      <p:sp>
        <p:nvSpPr>
          <p:cNvPr id="9" name="Topics"/>
          <p:cNvSpPr/>
          <p:nvPr/>
        </p:nvSpPr>
        <p:spPr>
          <a:xfrm>
            <a:off x="787400" y="3810000"/>
            <a:ext cx="5270500" cy="28575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300" b="1">
                <a:solidFill>
                  <a:srgbClr val="F2F5FB"/>
                </a:solidFill>
                <a:latin typeface="Segoe UI"/>
              </a:rPr>
              <a:t>Agents · models · governance · AI-assisted development</a:t>
            </a:r>
          </a:p>
        </p:txBody>
      </p:sp>
    </p:spTree>
  </p:cSld>
  <p:clrMapOvr>
    <a:masterClrMapping/>
  </p:clrMapOvr>
  <mc:AlternateContent xmlns:mc="http://schemas.openxmlformats.org/markup-compatibility/2006">
    <mc:Choice xmlns:p14="http://schemas.microsoft.com/office/powerpoint/2010/main" Requires="p14">
      <p:transition spd="slow" p14:dur="2000" advTm="51500"/>
    </mc:Choice>
    <mc:Fallback>
      <p:transition spd="slow" advTm="51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800"/>
                                        <p:tgtEl>
                                          <p:spTgt spid="7"/>
                                        </p:tgtEl>
                                      </p:cBhvr>
                                    </p:animEffect>
                                  </p:childTnLst>
                                </p:cTn>
                              </p:par>
                              <p:par>
                                <p:cTn id="8" presetID="10" presetClass="entr" presetSubtype="0" fill="hold" grpId="0" nodeType="withEffect">
                                  <p:stCondLst>
                                    <p:cond delay="2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800"/>
                                        <p:tgtEl>
                                          <p:spTgt spid="8"/>
                                        </p:tgtEl>
                                      </p:cBhvr>
                                    </p:animEffect>
                                  </p:childTnLst>
                                </p:cTn>
                              </p:par>
                              <p:par>
                                <p:cTn id="11" presetID="10" presetClass="entr" presetSubtype="0" fill="hold" nodeType="withEffect">
                                  <p:stCondLst>
                                    <p:cond delay="9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800"/>
                                        <p:tgtEl>
                                          <p:spTgt spid="4"/>
                                        </p:tgtEl>
                                      </p:cBhvr>
                                    </p:animEffect>
                                  </p:childTnLst>
                                </p:cTn>
                              </p:par>
                              <p:par>
                                <p:cTn id="14" presetID="58" presetClass="entr" presetSubtype="0" accel="100000" fill="hold" nodeType="withEffect">
                                  <p:stCondLst>
                                    <p:cond delay="1600"/>
                                  </p:stCondLst>
                                  <p:childTnLst>
                                    <p:set>
                                      <p:cBhvr>
                                        <p:cTn id="15" dur="1" fill="hold">
                                          <p:stCondLst>
                                            <p:cond delay="0"/>
                                          </p:stCondLst>
                                        </p:cTn>
                                        <p:tgtEl>
                                          <p:spTgt spid="5"/>
                                        </p:tgtEl>
                                        <p:attrNameLst>
                                          <p:attrName>style.visibility</p:attrName>
                                        </p:attrNameLst>
                                      </p:cBhvr>
                                      <p:to>
                                        <p:strVal val="visible"/>
                                      </p:to>
                                    </p:set>
                                    <p:anim calcmode="lin" valueType="num">
                                      <p:cBhvr>
                                        <p:cTn id="16" dur="800" fill="hold"/>
                                        <p:tgtEl>
                                          <p:spTgt spid="5"/>
                                        </p:tgtEl>
                                        <p:attrNameLst>
                                          <p:attrName>ppt_w</p:attrName>
                                        </p:attrNameLst>
                                      </p:cBhvr>
                                      <p:tavLst>
                                        <p:tav tm="0">
                                          <p:val>
                                            <p:strVal val="#ppt_w*2.5"/>
                                          </p:val>
                                        </p:tav>
                                        <p:tav tm="100000">
                                          <p:val>
                                            <p:strVal val="#ppt_w"/>
                                          </p:val>
                                        </p:tav>
                                      </p:tavLst>
                                    </p:anim>
                                    <p:anim calcmode="lin" valueType="num">
                                      <p:cBhvr>
                                        <p:cTn id="17" dur="800" fill="hold"/>
                                        <p:tgtEl>
                                          <p:spTgt spid="5"/>
                                        </p:tgtEl>
                                        <p:attrNameLst>
                                          <p:attrName>ppt_h</p:attrName>
                                        </p:attrNameLst>
                                      </p:cBhvr>
                                      <p:tavLst>
                                        <p:tav tm="0">
                                          <p:val>
                                            <p:strVal val="#ppt_h*0.01"/>
                                          </p:val>
                                        </p:tav>
                                        <p:tav tm="100000">
                                          <p:val>
                                            <p:strVal val="#ppt_h"/>
                                          </p:val>
                                        </p:tav>
                                      </p:tavLst>
                                    </p:anim>
                                    <p:anim calcmode="lin" valueType="num">
                                      <p:cBhvr>
                                        <p:cTn id="18" dur="800" fill="hold"/>
                                        <p:tgtEl>
                                          <p:spTgt spid="5"/>
                                        </p:tgtEl>
                                        <p:attrNameLst>
                                          <p:attrName>ppt_x</p:attrName>
                                        </p:attrNameLst>
                                      </p:cBhvr>
                                      <p:tavLst>
                                        <p:tav tm="0">
                                          <p:val>
                                            <p:strVal val="#ppt_x"/>
                                          </p:val>
                                        </p:tav>
                                        <p:tav tm="100000">
                                          <p:val>
                                            <p:strVal val="#ppt_x"/>
                                          </p:val>
                                        </p:tav>
                                      </p:tavLst>
                                    </p:anim>
                                    <p:anim calcmode="lin" valueType="num">
                                      <p:cBhvr>
                                        <p:cTn id="19" dur="800" fill="hold"/>
                                        <p:tgtEl>
                                          <p:spTgt spid="5"/>
                                        </p:tgtEl>
                                        <p:attrNameLst>
                                          <p:attrName>ppt_y</p:attrName>
                                        </p:attrNameLst>
                                      </p:cBhvr>
                                      <p:tavLst>
                                        <p:tav tm="0">
                                          <p:val>
                                            <p:strVal val="#ppt_h+1"/>
                                          </p:val>
                                        </p:tav>
                                        <p:tav tm="100000">
                                          <p:val>
                                            <p:strVal val="#ppt_y"/>
                                          </p:val>
                                        </p:tav>
                                      </p:tavLst>
                                    </p:anim>
                                    <p:animEffect transition="in" filter="fade">
                                      <p:cBhvr>
                                        <p:cTn id="20" dur="800"/>
                                        <p:tgtEl>
                                          <p:spTgt spid="5"/>
                                        </p:tgtEl>
                                      </p:cBhvr>
                                    </p:animEffect>
                                  </p:childTnLst>
                                </p:cTn>
                              </p:par>
                              <p:par>
                                <p:cTn id="21" presetID="58" presetClass="entr" presetSubtype="0" accel="100000" fill="hold" nodeType="withEffect">
                                  <p:stCondLst>
                                    <p:cond delay="2400"/>
                                  </p:stCondLst>
                                  <p:childTnLst>
                                    <p:set>
                                      <p:cBhvr>
                                        <p:cTn id="22" dur="1" fill="hold">
                                          <p:stCondLst>
                                            <p:cond delay="0"/>
                                          </p:stCondLst>
                                        </p:cTn>
                                        <p:tgtEl>
                                          <p:spTgt spid="6"/>
                                        </p:tgtEl>
                                        <p:attrNameLst>
                                          <p:attrName>style.visibility</p:attrName>
                                        </p:attrNameLst>
                                      </p:cBhvr>
                                      <p:to>
                                        <p:strVal val="visible"/>
                                      </p:to>
                                    </p:set>
                                    <p:anim calcmode="lin" valueType="num">
                                      <p:cBhvr>
                                        <p:cTn id="23" dur="600" fill="hold"/>
                                        <p:tgtEl>
                                          <p:spTgt spid="6"/>
                                        </p:tgtEl>
                                        <p:attrNameLst>
                                          <p:attrName>ppt_w</p:attrName>
                                        </p:attrNameLst>
                                      </p:cBhvr>
                                      <p:tavLst>
                                        <p:tav tm="0">
                                          <p:val>
                                            <p:strVal val="#ppt_w*2.5"/>
                                          </p:val>
                                        </p:tav>
                                        <p:tav tm="100000">
                                          <p:val>
                                            <p:strVal val="#ppt_w"/>
                                          </p:val>
                                        </p:tav>
                                      </p:tavLst>
                                    </p:anim>
                                    <p:anim calcmode="lin" valueType="num">
                                      <p:cBhvr>
                                        <p:cTn id="24" dur="600" fill="hold"/>
                                        <p:tgtEl>
                                          <p:spTgt spid="6"/>
                                        </p:tgtEl>
                                        <p:attrNameLst>
                                          <p:attrName>ppt_h</p:attrName>
                                        </p:attrNameLst>
                                      </p:cBhvr>
                                      <p:tavLst>
                                        <p:tav tm="0">
                                          <p:val>
                                            <p:strVal val="#ppt_h*0.01"/>
                                          </p:val>
                                        </p:tav>
                                        <p:tav tm="100000">
                                          <p:val>
                                            <p:strVal val="#ppt_h"/>
                                          </p:val>
                                        </p:tav>
                                      </p:tavLst>
                                    </p:anim>
                                    <p:anim calcmode="lin" valueType="num">
                                      <p:cBhvr>
                                        <p:cTn id="25" dur="600" fill="hold"/>
                                        <p:tgtEl>
                                          <p:spTgt spid="6"/>
                                        </p:tgtEl>
                                        <p:attrNameLst>
                                          <p:attrName>ppt_x</p:attrName>
                                        </p:attrNameLst>
                                      </p:cBhvr>
                                      <p:tavLst>
                                        <p:tav tm="0">
                                          <p:val>
                                            <p:strVal val="#ppt_x"/>
                                          </p:val>
                                        </p:tav>
                                        <p:tav tm="100000">
                                          <p:val>
                                            <p:strVal val="#ppt_x"/>
                                          </p:val>
                                        </p:tav>
                                      </p:tavLst>
                                    </p:anim>
                                    <p:anim calcmode="lin" valueType="num">
                                      <p:cBhvr>
                                        <p:cTn id="26" dur="600" fill="hold"/>
                                        <p:tgtEl>
                                          <p:spTgt spid="6"/>
                                        </p:tgtEl>
                                        <p:attrNameLst>
                                          <p:attrName>ppt_y</p:attrName>
                                        </p:attrNameLst>
                                      </p:cBhvr>
                                      <p:tavLst>
                                        <p:tav tm="0">
                                          <p:val>
                                            <p:strVal val="#ppt_h+1"/>
                                          </p:val>
                                        </p:tav>
                                        <p:tav tm="100000">
                                          <p:val>
                                            <p:strVal val="#ppt_y"/>
                                          </p:val>
                                        </p:tav>
                                      </p:tavLst>
                                    </p:anim>
                                    <p:animEffect transition="in" filter="fade">
                                      <p:cBhvr>
                                        <p:cTn id="27" dur="600"/>
                                        <p:tgtEl>
                                          <p:spTgt spid="6"/>
                                        </p:tgtEl>
                                      </p:cBhvr>
                                    </p:animEffect>
                                  </p:childTnLst>
                                </p:cTn>
                              </p:par>
                              <p:par>
                                <p:cTn id="28" presetID="10" presetClass="entr" presetSubtype="0" fill="hold" grpId="0" nodeType="withEffect">
                                  <p:stCondLst>
                                    <p:cond delay="3040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6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Four questions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THE AI-NATIVE CANVAS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Four questions</a:t>
            </a:r>
          </a:p>
        </p:txBody>
      </p:sp>
      <p:grpSp>
        <p:nvGrpSpPr>
          <p:cNvPr id="10" name="Question 1"/>
          <p:cNvGrpSpPr/>
          <p:nvPr/>
        </p:nvGrpSpPr>
        <p:grpSpPr>
          <a:xfrm>
            <a:off x="762000" y="1714500"/>
            <a:ext cx="5207000" cy="1905000"/>
            <a:chOff x="762000" y="1714500"/>
            <a:chExt cx="5207000" cy="1905000"/>
          </a:xfrm>
        </p:grpSpPr>
        <p:sp>
          <p:nvSpPr>
            <p:cNvPr id="6" name="Shape 4"/>
            <p:cNvSpPr/>
            <p:nvPr/>
          </p:nvSpPr>
          <p:spPr>
            <a:xfrm>
              <a:off x="762000" y="1714500"/>
              <a:ext cx="5207000" cy="1905000"/>
            </a:xfrm>
            <a:prstGeom prst="roundRect">
              <a:avLst>
                <a:gd name="adj" fmla="val 8666"/>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link-f472b6.png"/>
            <p:cNvPicPr>
              <a:picLocks noChangeAspect="1"/>
            </p:cNvPicPr>
            <p:nvPr/>
          </p:nvPicPr>
          <p:blipFill>
            <a:blip r:embed="rId4"/>
            <a:stretch>
              <a:fillRect/>
            </a:stretch>
          </p:blipFill>
          <p:spPr>
            <a:xfrm>
              <a:off x="990600" y="1943100"/>
              <a:ext cx="609600" cy="609600"/>
            </a:xfrm>
            <a:prstGeom prst="rect">
              <a:avLst/>
            </a:prstGeom>
          </p:spPr>
        </p:pic>
        <p:sp>
          <p:nvSpPr>
            <p:cNvPr id="8" name="Shape 6"/>
            <p:cNvSpPr txBox="1"/>
            <p:nvPr/>
          </p:nvSpPr>
          <p:spPr>
            <a:xfrm>
              <a:off x="1778000" y="1968500"/>
              <a:ext cx="3937000" cy="952500"/>
            </a:xfrm>
            <a:prstGeom prst="rect">
              <a:avLst/>
            </a:prstGeom>
            <a:noFill/>
          </p:spPr>
          <p:txBody>
            <a:bodyPr wrap="square" lIns="0" tIns="0" rIns="0" bIns="0" anchor="t">
              <a:spAutoFit/>
            </a:bodyPr>
            <a:lstStyle/>
            <a:p>
              <a:pPr algn="l">
                <a:lnSpc>
                  <a:spcPct val="110000"/>
                </a:lnSpc>
              </a:pPr>
              <a:r>
                <a:rPr sz="1900" b="1">
                  <a:solidFill>
                    <a:srgbClr val="F2F5FB"/>
                  </a:solidFill>
                  <a:latin typeface="Segoe UI"/>
                </a:rPr>
                <a:t>How do we expose components as tools for agents?</a:t>
              </a:r>
            </a:p>
          </p:txBody>
        </p:sp>
        <p:sp>
          <p:nvSpPr>
            <p:cNvPr id="9" name="Shape 7"/>
            <p:cNvSpPr/>
            <p:nvPr/>
          </p:nvSpPr>
          <p:spPr>
            <a:xfrm>
              <a:off x="1778000" y="3098800"/>
              <a:ext cx="53340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MCP</a:t>
              </a:r>
            </a:p>
          </p:txBody>
        </p:sp>
      </p:grpSp>
      <p:grpSp>
        <p:nvGrpSpPr>
          <p:cNvPr id="15" name="Question 2"/>
          <p:cNvGrpSpPr/>
          <p:nvPr/>
        </p:nvGrpSpPr>
        <p:grpSpPr>
          <a:xfrm>
            <a:off x="6223000" y="1714500"/>
            <a:ext cx="5207000" cy="1905000"/>
            <a:chOff x="6223000" y="1714500"/>
            <a:chExt cx="5207000" cy="1905000"/>
          </a:xfrm>
        </p:grpSpPr>
        <p:sp>
          <p:nvSpPr>
            <p:cNvPr id="11" name="Shape 9"/>
            <p:cNvSpPr/>
            <p:nvPr/>
          </p:nvSpPr>
          <p:spPr>
            <a:xfrm>
              <a:off x="6223000" y="1714500"/>
              <a:ext cx="5207000" cy="1905000"/>
            </a:xfrm>
            <a:prstGeom prst="roundRect">
              <a:avLst>
                <a:gd name="adj" fmla="val 8666"/>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2" name="Shape 10" descr="oda-agent.png"/>
            <p:cNvPicPr>
              <a:picLocks noChangeAspect="1"/>
            </p:cNvPicPr>
            <p:nvPr/>
          </p:nvPicPr>
          <p:blipFill>
            <a:blip r:embed="rId5"/>
            <a:stretch>
              <a:fillRect/>
            </a:stretch>
          </p:blipFill>
          <p:spPr>
            <a:xfrm>
              <a:off x="6451600" y="1943100"/>
              <a:ext cx="609600" cy="575733"/>
            </a:xfrm>
            <a:prstGeom prst="rect">
              <a:avLst/>
            </a:prstGeom>
          </p:spPr>
        </p:pic>
        <p:sp>
          <p:nvSpPr>
            <p:cNvPr id="13" name="Shape 11"/>
            <p:cNvSpPr txBox="1"/>
            <p:nvPr/>
          </p:nvSpPr>
          <p:spPr>
            <a:xfrm>
              <a:off x="7239000" y="1968500"/>
              <a:ext cx="3937000" cy="952500"/>
            </a:xfrm>
            <a:prstGeom prst="rect">
              <a:avLst/>
            </a:prstGeom>
            <a:noFill/>
          </p:spPr>
          <p:txBody>
            <a:bodyPr wrap="square" lIns="0" tIns="0" rIns="0" bIns="0" anchor="t">
              <a:spAutoFit/>
            </a:bodyPr>
            <a:lstStyle/>
            <a:p>
              <a:pPr algn="l">
                <a:lnSpc>
                  <a:spcPct val="110000"/>
                </a:lnSpc>
              </a:pPr>
              <a:r>
                <a:rPr sz="1900" b="1">
                  <a:solidFill>
                    <a:srgbClr val="F2F5FB"/>
                  </a:solidFill>
                  <a:latin typeface="Segoe UI"/>
                </a:rPr>
                <a:t>How do we deploy agents themselves as components?</a:t>
              </a:r>
            </a:p>
          </p:txBody>
        </p:sp>
        <p:sp>
          <p:nvSpPr>
            <p:cNvPr id="14" name="Shape 12"/>
            <p:cNvSpPr/>
            <p:nvPr/>
          </p:nvSpPr>
          <p:spPr>
            <a:xfrm>
              <a:off x="7239000" y="3098800"/>
              <a:ext cx="180975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Agentic components</a:t>
              </a:r>
            </a:p>
          </p:txBody>
        </p:sp>
      </p:grpSp>
      <p:grpSp>
        <p:nvGrpSpPr>
          <p:cNvPr id="20" name="Question 3"/>
          <p:cNvGrpSpPr/>
          <p:nvPr/>
        </p:nvGrpSpPr>
        <p:grpSpPr>
          <a:xfrm>
            <a:off x="762000" y="3873500"/>
            <a:ext cx="5207000" cy="1905000"/>
            <a:chOff x="762000" y="3873500"/>
            <a:chExt cx="5207000" cy="1905000"/>
          </a:xfrm>
        </p:grpSpPr>
        <p:sp>
          <p:nvSpPr>
            <p:cNvPr id="16" name="Shape 14"/>
            <p:cNvSpPr/>
            <p:nvPr/>
          </p:nvSpPr>
          <p:spPr>
            <a:xfrm>
              <a:off x="762000" y="3873500"/>
              <a:ext cx="5207000" cy="1905000"/>
            </a:xfrm>
            <a:prstGeom prst="roundRect">
              <a:avLst>
                <a:gd name="adj" fmla="val 8666"/>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7" name="Shape 15" descr="icon-gateway-f472b6.png"/>
            <p:cNvPicPr>
              <a:picLocks noChangeAspect="1"/>
            </p:cNvPicPr>
            <p:nvPr/>
          </p:nvPicPr>
          <p:blipFill>
            <a:blip r:embed="rId6"/>
            <a:stretch>
              <a:fillRect/>
            </a:stretch>
          </p:blipFill>
          <p:spPr>
            <a:xfrm>
              <a:off x="990600" y="4102100"/>
              <a:ext cx="609600" cy="609600"/>
            </a:xfrm>
            <a:prstGeom prst="rect">
              <a:avLst/>
            </a:prstGeom>
          </p:spPr>
        </p:pic>
        <p:sp>
          <p:nvSpPr>
            <p:cNvPr id="18" name="Shape 16"/>
            <p:cNvSpPr txBox="1"/>
            <p:nvPr/>
          </p:nvSpPr>
          <p:spPr>
            <a:xfrm>
              <a:off x="1778000" y="4127500"/>
              <a:ext cx="3937000" cy="952500"/>
            </a:xfrm>
            <a:prstGeom prst="rect">
              <a:avLst/>
            </a:prstGeom>
            <a:noFill/>
          </p:spPr>
          <p:txBody>
            <a:bodyPr wrap="square" lIns="0" tIns="0" rIns="0" bIns="0" anchor="t">
              <a:spAutoFit/>
            </a:bodyPr>
            <a:lstStyle/>
            <a:p>
              <a:pPr algn="l">
                <a:lnSpc>
                  <a:spcPct val="110000"/>
                </a:lnSpc>
              </a:pPr>
              <a:r>
                <a:rPr sz="1900" b="1">
                  <a:solidFill>
                    <a:srgbClr val="F2F5FB"/>
                  </a:solidFill>
                  <a:latin typeface="Segoe UI"/>
                </a:rPr>
                <a:t>How do we operate many agents, from many vendors?</a:t>
              </a:r>
            </a:p>
          </p:txBody>
        </p:sp>
        <p:sp>
          <p:nvSpPr>
            <p:cNvPr id="19" name="Shape 17"/>
            <p:cNvSpPr/>
            <p:nvPr/>
          </p:nvSpPr>
          <p:spPr>
            <a:xfrm>
              <a:off x="1778000" y="5257800"/>
              <a:ext cx="189865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Governance at scale</a:t>
              </a:r>
            </a:p>
          </p:txBody>
        </p:sp>
      </p:grpSp>
      <p:grpSp>
        <p:nvGrpSpPr>
          <p:cNvPr id="25" name="Question 4"/>
          <p:cNvGrpSpPr/>
          <p:nvPr/>
        </p:nvGrpSpPr>
        <p:grpSpPr>
          <a:xfrm>
            <a:off x="6223000" y="3873500"/>
            <a:ext cx="5207000" cy="1905000"/>
            <a:chOff x="6223000" y="3873500"/>
            <a:chExt cx="5207000" cy="1905000"/>
          </a:xfrm>
        </p:grpSpPr>
        <p:sp>
          <p:nvSpPr>
            <p:cNvPr id="21" name="Shape 19"/>
            <p:cNvSpPr/>
            <p:nvPr/>
          </p:nvSpPr>
          <p:spPr>
            <a:xfrm>
              <a:off x="6223000" y="3873500"/>
              <a:ext cx="5207000" cy="1905000"/>
            </a:xfrm>
            <a:prstGeom prst="roundRect">
              <a:avLst>
                <a:gd name="adj" fmla="val 8666"/>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2" name="Shape 20" descr="icon-wrench-1fc7a8.png"/>
            <p:cNvPicPr>
              <a:picLocks noChangeAspect="1"/>
            </p:cNvPicPr>
            <p:nvPr/>
          </p:nvPicPr>
          <p:blipFill>
            <a:blip r:embed="rId7"/>
            <a:stretch>
              <a:fillRect/>
            </a:stretch>
          </p:blipFill>
          <p:spPr>
            <a:xfrm>
              <a:off x="6451600" y="4102100"/>
              <a:ext cx="609600" cy="609600"/>
            </a:xfrm>
            <a:prstGeom prst="rect">
              <a:avLst/>
            </a:prstGeom>
          </p:spPr>
        </p:pic>
        <p:sp>
          <p:nvSpPr>
            <p:cNvPr id="23" name="Shape 21"/>
            <p:cNvSpPr txBox="1"/>
            <p:nvPr/>
          </p:nvSpPr>
          <p:spPr>
            <a:xfrm>
              <a:off x="7239000" y="4127500"/>
              <a:ext cx="3937000" cy="952500"/>
            </a:xfrm>
            <a:prstGeom prst="rect">
              <a:avLst/>
            </a:prstGeom>
            <a:noFill/>
          </p:spPr>
          <p:txBody>
            <a:bodyPr wrap="square" lIns="0" tIns="0" rIns="0" bIns="0" anchor="t">
              <a:spAutoFit/>
            </a:bodyPr>
            <a:lstStyle/>
            <a:p>
              <a:pPr algn="l">
                <a:lnSpc>
                  <a:spcPct val="110000"/>
                </a:lnSpc>
              </a:pPr>
              <a:r>
                <a:rPr sz="1900" b="1">
                  <a:solidFill>
                    <a:srgbClr val="F2F5FB"/>
                  </a:solidFill>
                  <a:latin typeface="Segoe UI"/>
                </a:rPr>
                <a:t>How can AI help us build the Canvas?</a:t>
              </a:r>
            </a:p>
          </p:txBody>
        </p:sp>
        <p:sp>
          <p:nvSpPr>
            <p:cNvPr id="24" name="Shape 22"/>
            <p:cNvSpPr/>
            <p:nvPr/>
          </p:nvSpPr>
          <p:spPr>
            <a:xfrm>
              <a:off x="7239000" y="5257800"/>
              <a:ext cx="2241550" cy="266700"/>
            </a:xfrm>
            <a:prstGeom prst="roundRect">
              <a:avLst>
                <a:gd name="adj" fmla="val 50000"/>
              </a:avLst>
            </a:prstGeom>
            <a:solidFill>
              <a:srgbClr val="1FC7A8">
                <a:alpha val="15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AI-assisted development</a:t>
              </a:r>
            </a:p>
          </p:txBody>
        </p:sp>
      </p:grpSp>
      <p:sp>
        <p:nvSpPr>
          <p:cNvPr id="26" name="Design tag"/>
          <p:cNvSpPr txBox="1"/>
          <p:nvPr/>
        </p:nvSpPr>
        <p:spPr>
          <a:xfrm>
            <a:off x="762000" y="6032500"/>
            <a:ext cx="10668000" cy="254000"/>
          </a:xfrm>
          <a:prstGeom prst="rect">
            <a:avLst/>
          </a:prstGeom>
          <a:noFill/>
        </p:spPr>
        <p:txBody>
          <a:bodyPr wrap="square" lIns="0" tIns="0" rIns="0" bIns="0" anchor="t">
            <a:spAutoFit/>
          </a:bodyPr>
          <a:lstStyle/>
          <a:p>
            <a:pPr algn="l">
              <a:lnSpc>
                <a:spcPct val="115000"/>
              </a:lnSpc>
            </a:pPr>
            <a:r>
              <a:rPr sz="1200" b="0">
                <a:solidFill>
                  <a:srgbClr val="8F9BB8"/>
                </a:solidFill>
                <a:latin typeface="Segoe UI"/>
              </a:rPr>
              <a:t>Questions 1–3 · AI-Native Canvas design     Question 4 · new in this video</a:t>
            </a:r>
          </a:p>
        </p:txBody>
      </p:sp>
    </p:spTree>
  </p:cSld>
  <p:clrMapOvr>
    <a:masterClrMapping/>
  </p:clrMapOvr>
  <mc:AlternateContent xmlns:mc="http://schemas.openxmlformats.org/markup-compatibility/2006">
    <mc:Choice xmlns:p14="http://schemas.microsoft.com/office/powerpoint/2010/main" Requires="p14">
      <p:transition spd="slow" p14:dur="2000" advTm="23500"/>
    </mc:Choice>
    <mc:Fallback>
      <p:transition spd="slow" advTm="23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360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600" fill="hold"/>
                                        <p:tgtEl>
                                          <p:spTgt spid="10"/>
                                        </p:tgtEl>
                                        <p:attrNameLst>
                                          <p:attrName>ppt_x</p:attrName>
                                        </p:attrNameLst>
                                      </p:cBhvr>
                                      <p:tavLst>
                                        <p:tav tm="0">
                                          <p:val>
                                            <p:strVal val="#ppt_x"/>
                                          </p:val>
                                        </p:tav>
                                        <p:tav tm="100000">
                                          <p:val>
                                            <p:strVal val="#ppt_x"/>
                                          </p:val>
                                        </p:tav>
                                      </p:tavLst>
                                    </p:anim>
                                    <p:anim calcmode="lin" valueType="num">
                                      <p:cBhvr additive="base">
                                        <p:cTn id="14" dur="600" fill="hold"/>
                                        <p:tgtEl>
                                          <p:spTgt spid="10"/>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800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600" fill="hold"/>
                                        <p:tgtEl>
                                          <p:spTgt spid="15"/>
                                        </p:tgtEl>
                                        <p:attrNameLst>
                                          <p:attrName>ppt_x</p:attrName>
                                        </p:attrNameLst>
                                      </p:cBhvr>
                                      <p:tavLst>
                                        <p:tav tm="0">
                                          <p:val>
                                            <p:strVal val="#ppt_x"/>
                                          </p:val>
                                        </p:tav>
                                        <p:tav tm="100000">
                                          <p:val>
                                            <p:strVal val="#ppt_x"/>
                                          </p:val>
                                        </p:tav>
                                      </p:tavLst>
                                    </p:anim>
                                    <p:anim calcmode="lin" valueType="num">
                                      <p:cBhvr additive="base">
                                        <p:cTn id="18" dur="600" fill="hold"/>
                                        <p:tgtEl>
                                          <p:spTgt spid="1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1160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600" fill="hold"/>
                                        <p:tgtEl>
                                          <p:spTgt spid="20"/>
                                        </p:tgtEl>
                                        <p:attrNameLst>
                                          <p:attrName>ppt_x</p:attrName>
                                        </p:attrNameLst>
                                      </p:cBhvr>
                                      <p:tavLst>
                                        <p:tav tm="0">
                                          <p:val>
                                            <p:strVal val="#ppt_x"/>
                                          </p:val>
                                        </p:tav>
                                        <p:tav tm="100000">
                                          <p:val>
                                            <p:strVal val="#ppt_x"/>
                                          </p:val>
                                        </p:tav>
                                      </p:tavLst>
                                    </p:anim>
                                    <p:anim calcmode="lin" valueType="num">
                                      <p:cBhvr additive="base">
                                        <p:cTn id="22" dur="600" fill="hold"/>
                                        <p:tgtEl>
                                          <p:spTgt spid="20"/>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19200"/>
                                  </p:stCondLst>
                                  <p:childTnLst>
                                    <p:set>
                                      <p:cBhvr>
                                        <p:cTn id="24" dur="1" fill="hold">
                                          <p:stCondLst>
                                            <p:cond delay="0"/>
                                          </p:stCondLst>
                                        </p:cTn>
                                        <p:tgtEl>
                                          <p:spTgt spid="25"/>
                                        </p:tgtEl>
                                        <p:attrNameLst>
                                          <p:attrName>style.visibility</p:attrName>
                                        </p:attrNameLst>
                                      </p:cBhvr>
                                      <p:to>
                                        <p:strVal val="visible"/>
                                      </p:to>
                                    </p:set>
                                    <p:anim calcmode="lin" valueType="num">
                                      <p:cBhvr additive="base">
                                        <p:cTn id="25" dur="600" fill="hold"/>
                                        <p:tgtEl>
                                          <p:spTgt spid="25"/>
                                        </p:tgtEl>
                                        <p:attrNameLst>
                                          <p:attrName>ppt_x</p:attrName>
                                        </p:attrNameLst>
                                      </p:cBhvr>
                                      <p:tavLst>
                                        <p:tav tm="0">
                                          <p:val>
                                            <p:strVal val="#ppt_x"/>
                                          </p:val>
                                        </p:tav>
                                        <p:tav tm="100000">
                                          <p:val>
                                            <p:strVal val="#ppt_x"/>
                                          </p:val>
                                        </p:tav>
                                      </p:tavLst>
                                    </p:anim>
                                    <p:anim calcmode="lin" valueType="num">
                                      <p:cBhvr additive="base">
                                        <p:cTn id="26" dur="600" fill="hold"/>
                                        <p:tgtEl>
                                          <p:spTgt spid="25"/>
                                        </p:tgtEl>
                                        <p:attrNameLst>
                                          <p:attrName>ppt_y</p:attrName>
                                        </p:attrNameLst>
                                      </p:cBhvr>
                                      <p:tavLst>
                                        <p:tav tm="0">
                                          <p:val>
                                            <p:strVal val="1+#ppt_h/2"/>
                                          </p:val>
                                        </p:tav>
                                        <p:tav tm="100000">
                                          <p:val>
                                            <p:strVal val="#ppt_y"/>
                                          </p:val>
                                        </p:tav>
                                      </p:tavLst>
                                    </p:anim>
                                  </p:childTnLst>
                                </p:cTn>
                              </p:par>
                              <p:par>
                                <p:cTn id="27" presetID="10" presetClass="entr" presetSubtype="0" fill="hold" grpId="0" nodeType="withEffect">
                                  <p:stCondLst>
                                    <p:cond delay="1980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What the 2026 Catalysts show</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TM FORUM CATALYSTS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What the 2026 Catalysts show</a:t>
            </a:r>
          </a:p>
        </p:txBody>
      </p:sp>
      <p:grpSp>
        <p:nvGrpSpPr>
          <p:cNvPr id="8" name="Total"/>
          <p:cNvGrpSpPr/>
          <p:nvPr/>
        </p:nvGrpSpPr>
        <p:grpSpPr>
          <a:xfrm>
            <a:off x="762000" y="1841500"/>
            <a:ext cx="2921000" cy="2349500"/>
            <a:chOff x="762000" y="1841500"/>
            <a:chExt cx="2921000" cy="2349500"/>
          </a:xfrm>
        </p:grpSpPr>
        <p:sp>
          <p:nvSpPr>
            <p:cNvPr id="6" name="Shape 4"/>
            <p:cNvSpPr txBox="1"/>
            <p:nvPr/>
          </p:nvSpPr>
          <p:spPr>
            <a:xfrm>
              <a:off x="762000" y="1841500"/>
              <a:ext cx="2921000" cy="1651000"/>
            </a:xfrm>
            <a:prstGeom prst="rect">
              <a:avLst/>
            </a:prstGeom>
            <a:noFill/>
          </p:spPr>
          <p:txBody>
            <a:bodyPr wrap="square" lIns="0" tIns="0" rIns="0" bIns="0" anchor="t">
              <a:spAutoFit/>
            </a:bodyPr>
            <a:lstStyle/>
            <a:p>
              <a:pPr algn="ctr">
                <a:lnSpc>
                  <a:spcPct val="115000"/>
                </a:lnSpc>
              </a:pPr>
              <a:r>
                <a:rPr sz="12000" b="1">
                  <a:solidFill>
                    <a:srgbClr val="F472B6"/>
                  </a:solidFill>
                  <a:latin typeface="Segoe UI"/>
                </a:rPr>
                <a:t>59</a:t>
              </a:r>
            </a:p>
          </p:txBody>
        </p:sp>
        <p:sp>
          <p:nvSpPr>
            <p:cNvPr id="7" name="Shape 5"/>
            <p:cNvSpPr txBox="1"/>
            <p:nvPr/>
          </p:nvSpPr>
          <p:spPr>
            <a:xfrm>
              <a:off x="762000" y="3556000"/>
              <a:ext cx="2921000" cy="635000"/>
            </a:xfrm>
            <a:prstGeom prst="rect">
              <a:avLst/>
            </a:prstGeom>
            <a:noFill/>
          </p:spPr>
          <p:txBody>
            <a:bodyPr wrap="square" lIns="0" tIns="0" rIns="0" bIns="0" anchor="t">
              <a:spAutoFit/>
            </a:bodyPr>
            <a:lstStyle/>
            <a:p>
              <a:pPr algn="ctr">
                <a:lnSpc>
                  <a:spcPct val="115000"/>
                </a:lnSpc>
              </a:pPr>
              <a:r>
                <a:rPr sz="1700" b="1">
                  <a:solidFill>
                    <a:srgbClr val="F2F5FB"/>
                  </a:solidFill>
                  <a:latin typeface="Segoe UI"/>
                </a:rPr>
                <a:t>Catalyst projects at DTW 2026</a:t>
              </a:r>
            </a:p>
          </p:txBody>
        </p:sp>
      </p:grpSp>
      <p:grpSp>
        <p:nvGrpSpPr>
          <p:cNvPr id="13" name="Bar 1"/>
          <p:cNvGrpSpPr/>
          <p:nvPr/>
        </p:nvGrpSpPr>
        <p:grpSpPr>
          <a:xfrm>
            <a:off x="4191000" y="1701800"/>
            <a:ext cx="8051800" cy="609600"/>
            <a:chOff x="4191000" y="1701800"/>
            <a:chExt cx="8051800" cy="609600"/>
          </a:xfrm>
        </p:grpSpPr>
        <p:sp>
          <p:nvSpPr>
            <p:cNvPr id="9" name="Shape 7"/>
            <p:cNvSpPr txBox="1"/>
            <p:nvPr/>
          </p:nvSpPr>
          <p:spPr>
            <a:xfrm>
              <a:off x="4191000" y="1701800"/>
              <a:ext cx="7366000" cy="2794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Use AI</a:t>
              </a:r>
            </a:p>
          </p:txBody>
        </p:sp>
        <p:sp>
          <p:nvSpPr>
            <p:cNvPr id="10" name="Shape 8"/>
            <p:cNvSpPr/>
            <p:nvPr/>
          </p:nvSpPr>
          <p:spPr>
            <a:xfrm>
              <a:off x="4191000" y="2019300"/>
              <a:ext cx="6731000" cy="292100"/>
            </a:xfrm>
            <a:prstGeom prst="roundRect">
              <a:avLst>
                <a:gd name="adj" fmla="val 21739"/>
              </a:avLst>
            </a:prstGeom>
            <a:solidFill>
              <a:srgbClr val="111A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p:cNvSpPr/>
            <p:nvPr/>
          </p:nvSpPr>
          <p:spPr>
            <a:xfrm>
              <a:off x="4191000" y="2019300"/>
              <a:ext cx="6045200" cy="292100"/>
            </a:xfrm>
            <a:prstGeom prst="roundRect">
              <a:avLst>
                <a:gd name="adj" fmla="val 21739"/>
              </a:avLst>
            </a:prstGeom>
            <a:solidFill>
              <a:srgbClr val="F472B6">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Shape 10"/>
            <p:cNvSpPr txBox="1"/>
            <p:nvPr/>
          </p:nvSpPr>
          <p:spPr>
            <a:xfrm>
              <a:off x="10337800" y="2019300"/>
              <a:ext cx="1905000" cy="292100"/>
            </a:xfrm>
            <a:prstGeom prst="rect">
              <a:avLst/>
            </a:prstGeom>
            <a:noFill/>
          </p:spPr>
          <p:txBody>
            <a:bodyPr wrap="square" lIns="0" tIns="0" rIns="0" bIns="0" anchor="ctr">
              <a:spAutoFit/>
            </a:bodyPr>
            <a:lstStyle/>
            <a:p>
              <a:pPr algn="l">
                <a:lnSpc>
                  <a:spcPct val="115000"/>
                </a:lnSpc>
              </a:pPr>
              <a:r>
                <a:rPr sz="1400" b="1">
                  <a:solidFill>
                    <a:srgbClr val="F472B6"/>
                  </a:solidFill>
                  <a:latin typeface="Segoe UI"/>
                </a:rPr>
                <a:t>53 of 59</a:t>
              </a:r>
            </a:p>
          </p:txBody>
        </p:sp>
      </p:grpSp>
      <p:grpSp>
        <p:nvGrpSpPr>
          <p:cNvPr id="18" name="Bar 2"/>
          <p:cNvGrpSpPr/>
          <p:nvPr/>
        </p:nvGrpSpPr>
        <p:grpSpPr>
          <a:xfrm>
            <a:off x="4191000" y="2540000"/>
            <a:ext cx="7366000" cy="609600"/>
            <a:chOff x="4191000" y="2540000"/>
            <a:chExt cx="7366000" cy="609600"/>
          </a:xfrm>
        </p:grpSpPr>
        <p:sp>
          <p:nvSpPr>
            <p:cNvPr id="14" name="Shape 12"/>
            <p:cNvSpPr txBox="1"/>
            <p:nvPr/>
          </p:nvSpPr>
          <p:spPr>
            <a:xfrm>
              <a:off x="4191000" y="2540000"/>
              <a:ext cx="7366000" cy="2794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Built from AI agents</a:t>
              </a:r>
            </a:p>
          </p:txBody>
        </p:sp>
        <p:sp>
          <p:nvSpPr>
            <p:cNvPr id="15" name="Shape 13"/>
            <p:cNvSpPr/>
            <p:nvPr/>
          </p:nvSpPr>
          <p:spPr>
            <a:xfrm>
              <a:off x="4191000" y="2857500"/>
              <a:ext cx="6731000" cy="292100"/>
            </a:xfrm>
            <a:prstGeom prst="roundRect">
              <a:avLst>
                <a:gd name="adj" fmla="val 21739"/>
              </a:avLst>
            </a:prstGeom>
            <a:solidFill>
              <a:srgbClr val="111A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6" name="Shape 14"/>
            <p:cNvSpPr/>
            <p:nvPr/>
          </p:nvSpPr>
          <p:spPr>
            <a:xfrm>
              <a:off x="4191000" y="2857500"/>
              <a:ext cx="3308350" cy="292100"/>
            </a:xfrm>
            <a:prstGeom prst="roundRect">
              <a:avLst>
                <a:gd name="adj" fmla="val 21739"/>
              </a:avLst>
            </a:prstGeom>
            <a:solidFill>
              <a:srgbClr val="F472B6">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Shape 15"/>
            <p:cNvSpPr txBox="1"/>
            <p:nvPr/>
          </p:nvSpPr>
          <p:spPr>
            <a:xfrm>
              <a:off x="7600950" y="2857500"/>
              <a:ext cx="1905000" cy="292100"/>
            </a:xfrm>
            <a:prstGeom prst="rect">
              <a:avLst/>
            </a:prstGeom>
            <a:noFill/>
          </p:spPr>
          <p:txBody>
            <a:bodyPr wrap="square" lIns="0" tIns="0" rIns="0" bIns="0" anchor="ctr">
              <a:spAutoFit/>
            </a:bodyPr>
            <a:lstStyle/>
            <a:p>
              <a:pPr algn="l">
                <a:lnSpc>
                  <a:spcPct val="115000"/>
                </a:lnSpc>
              </a:pPr>
              <a:r>
                <a:rPr sz="1400" b="1">
                  <a:solidFill>
                    <a:srgbClr val="F472B6"/>
                  </a:solidFill>
                  <a:latin typeface="Segoe UI"/>
                </a:rPr>
                <a:t>29 of 59</a:t>
              </a:r>
            </a:p>
          </p:txBody>
        </p:sp>
      </p:grpSp>
      <p:grpSp>
        <p:nvGrpSpPr>
          <p:cNvPr id="23" name="Bar 3"/>
          <p:cNvGrpSpPr/>
          <p:nvPr/>
        </p:nvGrpSpPr>
        <p:grpSpPr>
          <a:xfrm>
            <a:off x="4191000" y="3378200"/>
            <a:ext cx="7366000" cy="609600"/>
            <a:chOff x="4191000" y="3378200"/>
            <a:chExt cx="7366000" cy="609600"/>
          </a:xfrm>
        </p:grpSpPr>
        <p:sp>
          <p:nvSpPr>
            <p:cNvPr id="19" name="Shape 17"/>
            <p:cNvSpPr txBox="1"/>
            <p:nvPr/>
          </p:nvSpPr>
          <p:spPr>
            <a:xfrm>
              <a:off x="4191000" y="3378200"/>
              <a:ext cx="7366000" cy="2794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Target autonomous networks</a:t>
              </a:r>
            </a:p>
          </p:txBody>
        </p:sp>
        <p:sp>
          <p:nvSpPr>
            <p:cNvPr id="20" name="Shape 18"/>
            <p:cNvSpPr/>
            <p:nvPr/>
          </p:nvSpPr>
          <p:spPr>
            <a:xfrm>
              <a:off x="4191000" y="3695700"/>
              <a:ext cx="6731000" cy="292100"/>
            </a:xfrm>
            <a:prstGeom prst="roundRect">
              <a:avLst>
                <a:gd name="adj" fmla="val 21739"/>
              </a:avLst>
            </a:prstGeom>
            <a:solidFill>
              <a:srgbClr val="111A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1" name="Shape 19"/>
            <p:cNvSpPr/>
            <p:nvPr/>
          </p:nvSpPr>
          <p:spPr>
            <a:xfrm>
              <a:off x="4191000" y="3695700"/>
              <a:ext cx="4216400" cy="292100"/>
            </a:xfrm>
            <a:prstGeom prst="roundRect">
              <a:avLst>
                <a:gd name="adj" fmla="val 21739"/>
              </a:avLst>
            </a:prstGeom>
            <a:solidFill>
              <a:srgbClr val="2F6FED">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hape 20"/>
            <p:cNvSpPr txBox="1"/>
            <p:nvPr/>
          </p:nvSpPr>
          <p:spPr>
            <a:xfrm>
              <a:off x="8509000" y="3695700"/>
              <a:ext cx="1905000" cy="292100"/>
            </a:xfrm>
            <a:prstGeom prst="rect">
              <a:avLst/>
            </a:prstGeom>
            <a:noFill/>
          </p:spPr>
          <p:txBody>
            <a:bodyPr wrap="square" lIns="0" tIns="0" rIns="0" bIns="0" anchor="ctr">
              <a:spAutoFit/>
            </a:bodyPr>
            <a:lstStyle/>
            <a:p>
              <a:pPr algn="l">
                <a:lnSpc>
                  <a:spcPct val="115000"/>
                </a:lnSpc>
              </a:pPr>
              <a:r>
                <a:rPr sz="1400" b="1">
                  <a:solidFill>
                    <a:srgbClr val="2F6FED"/>
                  </a:solidFill>
                  <a:latin typeface="Segoe UI"/>
                </a:rPr>
                <a:t>37 of 59</a:t>
              </a:r>
            </a:p>
          </p:txBody>
        </p:sp>
      </p:grpSp>
      <p:grpSp>
        <p:nvGrpSpPr>
          <p:cNvPr id="28" name="Bar 4"/>
          <p:cNvGrpSpPr/>
          <p:nvPr/>
        </p:nvGrpSpPr>
        <p:grpSpPr>
          <a:xfrm>
            <a:off x="4191000" y="4216400"/>
            <a:ext cx="7366000" cy="609600"/>
            <a:chOff x="4191000" y="4216400"/>
            <a:chExt cx="7366000" cy="609600"/>
          </a:xfrm>
        </p:grpSpPr>
        <p:sp>
          <p:nvSpPr>
            <p:cNvPr id="24" name="Shape 22"/>
            <p:cNvSpPr txBox="1"/>
            <p:nvPr/>
          </p:nvSpPr>
          <p:spPr>
            <a:xfrm>
              <a:off x="4191000" y="4216400"/>
              <a:ext cx="7366000" cy="2794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Trust, security and governance for agents</a:t>
              </a:r>
            </a:p>
          </p:txBody>
        </p:sp>
        <p:sp>
          <p:nvSpPr>
            <p:cNvPr id="25" name="Shape 23"/>
            <p:cNvSpPr/>
            <p:nvPr/>
          </p:nvSpPr>
          <p:spPr>
            <a:xfrm>
              <a:off x="4191000" y="4533900"/>
              <a:ext cx="6731000" cy="292100"/>
            </a:xfrm>
            <a:prstGeom prst="roundRect">
              <a:avLst>
                <a:gd name="adj" fmla="val 21739"/>
              </a:avLst>
            </a:prstGeom>
            <a:solidFill>
              <a:srgbClr val="111A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hape 24"/>
            <p:cNvSpPr/>
            <p:nvPr/>
          </p:nvSpPr>
          <p:spPr>
            <a:xfrm>
              <a:off x="4191000" y="4533900"/>
              <a:ext cx="1479550" cy="292100"/>
            </a:xfrm>
            <a:prstGeom prst="roundRect">
              <a:avLst>
                <a:gd name="adj" fmla="val 21739"/>
              </a:avLst>
            </a:prstGeom>
            <a:solidFill>
              <a:srgbClr val="F472B6">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hape 25"/>
            <p:cNvSpPr txBox="1"/>
            <p:nvPr/>
          </p:nvSpPr>
          <p:spPr>
            <a:xfrm>
              <a:off x="5772150" y="4533900"/>
              <a:ext cx="1905000" cy="292100"/>
            </a:xfrm>
            <a:prstGeom prst="rect">
              <a:avLst/>
            </a:prstGeom>
            <a:noFill/>
          </p:spPr>
          <p:txBody>
            <a:bodyPr wrap="square" lIns="0" tIns="0" rIns="0" bIns="0" anchor="ctr">
              <a:spAutoFit/>
            </a:bodyPr>
            <a:lstStyle/>
            <a:p>
              <a:pPr algn="l">
                <a:lnSpc>
                  <a:spcPct val="115000"/>
                </a:lnSpc>
              </a:pPr>
              <a:r>
                <a:rPr sz="1400" b="1">
                  <a:solidFill>
                    <a:srgbClr val="F472B6"/>
                  </a:solidFill>
                  <a:latin typeface="Segoe UI"/>
                </a:rPr>
                <a:t>13 of 59</a:t>
              </a:r>
            </a:p>
          </p:txBody>
        </p:sp>
      </p:grpSp>
      <p:grpSp>
        <p:nvGrpSpPr>
          <p:cNvPr id="33" name="Bar 5"/>
          <p:cNvGrpSpPr/>
          <p:nvPr/>
        </p:nvGrpSpPr>
        <p:grpSpPr>
          <a:xfrm>
            <a:off x="4191000" y="5054600"/>
            <a:ext cx="7366000" cy="609600"/>
            <a:chOff x="4191000" y="5054600"/>
            <a:chExt cx="7366000" cy="609600"/>
          </a:xfrm>
        </p:grpSpPr>
        <p:sp>
          <p:nvSpPr>
            <p:cNvPr id="29" name="Shape 27"/>
            <p:cNvSpPr txBox="1"/>
            <p:nvPr/>
          </p:nvSpPr>
          <p:spPr>
            <a:xfrm>
              <a:off x="4191000" y="5054600"/>
              <a:ext cx="7366000" cy="279400"/>
            </a:xfrm>
            <a:prstGeom prst="rect">
              <a:avLst/>
            </a:prstGeom>
            <a:noFill/>
          </p:spPr>
          <p:txBody>
            <a:bodyPr wrap="square" lIns="0" tIns="0" rIns="0" bIns="0" anchor="t">
              <a:spAutoFit/>
            </a:bodyPr>
            <a:lstStyle/>
            <a:p>
              <a:pPr algn="l">
                <a:lnSpc>
                  <a:spcPct val="115000"/>
                </a:lnSpc>
              </a:pPr>
              <a:r>
                <a:rPr sz="1400" b="1">
                  <a:solidFill>
                    <a:srgbClr val="F2F5FB"/>
                  </a:solidFill>
                  <a:latin typeface="Segoe UI"/>
                </a:rPr>
                <a:t>Agent platform: registry, runtime, lifecycle, model gateway</a:t>
              </a:r>
            </a:p>
          </p:txBody>
        </p:sp>
        <p:sp>
          <p:nvSpPr>
            <p:cNvPr id="30" name="Shape 28"/>
            <p:cNvSpPr/>
            <p:nvPr/>
          </p:nvSpPr>
          <p:spPr>
            <a:xfrm>
              <a:off x="4191000" y="5372100"/>
              <a:ext cx="6731000" cy="292100"/>
            </a:xfrm>
            <a:prstGeom prst="roundRect">
              <a:avLst>
                <a:gd name="adj" fmla="val 21739"/>
              </a:avLst>
            </a:prstGeom>
            <a:solidFill>
              <a:srgbClr val="111A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1" name="Shape 29"/>
            <p:cNvSpPr/>
            <p:nvPr/>
          </p:nvSpPr>
          <p:spPr>
            <a:xfrm>
              <a:off x="4191000" y="5372100"/>
              <a:ext cx="565150" cy="292100"/>
            </a:xfrm>
            <a:prstGeom prst="roundRect">
              <a:avLst>
                <a:gd name="adj" fmla="val 21739"/>
              </a:avLst>
            </a:prstGeom>
            <a:solidFill>
              <a:srgbClr val="F472B6">
                <a:alpha val="85000"/>
              </a:srgb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Shape 30"/>
            <p:cNvSpPr txBox="1"/>
            <p:nvPr/>
          </p:nvSpPr>
          <p:spPr>
            <a:xfrm>
              <a:off x="4857750" y="5372100"/>
              <a:ext cx="1905000" cy="292100"/>
            </a:xfrm>
            <a:prstGeom prst="rect">
              <a:avLst/>
            </a:prstGeom>
            <a:noFill/>
          </p:spPr>
          <p:txBody>
            <a:bodyPr wrap="square" lIns="0" tIns="0" rIns="0" bIns="0" anchor="ctr">
              <a:spAutoFit/>
            </a:bodyPr>
            <a:lstStyle/>
            <a:p>
              <a:pPr algn="l">
                <a:lnSpc>
                  <a:spcPct val="115000"/>
                </a:lnSpc>
              </a:pPr>
              <a:r>
                <a:rPr sz="1400" b="1">
                  <a:solidFill>
                    <a:srgbClr val="F472B6"/>
                  </a:solidFill>
                  <a:latin typeface="Segoe UI"/>
                </a:rPr>
                <a:t>5 of 59</a:t>
              </a:r>
            </a:p>
          </p:txBody>
        </p:sp>
      </p:grpSp>
      <p:grpSp>
        <p:nvGrpSpPr>
          <p:cNvPr id="36" name="Lessons"/>
          <p:cNvGrpSpPr/>
          <p:nvPr/>
        </p:nvGrpSpPr>
        <p:grpSpPr>
          <a:xfrm>
            <a:off x="762000" y="5791200"/>
            <a:ext cx="10668000" cy="444500"/>
            <a:chOff x="762000" y="5791200"/>
            <a:chExt cx="10668000" cy="444500"/>
          </a:xfrm>
        </p:grpSpPr>
        <p:sp>
          <p:nvSpPr>
            <p:cNvPr id="34" name="Shape 32"/>
            <p:cNvSpPr/>
            <p:nvPr/>
          </p:nvSpPr>
          <p:spPr>
            <a:xfrm>
              <a:off x="762000" y="5791200"/>
              <a:ext cx="10668000" cy="444500"/>
            </a:xfrm>
            <a:prstGeom prst="roundRect">
              <a:avLst>
                <a:gd name="adj" fmla="val 22857"/>
              </a:avLst>
            </a:prstGeom>
            <a:solidFill>
              <a:srgbClr val="F472B6">
                <a:alpha val="12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5" name="Shape 33"/>
            <p:cNvSpPr txBox="1"/>
            <p:nvPr/>
          </p:nvSpPr>
          <p:spPr>
            <a:xfrm>
              <a:off x="762000" y="5791200"/>
              <a:ext cx="10668000" cy="444500"/>
            </a:xfrm>
            <a:prstGeom prst="rect">
              <a:avLst/>
            </a:prstGeom>
            <a:noFill/>
          </p:spPr>
          <p:txBody>
            <a:bodyPr wrap="square" lIns="0" tIns="0" rIns="0" bIns="0" anchor="ctr">
              <a:spAutoFit/>
            </a:bodyPr>
            <a:lstStyle/>
            <a:p>
              <a:pPr algn="ctr">
                <a:lnSpc>
                  <a:spcPct val="115000"/>
                </a:lnSpc>
              </a:pPr>
              <a:r>
                <a:rPr sz="1500" b="1">
                  <a:solidFill>
                    <a:srgbClr val="F2F5FB"/>
                  </a:solidFill>
                  <a:latin typeface="Segoe UI"/>
                </a:rPr>
                <a:t>Much of the AI-Native Canvas is lessons learned from these Catalysts</a:t>
              </a:r>
            </a:p>
          </p:txBody>
        </p:sp>
      </p:grpSp>
      <p:sp>
        <p:nvSpPr>
          <p:cNvPr id="37" name="Source"/>
          <p:cNvSpPr txBox="1"/>
          <p:nvPr/>
        </p:nvSpPr>
        <p:spPr>
          <a:xfrm>
            <a:off x="762000" y="6350000"/>
            <a:ext cx="10668000" cy="254000"/>
          </a:xfrm>
          <a:prstGeom prst="rect">
            <a:avLst/>
          </a:prstGeom>
          <a:noFill/>
        </p:spPr>
        <p:txBody>
          <a:bodyPr wrap="square" lIns="0" tIns="0" rIns="0" bIns="0" anchor="t">
            <a:spAutoFit/>
          </a:bodyPr>
          <a:lstStyle/>
          <a:p>
            <a:pPr algn="l">
              <a:lnSpc>
                <a:spcPct val="115000"/>
              </a:lnSpc>
            </a:pPr>
            <a:r>
              <a:rPr sz="1100" b="0">
                <a:solidFill>
                  <a:srgbClr val="8F9BB8"/>
                </a:solidFill>
                <a:latin typeface="Segoe UI"/>
              </a:rPr>
              <a:t>Source: tmforum.org/catalysts · projects C26.0 · read October 2026 · classified by topic and summary</a:t>
            </a:r>
          </a:p>
        </p:txBody>
      </p:sp>
    </p:spTree>
  </p:cSld>
  <p:clrMapOvr>
    <a:masterClrMapping/>
  </p:clrMapOvr>
  <mc:AlternateContent xmlns:mc="http://schemas.openxmlformats.org/markup-compatibility/2006">
    <mc:Choice xmlns:p14="http://schemas.microsoft.com/office/powerpoint/2010/main" Requires="p14">
      <p:transition spd="slow" p14:dur="2000" advTm="34700"/>
    </mc:Choice>
    <mc:Fallback>
      <p:transition spd="slow" advTm="3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4000"/>
                                  </p:stCondLst>
                                  <p:childTnLst>
                                    <p:set>
                                      <p:cBhvr>
                                        <p:cTn id="12" dur="1" fill="hold">
                                          <p:stCondLst>
                                            <p:cond delay="0"/>
                                          </p:stCondLst>
                                        </p:cTn>
                                        <p:tgtEl>
                                          <p:spTgt spid="8"/>
                                        </p:tgtEl>
                                        <p:attrNameLst>
                                          <p:attrName>style.visibility</p:attrName>
                                        </p:attrNameLst>
                                      </p:cBhvr>
                                      <p:to>
                                        <p:strVal val="visible"/>
                                      </p:to>
                                    </p:set>
                                    <p:anim calcmode="lin" valueType="num">
                                      <p:cBhvr>
                                        <p:cTn id="13" dur="700" fill="hold"/>
                                        <p:tgtEl>
                                          <p:spTgt spid="8"/>
                                        </p:tgtEl>
                                        <p:attrNameLst>
                                          <p:attrName>ppt_w</p:attrName>
                                        </p:attrNameLst>
                                      </p:cBhvr>
                                      <p:tavLst>
                                        <p:tav tm="0">
                                          <p:val>
                                            <p:strVal val="#ppt_w*2.5"/>
                                          </p:val>
                                        </p:tav>
                                        <p:tav tm="100000">
                                          <p:val>
                                            <p:strVal val="#ppt_w"/>
                                          </p:val>
                                        </p:tav>
                                      </p:tavLst>
                                    </p:anim>
                                    <p:anim calcmode="lin" valueType="num">
                                      <p:cBhvr>
                                        <p:cTn id="14" dur="700" fill="hold"/>
                                        <p:tgtEl>
                                          <p:spTgt spid="8"/>
                                        </p:tgtEl>
                                        <p:attrNameLst>
                                          <p:attrName>ppt_h</p:attrName>
                                        </p:attrNameLst>
                                      </p:cBhvr>
                                      <p:tavLst>
                                        <p:tav tm="0">
                                          <p:val>
                                            <p:strVal val="#ppt_h*0.01"/>
                                          </p:val>
                                        </p:tav>
                                        <p:tav tm="100000">
                                          <p:val>
                                            <p:strVal val="#ppt_h"/>
                                          </p:val>
                                        </p:tav>
                                      </p:tavLst>
                                    </p:anim>
                                    <p:anim calcmode="lin" valueType="num">
                                      <p:cBhvr>
                                        <p:cTn id="15" dur="700" fill="hold"/>
                                        <p:tgtEl>
                                          <p:spTgt spid="8"/>
                                        </p:tgtEl>
                                        <p:attrNameLst>
                                          <p:attrName>ppt_x</p:attrName>
                                        </p:attrNameLst>
                                      </p:cBhvr>
                                      <p:tavLst>
                                        <p:tav tm="0">
                                          <p:val>
                                            <p:strVal val="#ppt_x"/>
                                          </p:val>
                                        </p:tav>
                                        <p:tav tm="100000">
                                          <p:val>
                                            <p:strVal val="#ppt_x"/>
                                          </p:val>
                                        </p:tav>
                                      </p:tavLst>
                                    </p:anim>
                                    <p:anim calcmode="lin" valueType="num">
                                      <p:cBhvr>
                                        <p:cTn id="16" dur="700" fill="hold"/>
                                        <p:tgtEl>
                                          <p:spTgt spid="8"/>
                                        </p:tgtEl>
                                        <p:attrNameLst>
                                          <p:attrName>ppt_y</p:attrName>
                                        </p:attrNameLst>
                                      </p:cBhvr>
                                      <p:tavLst>
                                        <p:tav tm="0">
                                          <p:val>
                                            <p:strVal val="#ppt_h+1"/>
                                          </p:val>
                                        </p:tav>
                                        <p:tav tm="100000">
                                          <p:val>
                                            <p:strVal val="#ppt_y"/>
                                          </p:val>
                                        </p:tav>
                                      </p:tavLst>
                                    </p:anim>
                                    <p:animEffect transition="in" filter="fade">
                                      <p:cBhvr>
                                        <p:cTn id="17" dur="700"/>
                                        <p:tgtEl>
                                          <p:spTgt spid="8"/>
                                        </p:tgtEl>
                                      </p:cBhvr>
                                    </p:animEffect>
                                  </p:childTnLst>
                                </p:cTn>
                              </p:par>
                              <p:par>
                                <p:cTn id="18" presetID="10" presetClass="entr" presetSubtype="0" fill="hold" grpId="0" nodeType="withEffect">
                                  <p:stCondLst>
                                    <p:cond delay="400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600"/>
                                        <p:tgtEl>
                                          <p:spTgt spid="37"/>
                                        </p:tgtEl>
                                      </p:cBhvr>
                                    </p:animEffect>
                                  </p:childTnLst>
                                </p:cTn>
                              </p:par>
                              <p:par>
                                <p:cTn id="21" presetID="10" presetClass="entr" presetSubtype="0" fill="hold" nodeType="withEffect">
                                  <p:stCondLst>
                                    <p:cond delay="80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600"/>
                                        <p:tgtEl>
                                          <p:spTgt spid="13"/>
                                        </p:tgtEl>
                                      </p:cBhvr>
                                    </p:animEffect>
                                  </p:childTnLst>
                                </p:cTn>
                              </p:par>
                              <p:par>
                                <p:cTn id="24" presetID="10" presetClass="entr" presetSubtype="0" fill="hold" nodeType="withEffect">
                                  <p:stCondLst>
                                    <p:cond delay="1000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600"/>
                                        <p:tgtEl>
                                          <p:spTgt spid="18"/>
                                        </p:tgtEl>
                                      </p:cBhvr>
                                    </p:animEffect>
                                  </p:childTnLst>
                                </p:cTn>
                              </p:par>
                              <p:par>
                                <p:cTn id="27" presetID="10" presetClass="entr" presetSubtype="0" fill="hold" nodeType="withEffect">
                                  <p:stCondLst>
                                    <p:cond delay="1480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600"/>
                                        <p:tgtEl>
                                          <p:spTgt spid="23"/>
                                        </p:tgtEl>
                                      </p:cBhvr>
                                    </p:animEffect>
                                  </p:childTnLst>
                                </p:cTn>
                              </p:par>
                              <p:par>
                                <p:cTn id="30" presetID="10" presetClass="entr" presetSubtype="0" fill="hold" nodeType="withEffect">
                                  <p:stCondLst>
                                    <p:cond delay="1720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600"/>
                                        <p:tgtEl>
                                          <p:spTgt spid="28"/>
                                        </p:tgtEl>
                                      </p:cBhvr>
                                    </p:animEffect>
                                  </p:childTnLst>
                                </p:cTn>
                              </p:par>
                              <p:par>
                                <p:cTn id="33" presetID="10" presetClass="entr" presetSubtype="0" fill="hold" nodeType="withEffect">
                                  <p:stCondLst>
                                    <p:cond delay="2160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600"/>
                                        <p:tgtEl>
                                          <p:spTgt spid="33"/>
                                        </p:tgtEl>
                                      </p:cBhvr>
                                    </p:animEffect>
                                  </p:childTnLst>
                                </p:cTn>
                              </p:par>
                              <p:par>
                                <p:cTn id="36" presetID="2" presetClass="entr" presetSubtype="4" fill="hold" nodeType="withEffect">
                                  <p:stCondLst>
                                    <p:cond delay="27200"/>
                                  </p:stCondLst>
                                  <p:childTnLst>
                                    <p:set>
                                      <p:cBhvr>
                                        <p:cTn id="37" dur="1" fill="hold">
                                          <p:stCondLst>
                                            <p:cond delay="0"/>
                                          </p:stCondLst>
                                        </p:cTn>
                                        <p:tgtEl>
                                          <p:spTgt spid="36"/>
                                        </p:tgtEl>
                                        <p:attrNameLst>
                                          <p:attrName>style.visibility</p:attrName>
                                        </p:attrNameLst>
                                      </p:cBhvr>
                                      <p:to>
                                        <p:strVal val="visible"/>
                                      </p:to>
                                    </p:set>
                                    <p:anim calcmode="lin" valueType="num">
                                      <p:cBhvr additive="base">
                                        <p:cTn id="38" dur="600" fill="hold"/>
                                        <p:tgtEl>
                                          <p:spTgt spid="36"/>
                                        </p:tgtEl>
                                        <p:attrNameLst>
                                          <p:attrName>ppt_x</p:attrName>
                                        </p:attrNameLst>
                                      </p:cBhvr>
                                      <p:tavLst>
                                        <p:tav tm="0">
                                          <p:val>
                                            <p:strVal val="#ppt_x"/>
                                          </p:val>
                                        </p:tav>
                                        <p:tav tm="100000">
                                          <p:val>
                                            <p:strVal val="#ppt_x"/>
                                          </p:val>
                                        </p:tav>
                                      </p:tavLst>
                                    </p:anim>
                                    <p:anim calcmode="lin" valueType="num">
                                      <p:cBhvr additive="base">
                                        <p:cTn id="39" dur="6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MCP is one more exposed API</a:t>
            </a:r>
          </a:p>
        </p:txBody>
      </p:sp>
      <p:pic>
        <p:nvPicPr>
          <p:cNvPr id="3" name="Clip 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6300"/>
    </mc:Choice>
    <mc:Fallback>
      <p:transition spd="slow" advTm="2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Descriptions are written for agents</a:t>
            </a:r>
          </a:p>
        </p:txBody>
      </p:sp>
      <p:pic>
        <p:nvPicPr>
          <p:cNvPr id="3" name="Clip 0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100"/>
    </mc:Choice>
    <mc:Fallback>
      <p:transition spd="slow" advTm="3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3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Agents as components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AGENTIC COMPONENTS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Agents as components</a:t>
            </a:r>
          </a:p>
        </p:txBody>
      </p:sp>
      <p:grpSp>
        <p:nvGrpSpPr>
          <p:cNvPr id="8" name="Agent"/>
          <p:cNvGrpSpPr/>
          <p:nvPr/>
        </p:nvGrpSpPr>
        <p:grpSpPr>
          <a:xfrm>
            <a:off x="698500" y="2032000"/>
            <a:ext cx="3175000" cy="3048000"/>
            <a:chOff x="698500" y="2032000"/>
            <a:chExt cx="3175000" cy="3048000"/>
          </a:xfrm>
        </p:grpSpPr>
        <p:pic>
          <p:nvPicPr>
            <p:cNvPr id="6" name="Shape 4" descr="oda-agent.png"/>
            <p:cNvPicPr>
              <a:picLocks noChangeAspect="1"/>
            </p:cNvPicPr>
            <p:nvPr/>
          </p:nvPicPr>
          <p:blipFill>
            <a:blip r:embed="rId4"/>
            <a:stretch>
              <a:fillRect/>
            </a:stretch>
          </p:blipFill>
          <p:spPr>
            <a:xfrm>
              <a:off x="952500" y="2032000"/>
              <a:ext cx="2667000" cy="2518833"/>
            </a:xfrm>
            <a:prstGeom prst="rect">
              <a:avLst/>
            </a:prstGeom>
          </p:spPr>
        </p:pic>
        <p:sp>
          <p:nvSpPr>
            <p:cNvPr id="7" name="Shape 5"/>
            <p:cNvSpPr txBox="1"/>
            <p:nvPr/>
          </p:nvSpPr>
          <p:spPr>
            <a:xfrm>
              <a:off x="698500" y="4699000"/>
              <a:ext cx="3175000" cy="381000"/>
            </a:xfrm>
            <a:prstGeom prst="rect">
              <a:avLst/>
            </a:prstGeom>
            <a:noFill/>
          </p:spPr>
          <p:txBody>
            <a:bodyPr wrap="square" lIns="0" tIns="0" rIns="0" bIns="0" anchor="t">
              <a:spAutoFit/>
            </a:bodyPr>
            <a:lstStyle/>
            <a:p>
              <a:pPr algn="ctr">
                <a:lnSpc>
                  <a:spcPct val="115000"/>
                </a:lnSpc>
              </a:pPr>
              <a:r>
                <a:rPr sz="1600" b="1">
                  <a:solidFill>
                    <a:srgbClr val="F2F5FB"/>
                  </a:solidFill>
                  <a:latin typeface="Segoe UI"/>
                </a:rPr>
                <a:t>Agentic ODA Component</a:t>
              </a:r>
            </a:p>
          </p:txBody>
        </p:sp>
      </p:grpSp>
      <p:sp>
        <p:nvSpPr>
          <p:cNvPr id="9" name="Assumptions"/>
          <p:cNvSpPr txBox="1"/>
          <p:nvPr/>
        </p:nvSpPr>
        <p:spPr>
          <a:xfrm>
            <a:off x="4826000" y="1587500"/>
            <a:ext cx="6350000" cy="317500"/>
          </a:xfrm>
          <a:prstGeom prst="rect">
            <a:avLst/>
          </a:prstGeom>
          <a:noFill/>
        </p:spPr>
        <p:txBody>
          <a:bodyPr wrap="square" lIns="0" tIns="0" rIns="0" bIns="0" anchor="t">
            <a:spAutoFit/>
          </a:bodyPr>
          <a:lstStyle/>
          <a:p>
            <a:pPr algn="l">
              <a:lnSpc>
                <a:spcPct val="115000"/>
              </a:lnSpc>
            </a:pPr>
            <a:r>
              <a:rPr sz="1700" b="1">
                <a:solidFill>
                  <a:srgbClr val="F472B6"/>
                </a:solidFill>
                <a:latin typeface="Segoe UI"/>
              </a:rPr>
              <a:t>Four assumptions</a:t>
            </a:r>
          </a:p>
        </p:txBody>
      </p:sp>
      <p:grpSp>
        <p:nvGrpSpPr>
          <p:cNvPr id="13" name="Assumption 1"/>
          <p:cNvGrpSpPr/>
          <p:nvPr/>
        </p:nvGrpSpPr>
        <p:grpSpPr>
          <a:xfrm>
            <a:off x="4826000" y="2032000"/>
            <a:ext cx="6604000" cy="812800"/>
            <a:chOff x="4826000" y="2032000"/>
            <a:chExt cx="6604000" cy="812800"/>
          </a:xfrm>
        </p:grpSpPr>
        <p:sp>
          <p:nvSpPr>
            <p:cNvPr id="10" name="Shape 8"/>
            <p:cNvSpPr/>
            <p:nvPr/>
          </p:nvSpPr>
          <p:spPr>
            <a:xfrm>
              <a:off x="4826000" y="2032000"/>
              <a:ext cx="6604000" cy="812800"/>
            </a:xfrm>
            <a:prstGeom prst="roundRect">
              <a:avLst>
                <a:gd name="adj" fmla="val 1562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1" name="Shape 9" descr="icon-cloud-f472b6.png"/>
            <p:cNvPicPr>
              <a:picLocks noChangeAspect="1"/>
            </p:cNvPicPr>
            <p:nvPr/>
          </p:nvPicPr>
          <p:blipFill>
            <a:blip r:embed="rId5"/>
            <a:stretch>
              <a:fillRect/>
            </a:stretch>
          </p:blipFill>
          <p:spPr>
            <a:xfrm>
              <a:off x="5016500" y="2222500"/>
              <a:ext cx="431800" cy="431800"/>
            </a:xfrm>
            <a:prstGeom prst="rect">
              <a:avLst/>
            </a:prstGeom>
          </p:spPr>
        </p:pic>
        <p:sp>
          <p:nvSpPr>
            <p:cNvPr id="12" name="Shape 10"/>
            <p:cNvSpPr txBox="1"/>
            <p:nvPr/>
          </p:nvSpPr>
          <p:spPr>
            <a:xfrm>
              <a:off x="5651500" y="2032000"/>
              <a:ext cx="5588000" cy="812800"/>
            </a:xfrm>
            <a:prstGeom prst="rect">
              <a:avLst/>
            </a:prstGeom>
            <a:noFill/>
          </p:spPr>
          <p:txBody>
            <a:bodyPr wrap="square" lIns="0" tIns="0" rIns="0" bIns="0" anchor="ctr">
              <a:spAutoFit/>
            </a:bodyPr>
            <a:lstStyle/>
            <a:p>
              <a:pPr algn="l">
                <a:lnSpc>
                  <a:spcPct val="115000"/>
                </a:lnSpc>
              </a:pPr>
              <a:r>
                <a:rPr sz="1600" b="1">
                  <a:solidFill>
                    <a:srgbClr val="F2F5FB"/>
                  </a:solidFill>
                  <a:latin typeface="Segoe UI"/>
                </a:rPr>
                <a:t>Models are services, reached by API</a:t>
              </a:r>
            </a:p>
          </p:txBody>
        </p:sp>
      </p:grpSp>
      <p:grpSp>
        <p:nvGrpSpPr>
          <p:cNvPr id="17" name="Assumption 2"/>
          <p:cNvGrpSpPr/>
          <p:nvPr/>
        </p:nvGrpSpPr>
        <p:grpSpPr>
          <a:xfrm>
            <a:off x="4826000" y="2984500"/>
            <a:ext cx="6604000" cy="812800"/>
            <a:chOff x="4826000" y="2984500"/>
            <a:chExt cx="6604000" cy="812800"/>
          </a:xfrm>
        </p:grpSpPr>
        <p:sp>
          <p:nvSpPr>
            <p:cNvPr id="14" name="Shape 12"/>
            <p:cNvSpPr/>
            <p:nvPr/>
          </p:nvSpPr>
          <p:spPr>
            <a:xfrm>
              <a:off x="4826000" y="2984500"/>
              <a:ext cx="6604000" cy="812800"/>
            </a:xfrm>
            <a:prstGeom prst="roundRect">
              <a:avLst>
                <a:gd name="adj" fmla="val 1562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5" name="Shape 13" descr="icon-check-f472b6.png"/>
            <p:cNvPicPr>
              <a:picLocks noChangeAspect="1"/>
            </p:cNvPicPr>
            <p:nvPr/>
          </p:nvPicPr>
          <p:blipFill>
            <a:blip r:embed="rId6"/>
            <a:stretch>
              <a:fillRect/>
            </a:stretch>
          </p:blipFill>
          <p:spPr>
            <a:xfrm>
              <a:off x="5016500" y="3175000"/>
              <a:ext cx="431800" cy="431800"/>
            </a:xfrm>
            <a:prstGeom prst="rect">
              <a:avLst/>
            </a:prstGeom>
          </p:spPr>
        </p:pic>
        <p:sp>
          <p:nvSpPr>
            <p:cNvPr id="16" name="Shape 14"/>
            <p:cNvSpPr txBox="1"/>
            <p:nvPr/>
          </p:nvSpPr>
          <p:spPr>
            <a:xfrm>
              <a:off x="5651500" y="2984500"/>
              <a:ext cx="5588000" cy="812800"/>
            </a:xfrm>
            <a:prstGeom prst="rect">
              <a:avLst/>
            </a:prstGeom>
            <a:noFill/>
          </p:spPr>
          <p:txBody>
            <a:bodyPr wrap="square" lIns="0" tIns="0" rIns="0" bIns="0" anchor="ctr">
              <a:spAutoFit/>
            </a:bodyPr>
            <a:lstStyle/>
            <a:p>
              <a:pPr algn="l">
                <a:lnSpc>
                  <a:spcPct val="115000"/>
                </a:lnSpc>
              </a:pPr>
              <a:r>
                <a:rPr sz="1600" b="1">
                  <a:solidFill>
                    <a:srgbClr val="F2F5FB"/>
                  </a:solidFill>
                  <a:latin typeface="Segoe UI"/>
                </a:rPr>
                <a:t>Approved model catalogues</a:t>
              </a:r>
            </a:p>
          </p:txBody>
        </p:sp>
      </p:grpSp>
      <p:grpSp>
        <p:nvGrpSpPr>
          <p:cNvPr id="21" name="Assumption 3"/>
          <p:cNvGrpSpPr/>
          <p:nvPr/>
        </p:nvGrpSpPr>
        <p:grpSpPr>
          <a:xfrm>
            <a:off x="4826000" y="3937000"/>
            <a:ext cx="6604000" cy="812800"/>
            <a:chOff x="4826000" y="3937000"/>
            <a:chExt cx="6604000" cy="812800"/>
          </a:xfrm>
        </p:grpSpPr>
        <p:sp>
          <p:nvSpPr>
            <p:cNvPr id="18" name="Shape 16"/>
            <p:cNvSpPr/>
            <p:nvPr/>
          </p:nvSpPr>
          <p:spPr>
            <a:xfrm>
              <a:off x="4826000" y="3937000"/>
              <a:ext cx="6604000" cy="812800"/>
            </a:xfrm>
            <a:prstGeom prst="roundRect">
              <a:avLst>
                <a:gd name="adj" fmla="val 1562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9" name="Shape 17" descr="icon-chart-f472b6.png"/>
            <p:cNvPicPr>
              <a:picLocks noChangeAspect="1"/>
            </p:cNvPicPr>
            <p:nvPr/>
          </p:nvPicPr>
          <p:blipFill>
            <a:blip r:embed="rId7"/>
            <a:stretch>
              <a:fillRect/>
            </a:stretch>
          </p:blipFill>
          <p:spPr>
            <a:xfrm>
              <a:off x="5016500" y="4127500"/>
              <a:ext cx="431800" cy="431800"/>
            </a:xfrm>
            <a:prstGeom prst="rect">
              <a:avLst/>
            </a:prstGeom>
          </p:spPr>
        </p:pic>
        <p:sp>
          <p:nvSpPr>
            <p:cNvPr id="20" name="Shape 18"/>
            <p:cNvSpPr txBox="1"/>
            <p:nvPr/>
          </p:nvSpPr>
          <p:spPr>
            <a:xfrm>
              <a:off x="5651500" y="3937000"/>
              <a:ext cx="5588000" cy="812800"/>
            </a:xfrm>
            <a:prstGeom prst="rect">
              <a:avLst/>
            </a:prstGeom>
            <a:noFill/>
          </p:spPr>
          <p:txBody>
            <a:bodyPr wrap="square" lIns="0" tIns="0" rIns="0" bIns="0" anchor="ctr">
              <a:spAutoFit/>
            </a:bodyPr>
            <a:lstStyle/>
            <a:p>
              <a:pPr algn="l">
                <a:lnSpc>
                  <a:spcPct val="115000"/>
                </a:lnSpc>
              </a:pPr>
              <a:r>
                <a:rPr sz="1600" b="1">
                  <a:solidFill>
                    <a:srgbClr val="F2F5FB"/>
                  </a:solidFill>
                  <a:latin typeface="Segoe UI"/>
                </a:rPr>
                <a:t>Non-deterministic, so evaluate continuously</a:t>
              </a:r>
            </a:p>
          </p:txBody>
        </p:sp>
      </p:grpSp>
      <p:grpSp>
        <p:nvGrpSpPr>
          <p:cNvPr id="25" name="Assumption 4"/>
          <p:cNvGrpSpPr/>
          <p:nvPr/>
        </p:nvGrpSpPr>
        <p:grpSpPr>
          <a:xfrm>
            <a:off x="4826000" y="4889500"/>
            <a:ext cx="6604000" cy="812800"/>
            <a:chOff x="4826000" y="4889500"/>
            <a:chExt cx="6604000" cy="812800"/>
          </a:xfrm>
        </p:grpSpPr>
        <p:sp>
          <p:nvSpPr>
            <p:cNvPr id="22" name="Shape 20"/>
            <p:cNvSpPr/>
            <p:nvPr/>
          </p:nvSpPr>
          <p:spPr>
            <a:xfrm>
              <a:off x="4826000" y="4889500"/>
              <a:ext cx="6604000" cy="812800"/>
            </a:xfrm>
            <a:prstGeom prst="roundRect">
              <a:avLst>
                <a:gd name="adj" fmla="val 1562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3" name="Shape 21" descr="icon-database-f472b6.png"/>
            <p:cNvPicPr>
              <a:picLocks noChangeAspect="1"/>
            </p:cNvPicPr>
            <p:nvPr/>
          </p:nvPicPr>
          <p:blipFill>
            <a:blip r:embed="rId8"/>
            <a:stretch>
              <a:fillRect/>
            </a:stretch>
          </p:blipFill>
          <p:spPr>
            <a:xfrm>
              <a:off x="5016500" y="5080000"/>
              <a:ext cx="431800" cy="431800"/>
            </a:xfrm>
            <a:prstGeom prst="rect">
              <a:avLst/>
            </a:prstGeom>
          </p:spPr>
        </p:pic>
        <p:sp>
          <p:nvSpPr>
            <p:cNvPr id="24" name="Shape 22"/>
            <p:cNvSpPr txBox="1"/>
            <p:nvPr/>
          </p:nvSpPr>
          <p:spPr>
            <a:xfrm>
              <a:off x="5651500" y="4889500"/>
              <a:ext cx="5588000" cy="812800"/>
            </a:xfrm>
            <a:prstGeom prst="rect">
              <a:avLst/>
            </a:prstGeom>
            <a:noFill/>
          </p:spPr>
          <p:txBody>
            <a:bodyPr wrap="square" lIns="0" tIns="0" rIns="0" bIns="0" anchor="ctr">
              <a:spAutoFit/>
            </a:bodyPr>
            <a:lstStyle/>
            <a:p>
              <a:pPr algn="l">
                <a:lnSpc>
                  <a:spcPct val="115000"/>
                </a:lnSpc>
              </a:pPr>
              <a:r>
                <a:rPr sz="1600" b="1">
                  <a:solidFill>
                    <a:srgbClr val="F2F5FB"/>
                  </a:solidFill>
                  <a:latin typeface="Segoe UI"/>
                </a:rPr>
                <a:t>Extra services: vector databases, anonymisation, chunking</a:t>
              </a:r>
            </a:p>
          </p:txBody>
        </p:sp>
      </p:grpSp>
    </p:spTree>
  </p:cSld>
  <p:clrMapOvr>
    <a:masterClrMapping/>
  </p:clrMapOvr>
  <mc:AlternateContent xmlns:mc="http://schemas.openxmlformats.org/markup-compatibility/2006">
    <mc:Choice xmlns:p14="http://schemas.microsoft.com/office/powerpoint/2010/main" Requires="p14">
      <p:transition spd="slow" p14:dur="2000" advTm="26300"/>
    </mc:Choice>
    <mc:Fallback>
      <p:transition spd="slow" advTm="26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600"/>
                                  </p:stCondLst>
                                  <p:childTnLst>
                                    <p:set>
                                      <p:cBhvr>
                                        <p:cTn id="12" dur="1" fill="hold">
                                          <p:stCondLst>
                                            <p:cond delay="0"/>
                                          </p:stCondLst>
                                        </p:cTn>
                                        <p:tgtEl>
                                          <p:spTgt spid="8"/>
                                        </p:tgtEl>
                                        <p:attrNameLst>
                                          <p:attrName>style.visibility</p:attrName>
                                        </p:attrNameLst>
                                      </p:cBhvr>
                                      <p:to>
                                        <p:strVal val="visible"/>
                                      </p:to>
                                    </p:set>
                                    <p:anim calcmode="lin" valueType="num">
                                      <p:cBhvr>
                                        <p:cTn id="13" dur="700" fill="hold"/>
                                        <p:tgtEl>
                                          <p:spTgt spid="8"/>
                                        </p:tgtEl>
                                        <p:attrNameLst>
                                          <p:attrName>ppt_w</p:attrName>
                                        </p:attrNameLst>
                                      </p:cBhvr>
                                      <p:tavLst>
                                        <p:tav tm="0">
                                          <p:val>
                                            <p:strVal val="#ppt_w*2.5"/>
                                          </p:val>
                                        </p:tav>
                                        <p:tav tm="100000">
                                          <p:val>
                                            <p:strVal val="#ppt_w"/>
                                          </p:val>
                                        </p:tav>
                                      </p:tavLst>
                                    </p:anim>
                                    <p:anim calcmode="lin" valueType="num">
                                      <p:cBhvr>
                                        <p:cTn id="14" dur="700" fill="hold"/>
                                        <p:tgtEl>
                                          <p:spTgt spid="8"/>
                                        </p:tgtEl>
                                        <p:attrNameLst>
                                          <p:attrName>ppt_h</p:attrName>
                                        </p:attrNameLst>
                                      </p:cBhvr>
                                      <p:tavLst>
                                        <p:tav tm="0">
                                          <p:val>
                                            <p:strVal val="#ppt_h*0.01"/>
                                          </p:val>
                                        </p:tav>
                                        <p:tav tm="100000">
                                          <p:val>
                                            <p:strVal val="#ppt_h"/>
                                          </p:val>
                                        </p:tav>
                                      </p:tavLst>
                                    </p:anim>
                                    <p:anim calcmode="lin" valueType="num">
                                      <p:cBhvr>
                                        <p:cTn id="15" dur="700" fill="hold"/>
                                        <p:tgtEl>
                                          <p:spTgt spid="8"/>
                                        </p:tgtEl>
                                        <p:attrNameLst>
                                          <p:attrName>ppt_x</p:attrName>
                                        </p:attrNameLst>
                                      </p:cBhvr>
                                      <p:tavLst>
                                        <p:tav tm="0">
                                          <p:val>
                                            <p:strVal val="#ppt_x"/>
                                          </p:val>
                                        </p:tav>
                                        <p:tav tm="100000">
                                          <p:val>
                                            <p:strVal val="#ppt_x"/>
                                          </p:val>
                                        </p:tav>
                                      </p:tavLst>
                                    </p:anim>
                                    <p:anim calcmode="lin" valueType="num">
                                      <p:cBhvr>
                                        <p:cTn id="16" dur="700" fill="hold"/>
                                        <p:tgtEl>
                                          <p:spTgt spid="8"/>
                                        </p:tgtEl>
                                        <p:attrNameLst>
                                          <p:attrName>ppt_y</p:attrName>
                                        </p:attrNameLst>
                                      </p:cBhvr>
                                      <p:tavLst>
                                        <p:tav tm="0">
                                          <p:val>
                                            <p:strVal val="#ppt_h+1"/>
                                          </p:val>
                                        </p:tav>
                                        <p:tav tm="100000">
                                          <p:val>
                                            <p:strVal val="#ppt_y"/>
                                          </p:val>
                                        </p:tav>
                                      </p:tavLst>
                                    </p:anim>
                                    <p:animEffect transition="in" filter="fade">
                                      <p:cBhvr>
                                        <p:cTn id="17" dur="700"/>
                                        <p:tgtEl>
                                          <p:spTgt spid="8"/>
                                        </p:tgtEl>
                                      </p:cBhvr>
                                    </p:animEffect>
                                  </p:childTnLst>
                                </p:cTn>
                              </p:par>
                              <p:par>
                                <p:cTn id="18" presetID="10" presetClass="entr" presetSubtype="0" fill="hold" grpId="0" nodeType="withEffect">
                                  <p:stCondLst>
                                    <p:cond delay="36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600"/>
                                        <p:tgtEl>
                                          <p:spTgt spid="9"/>
                                        </p:tgtEl>
                                      </p:cBhvr>
                                    </p:animEffect>
                                  </p:childTnLst>
                                </p:cTn>
                              </p:par>
                              <p:par>
                                <p:cTn id="21" presetID="2" presetClass="entr" presetSubtype="4" fill="hold" nodeType="withEffect">
                                  <p:stCondLst>
                                    <p:cond delay="560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600" fill="hold"/>
                                        <p:tgtEl>
                                          <p:spTgt spid="13"/>
                                        </p:tgtEl>
                                        <p:attrNameLst>
                                          <p:attrName>ppt_x</p:attrName>
                                        </p:attrNameLst>
                                      </p:cBhvr>
                                      <p:tavLst>
                                        <p:tav tm="0">
                                          <p:val>
                                            <p:strVal val="#ppt_x"/>
                                          </p:val>
                                        </p:tav>
                                        <p:tav tm="100000">
                                          <p:val>
                                            <p:strVal val="#ppt_x"/>
                                          </p:val>
                                        </p:tav>
                                      </p:tavLst>
                                    </p:anim>
                                    <p:anim calcmode="lin" valueType="num">
                                      <p:cBhvr additive="base">
                                        <p:cTn id="24" dur="600" fill="hold"/>
                                        <p:tgtEl>
                                          <p:spTgt spid="13"/>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10800"/>
                                  </p:stCondLst>
                                  <p:childTnLst>
                                    <p:set>
                                      <p:cBhvr>
                                        <p:cTn id="26" dur="1" fill="hold">
                                          <p:stCondLst>
                                            <p:cond delay="0"/>
                                          </p:stCondLst>
                                        </p:cTn>
                                        <p:tgtEl>
                                          <p:spTgt spid="17"/>
                                        </p:tgtEl>
                                        <p:attrNameLst>
                                          <p:attrName>style.visibility</p:attrName>
                                        </p:attrNameLst>
                                      </p:cBhvr>
                                      <p:to>
                                        <p:strVal val="visible"/>
                                      </p:to>
                                    </p:set>
                                    <p:anim calcmode="lin" valueType="num">
                                      <p:cBhvr additive="base">
                                        <p:cTn id="27" dur="600" fill="hold"/>
                                        <p:tgtEl>
                                          <p:spTgt spid="17"/>
                                        </p:tgtEl>
                                        <p:attrNameLst>
                                          <p:attrName>ppt_x</p:attrName>
                                        </p:attrNameLst>
                                      </p:cBhvr>
                                      <p:tavLst>
                                        <p:tav tm="0">
                                          <p:val>
                                            <p:strVal val="#ppt_x"/>
                                          </p:val>
                                        </p:tav>
                                        <p:tav tm="100000">
                                          <p:val>
                                            <p:strVal val="#ppt_x"/>
                                          </p:val>
                                        </p:tav>
                                      </p:tavLst>
                                    </p:anim>
                                    <p:anim calcmode="lin" valueType="num">
                                      <p:cBhvr additive="base">
                                        <p:cTn id="28" dur="600" fill="hold"/>
                                        <p:tgtEl>
                                          <p:spTgt spid="17"/>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1360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600" fill="hold"/>
                                        <p:tgtEl>
                                          <p:spTgt spid="21"/>
                                        </p:tgtEl>
                                        <p:attrNameLst>
                                          <p:attrName>ppt_x</p:attrName>
                                        </p:attrNameLst>
                                      </p:cBhvr>
                                      <p:tavLst>
                                        <p:tav tm="0">
                                          <p:val>
                                            <p:strVal val="#ppt_x"/>
                                          </p:val>
                                        </p:tav>
                                        <p:tav tm="100000">
                                          <p:val>
                                            <p:strVal val="#ppt_x"/>
                                          </p:val>
                                        </p:tav>
                                      </p:tavLst>
                                    </p:anim>
                                    <p:anim calcmode="lin" valueType="num">
                                      <p:cBhvr additive="base">
                                        <p:cTn id="32" dur="600" fill="hold"/>
                                        <p:tgtEl>
                                          <p:spTgt spid="2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18800"/>
                                  </p:stCondLst>
                                  <p:childTnLst>
                                    <p:set>
                                      <p:cBhvr>
                                        <p:cTn id="34" dur="1" fill="hold">
                                          <p:stCondLst>
                                            <p:cond delay="0"/>
                                          </p:stCondLst>
                                        </p:cTn>
                                        <p:tgtEl>
                                          <p:spTgt spid="25"/>
                                        </p:tgtEl>
                                        <p:attrNameLst>
                                          <p:attrName>style.visibility</p:attrName>
                                        </p:attrNameLst>
                                      </p:cBhvr>
                                      <p:to>
                                        <p:strVal val="visible"/>
                                      </p:to>
                                    </p:set>
                                    <p:anim calcmode="lin" valueType="num">
                                      <p:cBhvr additive="base">
                                        <p:cTn id="35" dur="600" fill="hold"/>
                                        <p:tgtEl>
                                          <p:spTgt spid="25"/>
                                        </p:tgtEl>
                                        <p:attrNameLst>
                                          <p:attrName>ppt_x</p:attrName>
                                        </p:attrNameLst>
                                      </p:cBhvr>
                                      <p:tavLst>
                                        <p:tav tm="0">
                                          <p:val>
                                            <p:strVal val="#ppt_x"/>
                                          </p:val>
                                        </p:tav>
                                        <p:tav tm="100000">
                                          <p:val>
                                            <p:strVal val="#ppt_x"/>
                                          </p:val>
                                        </p:tav>
                                      </p:tavLst>
                                    </p:anim>
                                    <p:anim calcmode="lin" valueType="num">
                                      <p:cBhvr additive="base">
                                        <p:cTn id="36" dur="6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Dependent AI models</a:t>
            </a:r>
          </a:p>
        </p:txBody>
      </p:sp>
      <p:pic>
        <p:nvPicPr>
          <p:cNvPr id="3" name="Clip 0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100"/>
    </mc:Choice>
    <mc:Fallback>
      <p:transition spd="slow" advTm="3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Training builds intelligence, inference builds cost</a:t>
            </a:r>
          </a:p>
        </p:txBody>
      </p:sp>
      <p:pic>
        <p:nvPicPr>
          <p:cNvPr id="3" name="Clip 0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100"/>
    </mc:Choice>
    <mc:Fallback>
      <p:transition spd="slow" advTm="27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Three options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MODEL AS A SERVICE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Three options</a:t>
            </a:r>
          </a:p>
        </p:txBody>
      </p:sp>
      <p:grpSp>
        <p:nvGrpSpPr>
          <p:cNvPr id="9" name="Option 1"/>
          <p:cNvGrpSpPr/>
          <p:nvPr/>
        </p:nvGrpSpPr>
        <p:grpSpPr>
          <a:xfrm>
            <a:off x="762000" y="1714500"/>
            <a:ext cx="3429000" cy="3556000"/>
            <a:chOff x="762000" y="1714500"/>
            <a:chExt cx="3429000" cy="3556000"/>
          </a:xfrm>
        </p:grpSpPr>
        <p:sp>
          <p:nvSpPr>
            <p:cNvPr id="6" name="Shape 4"/>
            <p:cNvSpPr/>
            <p:nvPr/>
          </p:nvSpPr>
          <p:spPr>
            <a:xfrm>
              <a:off x="762000" y="1714500"/>
              <a:ext cx="3429000" cy="3556000"/>
            </a:xfrm>
            <a:prstGeom prst="roundRect">
              <a:avLst>
                <a:gd name="adj" fmla="val 4814"/>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cloud-8f9bb8.png"/>
            <p:cNvPicPr>
              <a:picLocks noChangeAspect="1"/>
            </p:cNvPicPr>
            <p:nvPr/>
          </p:nvPicPr>
          <p:blipFill>
            <a:blip r:embed="rId4"/>
            <a:stretch>
              <a:fillRect/>
            </a:stretch>
          </p:blipFill>
          <p:spPr>
            <a:xfrm>
              <a:off x="1016000" y="1968500"/>
              <a:ext cx="609600" cy="609600"/>
            </a:xfrm>
            <a:prstGeom prst="rect">
              <a:avLst/>
            </a:prstGeom>
          </p:spPr>
        </p:pic>
        <p:sp>
          <p:nvSpPr>
            <p:cNvPr id="8" name="Shape 6"/>
            <p:cNvSpPr txBox="1"/>
            <p:nvPr/>
          </p:nvSpPr>
          <p:spPr>
            <a:xfrm>
              <a:off x="1016000" y="2794000"/>
              <a:ext cx="2921000" cy="825500"/>
            </a:xfrm>
            <a:prstGeom prst="rect">
              <a:avLst/>
            </a:prstGeom>
            <a:noFill/>
          </p:spPr>
          <p:txBody>
            <a:bodyPr wrap="square" lIns="0" tIns="0" rIns="0" bIns="0" anchor="t">
              <a:spAutoFit/>
            </a:bodyPr>
            <a:lstStyle/>
            <a:p>
              <a:pPr algn="l">
                <a:lnSpc>
                  <a:spcPct val="110000"/>
                </a:lnSpc>
              </a:pPr>
              <a:r>
                <a:rPr sz="2000" b="1">
                  <a:solidFill>
                    <a:srgbClr val="F2F5FB"/>
                  </a:solidFill>
                  <a:latin typeface="Segoe UI"/>
                </a:rPr>
                <a:t>One hyperscaler's AI service</a:t>
              </a:r>
            </a:p>
          </p:txBody>
        </p:sp>
      </p:grpSp>
      <p:grpSp>
        <p:nvGrpSpPr>
          <p:cNvPr id="12" name="Verdict 1"/>
          <p:cNvGrpSpPr/>
          <p:nvPr/>
        </p:nvGrpSpPr>
        <p:grpSpPr>
          <a:xfrm>
            <a:off x="1016000" y="3937000"/>
            <a:ext cx="2921000" cy="1206500"/>
            <a:chOff x="1016000" y="3937000"/>
            <a:chExt cx="2921000" cy="1206500"/>
          </a:xfrm>
        </p:grpSpPr>
        <p:sp>
          <p:nvSpPr>
            <p:cNvPr id="10" name="Shape 8"/>
            <p:cNvSpPr/>
            <p:nvPr/>
          </p:nvSpPr>
          <p:spPr>
            <a:xfrm>
              <a:off x="1016000" y="3937000"/>
              <a:ext cx="1130300" cy="330200"/>
            </a:xfrm>
            <a:prstGeom prst="roundRect">
              <a:avLst>
                <a:gd name="adj" fmla="val 50000"/>
              </a:avLst>
            </a:prstGeom>
            <a:solidFill>
              <a:srgbClr val="F43F5E">
                <a:alpha val="15000"/>
              </a:srgbClr>
            </a:solidFill>
            <a:ln w="12700">
              <a:solidFill>
                <a:srgbClr val="F43F5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Rejected</a:t>
              </a:r>
            </a:p>
          </p:txBody>
        </p:sp>
        <p:sp>
          <p:nvSpPr>
            <p:cNvPr id="11" name="Shape 9"/>
            <p:cNvSpPr txBox="1"/>
            <p:nvPr/>
          </p:nvSpPr>
          <p:spPr>
            <a:xfrm>
              <a:off x="1016000" y="4445000"/>
              <a:ext cx="2921000" cy="6985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Model lock-in becomes platform lock-in</a:t>
              </a:r>
            </a:p>
          </p:txBody>
        </p:sp>
      </p:grpSp>
      <p:grpSp>
        <p:nvGrpSpPr>
          <p:cNvPr id="16" name="Option 2"/>
          <p:cNvGrpSpPr/>
          <p:nvPr/>
        </p:nvGrpSpPr>
        <p:grpSpPr>
          <a:xfrm>
            <a:off x="4381500" y="1714500"/>
            <a:ext cx="3429000" cy="3556000"/>
            <a:chOff x="4381500" y="1714500"/>
            <a:chExt cx="3429000" cy="3556000"/>
          </a:xfrm>
        </p:grpSpPr>
        <p:sp>
          <p:nvSpPr>
            <p:cNvPr id="13" name="Shape 11"/>
            <p:cNvSpPr/>
            <p:nvPr/>
          </p:nvSpPr>
          <p:spPr>
            <a:xfrm>
              <a:off x="4381500" y="1714500"/>
              <a:ext cx="3429000" cy="3556000"/>
            </a:xfrm>
            <a:prstGeom prst="roundRect">
              <a:avLst>
                <a:gd name="adj" fmla="val 4814"/>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4" name="Shape 12" descr="icon-doc-8f9bb8.png"/>
            <p:cNvPicPr>
              <a:picLocks noChangeAspect="1"/>
            </p:cNvPicPr>
            <p:nvPr/>
          </p:nvPicPr>
          <p:blipFill>
            <a:blip r:embed="rId5"/>
            <a:stretch>
              <a:fillRect/>
            </a:stretch>
          </p:blipFill>
          <p:spPr>
            <a:xfrm>
              <a:off x="4635500" y="1968500"/>
              <a:ext cx="609600" cy="609600"/>
            </a:xfrm>
            <a:prstGeom prst="rect">
              <a:avLst/>
            </a:prstGeom>
          </p:spPr>
        </p:pic>
        <p:sp>
          <p:nvSpPr>
            <p:cNvPr id="15" name="Shape 13"/>
            <p:cNvSpPr txBox="1"/>
            <p:nvPr/>
          </p:nvSpPr>
          <p:spPr>
            <a:xfrm>
              <a:off x="4635500" y="2794000"/>
              <a:ext cx="2921000" cy="825500"/>
            </a:xfrm>
            <a:prstGeom prst="rect">
              <a:avLst/>
            </a:prstGeom>
            <a:noFill/>
          </p:spPr>
          <p:txBody>
            <a:bodyPr wrap="square" lIns="0" tIns="0" rIns="0" bIns="0" anchor="t">
              <a:spAutoFit/>
            </a:bodyPr>
            <a:lstStyle/>
            <a:p>
              <a:pPr algn="l">
                <a:lnSpc>
                  <a:spcPct val="110000"/>
                </a:lnSpc>
              </a:pPr>
              <a:r>
                <a:rPr sz="2000" b="1">
                  <a:solidFill>
                    <a:srgbClr val="F2F5FB"/>
                  </a:solidFill>
                  <a:latin typeface="Segoe UI"/>
                </a:rPr>
                <a:t>Wait for an industry standard</a:t>
              </a:r>
            </a:p>
          </p:txBody>
        </p:sp>
      </p:grpSp>
      <p:grpSp>
        <p:nvGrpSpPr>
          <p:cNvPr id="19" name="Verdict 2"/>
          <p:cNvGrpSpPr/>
          <p:nvPr/>
        </p:nvGrpSpPr>
        <p:grpSpPr>
          <a:xfrm>
            <a:off x="4635500" y="3937000"/>
            <a:ext cx="2921000" cy="1206500"/>
            <a:chOff x="4635500" y="3937000"/>
            <a:chExt cx="2921000" cy="1206500"/>
          </a:xfrm>
        </p:grpSpPr>
        <p:sp>
          <p:nvSpPr>
            <p:cNvPr id="17" name="Shape 15"/>
            <p:cNvSpPr/>
            <p:nvPr/>
          </p:nvSpPr>
          <p:spPr>
            <a:xfrm>
              <a:off x="4635500" y="3937000"/>
              <a:ext cx="1238250" cy="33020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Premature</a:t>
              </a:r>
            </a:p>
          </p:txBody>
        </p:sp>
        <p:sp>
          <p:nvSpPr>
            <p:cNvPr id="18" name="Shape 16"/>
            <p:cNvSpPr txBox="1"/>
            <p:nvPr/>
          </p:nvSpPr>
          <p:spPr>
            <a:xfrm>
              <a:off x="4635500" y="4445000"/>
              <a:ext cx="2921000" cy="6985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The market is moving too fast</a:t>
              </a:r>
            </a:p>
          </p:txBody>
        </p:sp>
      </p:grpSp>
      <p:grpSp>
        <p:nvGrpSpPr>
          <p:cNvPr id="23" name="Option 3"/>
          <p:cNvGrpSpPr/>
          <p:nvPr/>
        </p:nvGrpSpPr>
        <p:grpSpPr>
          <a:xfrm>
            <a:off x="8001000" y="1714500"/>
            <a:ext cx="3429000" cy="3556000"/>
            <a:chOff x="8001000" y="1714500"/>
            <a:chExt cx="3429000" cy="3556000"/>
          </a:xfrm>
        </p:grpSpPr>
        <p:sp>
          <p:nvSpPr>
            <p:cNvPr id="20" name="Shape 18"/>
            <p:cNvSpPr/>
            <p:nvPr/>
          </p:nvSpPr>
          <p:spPr>
            <a:xfrm>
              <a:off x="8001000" y="1714500"/>
              <a:ext cx="3429000" cy="3556000"/>
            </a:xfrm>
            <a:prstGeom prst="roundRect">
              <a:avLst>
                <a:gd name="adj" fmla="val 4814"/>
              </a:avLst>
            </a:prstGeom>
            <a:solidFill>
              <a:srgbClr val="F472B6">
                <a:alpha val="12000"/>
              </a:srgbClr>
            </a:solidFill>
            <a:ln w="254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1" name="Shape 19" descr="icon-gateway-f472b6.png"/>
            <p:cNvPicPr>
              <a:picLocks noChangeAspect="1"/>
            </p:cNvPicPr>
            <p:nvPr/>
          </p:nvPicPr>
          <p:blipFill>
            <a:blip r:embed="rId6"/>
            <a:stretch>
              <a:fillRect/>
            </a:stretch>
          </p:blipFill>
          <p:spPr>
            <a:xfrm>
              <a:off x="8255000" y="1968500"/>
              <a:ext cx="609600" cy="609600"/>
            </a:xfrm>
            <a:prstGeom prst="rect">
              <a:avLst/>
            </a:prstGeom>
          </p:spPr>
        </p:pic>
        <p:sp>
          <p:nvSpPr>
            <p:cNvPr id="22" name="Shape 20"/>
            <p:cNvSpPr txBox="1"/>
            <p:nvPr/>
          </p:nvSpPr>
          <p:spPr>
            <a:xfrm>
              <a:off x="8255000" y="2794000"/>
              <a:ext cx="2921000" cy="825500"/>
            </a:xfrm>
            <a:prstGeom prst="rect">
              <a:avLst/>
            </a:prstGeom>
            <a:noFill/>
          </p:spPr>
          <p:txBody>
            <a:bodyPr wrap="square" lIns="0" tIns="0" rIns="0" bIns="0" anchor="t">
              <a:spAutoFit/>
            </a:bodyPr>
            <a:lstStyle/>
            <a:p>
              <a:pPr algn="l">
                <a:lnSpc>
                  <a:spcPct val="110000"/>
                </a:lnSpc>
              </a:pPr>
              <a:r>
                <a:rPr sz="2000" b="1">
                  <a:solidFill>
                    <a:srgbClr val="F2F5FB"/>
                  </a:solidFill>
                  <a:latin typeface="Segoe UI"/>
                </a:rPr>
                <a:t>Model as a Service</a:t>
              </a:r>
            </a:p>
          </p:txBody>
        </p:sp>
      </p:grpSp>
      <p:grpSp>
        <p:nvGrpSpPr>
          <p:cNvPr id="26" name="Verdict 3"/>
          <p:cNvGrpSpPr/>
          <p:nvPr/>
        </p:nvGrpSpPr>
        <p:grpSpPr>
          <a:xfrm>
            <a:off x="8255000" y="3937000"/>
            <a:ext cx="2921000" cy="1206500"/>
            <a:chOff x="8255000" y="3937000"/>
            <a:chExt cx="2921000" cy="1206500"/>
          </a:xfrm>
        </p:grpSpPr>
        <p:sp>
          <p:nvSpPr>
            <p:cNvPr id="24" name="Shape 22"/>
            <p:cNvSpPr/>
            <p:nvPr/>
          </p:nvSpPr>
          <p:spPr>
            <a:xfrm>
              <a:off x="8255000" y="3937000"/>
              <a:ext cx="1130300" cy="3302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500" b="1">
                  <a:solidFill>
                    <a:srgbClr val="F2F5FB"/>
                  </a:solidFill>
                  <a:latin typeface="Segoe UI"/>
                </a:rPr>
                <a:t>Selected</a:t>
              </a:r>
            </a:p>
          </p:txBody>
        </p:sp>
        <p:sp>
          <p:nvSpPr>
            <p:cNvPr id="25" name="Shape 23"/>
            <p:cNvSpPr txBox="1"/>
            <p:nvPr/>
          </p:nvSpPr>
          <p:spPr>
            <a:xfrm>
              <a:off x="8255000" y="4445000"/>
              <a:ext cx="2921000" cy="6985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An internal standard layer, today</a:t>
              </a:r>
            </a:p>
          </p:txBody>
        </p:sp>
      </p:grpSp>
      <p:sp>
        <p:nvSpPr>
          <p:cNvPr id="27" name="Source"/>
          <p:cNvSpPr txBox="1"/>
          <p:nvPr/>
        </p:nvSpPr>
        <p:spPr>
          <a:xfrm>
            <a:off x="762000" y="5715000"/>
            <a:ext cx="10668000" cy="254000"/>
          </a:xfrm>
          <a:prstGeom prst="rect">
            <a:avLst/>
          </a:prstGeom>
          <a:noFill/>
        </p:spPr>
        <p:txBody>
          <a:bodyPr wrap="square" lIns="0" tIns="0" rIns="0" bIns="0" anchor="t">
            <a:spAutoFit/>
          </a:bodyPr>
          <a:lstStyle/>
          <a:p>
            <a:pPr algn="l">
              <a:lnSpc>
                <a:spcPct val="115000"/>
              </a:lnSpc>
            </a:pPr>
            <a:r>
              <a:rPr sz="1200" b="0">
                <a:solidFill>
                  <a:srgbClr val="8F9BB8"/>
                </a:solidFill>
                <a:latin typeface="Segoe UI"/>
              </a:rPr>
              <a:t>TM Forum GB1085 Model-as-a-Service (MODaaS) · Introductory Guide · alpha</a:t>
            </a:r>
          </a:p>
        </p:txBody>
      </p:sp>
    </p:spTree>
  </p:cSld>
  <p:clrMapOvr>
    <a:masterClrMapping/>
  </p:clrMapOvr>
  <mc:AlternateContent xmlns:mc="http://schemas.openxmlformats.org/markup-compatibility/2006">
    <mc:Choice xmlns:p14="http://schemas.microsoft.com/office/powerpoint/2010/main" Requires="p14">
      <p:transition spd="slow" p14:dur="2000" advTm="24700"/>
    </mc:Choice>
    <mc:Fallback>
      <p:transition spd="slow" advTm="2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27"/>
                                        </p:tgtEl>
                                        <p:attrNameLst>
                                          <p:attrName>style.visibility</p:attrName>
                                        </p:attrNameLst>
                                      </p:cBhvr>
                                      <p:to>
                                        <p:strVal val="visible"/>
                                      </p:to>
                                    </p:set>
                                    <p:animEffect transition="in" filter="fade">
                                      <p:cBhvr>
                                        <p:cTn id="13" dur="600"/>
                                        <p:tgtEl>
                                          <p:spTgt spid="27"/>
                                        </p:tgtEl>
                                      </p:cBhvr>
                                    </p:animEffect>
                                  </p:childTnLst>
                                </p:cTn>
                              </p:par>
                              <p:par>
                                <p:cTn id="14" presetID="2" presetClass="entr" presetSubtype="4" fill="hold" nodeType="withEffect">
                                  <p:stCondLst>
                                    <p:cond delay="200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600" fill="hold"/>
                                        <p:tgtEl>
                                          <p:spTgt spid="9"/>
                                        </p:tgtEl>
                                        <p:attrNameLst>
                                          <p:attrName>ppt_x</p:attrName>
                                        </p:attrNameLst>
                                      </p:cBhvr>
                                      <p:tavLst>
                                        <p:tav tm="0">
                                          <p:val>
                                            <p:strVal val="#ppt_x"/>
                                          </p:val>
                                        </p:tav>
                                        <p:tav tm="100000">
                                          <p:val>
                                            <p:strVal val="#ppt_x"/>
                                          </p:val>
                                        </p:tav>
                                      </p:tavLst>
                                    </p:anim>
                                    <p:anim calcmode="lin" valueType="num">
                                      <p:cBhvr additive="base">
                                        <p:cTn id="17" dur="600" fill="hold"/>
                                        <p:tgtEl>
                                          <p:spTgt spid="9"/>
                                        </p:tgtEl>
                                        <p:attrNameLst>
                                          <p:attrName>ppt_y</p:attrName>
                                        </p:attrNameLst>
                                      </p:cBhvr>
                                      <p:tavLst>
                                        <p:tav tm="0">
                                          <p:val>
                                            <p:strVal val="1+#ppt_h/2"/>
                                          </p:val>
                                        </p:tav>
                                        <p:tav tm="100000">
                                          <p:val>
                                            <p:strVal val="#ppt_y"/>
                                          </p:val>
                                        </p:tav>
                                      </p:tavLst>
                                    </p:anim>
                                  </p:childTnLst>
                                </p:cTn>
                              </p:par>
                              <p:par>
                                <p:cTn id="18" presetID="10" presetClass="entr" presetSubtype="0" fill="hold" nodeType="withEffect">
                                  <p:stCondLst>
                                    <p:cond delay="520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2" presetClass="entr" presetSubtype="4" fill="hold" nodeType="withEffect">
                                  <p:stCondLst>
                                    <p:cond delay="920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600" fill="hold"/>
                                        <p:tgtEl>
                                          <p:spTgt spid="16"/>
                                        </p:tgtEl>
                                        <p:attrNameLst>
                                          <p:attrName>ppt_x</p:attrName>
                                        </p:attrNameLst>
                                      </p:cBhvr>
                                      <p:tavLst>
                                        <p:tav tm="0">
                                          <p:val>
                                            <p:strVal val="#ppt_x"/>
                                          </p:val>
                                        </p:tav>
                                        <p:tav tm="100000">
                                          <p:val>
                                            <p:strVal val="#ppt_x"/>
                                          </p:val>
                                        </p:tav>
                                      </p:tavLst>
                                    </p:anim>
                                    <p:anim calcmode="lin" valueType="num">
                                      <p:cBhvr additive="base">
                                        <p:cTn id="24" dur="600" fill="hold"/>
                                        <p:tgtEl>
                                          <p:spTgt spid="16"/>
                                        </p:tgtEl>
                                        <p:attrNameLst>
                                          <p:attrName>ppt_y</p:attrName>
                                        </p:attrNameLst>
                                      </p:cBhvr>
                                      <p:tavLst>
                                        <p:tav tm="0">
                                          <p:val>
                                            <p:strVal val="1+#ppt_h/2"/>
                                          </p:val>
                                        </p:tav>
                                        <p:tav tm="100000">
                                          <p:val>
                                            <p:strVal val="#ppt_y"/>
                                          </p:val>
                                        </p:tav>
                                      </p:tavLst>
                                    </p:anim>
                                  </p:childTnLst>
                                </p:cTn>
                              </p:par>
                              <p:par>
                                <p:cTn id="25" presetID="10" presetClass="entr" presetSubtype="0" fill="hold" nodeType="withEffect">
                                  <p:stCondLst>
                                    <p:cond delay="1060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2" presetClass="entr" presetSubtype="4" fill="hold" nodeType="withEffect">
                                  <p:stCondLst>
                                    <p:cond delay="15200"/>
                                  </p:stCondLst>
                                  <p:childTnLst>
                                    <p:set>
                                      <p:cBhvr>
                                        <p:cTn id="29" dur="1" fill="hold">
                                          <p:stCondLst>
                                            <p:cond delay="0"/>
                                          </p:stCondLst>
                                        </p:cTn>
                                        <p:tgtEl>
                                          <p:spTgt spid="23"/>
                                        </p:tgtEl>
                                        <p:attrNameLst>
                                          <p:attrName>style.visibility</p:attrName>
                                        </p:attrNameLst>
                                      </p:cBhvr>
                                      <p:to>
                                        <p:strVal val="visible"/>
                                      </p:to>
                                    </p:set>
                                    <p:anim calcmode="lin" valueType="num">
                                      <p:cBhvr additive="base">
                                        <p:cTn id="30" dur="600" fill="hold"/>
                                        <p:tgtEl>
                                          <p:spTgt spid="23"/>
                                        </p:tgtEl>
                                        <p:attrNameLst>
                                          <p:attrName>ppt_x</p:attrName>
                                        </p:attrNameLst>
                                      </p:cBhvr>
                                      <p:tavLst>
                                        <p:tav tm="0">
                                          <p:val>
                                            <p:strVal val="#ppt_x"/>
                                          </p:val>
                                        </p:tav>
                                        <p:tav tm="100000">
                                          <p:val>
                                            <p:strVal val="#ppt_x"/>
                                          </p:val>
                                        </p:tav>
                                      </p:tavLst>
                                    </p:anim>
                                    <p:anim calcmode="lin" valueType="num">
                                      <p:cBhvr additive="base">
                                        <p:cTn id="31" dur="600" fill="hold"/>
                                        <p:tgtEl>
                                          <p:spTgt spid="23"/>
                                        </p:tgtEl>
                                        <p:attrNameLst>
                                          <p:attrName>ppt_y</p:attrName>
                                        </p:attrNameLst>
                                      </p:cBhvr>
                                      <p:tavLst>
                                        <p:tav tm="0">
                                          <p:val>
                                            <p:strVal val="1+#ppt_h/2"/>
                                          </p:val>
                                        </p:tav>
                                        <p:tav tm="100000">
                                          <p:val>
                                            <p:strVal val="#ppt_y"/>
                                          </p:val>
                                        </p:tav>
                                      </p:tavLst>
                                    </p:anim>
                                  </p:childTnLst>
                                </p:cTn>
                              </p:par>
                              <p:par>
                                <p:cTn id="32" presetID="10" presetClass="entr" presetSubtype="0" fill="hold" nodeType="withEffect">
                                  <p:stCondLst>
                                    <p:cond delay="176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What the control plane provides</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MODEL AS A SERVICE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What the control plane provides</a:t>
            </a:r>
          </a:p>
        </p:txBody>
      </p:sp>
      <p:grpSp>
        <p:nvGrpSpPr>
          <p:cNvPr id="8" name="Plate"/>
          <p:cNvGrpSpPr/>
          <p:nvPr/>
        </p:nvGrpSpPr>
        <p:grpSpPr>
          <a:xfrm>
            <a:off x="762000" y="1587500"/>
            <a:ext cx="10668000" cy="635000"/>
            <a:chOff x="762000" y="1587500"/>
            <a:chExt cx="10668000" cy="635000"/>
          </a:xfrm>
        </p:grpSpPr>
        <p:sp>
          <p:nvSpPr>
            <p:cNvPr id="6" name="Shape 4"/>
            <p:cNvSpPr/>
            <p:nvPr/>
          </p:nvSpPr>
          <p:spPr>
            <a:xfrm>
              <a:off x="762000" y="1587500"/>
              <a:ext cx="10668000" cy="635000"/>
            </a:xfrm>
            <a:prstGeom prst="roundRect">
              <a:avLst>
                <a:gd name="adj" fmla="val 20000"/>
              </a:avLst>
            </a:prstGeom>
            <a:solidFill>
              <a:srgbClr val="F472B6">
                <a:alpha val="18000"/>
              </a:srgbClr>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txBox="1"/>
            <p:nvPr/>
          </p:nvSpPr>
          <p:spPr>
            <a:xfrm>
              <a:off x="762000" y="1587500"/>
              <a:ext cx="10668000" cy="635000"/>
            </a:xfrm>
            <a:prstGeom prst="rect">
              <a:avLst/>
            </a:prstGeom>
            <a:noFill/>
          </p:spPr>
          <p:txBody>
            <a:bodyPr wrap="square" lIns="0" tIns="0" rIns="0" bIns="0" anchor="ctr">
              <a:spAutoFit/>
            </a:bodyPr>
            <a:lstStyle/>
            <a:p>
              <a:pPr algn="ctr">
                <a:lnSpc>
                  <a:spcPct val="115000"/>
                </a:lnSpc>
              </a:pPr>
              <a:r>
                <a:rPr sz="1700" b="1">
                  <a:solidFill>
                    <a:srgbClr val="F2F5FB"/>
                  </a:solidFill>
                  <a:latin typeface="Segoe UI"/>
                </a:rPr>
                <a:t>Model as a Service · control plane between agents and models</a:t>
              </a:r>
            </a:p>
          </p:txBody>
        </p:sp>
      </p:grpSp>
      <p:grpSp>
        <p:nvGrpSpPr>
          <p:cNvPr id="13" name="Service 1"/>
          <p:cNvGrpSpPr/>
          <p:nvPr/>
        </p:nvGrpSpPr>
        <p:grpSpPr>
          <a:xfrm>
            <a:off x="762000" y="2540000"/>
            <a:ext cx="2571750" cy="1460500"/>
            <a:chOff x="762000" y="2540000"/>
            <a:chExt cx="2571750" cy="1460500"/>
          </a:xfrm>
        </p:grpSpPr>
        <p:sp>
          <p:nvSpPr>
            <p:cNvPr id="9" name="Shape 7"/>
            <p:cNvSpPr/>
            <p:nvPr/>
          </p:nvSpPr>
          <p:spPr>
            <a:xfrm>
              <a:off x="762000" y="2540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0" name="Shape 8" descr="icon-link-f472b6.png"/>
            <p:cNvPicPr>
              <a:picLocks noChangeAspect="1"/>
            </p:cNvPicPr>
            <p:nvPr/>
          </p:nvPicPr>
          <p:blipFill>
            <a:blip r:embed="rId4"/>
            <a:stretch>
              <a:fillRect/>
            </a:stretch>
          </p:blipFill>
          <p:spPr>
            <a:xfrm>
              <a:off x="939800" y="2705100"/>
              <a:ext cx="406400" cy="406400"/>
            </a:xfrm>
            <a:prstGeom prst="rect">
              <a:avLst/>
            </a:prstGeom>
          </p:spPr>
        </p:pic>
        <p:sp>
          <p:nvSpPr>
            <p:cNvPr id="11" name="Shape 9"/>
            <p:cNvSpPr txBox="1"/>
            <p:nvPr/>
          </p:nvSpPr>
          <p:spPr>
            <a:xfrm>
              <a:off x="939800" y="3200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One API to every model</a:t>
              </a:r>
            </a:p>
          </p:txBody>
        </p:sp>
        <p:sp>
          <p:nvSpPr>
            <p:cNvPr id="12" name="Shape 10"/>
            <p:cNvSpPr txBox="1"/>
            <p:nvPr/>
          </p:nvSpPr>
          <p:spPr>
            <a:xfrm>
              <a:off x="939800" y="3556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Internal or external</a:t>
              </a:r>
            </a:p>
          </p:txBody>
        </p:sp>
      </p:grpSp>
      <p:grpSp>
        <p:nvGrpSpPr>
          <p:cNvPr id="18" name="Service 2"/>
          <p:cNvGrpSpPr/>
          <p:nvPr/>
        </p:nvGrpSpPr>
        <p:grpSpPr>
          <a:xfrm>
            <a:off x="3460750" y="2540000"/>
            <a:ext cx="2571750" cy="1460500"/>
            <a:chOff x="3460750" y="2540000"/>
            <a:chExt cx="2571750" cy="1460500"/>
          </a:xfrm>
        </p:grpSpPr>
        <p:sp>
          <p:nvSpPr>
            <p:cNvPr id="14" name="Shape 12"/>
            <p:cNvSpPr/>
            <p:nvPr/>
          </p:nvSpPr>
          <p:spPr>
            <a:xfrm>
              <a:off x="3460750" y="2540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5" name="Shape 13" descr="icon-doc-f472b6.png"/>
            <p:cNvPicPr>
              <a:picLocks noChangeAspect="1"/>
            </p:cNvPicPr>
            <p:nvPr/>
          </p:nvPicPr>
          <p:blipFill>
            <a:blip r:embed="rId5"/>
            <a:stretch>
              <a:fillRect/>
            </a:stretch>
          </p:blipFill>
          <p:spPr>
            <a:xfrm>
              <a:off x="3638550" y="2705100"/>
              <a:ext cx="406400" cy="406400"/>
            </a:xfrm>
            <a:prstGeom prst="rect">
              <a:avLst/>
            </a:prstGeom>
          </p:spPr>
        </p:pic>
        <p:sp>
          <p:nvSpPr>
            <p:cNvPr id="16" name="Shape 14"/>
            <p:cNvSpPr txBox="1"/>
            <p:nvPr/>
          </p:nvSpPr>
          <p:spPr>
            <a:xfrm>
              <a:off x="3638550" y="3200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Model catalogue</a:t>
              </a:r>
            </a:p>
          </p:txBody>
        </p:sp>
        <p:sp>
          <p:nvSpPr>
            <p:cNvPr id="17" name="Shape 15"/>
            <p:cNvSpPr txBox="1"/>
            <p:nvPr/>
          </p:nvSpPr>
          <p:spPr>
            <a:xfrm>
              <a:off x="3638550" y="3556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The most efficient model</a:t>
              </a:r>
            </a:p>
          </p:txBody>
        </p:sp>
      </p:grpSp>
      <p:grpSp>
        <p:nvGrpSpPr>
          <p:cNvPr id="23" name="Service 3"/>
          <p:cNvGrpSpPr/>
          <p:nvPr/>
        </p:nvGrpSpPr>
        <p:grpSpPr>
          <a:xfrm>
            <a:off x="6159500" y="2540000"/>
            <a:ext cx="2571750" cy="1460500"/>
            <a:chOff x="6159500" y="2540000"/>
            <a:chExt cx="2571750" cy="1460500"/>
          </a:xfrm>
        </p:grpSpPr>
        <p:sp>
          <p:nvSpPr>
            <p:cNvPr id="19" name="Shape 17"/>
            <p:cNvSpPr/>
            <p:nvPr/>
          </p:nvSpPr>
          <p:spPr>
            <a:xfrm>
              <a:off x="6159500" y="2540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0" name="Shape 18" descr="icon-gateway-f472b6.png"/>
            <p:cNvPicPr>
              <a:picLocks noChangeAspect="1"/>
            </p:cNvPicPr>
            <p:nvPr/>
          </p:nvPicPr>
          <p:blipFill>
            <a:blip r:embed="rId6"/>
            <a:stretch>
              <a:fillRect/>
            </a:stretch>
          </p:blipFill>
          <p:spPr>
            <a:xfrm>
              <a:off x="6337300" y="2705100"/>
              <a:ext cx="406400" cy="406400"/>
            </a:xfrm>
            <a:prstGeom prst="rect">
              <a:avLst/>
            </a:prstGeom>
          </p:spPr>
        </p:pic>
        <p:sp>
          <p:nvSpPr>
            <p:cNvPr id="21" name="Shape 19"/>
            <p:cNvSpPr txBox="1"/>
            <p:nvPr/>
          </p:nvSpPr>
          <p:spPr>
            <a:xfrm>
              <a:off x="6337300" y="3200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Routing and failover</a:t>
              </a:r>
            </a:p>
          </p:txBody>
        </p:sp>
        <p:sp>
          <p:nvSpPr>
            <p:cNvPr id="22" name="Shape 20"/>
            <p:cNvSpPr txBox="1"/>
            <p:nvPr/>
          </p:nvSpPr>
          <p:spPr>
            <a:xfrm>
              <a:off x="6337300" y="3556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When a provider goes down</a:t>
              </a:r>
            </a:p>
          </p:txBody>
        </p:sp>
      </p:grpSp>
      <p:grpSp>
        <p:nvGrpSpPr>
          <p:cNvPr id="28" name="Service 4"/>
          <p:cNvGrpSpPr/>
          <p:nvPr/>
        </p:nvGrpSpPr>
        <p:grpSpPr>
          <a:xfrm>
            <a:off x="8858250" y="2540000"/>
            <a:ext cx="2571750" cy="1460500"/>
            <a:chOff x="8858250" y="2540000"/>
            <a:chExt cx="2571750" cy="1460500"/>
          </a:xfrm>
        </p:grpSpPr>
        <p:sp>
          <p:nvSpPr>
            <p:cNvPr id="24" name="Shape 22"/>
            <p:cNvSpPr/>
            <p:nvPr/>
          </p:nvSpPr>
          <p:spPr>
            <a:xfrm>
              <a:off x="8858250" y="2540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5" name="Shape 23" descr="icon-check-f472b6.png"/>
            <p:cNvPicPr>
              <a:picLocks noChangeAspect="1"/>
            </p:cNvPicPr>
            <p:nvPr/>
          </p:nvPicPr>
          <p:blipFill>
            <a:blip r:embed="rId7"/>
            <a:stretch>
              <a:fillRect/>
            </a:stretch>
          </p:blipFill>
          <p:spPr>
            <a:xfrm>
              <a:off x="9036050" y="2705100"/>
              <a:ext cx="406400" cy="406400"/>
            </a:xfrm>
            <a:prstGeom prst="rect">
              <a:avLst/>
            </a:prstGeom>
          </p:spPr>
        </p:pic>
        <p:sp>
          <p:nvSpPr>
            <p:cNvPr id="26" name="Shape 24"/>
            <p:cNvSpPr txBox="1"/>
            <p:nvPr/>
          </p:nvSpPr>
          <p:spPr>
            <a:xfrm>
              <a:off x="9036050" y="3200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Quality checks</a:t>
              </a:r>
            </a:p>
          </p:txBody>
        </p:sp>
        <p:sp>
          <p:nvSpPr>
            <p:cNvPr id="27" name="Shape 25"/>
            <p:cNvSpPr txBox="1"/>
            <p:nvPr/>
          </p:nvSpPr>
          <p:spPr>
            <a:xfrm>
              <a:off x="9036050" y="3556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Golden datasets catch drift</a:t>
              </a:r>
            </a:p>
          </p:txBody>
        </p:sp>
      </p:grpSp>
      <p:grpSp>
        <p:nvGrpSpPr>
          <p:cNvPr id="33" name="Service 5"/>
          <p:cNvGrpSpPr/>
          <p:nvPr/>
        </p:nvGrpSpPr>
        <p:grpSpPr>
          <a:xfrm>
            <a:off x="2108200" y="4191000"/>
            <a:ext cx="2571750" cy="1460500"/>
            <a:chOff x="2108200" y="4191000"/>
            <a:chExt cx="2571750" cy="1460500"/>
          </a:xfrm>
        </p:grpSpPr>
        <p:sp>
          <p:nvSpPr>
            <p:cNvPr id="29" name="Shape 27"/>
            <p:cNvSpPr/>
            <p:nvPr/>
          </p:nvSpPr>
          <p:spPr>
            <a:xfrm>
              <a:off x="2108200" y="4191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0" name="Shape 28" descr="icon-trace-f472b6.png"/>
            <p:cNvPicPr>
              <a:picLocks noChangeAspect="1"/>
            </p:cNvPicPr>
            <p:nvPr/>
          </p:nvPicPr>
          <p:blipFill>
            <a:blip r:embed="rId8"/>
            <a:stretch>
              <a:fillRect/>
            </a:stretch>
          </p:blipFill>
          <p:spPr>
            <a:xfrm>
              <a:off x="2286000" y="4356100"/>
              <a:ext cx="406400" cy="406400"/>
            </a:xfrm>
            <a:prstGeom prst="rect">
              <a:avLst/>
            </a:prstGeom>
          </p:spPr>
        </p:pic>
        <p:sp>
          <p:nvSpPr>
            <p:cNvPr id="31" name="Shape 29"/>
            <p:cNvSpPr txBox="1"/>
            <p:nvPr/>
          </p:nvSpPr>
          <p:spPr>
            <a:xfrm>
              <a:off x="2286000" y="4851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End-to-end tracing</a:t>
              </a:r>
            </a:p>
          </p:txBody>
        </p:sp>
        <p:sp>
          <p:nvSpPr>
            <p:cNvPr id="32" name="Shape 30"/>
            <p:cNvSpPr txBox="1"/>
            <p:nvPr/>
          </p:nvSpPr>
          <p:spPr>
            <a:xfrm>
              <a:off x="2286000" y="5207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Every request, every provider</a:t>
              </a:r>
            </a:p>
          </p:txBody>
        </p:sp>
      </p:grpSp>
      <p:grpSp>
        <p:nvGrpSpPr>
          <p:cNvPr id="38" name="Service 6"/>
          <p:cNvGrpSpPr/>
          <p:nvPr/>
        </p:nvGrpSpPr>
        <p:grpSpPr>
          <a:xfrm>
            <a:off x="4806950" y="4191000"/>
            <a:ext cx="2571750" cy="1460500"/>
            <a:chOff x="4806950" y="4191000"/>
            <a:chExt cx="2571750" cy="1460500"/>
          </a:xfrm>
        </p:grpSpPr>
        <p:sp>
          <p:nvSpPr>
            <p:cNvPr id="34" name="Shape 32"/>
            <p:cNvSpPr/>
            <p:nvPr/>
          </p:nvSpPr>
          <p:spPr>
            <a:xfrm>
              <a:off x="4806950" y="4191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5" name="Shape 33" descr="icon-shield-f472b6.png"/>
            <p:cNvPicPr>
              <a:picLocks noChangeAspect="1"/>
            </p:cNvPicPr>
            <p:nvPr/>
          </p:nvPicPr>
          <p:blipFill>
            <a:blip r:embed="rId9"/>
            <a:stretch>
              <a:fillRect/>
            </a:stretch>
          </p:blipFill>
          <p:spPr>
            <a:xfrm>
              <a:off x="4984750" y="4356100"/>
              <a:ext cx="406400" cy="406400"/>
            </a:xfrm>
            <a:prstGeom prst="rect">
              <a:avLst/>
            </a:prstGeom>
          </p:spPr>
        </p:pic>
        <p:sp>
          <p:nvSpPr>
            <p:cNvPr id="36" name="Shape 34"/>
            <p:cNvSpPr txBox="1"/>
            <p:nvPr/>
          </p:nvSpPr>
          <p:spPr>
            <a:xfrm>
              <a:off x="4984750" y="4851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Guardrails</a:t>
              </a:r>
            </a:p>
          </p:txBody>
        </p:sp>
        <p:sp>
          <p:nvSpPr>
            <p:cNvPr id="37" name="Shape 35"/>
            <p:cNvSpPr txBox="1"/>
            <p:nvPr/>
          </p:nvSpPr>
          <p:spPr>
            <a:xfrm>
              <a:off x="4984750" y="5207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Prompt attacks blocked · PII redacted</a:t>
              </a:r>
            </a:p>
          </p:txBody>
        </p:sp>
      </p:grpSp>
      <p:grpSp>
        <p:nvGrpSpPr>
          <p:cNvPr id="43" name="Service 7"/>
          <p:cNvGrpSpPr/>
          <p:nvPr/>
        </p:nvGrpSpPr>
        <p:grpSpPr>
          <a:xfrm>
            <a:off x="7505700" y="4191000"/>
            <a:ext cx="2571750" cy="1460500"/>
            <a:chOff x="7505700" y="4191000"/>
            <a:chExt cx="2571750" cy="1460500"/>
          </a:xfrm>
        </p:grpSpPr>
        <p:sp>
          <p:nvSpPr>
            <p:cNvPr id="39" name="Shape 37"/>
            <p:cNvSpPr/>
            <p:nvPr/>
          </p:nvSpPr>
          <p:spPr>
            <a:xfrm>
              <a:off x="7505700" y="4191000"/>
              <a:ext cx="2571750" cy="1460500"/>
            </a:xfrm>
            <a:prstGeom prst="roundRect">
              <a:avLst>
                <a:gd name="adj" fmla="val 9565"/>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40" name="Shape 38" descr="icon-coin-f472b6.png"/>
            <p:cNvPicPr>
              <a:picLocks noChangeAspect="1"/>
            </p:cNvPicPr>
            <p:nvPr/>
          </p:nvPicPr>
          <p:blipFill>
            <a:blip r:embed="rId10"/>
            <a:stretch>
              <a:fillRect/>
            </a:stretch>
          </p:blipFill>
          <p:spPr>
            <a:xfrm>
              <a:off x="7683500" y="4356100"/>
              <a:ext cx="406400" cy="406400"/>
            </a:xfrm>
            <a:prstGeom prst="rect">
              <a:avLst/>
            </a:prstGeom>
          </p:spPr>
        </p:pic>
        <p:sp>
          <p:nvSpPr>
            <p:cNvPr id="41" name="Shape 39"/>
            <p:cNvSpPr txBox="1"/>
            <p:nvPr/>
          </p:nvSpPr>
          <p:spPr>
            <a:xfrm>
              <a:off x="7683500" y="4851400"/>
              <a:ext cx="2216150" cy="317500"/>
            </a:xfrm>
            <a:prstGeom prst="rect">
              <a:avLst/>
            </a:prstGeom>
            <a:noFill/>
          </p:spPr>
          <p:txBody>
            <a:bodyPr wrap="square" lIns="0" tIns="0" rIns="0" bIns="0" anchor="t">
              <a:spAutoFit/>
            </a:bodyPr>
            <a:lstStyle/>
            <a:p>
              <a:pPr algn="l">
                <a:lnSpc>
                  <a:spcPct val="115000"/>
                </a:lnSpc>
              </a:pPr>
              <a:r>
                <a:rPr sz="1450" b="1">
                  <a:solidFill>
                    <a:srgbClr val="F2F5FB"/>
                  </a:solidFill>
                  <a:latin typeface="Segoe UI"/>
                </a:rPr>
                <a:t>Cost and budgets</a:t>
              </a:r>
            </a:p>
          </p:txBody>
        </p:sp>
        <p:sp>
          <p:nvSpPr>
            <p:cNvPr id="42" name="Shape 40"/>
            <p:cNvSpPr txBox="1"/>
            <p:nvPr/>
          </p:nvSpPr>
          <p:spPr>
            <a:xfrm>
              <a:off x="7683500" y="5207000"/>
              <a:ext cx="2216150" cy="317500"/>
            </a:xfrm>
            <a:prstGeom prst="rect">
              <a:avLst/>
            </a:prstGeom>
            <a:noFill/>
          </p:spPr>
          <p:txBody>
            <a:bodyPr wrap="square" lIns="0" tIns="0" rIns="0" bIns="0" anchor="t">
              <a:spAutoFit/>
            </a:bodyPr>
            <a:lstStyle/>
            <a:p>
              <a:pPr algn="l">
                <a:lnSpc>
                  <a:spcPct val="115000"/>
                </a:lnSpc>
              </a:pPr>
              <a:r>
                <a:rPr sz="1150" b="0">
                  <a:solidFill>
                    <a:srgbClr val="8F9BB8"/>
                  </a:solidFill>
                  <a:latin typeface="Segoe UI"/>
                </a:rPr>
                <a:t>Stops a runaway agent</a:t>
              </a:r>
            </a:p>
          </p:txBody>
        </p:sp>
      </p:grpSp>
      <p:sp>
        <p:nvSpPr>
          <p:cNvPr id="44" name="Source"/>
          <p:cNvSpPr txBox="1"/>
          <p:nvPr/>
        </p:nvSpPr>
        <p:spPr>
          <a:xfrm>
            <a:off x="762000" y="6096000"/>
            <a:ext cx="10668000" cy="254000"/>
          </a:xfrm>
          <a:prstGeom prst="rect">
            <a:avLst/>
          </a:prstGeom>
          <a:noFill/>
        </p:spPr>
        <p:txBody>
          <a:bodyPr wrap="square" lIns="0" tIns="0" rIns="0" bIns="0" anchor="t">
            <a:spAutoFit/>
          </a:bodyPr>
          <a:lstStyle/>
          <a:p>
            <a:pPr algn="l">
              <a:lnSpc>
                <a:spcPct val="115000"/>
              </a:lnSpc>
            </a:pPr>
            <a:r>
              <a:rPr sz="1100" b="0">
                <a:solidFill>
                  <a:srgbClr val="8F9BB8"/>
                </a:solidFill>
                <a:latin typeface="Segoe UI"/>
              </a:rPr>
              <a:t>TM Forum GB1085 §2 · alpha</a:t>
            </a:r>
          </a:p>
        </p:txBody>
      </p:sp>
    </p:spTree>
  </p:cSld>
  <p:clrMapOvr>
    <a:masterClrMapping/>
  </p:clrMapOvr>
  <mc:AlternateContent xmlns:mc="http://schemas.openxmlformats.org/markup-compatibility/2006">
    <mc:Choice xmlns:p14="http://schemas.microsoft.com/office/powerpoint/2010/main" Requires="p14">
      <p:transition spd="slow" p14:dur="2000" advTm="29900"/>
    </mc:Choice>
    <mc:Fallback>
      <p:transition spd="slow" advTm="29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40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4" presetID="10" presetClass="entr" presetSubtype="0" fill="hold" grpId="0" nodeType="withEffect">
                                  <p:stCondLst>
                                    <p:cond delay="40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600"/>
                                        <p:tgtEl>
                                          <p:spTgt spid="44"/>
                                        </p:tgtEl>
                                      </p:cBhvr>
                                    </p:animEffect>
                                  </p:childTnLst>
                                </p:cTn>
                              </p:par>
                              <p:par>
                                <p:cTn id="17" presetID="2" presetClass="entr" presetSubtype="4" fill="hold" nodeType="withEffect">
                                  <p:stCondLst>
                                    <p:cond delay="36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720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12400"/>
                                  </p:stCondLst>
                                  <p:childTnLst>
                                    <p:set>
                                      <p:cBhvr>
                                        <p:cTn id="26" dur="1" fill="hold">
                                          <p:stCondLst>
                                            <p:cond delay="0"/>
                                          </p:stCondLst>
                                        </p:cTn>
                                        <p:tgtEl>
                                          <p:spTgt spid="23"/>
                                        </p:tgtEl>
                                        <p:attrNameLst>
                                          <p:attrName>style.visibility</p:attrName>
                                        </p:attrNameLst>
                                      </p:cBhvr>
                                      <p:to>
                                        <p:strVal val="visible"/>
                                      </p:to>
                                    </p:set>
                                    <p:anim calcmode="lin" valueType="num">
                                      <p:cBhvr additive="base">
                                        <p:cTn id="27" dur="500" fill="hold"/>
                                        <p:tgtEl>
                                          <p:spTgt spid="23"/>
                                        </p:tgtEl>
                                        <p:attrNameLst>
                                          <p:attrName>ppt_x</p:attrName>
                                        </p:attrNameLst>
                                      </p:cBhvr>
                                      <p:tavLst>
                                        <p:tav tm="0">
                                          <p:val>
                                            <p:strVal val="#ppt_x"/>
                                          </p:val>
                                        </p:tav>
                                        <p:tav tm="100000">
                                          <p:val>
                                            <p:strVal val="#ppt_x"/>
                                          </p:val>
                                        </p:tav>
                                      </p:tavLst>
                                    </p:anim>
                                    <p:anim calcmode="lin" valueType="num">
                                      <p:cBhvr additive="base">
                                        <p:cTn id="28" dur="500" fill="hold"/>
                                        <p:tgtEl>
                                          <p:spTgt spid="2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15600"/>
                                  </p:stCondLst>
                                  <p:childTnLst>
                                    <p:set>
                                      <p:cBhvr>
                                        <p:cTn id="30" dur="1" fill="hold">
                                          <p:stCondLst>
                                            <p:cond delay="0"/>
                                          </p:stCondLst>
                                        </p:cTn>
                                        <p:tgtEl>
                                          <p:spTgt spid="28"/>
                                        </p:tgtEl>
                                        <p:attrNameLst>
                                          <p:attrName>style.visibility</p:attrName>
                                        </p:attrNameLst>
                                      </p:cBhvr>
                                      <p:to>
                                        <p:strVal val="visible"/>
                                      </p:to>
                                    </p:set>
                                    <p:anim calcmode="lin" valueType="num">
                                      <p:cBhvr additive="base">
                                        <p:cTn id="31" dur="500" fill="hold"/>
                                        <p:tgtEl>
                                          <p:spTgt spid="28"/>
                                        </p:tgtEl>
                                        <p:attrNameLst>
                                          <p:attrName>ppt_x</p:attrName>
                                        </p:attrNameLst>
                                      </p:cBhvr>
                                      <p:tavLst>
                                        <p:tav tm="0">
                                          <p:val>
                                            <p:strVal val="#ppt_x"/>
                                          </p:val>
                                        </p:tav>
                                        <p:tav tm="100000">
                                          <p:val>
                                            <p:strVal val="#ppt_x"/>
                                          </p:val>
                                        </p:tav>
                                      </p:tavLst>
                                    </p:anim>
                                    <p:anim calcmode="lin" valueType="num">
                                      <p:cBhvr additive="base">
                                        <p:cTn id="32" dur="500" fill="hold"/>
                                        <p:tgtEl>
                                          <p:spTgt spid="28"/>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18000"/>
                                  </p:stCondLst>
                                  <p:childTnLst>
                                    <p:set>
                                      <p:cBhvr>
                                        <p:cTn id="34" dur="1" fill="hold">
                                          <p:stCondLst>
                                            <p:cond delay="0"/>
                                          </p:stCondLst>
                                        </p:cTn>
                                        <p:tgtEl>
                                          <p:spTgt spid="33"/>
                                        </p:tgtEl>
                                        <p:attrNameLst>
                                          <p:attrName>style.visibility</p:attrName>
                                        </p:attrNameLst>
                                      </p:cBhvr>
                                      <p:to>
                                        <p:strVal val="visible"/>
                                      </p:to>
                                    </p:set>
                                    <p:anim calcmode="lin" valueType="num">
                                      <p:cBhvr additive="base">
                                        <p:cTn id="35" dur="500" fill="hold"/>
                                        <p:tgtEl>
                                          <p:spTgt spid="33"/>
                                        </p:tgtEl>
                                        <p:attrNameLst>
                                          <p:attrName>ppt_x</p:attrName>
                                        </p:attrNameLst>
                                      </p:cBhvr>
                                      <p:tavLst>
                                        <p:tav tm="0">
                                          <p:val>
                                            <p:strVal val="#ppt_x"/>
                                          </p:val>
                                        </p:tav>
                                        <p:tav tm="100000">
                                          <p:val>
                                            <p:strVal val="#ppt_x"/>
                                          </p:val>
                                        </p:tav>
                                      </p:tavLst>
                                    </p:anim>
                                    <p:anim calcmode="lin" valueType="num">
                                      <p:cBhvr additive="base">
                                        <p:cTn id="36" dur="500" fill="hold"/>
                                        <p:tgtEl>
                                          <p:spTgt spid="3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20800"/>
                                  </p:stCondLst>
                                  <p:childTnLst>
                                    <p:set>
                                      <p:cBhvr>
                                        <p:cTn id="38" dur="1" fill="hold">
                                          <p:stCondLst>
                                            <p:cond delay="0"/>
                                          </p:stCondLst>
                                        </p:cTn>
                                        <p:tgtEl>
                                          <p:spTgt spid="38"/>
                                        </p:tgtEl>
                                        <p:attrNameLst>
                                          <p:attrName>style.visibility</p:attrName>
                                        </p:attrNameLst>
                                      </p:cBhvr>
                                      <p:to>
                                        <p:strVal val="visible"/>
                                      </p:to>
                                    </p:set>
                                    <p:anim calcmode="lin" valueType="num">
                                      <p:cBhvr additive="base">
                                        <p:cTn id="39" dur="500" fill="hold"/>
                                        <p:tgtEl>
                                          <p:spTgt spid="38"/>
                                        </p:tgtEl>
                                        <p:attrNameLst>
                                          <p:attrName>ppt_x</p:attrName>
                                        </p:attrNameLst>
                                      </p:cBhvr>
                                      <p:tavLst>
                                        <p:tav tm="0">
                                          <p:val>
                                            <p:strVal val="#ppt_x"/>
                                          </p:val>
                                        </p:tav>
                                        <p:tav tm="100000">
                                          <p:val>
                                            <p:strVal val="#ppt_x"/>
                                          </p:val>
                                        </p:tav>
                                      </p:tavLst>
                                    </p:anim>
                                    <p:anim calcmode="lin" valueType="num">
                                      <p:cBhvr additive="base">
                                        <p:cTn id="40" dur="500" fill="hold"/>
                                        <p:tgtEl>
                                          <p:spTgt spid="3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24000"/>
                                  </p:stCondLst>
                                  <p:childTnLst>
                                    <p:set>
                                      <p:cBhvr>
                                        <p:cTn id="42" dur="1" fill="hold">
                                          <p:stCondLst>
                                            <p:cond delay="0"/>
                                          </p:stCondLst>
                                        </p:cTn>
                                        <p:tgtEl>
                                          <p:spTgt spid="43"/>
                                        </p:tgtEl>
                                        <p:attrNameLst>
                                          <p:attrName>style.visibility</p:attrName>
                                        </p:attrNameLst>
                                      </p:cBhvr>
                                      <p:to>
                                        <p:strVal val="visible"/>
                                      </p:to>
                                    </p:set>
                                    <p:anim calcmode="lin" valueType="num">
                                      <p:cBhvr additive="base">
                                        <p:cTn id="43" dur="500" fill="hold"/>
                                        <p:tgtEl>
                                          <p:spTgt spid="43"/>
                                        </p:tgtEl>
                                        <p:attrNameLst>
                                          <p:attrName>ppt_x</p:attrName>
                                        </p:attrNameLst>
                                      </p:cBhvr>
                                      <p:tavLst>
                                        <p:tav tm="0">
                                          <p:val>
                                            <p:strVal val="#ppt_x"/>
                                          </p:val>
                                        </p:tav>
                                        <p:tav tm="100000">
                                          <p:val>
                                            <p:strVal val="#ppt_x"/>
                                          </p:val>
                                        </p:tav>
                                      </p:tavLst>
                                    </p:anim>
                                    <p:anim calcmode="lin" valueType="num">
                                      <p:cBhvr additive="base">
                                        <p:cTn id="44"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4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model gateway in the Canvas</a:t>
            </a:r>
          </a:p>
        </p:txBody>
      </p:sp>
      <p:pic>
        <p:nvPicPr>
          <p:cNvPr id="3" name="Clip 1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900"/>
    </mc:Choice>
    <mc:Fallback>
      <p:transition spd="slow" advTm="2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73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Simulated demo: Model Gateway in the Canvas Portal</a:t>
            </a:r>
          </a:p>
        </p:txBody>
      </p:sp>
      <p:pic>
        <p:nvPicPr>
          <p:cNvPr id="3" name="Clip 1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3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Six levers of inference cost</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MODEL AS A SERVICE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Six levers of inference cost</a:t>
            </a:r>
          </a:p>
        </p:txBody>
      </p:sp>
      <p:grpSp>
        <p:nvGrpSpPr>
          <p:cNvPr id="10" name="Lever 1"/>
          <p:cNvGrpSpPr/>
          <p:nvPr/>
        </p:nvGrpSpPr>
        <p:grpSpPr>
          <a:xfrm>
            <a:off x="762000" y="1651000"/>
            <a:ext cx="3429000" cy="1651000"/>
            <a:chOff x="762000" y="1651000"/>
            <a:chExt cx="3429000" cy="1651000"/>
          </a:xfrm>
        </p:grpSpPr>
        <p:sp>
          <p:nvSpPr>
            <p:cNvPr id="6" name="Shape 4"/>
            <p:cNvSpPr/>
            <p:nvPr/>
          </p:nvSpPr>
          <p:spPr>
            <a:xfrm>
              <a:off x="762000" y="16510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check-f472b6.png"/>
            <p:cNvPicPr>
              <a:picLocks noChangeAspect="1"/>
            </p:cNvPicPr>
            <p:nvPr/>
          </p:nvPicPr>
          <p:blipFill>
            <a:blip r:embed="rId4"/>
            <a:stretch>
              <a:fillRect/>
            </a:stretch>
          </p:blipFill>
          <p:spPr>
            <a:xfrm>
              <a:off x="965200" y="1854200"/>
              <a:ext cx="457200" cy="457200"/>
            </a:xfrm>
            <a:prstGeom prst="rect">
              <a:avLst/>
            </a:prstGeom>
          </p:spPr>
        </p:pic>
        <p:sp>
          <p:nvSpPr>
            <p:cNvPr id="8" name="Shape 6"/>
            <p:cNvSpPr txBox="1"/>
            <p:nvPr/>
          </p:nvSpPr>
          <p:spPr>
            <a:xfrm>
              <a:off x="965200" y="24384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Capability</a:t>
              </a:r>
            </a:p>
          </p:txBody>
        </p:sp>
        <p:sp>
          <p:nvSpPr>
            <p:cNvPr id="9" name="Shape 7"/>
            <p:cNvSpPr txBox="1"/>
            <p:nvPr/>
          </p:nvSpPr>
          <p:spPr>
            <a:xfrm>
              <a:off x="965200" y="28321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Fit for the task</a:t>
              </a:r>
            </a:p>
          </p:txBody>
        </p:sp>
      </p:grpSp>
      <p:grpSp>
        <p:nvGrpSpPr>
          <p:cNvPr id="15" name="Lever 2"/>
          <p:cNvGrpSpPr/>
          <p:nvPr/>
        </p:nvGrpSpPr>
        <p:grpSpPr>
          <a:xfrm>
            <a:off x="4381500" y="1651000"/>
            <a:ext cx="3429000" cy="1651000"/>
            <a:chOff x="4381500" y="1651000"/>
            <a:chExt cx="3429000" cy="1651000"/>
          </a:xfrm>
        </p:grpSpPr>
        <p:sp>
          <p:nvSpPr>
            <p:cNvPr id="11" name="Shape 9"/>
            <p:cNvSpPr/>
            <p:nvPr/>
          </p:nvSpPr>
          <p:spPr>
            <a:xfrm>
              <a:off x="4381500" y="16510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2" name="Shape 10" descr="icon-chart-f472b6.png"/>
            <p:cNvPicPr>
              <a:picLocks noChangeAspect="1"/>
            </p:cNvPicPr>
            <p:nvPr/>
          </p:nvPicPr>
          <p:blipFill>
            <a:blip r:embed="rId5"/>
            <a:stretch>
              <a:fillRect/>
            </a:stretch>
          </p:blipFill>
          <p:spPr>
            <a:xfrm>
              <a:off x="4584700" y="1854200"/>
              <a:ext cx="457200" cy="457200"/>
            </a:xfrm>
            <a:prstGeom prst="rect">
              <a:avLst/>
            </a:prstGeom>
          </p:spPr>
        </p:pic>
        <p:sp>
          <p:nvSpPr>
            <p:cNvPr id="13" name="Shape 11"/>
            <p:cNvSpPr txBox="1"/>
            <p:nvPr/>
          </p:nvSpPr>
          <p:spPr>
            <a:xfrm>
              <a:off x="4584700" y="24384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Accuracy</a:t>
              </a:r>
            </a:p>
          </p:txBody>
        </p:sp>
        <p:sp>
          <p:nvSpPr>
            <p:cNvPr id="14" name="Shape 12"/>
            <p:cNvSpPr txBox="1"/>
            <p:nvPr/>
          </p:nvSpPr>
          <p:spPr>
            <a:xfrm>
              <a:off x="4584700" y="28321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Is the last nine percent worth it?</a:t>
              </a:r>
            </a:p>
          </p:txBody>
        </p:sp>
      </p:grpSp>
      <p:grpSp>
        <p:nvGrpSpPr>
          <p:cNvPr id="20" name="Lever 3"/>
          <p:cNvGrpSpPr/>
          <p:nvPr/>
        </p:nvGrpSpPr>
        <p:grpSpPr>
          <a:xfrm>
            <a:off x="8001000" y="1651000"/>
            <a:ext cx="3429000" cy="1651000"/>
            <a:chOff x="8001000" y="1651000"/>
            <a:chExt cx="3429000" cy="1651000"/>
          </a:xfrm>
        </p:grpSpPr>
        <p:sp>
          <p:nvSpPr>
            <p:cNvPr id="16" name="Shape 14"/>
            <p:cNvSpPr/>
            <p:nvPr/>
          </p:nvSpPr>
          <p:spPr>
            <a:xfrm>
              <a:off x="8001000" y="16510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7" name="Shape 15" descr="icon-bolt-f472b6.png"/>
            <p:cNvPicPr>
              <a:picLocks noChangeAspect="1"/>
            </p:cNvPicPr>
            <p:nvPr/>
          </p:nvPicPr>
          <p:blipFill>
            <a:blip r:embed="rId6"/>
            <a:stretch>
              <a:fillRect/>
            </a:stretch>
          </p:blipFill>
          <p:spPr>
            <a:xfrm>
              <a:off x="8204200" y="1854200"/>
              <a:ext cx="457200" cy="457200"/>
            </a:xfrm>
            <a:prstGeom prst="rect">
              <a:avLst/>
            </a:prstGeom>
          </p:spPr>
        </p:pic>
        <p:sp>
          <p:nvSpPr>
            <p:cNvPr id="18" name="Shape 16"/>
            <p:cNvSpPr txBox="1"/>
            <p:nvPr/>
          </p:nvSpPr>
          <p:spPr>
            <a:xfrm>
              <a:off x="8204200" y="24384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Latency</a:t>
              </a:r>
            </a:p>
          </p:txBody>
        </p:sp>
        <p:sp>
          <p:nvSpPr>
            <p:cNvPr id="19" name="Shape 17"/>
            <p:cNvSpPr txBox="1"/>
            <p:nvPr/>
          </p:nvSpPr>
          <p:spPr>
            <a:xfrm>
              <a:off x="8204200" y="28321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Time to first token</a:t>
              </a:r>
            </a:p>
          </p:txBody>
        </p:sp>
      </p:grpSp>
      <p:grpSp>
        <p:nvGrpSpPr>
          <p:cNvPr id="25" name="Lever 4"/>
          <p:cNvGrpSpPr/>
          <p:nvPr/>
        </p:nvGrpSpPr>
        <p:grpSpPr>
          <a:xfrm>
            <a:off x="762000" y="3492500"/>
            <a:ext cx="3429000" cy="1651000"/>
            <a:chOff x="762000" y="3492500"/>
            <a:chExt cx="3429000" cy="1651000"/>
          </a:xfrm>
        </p:grpSpPr>
        <p:sp>
          <p:nvSpPr>
            <p:cNvPr id="21" name="Shape 19"/>
            <p:cNvSpPr/>
            <p:nvPr/>
          </p:nvSpPr>
          <p:spPr>
            <a:xfrm>
              <a:off x="762000" y="34925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2" name="Shape 20" descr="icon-rocket-f472b6.png"/>
            <p:cNvPicPr>
              <a:picLocks noChangeAspect="1"/>
            </p:cNvPicPr>
            <p:nvPr/>
          </p:nvPicPr>
          <p:blipFill>
            <a:blip r:embed="rId7"/>
            <a:stretch>
              <a:fillRect/>
            </a:stretch>
          </p:blipFill>
          <p:spPr>
            <a:xfrm>
              <a:off x="965200" y="3695700"/>
              <a:ext cx="457200" cy="457200"/>
            </a:xfrm>
            <a:prstGeom prst="rect">
              <a:avLst/>
            </a:prstGeom>
          </p:spPr>
        </p:pic>
        <p:sp>
          <p:nvSpPr>
            <p:cNvPr id="23" name="Shape 21"/>
            <p:cNvSpPr txBox="1"/>
            <p:nvPr/>
          </p:nvSpPr>
          <p:spPr>
            <a:xfrm>
              <a:off x="965200" y="42799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Throughput</a:t>
              </a:r>
            </a:p>
          </p:txBody>
        </p:sp>
        <p:sp>
          <p:nvSpPr>
            <p:cNvPr id="24" name="Shape 22"/>
            <p:cNvSpPr txBox="1"/>
            <p:nvPr/>
          </p:nvSpPr>
          <p:spPr>
            <a:xfrm>
              <a:off x="965200" y="46736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Tokens per second</a:t>
              </a:r>
            </a:p>
          </p:txBody>
        </p:sp>
      </p:grpSp>
      <p:grpSp>
        <p:nvGrpSpPr>
          <p:cNvPr id="30" name="Lever 5"/>
          <p:cNvGrpSpPr/>
          <p:nvPr/>
        </p:nvGrpSpPr>
        <p:grpSpPr>
          <a:xfrm>
            <a:off x="4381500" y="3492500"/>
            <a:ext cx="3429000" cy="1651000"/>
            <a:chOff x="4381500" y="3492500"/>
            <a:chExt cx="3429000" cy="1651000"/>
          </a:xfrm>
        </p:grpSpPr>
        <p:sp>
          <p:nvSpPr>
            <p:cNvPr id="26" name="Shape 24"/>
            <p:cNvSpPr/>
            <p:nvPr/>
          </p:nvSpPr>
          <p:spPr>
            <a:xfrm>
              <a:off x="4381500" y="34925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7" name="Shape 25" descr="icon-layers-f472b6.png"/>
            <p:cNvPicPr>
              <a:picLocks noChangeAspect="1"/>
            </p:cNvPicPr>
            <p:nvPr/>
          </p:nvPicPr>
          <p:blipFill>
            <a:blip r:embed="rId8"/>
            <a:stretch>
              <a:fillRect/>
            </a:stretch>
          </p:blipFill>
          <p:spPr>
            <a:xfrm>
              <a:off x="4584700" y="3695700"/>
              <a:ext cx="457200" cy="457200"/>
            </a:xfrm>
            <a:prstGeom prst="rect">
              <a:avLst/>
            </a:prstGeom>
          </p:spPr>
        </p:pic>
        <p:sp>
          <p:nvSpPr>
            <p:cNvPr id="28" name="Shape 26"/>
            <p:cNvSpPr txBox="1"/>
            <p:nvPr/>
          </p:nvSpPr>
          <p:spPr>
            <a:xfrm>
              <a:off x="4584700" y="42799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Context window</a:t>
              </a:r>
            </a:p>
          </p:txBody>
        </p:sp>
        <p:sp>
          <p:nvSpPr>
            <p:cNvPr id="29" name="Shape 27"/>
            <p:cNvSpPr txBox="1"/>
            <p:nvPr/>
          </p:nvSpPr>
          <p:spPr>
            <a:xfrm>
              <a:off x="4584700" y="46736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Memory is expensive</a:t>
              </a:r>
            </a:p>
          </p:txBody>
        </p:sp>
      </p:grpSp>
      <p:grpSp>
        <p:nvGrpSpPr>
          <p:cNvPr id="35" name="Lever 6"/>
          <p:cNvGrpSpPr/>
          <p:nvPr/>
        </p:nvGrpSpPr>
        <p:grpSpPr>
          <a:xfrm>
            <a:off x="8001000" y="3492500"/>
            <a:ext cx="3429000" cy="1651000"/>
            <a:chOff x="8001000" y="3492500"/>
            <a:chExt cx="3429000" cy="1651000"/>
          </a:xfrm>
        </p:grpSpPr>
        <p:sp>
          <p:nvSpPr>
            <p:cNvPr id="31" name="Shape 29"/>
            <p:cNvSpPr/>
            <p:nvPr/>
          </p:nvSpPr>
          <p:spPr>
            <a:xfrm>
              <a:off x="8001000" y="3492500"/>
              <a:ext cx="3429000" cy="1651000"/>
            </a:xfrm>
            <a:prstGeom prst="roundRect">
              <a:avLst>
                <a:gd name="adj" fmla="val 8461"/>
              </a:avLst>
            </a:prstGeom>
            <a:solidFill>
              <a:srgbClr val="111A30"/>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2" name="Shape 30" descr="icon-coin-f472b6.png"/>
            <p:cNvPicPr>
              <a:picLocks noChangeAspect="1"/>
            </p:cNvPicPr>
            <p:nvPr/>
          </p:nvPicPr>
          <p:blipFill>
            <a:blip r:embed="rId9"/>
            <a:stretch>
              <a:fillRect/>
            </a:stretch>
          </p:blipFill>
          <p:spPr>
            <a:xfrm>
              <a:off x="8204200" y="3695700"/>
              <a:ext cx="457200" cy="457200"/>
            </a:xfrm>
            <a:prstGeom prst="rect">
              <a:avLst/>
            </a:prstGeom>
          </p:spPr>
        </p:pic>
        <p:sp>
          <p:nvSpPr>
            <p:cNvPr id="33" name="Shape 31"/>
            <p:cNvSpPr txBox="1"/>
            <p:nvPr/>
          </p:nvSpPr>
          <p:spPr>
            <a:xfrm>
              <a:off x="8204200" y="4279900"/>
              <a:ext cx="3048000" cy="3556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Token efficiency</a:t>
              </a:r>
            </a:p>
          </p:txBody>
        </p:sp>
        <p:sp>
          <p:nvSpPr>
            <p:cNvPr id="34" name="Shape 32"/>
            <p:cNvSpPr txBox="1"/>
            <p:nvPr/>
          </p:nvSpPr>
          <p:spPr>
            <a:xfrm>
              <a:off x="8204200" y="4673600"/>
              <a:ext cx="3048000" cy="317500"/>
            </a:xfrm>
            <a:prstGeom prst="rect">
              <a:avLst/>
            </a:prstGeom>
            <a:noFill/>
          </p:spPr>
          <p:txBody>
            <a:bodyPr wrap="square" lIns="0" tIns="0" rIns="0" bIns="0" anchor="t">
              <a:spAutoFit/>
            </a:bodyPr>
            <a:lstStyle/>
            <a:p>
              <a:pPr algn="l">
                <a:lnSpc>
                  <a:spcPct val="115000"/>
                </a:lnSpc>
              </a:pPr>
              <a:r>
                <a:rPr sz="1300" b="0">
                  <a:solidFill>
                    <a:srgbClr val="8F9BB8"/>
                  </a:solidFill>
                  <a:latin typeface="Segoe UI"/>
                </a:rPr>
                <a:t>Verbose models cost more</a:t>
              </a:r>
            </a:p>
          </p:txBody>
        </p:sp>
      </p:grpSp>
      <p:grpSp>
        <p:nvGrpSpPr>
          <p:cNvPr id="38" name="Aim"/>
          <p:cNvGrpSpPr/>
          <p:nvPr/>
        </p:nvGrpSpPr>
        <p:grpSpPr>
          <a:xfrm>
            <a:off x="762000" y="5461000"/>
            <a:ext cx="10668000" cy="635000"/>
            <a:chOff x="762000" y="5461000"/>
            <a:chExt cx="10668000" cy="635000"/>
          </a:xfrm>
        </p:grpSpPr>
        <p:sp>
          <p:nvSpPr>
            <p:cNvPr id="36" name="Shape 34"/>
            <p:cNvSpPr/>
            <p:nvPr/>
          </p:nvSpPr>
          <p:spPr>
            <a:xfrm>
              <a:off x="762000" y="5461000"/>
              <a:ext cx="10668000" cy="635000"/>
            </a:xfrm>
            <a:prstGeom prst="roundRect">
              <a:avLst>
                <a:gd name="adj" fmla="val 20000"/>
              </a:avLst>
            </a:prstGeom>
            <a:solidFill>
              <a:srgbClr val="F472B6">
                <a:alpha val="12000"/>
              </a:srgbClr>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Shape 35"/>
            <p:cNvSpPr txBox="1"/>
            <p:nvPr/>
          </p:nvSpPr>
          <p:spPr>
            <a:xfrm>
              <a:off x="762000" y="5461000"/>
              <a:ext cx="10668000" cy="635000"/>
            </a:xfrm>
            <a:prstGeom prst="rect">
              <a:avLst/>
            </a:prstGeom>
            <a:noFill/>
          </p:spPr>
          <p:txBody>
            <a:bodyPr wrap="square" lIns="0" tIns="0" rIns="0" bIns="0" anchor="ctr">
              <a:spAutoFit/>
            </a:bodyPr>
            <a:lstStyle/>
            <a:p>
              <a:pPr algn="ctr">
                <a:lnSpc>
                  <a:spcPct val="115000"/>
                </a:lnSpc>
              </a:pPr>
              <a:r>
                <a:rPr sz="2000" b="1">
                  <a:solidFill>
                    <a:srgbClr val="F2F5FB"/>
                  </a:solidFill>
                  <a:latin typeface="Segoe UI"/>
                </a:rPr>
                <a:t>Sufficient intelligence at optimal cost</a:t>
              </a:r>
            </a:p>
          </p:txBody>
        </p:sp>
      </p:grpSp>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58" presetClass="entr" presetSubtype="0" accel="100000" fill="hold" nodeType="withEffect">
                                  <p:stCondLst>
                                    <p:cond delay="7600"/>
                                  </p:stCondLst>
                                  <p:childTnLst>
                                    <p:set>
                                      <p:cBhvr>
                                        <p:cTn id="12" dur="1" fill="hold">
                                          <p:stCondLst>
                                            <p:cond delay="0"/>
                                          </p:stCondLst>
                                        </p:cTn>
                                        <p:tgtEl>
                                          <p:spTgt spid="10"/>
                                        </p:tgtEl>
                                        <p:attrNameLst>
                                          <p:attrName>style.visibility</p:attrName>
                                        </p:attrNameLst>
                                      </p:cBhvr>
                                      <p:to>
                                        <p:strVal val="visible"/>
                                      </p:to>
                                    </p:set>
                                    <p:anim calcmode="lin" valueType="num">
                                      <p:cBhvr>
                                        <p:cTn id="13" dur="500" fill="hold"/>
                                        <p:tgtEl>
                                          <p:spTgt spid="10"/>
                                        </p:tgtEl>
                                        <p:attrNameLst>
                                          <p:attrName>ppt_w</p:attrName>
                                        </p:attrNameLst>
                                      </p:cBhvr>
                                      <p:tavLst>
                                        <p:tav tm="0">
                                          <p:val>
                                            <p:strVal val="#ppt_w*2.5"/>
                                          </p:val>
                                        </p:tav>
                                        <p:tav tm="100000">
                                          <p:val>
                                            <p:strVal val="#ppt_w"/>
                                          </p:val>
                                        </p:tav>
                                      </p:tavLst>
                                    </p:anim>
                                    <p:anim calcmode="lin" valueType="num">
                                      <p:cBhvr>
                                        <p:cTn id="14" dur="500" fill="hold"/>
                                        <p:tgtEl>
                                          <p:spTgt spid="10"/>
                                        </p:tgtEl>
                                        <p:attrNameLst>
                                          <p:attrName>ppt_h</p:attrName>
                                        </p:attrNameLst>
                                      </p:cBhvr>
                                      <p:tavLst>
                                        <p:tav tm="0">
                                          <p:val>
                                            <p:strVal val="#ppt_h*0.01"/>
                                          </p:val>
                                        </p:tav>
                                        <p:tav tm="100000">
                                          <p:val>
                                            <p:strVal val="#ppt_h"/>
                                          </p:val>
                                        </p:tav>
                                      </p:tavLst>
                                    </p:anim>
                                    <p:anim calcmode="lin" valueType="num">
                                      <p:cBhvr>
                                        <p:cTn id="15" dur="500" fill="hold"/>
                                        <p:tgtEl>
                                          <p:spTgt spid="10"/>
                                        </p:tgtEl>
                                        <p:attrNameLst>
                                          <p:attrName>ppt_x</p:attrName>
                                        </p:attrNameLst>
                                      </p:cBhvr>
                                      <p:tavLst>
                                        <p:tav tm="0">
                                          <p:val>
                                            <p:strVal val="#ppt_x"/>
                                          </p:val>
                                        </p:tav>
                                        <p:tav tm="100000">
                                          <p:val>
                                            <p:strVal val="#ppt_x"/>
                                          </p:val>
                                        </p:tav>
                                      </p:tavLst>
                                    </p:anim>
                                    <p:anim calcmode="lin" valueType="num">
                                      <p:cBhvr>
                                        <p:cTn id="16" dur="500" fill="hold"/>
                                        <p:tgtEl>
                                          <p:spTgt spid="10"/>
                                        </p:tgtEl>
                                        <p:attrNameLst>
                                          <p:attrName>ppt_y</p:attrName>
                                        </p:attrNameLst>
                                      </p:cBhvr>
                                      <p:tavLst>
                                        <p:tav tm="0">
                                          <p:val>
                                            <p:strVal val="#ppt_h+1"/>
                                          </p:val>
                                        </p:tav>
                                        <p:tav tm="100000">
                                          <p:val>
                                            <p:strVal val="#ppt_y"/>
                                          </p:val>
                                        </p:tav>
                                      </p:tavLst>
                                    </p:anim>
                                    <p:animEffect transition="in" filter="fade">
                                      <p:cBhvr>
                                        <p:cTn id="17" dur="500"/>
                                        <p:tgtEl>
                                          <p:spTgt spid="10"/>
                                        </p:tgtEl>
                                      </p:cBhvr>
                                    </p:animEffect>
                                  </p:childTnLst>
                                </p:cTn>
                              </p:par>
                              <p:par>
                                <p:cTn id="18" presetID="58" presetClass="entr" presetSubtype="0" accel="100000" fill="hold" nodeType="withEffect">
                                  <p:stCondLst>
                                    <p:cond delay="800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strVal val="#ppt_w*2.5"/>
                                          </p:val>
                                        </p:tav>
                                        <p:tav tm="100000">
                                          <p:val>
                                            <p:strVal val="#ppt_w"/>
                                          </p:val>
                                        </p:tav>
                                      </p:tavLst>
                                    </p:anim>
                                    <p:anim calcmode="lin" valueType="num">
                                      <p:cBhvr>
                                        <p:cTn id="21" dur="500" fill="hold"/>
                                        <p:tgtEl>
                                          <p:spTgt spid="15"/>
                                        </p:tgtEl>
                                        <p:attrNameLst>
                                          <p:attrName>ppt_h</p:attrName>
                                        </p:attrNameLst>
                                      </p:cBhvr>
                                      <p:tavLst>
                                        <p:tav tm="0">
                                          <p:val>
                                            <p:strVal val="#ppt_h*0.01"/>
                                          </p:val>
                                        </p:tav>
                                        <p:tav tm="100000">
                                          <p:val>
                                            <p:strVal val="#ppt_h"/>
                                          </p:val>
                                        </p:tav>
                                      </p:tavLst>
                                    </p:anim>
                                    <p:anim calcmode="lin" valueType="num">
                                      <p:cBhvr>
                                        <p:cTn id="22" dur="500" fill="hold"/>
                                        <p:tgtEl>
                                          <p:spTgt spid="15"/>
                                        </p:tgtEl>
                                        <p:attrNameLst>
                                          <p:attrName>ppt_x</p:attrName>
                                        </p:attrNameLst>
                                      </p:cBhvr>
                                      <p:tavLst>
                                        <p:tav tm="0">
                                          <p:val>
                                            <p:strVal val="#ppt_x"/>
                                          </p:val>
                                        </p:tav>
                                        <p:tav tm="100000">
                                          <p:val>
                                            <p:strVal val="#ppt_x"/>
                                          </p:val>
                                        </p:tav>
                                      </p:tavLst>
                                    </p:anim>
                                    <p:anim calcmode="lin" valueType="num">
                                      <p:cBhvr>
                                        <p:cTn id="23" dur="500" fill="hold"/>
                                        <p:tgtEl>
                                          <p:spTgt spid="15"/>
                                        </p:tgtEl>
                                        <p:attrNameLst>
                                          <p:attrName>ppt_y</p:attrName>
                                        </p:attrNameLst>
                                      </p:cBhvr>
                                      <p:tavLst>
                                        <p:tav tm="0">
                                          <p:val>
                                            <p:strVal val="#ppt_h+1"/>
                                          </p:val>
                                        </p:tav>
                                        <p:tav tm="100000">
                                          <p:val>
                                            <p:strVal val="#ppt_y"/>
                                          </p:val>
                                        </p:tav>
                                      </p:tavLst>
                                    </p:anim>
                                    <p:animEffect transition="in" filter="fade">
                                      <p:cBhvr>
                                        <p:cTn id="24" dur="500"/>
                                        <p:tgtEl>
                                          <p:spTgt spid="15"/>
                                        </p:tgtEl>
                                      </p:cBhvr>
                                    </p:animEffect>
                                  </p:childTnLst>
                                </p:cTn>
                              </p:par>
                              <p:par>
                                <p:cTn id="25" presetID="58" presetClass="entr" presetSubtype="0" accel="100000" fill="hold" nodeType="withEffect">
                                  <p:stCondLst>
                                    <p:cond delay="8800"/>
                                  </p:stCondLst>
                                  <p:childTnLst>
                                    <p:set>
                                      <p:cBhvr>
                                        <p:cTn id="26" dur="1" fill="hold">
                                          <p:stCondLst>
                                            <p:cond delay="0"/>
                                          </p:stCondLst>
                                        </p:cTn>
                                        <p:tgtEl>
                                          <p:spTgt spid="20"/>
                                        </p:tgtEl>
                                        <p:attrNameLst>
                                          <p:attrName>style.visibility</p:attrName>
                                        </p:attrNameLst>
                                      </p:cBhvr>
                                      <p:to>
                                        <p:strVal val="visible"/>
                                      </p:to>
                                    </p:set>
                                    <p:anim calcmode="lin" valueType="num">
                                      <p:cBhvr>
                                        <p:cTn id="27" dur="500" fill="hold"/>
                                        <p:tgtEl>
                                          <p:spTgt spid="20"/>
                                        </p:tgtEl>
                                        <p:attrNameLst>
                                          <p:attrName>ppt_w</p:attrName>
                                        </p:attrNameLst>
                                      </p:cBhvr>
                                      <p:tavLst>
                                        <p:tav tm="0">
                                          <p:val>
                                            <p:strVal val="#ppt_w*2.5"/>
                                          </p:val>
                                        </p:tav>
                                        <p:tav tm="100000">
                                          <p:val>
                                            <p:strVal val="#ppt_w"/>
                                          </p:val>
                                        </p:tav>
                                      </p:tavLst>
                                    </p:anim>
                                    <p:anim calcmode="lin" valueType="num">
                                      <p:cBhvr>
                                        <p:cTn id="28" dur="500" fill="hold"/>
                                        <p:tgtEl>
                                          <p:spTgt spid="20"/>
                                        </p:tgtEl>
                                        <p:attrNameLst>
                                          <p:attrName>ppt_h</p:attrName>
                                        </p:attrNameLst>
                                      </p:cBhvr>
                                      <p:tavLst>
                                        <p:tav tm="0">
                                          <p:val>
                                            <p:strVal val="#ppt_h*0.01"/>
                                          </p:val>
                                        </p:tav>
                                        <p:tav tm="100000">
                                          <p:val>
                                            <p:strVal val="#ppt_h"/>
                                          </p:val>
                                        </p:tav>
                                      </p:tavLst>
                                    </p:anim>
                                    <p:anim calcmode="lin" valueType="num">
                                      <p:cBhvr>
                                        <p:cTn id="29" dur="500" fill="hold"/>
                                        <p:tgtEl>
                                          <p:spTgt spid="20"/>
                                        </p:tgtEl>
                                        <p:attrNameLst>
                                          <p:attrName>ppt_x</p:attrName>
                                        </p:attrNameLst>
                                      </p:cBhvr>
                                      <p:tavLst>
                                        <p:tav tm="0">
                                          <p:val>
                                            <p:strVal val="#ppt_x"/>
                                          </p:val>
                                        </p:tav>
                                        <p:tav tm="100000">
                                          <p:val>
                                            <p:strVal val="#ppt_x"/>
                                          </p:val>
                                        </p:tav>
                                      </p:tavLst>
                                    </p:anim>
                                    <p:anim calcmode="lin" valueType="num">
                                      <p:cBhvr>
                                        <p:cTn id="30" dur="500" fill="hold"/>
                                        <p:tgtEl>
                                          <p:spTgt spid="20"/>
                                        </p:tgtEl>
                                        <p:attrNameLst>
                                          <p:attrName>ppt_y</p:attrName>
                                        </p:attrNameLst>
                                      </p:cBhvr>
                                      <p:tavLst>
                                        <p:tav tm="0">
                                          <p:val>
                                            <p:strVal val="#ppt_h+1"/>
                                          </p:val>
                                        </p:tav>
                                        <p:tav tm="100000">
                                          <p:val>
                                            <p:strVal val="#ppt_y"/>
                                          </p:val>
                                        </p:tav>
                                      </p:tavLst>
                                    </p:anim>
                                    <p:animEffect transition="in" filter="fade">
                                      <p:cBhvr>
                                        <p:cTn id="31" dur="500"/>
                                        <p:tgtEl>
                                          <p:spTgt spid="20"/>
                                        </p:tgtEl>
                                      </p:cBhvr>
                                    </p:animEffect>
                                  </p:childTnLst>
                                </p:cTn>
                              </p:par>
                              <p:par>
                                <p:cTn id="32" presetID="58" presetClass="entr" presetSubtype="0" accel="100000" fill="hold" nodeType="withEffect">
                                  <p:stCondLst>
                                    <p:cond delay="10800"/>
                                  </p:stCondLst>
                                  <p:childTnLst>
                                    <p:set>
                                      <p:cBhvr>
                                        <p:cTn id="33" dur="1" fill="hold">
                                          <p:stCondLst>
                                            <p:cond delay="0"/>
                                          </p:stCondLst>
                                        </p:cTn>
                                        <p:tgtEl>
                                          <p:spTgt spid="25"/>
                                        </p:tgtEl>
                                        <p:attrNameLst>
                                          <p:attrName>style.visibility</p:attrName>
                                        </p:attrNameLst>
                                      </p:cBhvr>
                                      <p:to>
                                        <p:strVal val="visible"/>
                                      </p:to>
                                    </p:set>
                                    <p:anim calcmode="lin" valueType="num">
                                      <p:cBhvr>
                                        <p:cTn id="34" dur="500" fill="hold"/>
                                        <p:tgtEl>
                                          <p:spTgt spid="25"/>
                                        </p:tgtEl>
                                        <p:attrNameLst>
                                          <p:attrName>ppt_w</p:attrName>
                                        </p:attrNameLst>
                                      </p:cBhvr>
                                      <p:tavLst>
                                        <p:tav tm="0">
                                          <p:val>
                                            <p:strVal val="#ppt_w*2.5"/>
                                          </p:val>
                                        </p:tav>
                                        <p:tav tm="100000">
                                          <p:val>
                                            <p:strVal val="#ppt_w"/>
                                          </p:val>
                                        </p:tav>
                                      </p:tavLst>
                                    </p:anim>
                                    <p:anim calcmode="lin" valueType="num">
                                      <p:cBhvr>
                                        <p:cTn id="35" dur="500" fill="hold"/>
                                        <p:tgtEl>
                                          <p:spTgt spid="25"/>
                                        </p:tgtEl>
                                        <p:attrNameLst>
                                          <p:attrName>ppt_h</p:attrName>
                                        </p:attrNameLst>
                                      </p:cBhvr>
                                      <p:tavLst>
                                        <p:tav tm="0">
                                          <p:val>
                                            <p:strVal val="#ppt_h*0.01"/>
                                          </p:val>
                                        </p:tav>
                                        <p:tav tm="100000">
                                          <p:val>
                                            <p:strVal val="#ppt_h"/>
                                          </p:val>
                                        </p:tav>
                                      </p:tavLst>
                                    </p:anim>
                                    <p:anim calcmode="lin" valueType="num">
                                      <p:cBhvr>
                                        <p:cTn id="36" dur="500" fill="hold"/>
                                        <p:tgtEl>
                                          <p:spTgt spid="25"/>
                                        </p:tgtEl>
                                        <p:attrNameLst>
                                          <p:attrName>ppt_x</p:attrName>
                                        </p:attrNameLst>
                                      </p:cBhvr>
                                      <p:tavLst>
                                        <p:tav tm="0">
                                          <p:val>
                                            <p:strVal val="#ppt_x"/>
                                          </p:val>
                                        </p:tav>
                                        <p:tav tm="100000">
                                          <p:val>
                                            <p:strVal val="#ppt_x"/>
                                          </p:val>
                                        </p:tav>
                                      </p:tavLst>
                                    </p:anim>
                                    <p:anim calcmode="lin" valueType="num">
                                      <p:cBhvr>
                                        <p:cTn id="37" dur="500" fill="hold"/>
                                        <p:tgtEl>
                                          <p:spTgt spid="25"/>
                                        </p:tgtEl>
                                        <p:attrNameLst>
                                          <p:attrName>ppt_y</p:attrName>
                                        </p:attrNameLst>
                                      </p:cBhvr>
                                      <p:tavLst>
                                        <p:tav tm="0">
                                          <p:val>
                                            <p:strVal val="#ppt_h+1"/>
                                          </p:val>
                                        </p:tav>
                                        <p:tav tm="100000">
                                          <p:val>
                                            <p:strVal val="#ppt_y"/>
                                          </p:val>
                                        </p:tav>
                                      </p:tavLst>
                                    </p:anim>
                                    <p:animEffect transition="in" filter="fade">
                                      <p:cBhvr>
                                        <p:cTn id="38" dur="500"/>
                                        <p:tgtEl>
                                          <p:spTgt spid="25"/>
                                        </p:tgtEl>
                                      </p:cBhvr>
                                    </p:animEffect>
                                  </p:childTnLst>
                                </p:cTn>
                              </p:par>
                              <p:par>
                                <p:cTn id="39" presetID="58" presetClass="entr" presetSubtype="0" accel="100000" fill="hold" nodeType="withEffect">
                                  <p:stCondLst>
                                    <p:cond delay="11200"/>
                                  </p:stCondLst>
                                  <p:childTnLst>
                                    <p:set>
                                      <p:cBhvr>
                                        <p:cTn id="40" dur="1" fill="hold">
                                          <p:stCondLst>
                                            <p:cond delay="0"/>
                                          </p:stCondLst>
                                        </p:cTn>
                                        <p:tgtEl>
                                          <p:spTgt spid="30"/>
                                        </p:tgtEl>
                                        <p:attrNameLst>
                                          <p:attrName>style.visibility</p:attrName>
                                        </p:attrNameLst>
                                      </p:cBhvr>
                                      <p:to>
                                        <p:strVal val="visible"/>
                                      </p:to>
                                    </p:set>
                                    <p:anim calcmode="lin" valueType="num">
                                      <p:cBhvr>
                                        <p:cTn id="41" dur="500" fill="hold"/>
                                        <p:tgtEl>
                                          <p:spTgt spid="30"/>
                                        </p:tgtEl>
                                        <p:attrNameLst>
                                          <p:attrName>ppt_w</p:attrName>
                                        </p:attrNameLst>
                                      </p:cBhvr>
                                      <p:tavLst>
                                        <p:tav tm="0">
                                          <p:val>
                                            <p:strVal val="#ppt_w*2.5"/>
                                          </p:val>
                                        </p:tav>
                                        <p:tav tm="100000">
                                          <p:val>
                                            <p:strVal val="#ppt_w"/>
                                          </p:val>
                                        </p:tav>
                                      </p:tavLst>
                                    </p:anim>
                                    <p:anim calcmode="lin" valueType="num">
                                      <p:cBhvr>
                                        <p:cTn id="42" dur="500" fill="hold"/>
                                        <p:tgtEl>
                                          <p:spTgt spid="30"/>
                                        </p:tgtEl>
                                        <p:attrNameLst>
                                          <p:attrName>ppt_h</p:attrName>
                                        </p:attrNameLst>
                                      </p:cBhvr>
                                      <p:tavLst>
                                        <p:tav tm="0">
                                          <p:val>
                                            <p:strVal val="#ppt_h*0.01"/>
                                          </p:val>
                                        </p:tav>
                                        <p:tav tm="100000">
                                          <p:val>
                                            <p:strVal val="#ppt_h"/>
                                          </p:val>
                                        </p:tav>
                                      </p:tavLst>
                                    </p:anim>
                                    <p:anim calcmode="lin" valueType="num">
                                      <p:cBhvr>
                                        <p:cTn id="43" dur="500" fill="hold"/>
                                        <p:tgtEl>
                                          <p:spTgt spid="30"/>
                                        </p:tgtEl>
                                        <p:attrNameLst>
                                          <p:attrName>ppt_x</p:attrName>
                                        </p:attrNameLst>
                                      </p:cBhvr>
                                      <p:tavLst>
                                        <p:tav tm="0">
                                          <p:val>
                                            <p:strVal val="#ppt_x"/>
                                          </p:val>
                                        </p:tav>
                                        <p:tav tm="100000">
                                          <p:val>
                                            <p:strVal val="#ppt_x"/>
                                          </p:val>
                                        </p:tav>
                                      </p:tavLst>
                                    </p:anim>
                                    <p:anim calcmode="lin" valueType="num">
                                      <p:cBhvr>
                                        <p:cTn id="44" dur="500" fill="hold"/>
                                        <p:tgtEl>
                                          <p:spTgt spid="30"/>
                                        </p:tgtEl>
                                        <p:attrNameLst>
                                          <p:attrName>ppt_y</p:attrName>
                                        </p:attrNameLst>
                                      </p:cBhvr>
                                      <p:tavLst>
                                        <p:tav tm="0">
                                          <p:val>
                                            <p:strVal val="#ppt_h+1"/>
                                          </p:val>
                                        </p:tav>
                                        <p:tav tm="100000">
                                          <p:val>
                                            <p:strVal val="#ppt_y"/>
                                          </p:val>
                                        </p:tav>
                                      </p:tavLst>
                                    </p:anim>
                                    <p:animEffect transition="in" filter="fade">
                                      <p:cBhvr>
                                        <p:cTn id="45" dur="500"/>
                                        <p:tgtEl>
                                          <p:spTgt spid="30"/>
                                        </p:tgtEl>
                                      </p:cBhvr>
                                    </p:animEffect>
                                  </p:childTnLst>
                                </p:cTn>
                              </p:par>
                              <p:par>
                                <p:cTn id="46" presetID="58" presetClass="entr" presetSubtype="0" accel="100000" fill="hold" nodeType="withEffect">
                                  <p:stCondLst>
                                    <p:cond delay="12000"/>
                                  </p:stCondLst>
                                  <p:childTnLst>
                                    <p:set>
                                      <p:cBhvr>
                                        <p:cTn id="47" dur="1" fill="hold">
                                          <p:stCondLst>
                                            <p:cond delay="0"/>
                                          </p:stCondLst>
                                        </p:cTn>
                                        <p:tgtEl>
                                          <p:spTgt spid="35"/>
                                        </p:tgtEl>
                                        <p:attrNameLst>
                                          <p:attrName>style.visibility</p:attrName>
                                        </p:attrNameLst>
                                      </p:cBhvr>
                                      <p:to>
                                        <p:strVal val="visible"/>
                                      </p:to>
                                    </p:set>
                                    <p:anim calcmode="lin" valueType="num">
                                      <p:cBhvr>
                                        <p:cTn id="48" dur="500" fill="hold"/>
                                        <p:tgtEl>
                                          <p:spTgt spid="35"/>
                                        </p:tgtEl>
                                        <p:attrNameLst>
                                          <p:attrName>ppt_w</p:attrName>
                                        </p:attrNameLst>
                                      </p:cBhvr>
                                      <p:tavLst>
                                        <p:tav tm="0">
                                          <p:val>
                                            <p:strVal val="#ppt_w*2.5"/>
                                          </p:val>
                                        </p:tav>
                                        <p:tav tm="100000">
                                          <p:val>
                                            <p:strVal val="#ppt_w"/>
                                          </p:val>
                                        </p:tav>
                                      </p:tavLst>
                                    </p:anim>
                                    <p:anim calcmode="lin" valueType="num">
                                      <p:cBhvr>
                                        <p:cTn id="49" dur="500" fill="hold"/>
                                        <p:tgtEl>
                                          <p:spTgt spid="35"/>
                                        </p:tgtEl>
                                        <p:attrNameLst>
                                          <p:attrName>ppt_h</p:attrName>
                                        </p:attrNameLst>
                                      </p:cBhvr>
                                      <p:tavLst>
                                        <p:tav tm="0">
                                          <p:val>
                                            <p:strVal val="#ppt_h*0.01"/>
                                          </p:val>
                                        </p:tav>
                                        <p:tav tm="100000">
                                          <p:val>
                                            <p:strVal val="#ppt_h"/>
                                          </p:val>
                                        </p:tav>
                                      </p:tavLst>
                                    </p:anim>
                                    <p:anim calcmode="lin" valueType="num">
                                      <p:cBhvr>
                                        <p:cTn id="50" dur="500" fill="hold"/>
                                        <p:tgtEl>
                                          <p:spTgt spid="35"/>
                                        </p:tgtEl>
                                        <p:attrNameLst>
                                          <p:attrName>ppt_x</p:attrName>
                                        </p:attrNameLst>
                                      </p:cBhvr>
                                      <p:tavLst>
                                        <p:tav tm="0">
                                          <p:val>
                                            <p:strVal val="#ppt_x"/>
                                          </p:val>
                                        </p:tav>
                                        <p:tav tm="100000">
                                          <p:val>
                                            <p:strVal val="#ppt_x"/>
                                          </p:val>
                                        </p:tav>
                                      </p:tavLst>
                                    </p:anim>
                                    <p:anim calcmode="lin" valueType="num">
                                      <p:cBhvr>
                                        <p:cTn id="51" dur="500" fill="hold"/>
                                        <p:tgtEl>
                                          <p:spTgt spid="35"/>
                                        </p:tgtEl>
                                        <p:attrNameLst>
                                          <p:attrName>ppt_y</p:attrName>
                                        </p:attrNameLst>
                                      </p:cBhvr>
                                      <p:tavLst>
                                        <p:tav tm="0">
                                          <p:val>
                                            <p:strVal val="#ppt_h+1"/>
                                          </p:val>
                                        </p:tav>
                                        <p:tav tm="100000">
                                          <p:val>
                                            <p:strVal val="#ppt_y"/>
                                          </p:val>
                                        </p:tav>
                                      </p:tavLst>
                                    </p:anim>
                                    <p:animEffect transition="in" filter="fade">
                                      <p:cBhvr>
                                        <p:cTn id="52" dur="500"/>
                                        <p:tgtEl>
                                          <p:spTgt spid="35"/>
                                        </p:tgtEl>
                                      </p:cBhvr>
                                    </p:animEffect>
                                  </p:childTnLst>
                                </p:cTn>
                              </p:par>
                              <p:par>
                                <p:cTn id="53" presetID="2" presetClass="entr" presetSubtype="4" fill="hold" nodeType="withEffect">
                                  <p:stCondLst>
                                    <p:cond delay="23200"/>
                                  </p:stCondLst>
                                  <p:childTnLst>
                                    <p:set>
                                      <p:cBhvr>
                                        <p:cTn id="54" dur="1" fill="hold">
                                          <p:stCondLst>
                                            <p:cond delay="0"/>
                                          </p:stCondLst>
                                        </p:cTn>
                                        <p:tgtEl>
                                          <p:spTgt spid="38"/>
                                        </p:tgtEl>
                                        <p:attrNameLst>
                                          <p:attrName>style.visibility</p:attrName>
                                        </p:attrNameLst>
                                      </p:cBhvr>
                                      <p:to>
                                        <p:strVal val="visible"/>
                                      </p:to>
                                    </p:set>
                                    <p:anim calcmode="lin" valueType="num">
                                      <p:cBhvr additive="base">
                                        <p:cTn id="55" dur="600" fill="hold"/>
                                        <p:tgtEl>
                                          <p:spTgt spid="38"/>
                                        </p:tgtEl>
                                        <p:attrNameLst>
                                          <p:attrName>ppt_x</p:attrName>
                                        </p:attrNameLst>
                                      </p:cBhvr>
                                      <p:tavLst>
                                        <p:tav tm="0">
                                          <p:val>
                                            <p:strVal val="#ppt_x"/>
                                          </p:val>
                                        </p:tav>
                                        <p:tav tm="100000">
                                          <p:val>
                                            <p:strVal val="#ppt_x"/>
                                          </p:val>
                                        </p:tav>
                                      </p:tavLst>
                                    </p:anim>
                                    <p:anim calcmode="lin" valueType="num">
                                      <p:cBhvr additive="base">
                                        <p:cTn id="56" dur="6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Canvas services for AI</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RUNNING AI AT SCALE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Canvas services for AI</a:t>
            </a:r>
          </a:p>
        </p:txBody>
      </p:sp>
      <p:grpSp>
        <p:nvGrpSpPr>
          <p:cNvPr id="9" name="Service 1"/>
          <p:cNvGrpSpPr/>
          <p:nvPr/>
        </p:nvGrpSpPr>
        <p:grpSpPr>
          <a:xfrm>
            <a:off x="762000" y="1651000"/>
            <a:ext cx="5270500" cy="889000"/>
            <a:chOff x="762000" y="1651000"/>
            <a:chExt cx="5270500" cy="889000"/>
          </a:xfrm>
        </p:grpSpPr>
        <p:sp>
          <p:nvSpPr>
            <p:cNvPr id="6" name="Shape 4"/>
            <p:cNvSpPr/>
            <p:nvPr/>
          </p:nvSpPr>
          <p:spPr>
            <a:xfrm>
              <a:off x="762000" y="165100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7" name="Shape 5" descr="icon-spark-f472b6.png"/>
            <p:cNvPicPr>
              <a:picLocks noChangeAspect="1"/>
            </p:cNvPicPr>
            <p:nvPr/>
          </p:nvPicPr>
          <p:blipFill>
            <a:blip r:embed="rId4"/>
            <a:stretch>
              <a:fillRect/>
            </a:stretch>
          </p:blipFill>
          <p:spPr>
            <a:xfrm>
              <a:off x="939800" y="1866900"/>
              <a:ext cx="457200" cy="457200"/>
            </a:xfrm>
            <a:prstGeom prst="rect">
              <a:avLst/>
            </a:prstGeom>
          </p:spPr>
        </p:pic>
        <p:sp>
          <p:nvSpPr>
            <p:cNvPr id="8" name="Shape 6"/>
            <p:cNvSpPr txBox="1"/>
            <p:nvPr/>
          </p:nvSpPr>
          <p:spPr>
            <a:xfrm>
              <a:off x="1549400" y="165100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Language, embedding and multimodal models</a:t>
              </a:r>
            </a:p>
          </p:txBody>
        </p:sp>
      </p:grpSp>
      <p:grpSp>
        <p:nvGrpSpPr>
          <p:cNvPr id="13" name="Service 2"/>
          <p:cNvGrpSpPr/>
          <p:nvPr/>
        </p:nvGrpSpPr>
        <p:grpSpPr>
          <a:xfrm>
            <a:off x="6159500" y="1651000"/>
            <a:ext cx="5270500" cy="889000"/>
            <a:chOff x="6159500" y="1651000"/>
            <a:chExt cx="5270500" cy="889000"/>
          </a:xfrm>
        </p:grpSpPr>
        <p:sp>
          <p:nvSpPr>
            <p:cNvPr id="10" name="Shape 8"/>
            <p:cNvSpPr/>
            <p:nvPr/>
          </p:nvSpPr>
          <p:spPr>
            <a:xfrm>
              <a:off x="6159500" y="165100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1" name="Shape 9" descr="icon-flask-f472b6.png"/>
            <p:cNvPicPr>
              <a:picLocks noChangeAspect="1"/>
            </p:cNvPicPr>
            <p:nvPr/>
          </p:nvPicPr>
          <p:blipFill>
            <a:blip r:embed="rId5"/>
            <a:stretch>
              <a:fillRect/>
            </a:stretch>
          </p:blipFill>
          <p:spPr>
            <a:xfrm>
              <a:off x="6337300" y="1866900"/>
              <a:ext cx="457200" cy="457200"/>
            </a:xfrm>
            <a:prstGeom prst="rect">
              <a:avLst/>
            </a:prstGeom>
          </p:spPr>
        </p:pic>
        <p:sp>
          <p:nvSpPr>
            <p:cNvPr id="12" name="Shape 10"/>
            <p:cNvSpPr txBox="1"/>
            <p:nvPr/>
          </p:nvSpPr>
          <p:spPr>
            <a:xfrm>
              <a:off x="6946900" y="165100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Classical ML with MLOps</a:t>
              </a:r>
            </a:p>
          </p:txBody>
        </p:sp>
      </p:grpSp>
      <p:grpSp>
        <p:nvGrpSpPr>
          <p:cNvPr id="17" name="Service 3"/>
          <p:cNvGrpSpPr/>
          <p:nvPr/>
        </p:nvGrpSpPr>
        <p:grpSpPr>
          <a:xfrm>
            <a:off x="762000" y="2698750"/>
            <a:ext cx="5270500" cy="889000"/>
            <a:chOff x="762000" y="2698750"/>
            <a:chExt cx="5270500" cy="889000"/>
          </a:xfrm>
        </p:grpSpPr>
        <p:sp>
          <p:nvSpPr>
            <p:cNvPr id="14" name="Shape 12"/>
            <p:cNvSpPr/>
            <p:nvPr/>
          </p:nvSpPr>
          <p:spPr>
            <a:xfrm>
              <a:off x="762000" y="269875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5" name="Shape 13" descr="icon-database-f472b6.png"/>
            <p:cNvPicPr>
              <a:picLocks noChangeAspect="1"/>
            </p:cNvPicPr>
            <p:nvPr/>
          </p:nvPicPr>
          <p:blipFill>
            <a:blip r:embed="rId6"/>
            <a:stretch>
              <a:fillRect/>
            </a:stretch>
          </p:blipFill>
          <p:spPr>
            <a:xfrm>
              <a:off x="939800" y="2914650"/>
              <a:ext cx="457200" cy="457200"/>
            </a:xfrm>
            <a:prstGeom prst="rect">
              <a:avLst/>
            </a:prstGeom>
          </p:spPr>
        </p:pic>
        <p:sp>
          <p:nvSpPr>
            <p:cNvPr id="16" name="Shape 14"/>
            <p:cNvSpPr txBox="1"/>
            <p:nvPr/>
          </p:nvSpPr>
          <p:spPr>
            <a:xfrm>
              <a:off x="1549400" y="269875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Vector databases, anonymisation, chunking</a:t>
              </a:r>
            </a:p>
          </p:txBody>
        </p:sp>
      </p:grpSp>
      <p:grpSp>
        <p:nvGrpSpPr>
          <p:cNvPr id="21" name="Service 4"/>
          <p:cNvGrpSpPr/>
          <p:nvPr/>
        </p:nvGrpSpPr>
        <p:grpSpPr>
          <a:xfrm>
            <a:off x="6159500" y="2698750"/>
            <a:ext cx="5270500" cy="889000"/>
            <a:chOff x="6159500" y="2698750"/>
            <a:chExt cx="5270500" cy="889000"/>
          </a:xfrm>
        </p:grpSpPr>
        <p:sp>
          <p:nvSpPr>
            <p:cNvPr id="18" name="Shape 16"/>
            <p:cNvSpPr/>
            <p:nvPr/>
          </p:nvSpPr>
          <p:spPr>
            <a:xfrm>
              <a:off x="6159500" y="269875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9" name="Shape 17" descr="icon-trace-f472b6.png"/>
            <p:cNvPicPr>
              <a:picLocks noChangeAspect="1"/>
            </p:cNvPicPr>
            <p:nvPr/>
          </p:nvPicPr>
          <p:blipFill>
            <a:blip r:embed="rId7"/>
            <a:stretch>
              <a:fillRect/>
            </a:stretch>
          </p:blipFill>
          <p:spPr>
            <a:xfrm>
              <a:off x="6337300" y="2914650"/>
              <a:ext cx="457200" cy="457200"/>
            </a:xfrm>
            <a:prstGeom prst="rect">
              <a:avLst/>
            </a:prstGeom>
          </p:spPr>
        </p:pic>
        <p:sp>
          <p:nvSpPr>
            <p:cNvPr id="20" name="Shape 18"/>
            <p:cNvSpPr txBox="1"/>
            <p:nvPr/>
          </p:nvSpPr>
          <p:spPr>
            <a:xfrm>
              <a:off x="6946900" y="269875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AI observability: LangSmith, OpenLLMetry or another platform</a:t>
              </a:r>
            </a:p>
          </p:txBody>
        </p:sp>
      </p:grpSp>
      <p:grpSp>
        <p:nvGrpSpPr>
          <p:cNvPr id="25" name="Service 5"/>
          <p:cNvGrpSpPr/>
          <p:nvPr/>
        </p:nvGrpSpPr>
        <p:grpSpPr>
          <a:xfrm>
            <a:off x="762000" y="3746500"/>
            <a:ext cx="5270500" cy="889000"/>
            <a:chOff x="762000" y="3746500"/>
            <a:chExt cx="5270500" cy="889000"/>
          </a:xfrm>
        </p:grpSpPr>
        <p:sp>
          <p:nvSpPr>
            <p:cNvPr id="22" name="Shape 20"/>
            <p:cNvSpPr/>
            <p:nvPr/>
          </p:nvSpPr>
          <p:spPr>
            <a:xfrm>
              <a:off x="762000" y="374650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3" name="Shape 21" descr="icon-gateway-f472b6.png"/>
            <p:cNvPicPr>
              <a:picLocks noChangeAspect="1"/>
            </p:cNvPicPr>
            <p:nvPr/>
          </p:nvPicPr>
          <p:blipFill>
            <a:blip r:embed="rId8"/>
            <a:stretch>
              <a:fillRect/>
            </a:stretch>
          </p:blipFill>
          <p:spPr>
            <a:xfrm>
              <a:off x="939800" y="3962400"/>
              <a:ext cx="457200" cy="457200"/>
            </a:xfrm>
            <a:prstGeom prst="rect">
              <a:avLst/>
            </a:prstGeom>
          </p:spPr>
        </p:pic>
        <p:sp>
          <p:nvSpPr>
            <p:cNvPr id="24" name="Shape 22"/>
            <p:cNvSpPr txBox="1"/>
            <p:nvPr/>
          </p:nvSpPr>
          <p:spPr>
            <a:xfrm>
              <a:off x="1549400" y="374650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Model gateway</a:t>
              </a:r>
            </a:p>
          </p:txBody>
        </p:sp>
      </p:grpSp>
      <p:grpSp>
        <p:nvGrpSpPr>
          <p:cNvPr id="29" name="Service 6"/>
          <p:cNvGrpSpPr/>
          <p:nvPr/>
        </p:nvGrpSpPr>
        <p:grpSpPr>
          <a:xfrm>
            <a:off x="6159500" y="3746500"/>
            <a:ext cx="5270500" cy="889000"/>
            <a:chOff x="6159500" y="3746500"/>
            <a:chExt cx="5270500" cy="889000"/>
          </a:xfrm>
        </p:grpSpPr>
        <p:sp>
          <p:nvSpPr>
            <p:cNvPr id="26" name="Shape 24"/>
            <p:cNvSpPr/>
            <p:nvPr/>
          </p:nvSpPr>
          <p:spPr>
            <a:xfrm>
              <a:off x="6159500" y="374650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7" name="Shape 25" descr="icon-check-f472b6.png"/>
            <p:cNvPicPr>
              <a:picLocks noChangeAspect="1"/>
            </p:cNvPicPr>
            <p:nvPr/>
          </p:nvPicPr>
          <p:blipFill>
            <a:blip r:embed="rId9"/>
            <a:stretch>
              <a:fillRect/>
            </a:stretch>
          </p:blipFill>
          <p:spPr>
            <a:xfrm>
              <a:off x="6337300" y="3962400"/>
              <a:ext cx="457200" cy="457200"/>
            </a:xfrm>
            <a:prstGeom prst="rect">
              <a:avLst/>
            </a:prstGeom>
          </p:spPr>
        </p:pic>
        <p:sp>
          <p:nvSpPr>
            <p:cNvPr id="28" name="Shape 26"/>
            <p:cNvSpPr txBox="1"/>
            <p:nvPr/>
          </p:nvSpPr>
          <p:spPr>
            <a:xfrm>
              <a:off x="6946900" y="374650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Evaluation</a:t>
              </a:r>
            </a:p>
          </p:txBody>
        </p:sp>
      </p:grpSp>
      <p:grpSp>
        <p:nvGrpSpPr>
          <p:cNvPr id="33" name="Service 7"/>
          <p:cNvGrpSpPr/>
          <p:nvPr/>
        </p:nvGrpSpPr>
        <p:grpSpPr>
          <a:xfrm>
            <a:off x="3460750" y="4794250"/>
            <a:ext cx="5270500" cy="889000"/>
            <a:chOff x="3460750" y="4794250"/>
            <a:chExt cx="5270500" cy="889000"/>
          </a:xfrm>
        </p:grpSpPr>
        <p:sp>
          <p:nvSpPr>
            <p:cNvPr id="30" name="Shape 28"/>
            <p:cNvSpPr/>
            <p:nvPr/>
          </p:nvSpPr>
          <p:spPr>
            <a:xfrm>
              <a:off x="3460750" y="4794250"/>
              <a:ext cx="5270500" cy="889000"/>
            </a:xfrm>
            <a:prstGeom prst="roundRect">
              <a:avLst>
                <a:gd name="adj" fmla="val 14285"/>
              </a:avLst>
            </a:prstGeom>
            <a:solidFill>
              <a:srgbClr val="F472B6">
                <a:alpha val="8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1" name="Shape 29" descr="icon-doc-f472b6.png"/>
            <p:cNvPicPr>
              <a:picLocks noChangeAspect="1"/>
            </p:cNvPicPr>
            <p:nvPr/>
          </p:nvPicPr>
          <p:blipFill>
            <a:blip r:embed="rId10"/>
            <a:stretch>
              <a:fillRect/>
            </a:stretch>
          </p:blipFill>
          <p:spPr>
            <a:xfrm>
              <a:off x="3638550" y="5010150"/>
              <a:ext cx="457200" cy="457200"/>
            </a:xfrm>
            <a:prstGeom prst="rect">
              <a:avLst/>
            </a:prstGeom>
          </p:spPr>
        </p:pic>
        <p:sp>
          <p:nvSpPr>
            <p:cNvPr id="32" name="Shape 30"/>
            <p:cNvSpPr txBox="1"/>
            <p:nvPr/>
          </p:nvSpPr>
          <p:spPr>
            <a:xfrm>
              <a:off x="4248150" y="4794250"/>
              <a:ext cx="4318000" cy="8890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Registry of agents, tools and use cases</a:t>
              </a:r>
            </a:p>
          </p:txBody>
        </p:sp>
      </p:grpSp>
    </p:spTree>
  </p:cSld>
  <p:clrMapOvr>
    <a:masterClrMapping/>
  </p:clrMapOvr>
  <mc:AlternateContent xmlns:mc="http://schemas.openxmlformats.org/markup-compatibility/2006">
    <mc:Choice xmlns:p14="http://schemas.microsoft.com/office/powerpoint/2010/main" Requires="p14">
      <p:transition spd="slow" p14:dur="2000" advTm="28700"/>
    </mc:Choice>
    <mc:Fallback>
      <p:transition spd="slow" advTm="2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56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920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1240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1560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fill="hold"/>
                                        <p:tgtEl>
                                          <p:spTgt spid="21"/>
                                        </p:tgtEl>
                                        <p:attrNameLst>
                                          <p:attrName>ppt_x</p:attrName>
                                        </p:attrNameLst>
                                      </p:cBhvr>
                                      <p:tavLst>
                                        <p:tav tm="0">
                                          <p:val>
                                            <p:strVal val="#ppt_x"/>
                                          </p:val>
                                        </p:tav>
                                        <p:tav tm="100000">
                                          <p:val>
                                            <p:strVal val="#ppt_x"/>
                                          </p:val>
                                        </p:tav>
                                      </p:tavLst>
                                    </p:anim>
                                    <p:anim calcmode="lin" valueType="num">
                                      <p:cBhvr additive="base">
                                        <p:cTn id="26" dur="500" fill="hold"/>
                                        <p:tgtEl>
                                          <p:spTgt spid="2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20000"/>
                                  </p:stCondLst>
                                  <p:childTnLst>
                                    <p:set>
                                      <p:cBhvr>
                                        <p:cTn id="28" dur="1" fill="hold">
                                          <p:stCondLst>
                                            <p:cond delay="0"/>
                                          </p:stCondLst>
                                        </p:cTn>
                                        <p:tgtEl>
                                          <p:spTgt spid="25"/>
                                        </p:tgtEl>
                                        <p:attrNameLst>
                                          <p:attrName>style.visibility</p:attrName>
                                        </p:attrNameLst>
                                      </p:cBhvr>
                                      <p:to>
                                        <p:strVal val="visible"/>
                                      </p:to>
                                    </p:set>
                                    <p:anim calcmode="lin" valueType="num">
                                      <p:cBhvr additive="base">
                                        <p:cTn id="29" dur="500" fill="hold"/>
                                        <p:tgtEl>
                                          <p:spTgt spid="25"/>
                                        </p:tgtEl>
                                        <p:attrNameLst>
                                          <p:attrName>ppt_x</p:attrName>
                                        </p:attrNameLst>
                                      </p:cBhvr>
                                      <p:tavLst>
                                        <p:tav tm="0">
                                          <p:val>
                                            <p:strVal val="#ppt_x"/>
                                          </p:val>
                                        </p:tav>
                                        <p:tav tm="100000">
                                          <p:val>
                                            <p:strVal val="#ppt_x"/>
                                          </p:val>
                                        </p:tav>
                                      </p:tavLst>
                                    </p:anim>
                                    <p:anim calcmode="lin" valueType="num">
                                      <p:cBhvr additive="base">
                                        <p:cTn id="30" dur="500" fill="hold"/>
                                        <p:tgtEl>
                                          <p:spTgt spid="25"/>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21200"/>
                                  </p:stCondLst>
                                  <p:childTnLst>
                                    <p:set>
                                      <p:cBhvr>
                                        <p:cTn id="32" dur="1" fill="hold">
                                          <p:stCondLst>
                                            <p:cond delay="0"/>
                                          </p:stCondLst>
                                        </p:cTn>
                                        <p:tgtEl>
                                          <p:spTgt spid="29"/>
                                        </p:tgtEl>
                                        <p:attrNameLst>
                                          <p:attrName>style.visibility</p:attrName>
                                        </p:attrNameLst>
                                      </p:cBhvr>
                                      <p:to>
                                        <p:strVal val="visible"/>
                                      </p:to>
                                    </p:set>
                                    <p:anim calcmode="lin" valueType="num">
                                      <p:cBhvr additive="base">
                                        <p:cTn id="33" dur="500" fill="hold"/>
                                        <p:tgtEl>
                                          <p:spTgt spid="29"/>
                                        </p:tgtEl>
                                        <p:attrNameLst>
                                          <p:attrName>ppt_x</p:attrName>
                                        </p:attrNameLst>
                                      </p:cBhvr>
                                      <p:tavLst>
                                        <p:tav tm="0">
                                          <p:val>
                                            <p:strVal val="#ppt_x"/>
                                          </p:val>
                                        </p:tav>
                                        <p:tav tm="100000">
                                          <p:val>
                                            <p:strVal val="#ppt_x"/>
                                          </p:val>
                                        </p:tav>
                                      </p:tavLst>
                                    </p:anim>
                                    <p:anim calcmode="lin" valueType="num">
                                      <p:cBhvr additive="base">
                                        <p:cTn id="34" dur="500" fill="hold"/>
                                        <p:tgtEl>
                                          <p:spTgt spid="2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2240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Canvas with AI and data</a:t>
            </a:r>
          </a:p>
        </p:txBody>
      </p:sp>
      <p:pic>
        <p:nvPicPr>
          <p:cNvPr id="3" name="Clip 15">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00"/>
    </mc:Choice>
    <mc:Fallback>
      <p:transition spd="slow" advTm="3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5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The Canvas describes itself</a:t>
            </a:r>
          </a:p>
        </p:txBody>
      </p:sp>
      <p:pic>
        <p:nvPicPr>
          <p:cNvPr id="3" name="Clip 1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900"/>
    </mc:Choice>
    <mc:Fallback>
      <p:transition spd="slow" advTm="3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Evaluation</a:t>
            </a:r>
          </a:p>
        </p:txBody>
      </p:sp>
      <p:pic>
        <p:nvPicPr>
          <p:cNvPr id="3" name="Clip 17">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900"/>
    </mc:Choice>
    <mc:Fallback>
      <p:transition spd="slow" advTm="27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AI is an amplifier</a:t>
            </a:r>
          </a:p>
        </p:txBody>
      </p:sp>
      <p:pic>
        <p:nvPicPr>
          <p:cNvPr id="3" name="Clip 18">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5900"/>
    </mc:Choice>
    <mc:Fallback>
      <p:transition spd="slow" advTm="2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66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Why ODA suits AI development</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1FC7A8"/>
                </a:solidFill>
                <a:latin typeface="Segoe UI"/>
              </a:rPr>
              <a:t>AI BUILDING THE CANVAS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Why ODA suits AI development</a:t>
            </a:r>
          </a:p>
        </p:txBody>
      </p:sp>
      <p:sp>
        <p:nvSpPr>
          <p:cNvPr id="6" name="Col 1"/>
          <p:cNvSpPr txBox="1"/>
          <p:nvPr/>
        </p:nvSpPr>
        <p:spPr>
          <a:xfrm>
            <a:off x="762000" y="1587500"/>
            <a:ext cx="4826000" cy="254000"/>
          </a:xfrm>
          <a:prstGeom prst="rect">
            <a:avLst/>
          </a:prstGeom>
          <a:noFill/>
        </p:spPr>
        <p:txBody>
          <a:bodyPr wrap="square" lIns="0" tIns="0" rIns="0" bIns="0" anchor="t">
            <a:spAutoFit/>
          </a:bodyPr>
          <a:lstStyle/>
          <a:p>
            <a:pPr algn="l">
              <a:lnSpc>
                <a:spcPct val="115000"/>
              </a:lnSpc>
            </a:pPr>
            <a:r>
              <a:rPr sz="1400" b="1">
                <a:solidFill>
                  <a:srgbClr val="8F9BB8"/>
                </a:solidFill>
                <a:latin typeface="Segoe UI"/>
              </a:rPr>
              <a:t>ODA gives…</a:t>
            </a:r>
          </a:p>
        </p:txBody>
      </p:sp>
      <p:sp>
        <p:nvSpPr>
          <p:cNvPr id="7" name="Col 2"/>
          <p:cNvSpPr txBox="1"/>
          <p:nvPr/>
        </p:nvSpPr>
        <p:spPr>
          <a:xfrm>
            <a:off x="6604000" y="1587500"/>
            <a:ext cx="4826000" cy="254000"/>
          </a:xfrm>
          <a:prstGeom prst="rect">
            <a:avLst/>
          </a:prstGeom>
          <a:noFill/>
        </p:spPr>
        <p:txBody>
          <a:bodyPr wrap="square" lIns="0" tIns="0" rIns="0" bIns="0" anchor="t">
            <a:spAutoFit/>
          </a:bodyPr>
          <a:lstStyle/>
          <a:p>
            <a:pPr algn="l">
              <a:lnSpc>
                <a:spcPct val="115000"/>
              </a:lnSpc>
            </a:pPr>
            <a:r>
              <a:rPr sz="1400" b="1">
                <a:solidFill>
                  <a:srgbClr val="8F9BB8"/>
                </a:solidFill>
                <a:latin typeface="Segoe UI"/>
              </a:rPr>
              <a:t>…so a coding agent gets</a:t>
            </a:r>
          </a:p>
        </p:txBody>
      </p:sp>
      <p:grpSp>
        <p:nvGrpSpPr>
          <p:cNvPr id="13" name="Row 1"/>
          <p:cNvGrpSpPr/>
          <p:nvPr/>
        </p:nvGrpSpPr>
        <p:grpSpPr>
          <a:xfrm>
            <a:off x="762000" y="1968500"/>
            <a:ext cx="10668000" cy="857250"/>
            <a:chOff x="762000" y="1968500"/>
            <a:chExt cx="10668000" cy="857250"/>
          </a:xfrm>
        </p:grpSpPr>
        <p:sp>
          <p:nvSpPr>
            <p:cNvPr id="8" name="Shape 6"/>
            <p:cNvSpPr/>
            <p:nvPr/>
          </p:nvSpPr>
          <p:spPr>
            <a:xfrm>
              <a:off x="762000" y="1968500"/>
              <a:ext cx="4826000" cy="857250"/>
            </a:xfrm>
            <a:prstGeom prst="roundRect">
              <a:avLst>
                <a:gd name="adj" fmla="val 14814"/>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9" name="Shape 7" descr="icon-layers-1fc7a8.png"/>
            <p:cNvPicPr>
              <a:picLocks noChangeAspect="1"/>
            </p:cNvPicPr>
            <p:nvPr/>
          </p:nvPicPr>
          <p:blipFill>
            <a:blip r:embed="rId4"/>
            <a:stretch>
              <a:fillRect/>
            </a:stretch>
          </p:blipFill>
          <p:spPr>
            <a:xfrm>
              <a:off x="952500" y="2171700"/>
              <a:ext cx="457200" cy="457200"/>
            </a:xfrm>
            <a:prstGeom prst="rect">
              <a:avLst/>
            </a:prstGeom>
          </p:spPr>
        </p:pic>
        <p:sp>
          <p:nvSpPr>
            <p:cNvPr id="10" name="Shape 8"/>
            <p:cNvSpPr txBox="1"/>
            <p:nvPr/>
          </p:nvSpPr>
          <p:spPr>
            <a:xfrm>
              <a:off x="1587500" y="1968500"/>
              <a:ext cx="3873500" cy="857250"/>
            </a:xfrm>
            <a:prstGeom prst="rect">
              <a:avLst/>
            </a:prstGeom>
            <a:noFill/>
          </p:spPr>
          <p:txBody>
            <a:bodyPr wrap="square" lIns="0" tIns="0" rIns="0" bIns="0" anchor="ctr">
              <a:spAutoFit/>
            </a:bodyPr>
            <a:lstStyle/>
            <a:p>
              <a:pPr algn="l">
                <a:lnSpc>
                  <a:spcPct val="115000"/>
                </a:lnSpc>
              </a:pPr>
              <a:r>
                <a:rPr sz="1700" b="1">
                  <a:solidFill>
                    <a:srgbClr val="F2F5FB"/>
                  </a:solidFill>
                  <a:latin typeface="Segoe UI"/>
                </a:rPr>
                <a:t>Modular components</a:t>
              </a:r>
            </a:p>
          </p:txBody>
        </p:sp>
        <p:sp>
          <p:nvSpPr>
            <p:cNvPr id="11" name="Shape 9"/>
            <p:cNvSpPr/>
            <p:nvPr/>
          </p:nvSpPr>
          <p:spPr>
            <a:xfrm>
              <a:off x="6604000" y="1968500"/>
              <a:ext cx="4826000" cy="857250"/>
            </a:xfrm>
            <a:prstGeom prst="roundRect">
              <a:avLst>
                <a:gd name="adj" fmla="val 14814"/>
              </a:avLst>
            </a:prstGeom>
            <a:solidFill>
              <a:srgbClr val="1FC7A8">
                <a:alpha val="12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Shape 10"/>
            <p:cNvSpPr txBox="1"/>
            <p:nvPr/>
          </p:nvSpPr>
          <p:spPr>
            <a:xfrm>
              <a:off x="6858000" y="1968500"/>
              <a:ext cx="4445000" cy="857250"/>
            </a:xfrm>
            <a:prstGeom prst="rect">
              <a:avLst/>
            </a:prstGeom>
            <a:noFill/>
          </p:spPr>
          <p:txBody>
            <a:bodyPr wrap="square" lIns="0" tIns="0" rIns="0" bIns="0" anchor="ctr">
              <a:spAutoFit/>
            </a:bodyPr>
            <a:lstStyle/>
            <a:p>
              <a:pPr algn="l">
                <a:lnSpc>
                  <a:spcPct val="115000"/>
                </a:lnSpc>
              </a:pPr>
              <a:r>
                <a:rPr sz="1600" b="0">
                  <a:solidFill>
                    <a:srgbClr val="F2F5FB"/>
                  </a:solidFill>
                  <a:latin typeface="Segoe UI"/>
                </a:rPr>
                <a:t>Small, well bounded tasks</a:t>
              </a:r>
            </a:p>
          </p:txBody>
        </p:sp>
      </p:grpSp>
      <p:cxnSp>
        <p:nvCxnSpPr>
          <p:cNvPr id="14" name="Arrow 1"/>
          <p:cNvCxnSpPr/>
          <p:nvPr/>
        </p:nvCxnSpPr>
        <p:spPr>
          <a:xfrm>
            <a:off x="5715000" y="2400300"/>
            <a:ext cx="762000" cy="0"/>
          </a:xfrm>
          <a:prstGeom prst="line">
            <a:avLst/>
          </a:prstGeom>
          <a:ln w="3175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grpSp>
        <p:nvGrpSpPr>
          <p:cNvPr id="20" name="Row 2"/>
          <p:cNvGrpSpPr/>
          <p:nvPr/>
        </p:nvGrpSpPr>
        <p:grpSpPr>
          <a:xfrm>
            <a:off x="762000" y="3016250"/>
            <a:ext cx="10668000" cy="857250"/>
            <a:chOff x="762000" y="3016250"/>
            <a:chExt cx="10668000" cy="857250"/>
          </a:xfrm>
        </p:grpSpPr>
        <p:sp>
          <p:nvSpPr>
            <p:cNvPr id="15" name="Shape 13"/>
            <p:cNvSpPr/>
            <p:nvPr/>
          </p:nvSpPr>
          <p:spPr>
            <a:xfrm>
              <a:off x="762000" y="3016250"/>
              <a:ext cx="4826000" cy="857250"/>
            </a:xfrm>
            <a:prstGeom prst="roundRect">
              <a:avLst>
                <a:gd name="adj" fmla="val 14814"/>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16" name="Shape 14" descr="icon-link-1fc7a8.png"/>
            <p:cNvPicPr>
              <a:picLocks noChangeAspect="1"/>
            </p:cNvPicPr>
            <p:nvPr/>
          </p:nvPicPr>
          <p:blipFill>
            <a:blip r:embed="rId5"/>
            <a:stretch>
              <a:fillRect/>
            </a:stretch>
          </p:blipFill>
          <p:spPr>
            <a:xfrm>
              <a:off x="952500" y="3219450"/>
              <a:ext cx="457200" cy="457200"/>
            </a:xfrm>
            <a:prstGeom prst="rect">
              <a:avLst/>
            </a:prstGeom>
          </p:spPr>
        </p:pic>
        <p:sp>
          <p:nvSpPr>
            <p:cNvPr id="17" name="Shape 15"/>
            <p:cNvSpPr txBox="1"/>
            <p:nvPr/>
          </p:nvSpPr>
          <p:spPr>
            <a:xfrm>
              <a:off x="1587500" y="3016250"/>
              <a:ext cx="3873500" cy="857250"/>
            </a:xfrm>
            <a:prstGeom prst="rect">
              <a:avLst/>
            </a:prstGeom>
            <a:noFill/>
          </p:spPr>
          <p:txBody>
            <a:bodyPr wrap="square" lIns="0" tIns="0" rIns="0" bIns="0" anchor="ctr">
              <a:spAutoFit/>
            </a:bodyPr>
            <a:lstStyle/>
            <a:p>
              <a:pPr algn="l">
                <a:lnSpc>
                  <a:spcPct val="115000"/>
                </a:lnSpc>
              </a:pPr>
              <a:r>
                <a:rPr sz="1700" b="1">
                  <a:solidFill>
                    <a:srgbClr val="F2F5FB"/>
                  </a:solidFill>
                  <a:latin typeface="Segoe UI"/>
                </a:rPr>
                <a:t>Open APIs and data models</a:t>
              </a:r>
            </a:p>
          </p:txBody>
        </p:sp>
        <p:sp>
          <p:nvSpPr>
            <p:cNvPr id="18" name="Shape 16"/>
            <p:cNvSpPr/>
            <p:nvPr/>
          </p:nvSpPr>
          <p:spPr>
            <a:xfrm>
              <a:off x="6604000" y="3016250"/>
              <a:ext cx="4826000" cy="857250"/>
            </a:xfrm>
            <a:prstGeom prst="roundRect">
              <a:avLst>
                <a:gd name="adj" fmla="val 14814"/>
              </a:avLst>
            </a:prstGeom>
            <a:solidFill>
              <a:srgbClr val="1FC7A8">
                <a:alpha val="12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p:cNvSpPr txBox="1"/>
            <p:nvPr/>
          </p:nvSpPr>
          <p:spPr>
            <a:xfrm>
              <a:off x="6858000" y="3016250"/>
              <a:ext cx="4445000" cy="857250"/>
            </a:xfrm>
            <a:prstGeom prst="rect">
              <a:avLst/>
            </a:prstGeom>
            <a:noFill/>
          </p:spPr>
          <p:txBody>
            <a:bodyPr wrap="square" lIns="0" tIns="0" rIns="0" bIns="0" anchor="ctr">
              <a:spAutoFit/>
            </a:bodyPr>
            <a:lstStyle/>
            <a:p>
              <a:pPr algn="l">
                <a:lnSpc>
                  <a:spcPct val="115000"/>
                </a:lnSpc>
              </a:pPr>
              <a:r>
                <a:rPr sz="1600" b="0">
                  <a:solidFill>
                    <a:srgbClr val="F2F5FB"/>
                  </a:solidFill>
                  <a:latin typeface="Segoe UI"/>
                </a:rPr>
                <a:t>Clear contracts to code against</a:t>
              </a:r>
            </a:p>
          </p:txBody>
        </p:sp>
      </p:grpSp>
      <p:cxnSp>
        <p:nvCxnSpPr>
          <p:cNvPr id="21" name="Arrow 2"/>
          <p:cNvCxnSpPr/>
          <p:nvPr/>
        </p:nvCxnSpPr>
        <p:spPr>
          <a:xfrm>
            <a:off x="5715000" y="3448050"/>
            <a:ext cx="762000" cy="0"/>
          </a:xfrm>
          <a:prstGeom prst="line">
            <a:avLst/>
          </a:prstGeom>
          <a:ln w="3175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grpSp>
        <p:nvGrpSpPr>
          <p:cNvPr id="27" name="Row 3"/>
          <p:cNvGrpSpPr/>
          <p:nvPr/>
        </p:nvGrpSpPr>
        <p:grpSpPr>
          <a:xfrm>
            <a:off x="762000" y="4064000"/>
            <a:ext cx="10668000" cy="857250"/>
            <a:chOff x="762000" y="4064000"/>
            <a:chExt cx="10668000" cy="857250"/>
          </a:xfrm>
        </p:grpSpPr>
        <p:sp>
          <p:nvSpPr>
            <p:cNvPr id="22" name="Shape 20"/>
            <p:cNvSpPr/>
            <p:nvPr/>
          </p:nvSpPr>
          <p:spPr>
            <a:xfrm>
              <a:off x="762000" y="4064000"/>
              <a:ext cx="4826000" cy="857250"/>
            </a:xfrm>
            <a:prstGeom prst="roundRect">
              <a:avLst>
                <a:gd name="adj" fmla="val 14814"/>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23" name="Shape 21" descr="icon-doc-1fc7a8.png"/>
            <p:cNvPicPr>
              <a:picLocks noChangeAspect="1"/>
            </p:cNvPicPr>
            <p:nvPr/>
          </p:nvPicPr>
          <p:blipFill>
            <a:blip r:embed="rId6"/>
            <a:stretch>
              <a:fillRect/>
            </a:stretch>
          </p:blipFill>
          <p:spPr>
            <a:xfrm>
              <a:off x="952500" y="4267200"/>
              <a:ext cx="457200" cy="457200"/>
            </a:xfrm>
            <a:prstGeom prst="rect">
              <a:avLst/>
            </a:prstGeom>
          </p:spPr>
        </p:pic>
        <p:sp>
          <p:nvSpPr>
            <p:cNvPr id="24" name="Shape 22"/>
            <p:cNvSpPr txBox="1"/>
            <p:nvPr/>
          </p:nvSpPr>
          <p:spPr>
            <a:xfrm>
              <a:off x="1587500" y="4064000"/>
              <a:ext cx="3873500" cy="857250"/>
            </a:xfrm>
            <a:prstGeom prst="rect">
              <a:avLst/>
            </a:prstGeom>
            <a:noFill/>
          </p:spPr>
          <p:txBody>
            <a:bodyPr wrap="square" lIns="0" tIns="0" rIns="0" bIns="0" anchor="ctr">
              <a:spAutoFit/>
            </a:bodyPr>
            <a:lstStyle/>
            <a:p>
              <a:pPr algn="l">
                <a:lnSpc>
                  <a:spcPct val="115000"/>
                </a:lnSpc>
              </a:pPr>
              <a:r>
                <a:rPr sz="1700" b="1">
                  <a:solidFill>
                    <a:srgbClr val="F2F5FB"/>
                  </a:solidFill>
                  <a:latin typeface="Segoe UI"/>
                </a:rPr>
                <a:t>Component specification</a:t>
              </a:r>
            </a:p>
          </p:txBody>
        </p:sp>
        <p:sp>
          <p:nvSpPr>
            <p:cNvPr id="25" name="Shape 23"/>
            <p:cNvSpPr/>
            <p:nvPr/>
          </p:nvSpPr>
          <p:spPr>
            <a:xfrm>
              <a:off x="6604000" y="4064000"/>
              <a:ext cx="4826000" cy="857250"/>
            </a:xfrm>
            <a:prstGeom prst="roundRect">
              <a:avLst>
                <a:gd name="adj" fmla="val 14814"/>
              </a:avLst>
            </a:prstGeom>
            <a:solidFill>
              <a:srgbClr val="1FC7A8">
                <a:alpha val="12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6" name="Shape 24"/>
            <p:cNvSpPr txBox="1"/>
            <p:nvPr/>
          </p:nvSpPr>
          <p:spPr>
            <a:xfrm>
              <a:off x="6858000" y="4064000"/>
              <a:ext cx="4445000" cy="857250"/>
            </a:xfrm>
            <a:prstGeom prst="rect">
              <a:avLst/>
            </a:prstGeom>
            <a:noFill/>
          </p:spPr>
          <p:txBody>
            <a:bodyPr wrap="square" lIns="0" tIns="0" rIns="0" bIns="0" anchor="ctr">
              <a:spAutoFit/>
            </a:bodyPr>
            <a:lstStyle/>
            <a:p>
              <a:pPr algn="l">
                <a:lnSpc>
                  <a:spcPct val="115000"/>
                </a:lnSpc>
              </a:pPr>
              <a:r>
                <a:rPr sz="1600" b="0">
                  <a:solidFill>
                    <a:srgbClr val="F2F5FB"/>
                  </a:solidFill>
                  <a:latin typeface="Segoe UI"/>
                </a:rPr>
                <a:t>Declarative, so results can be checked</a:t>
              </a:r>
            </a:p>
          </p:txBody>
        </p:sp>
      </p:grpSp>
      <p:cxnSp>
        <p:nvCxnSpPr>
          <p:cNvPr id="28" name="Arrow 3"/>
          <p:cNvCxnSpPr/>
          <p:nvPr/>
        </p:nvCxnSpPr>
        <p:spPr>
          <a:xfrm>
            <a:off x="5715000" y="4495800"/>
            <a:ext cx="762000" cy="0"/>
          </a:xfrm>
          <a:prstGeom prst="line">
            <a:avLst/>
          </a:prstGeom>
          <a:ln w="3175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grpSp>
        <p:nvGrpSpPr>
          <p:cNvPr id="34" name="Row 4"/>
          <p:cNvGrpSpPr/>
          <p:nvPr/>
        </p:nvGrpSpPr>
        <p:grpSpPr>
          <a:xfrm>
            <a:off x="762000" y="5111750"/>
            <a:ext cx="10668000" cy="857250"/>
            <a:chOff x="762000" y="5111750"/>
            <a:chExt cx="10668000" cy="857250"/>
          </a:xfrm>
        </p:grpSpPr>
        <p:sp>
          <p:nvSpPr>
            <p:cNvPr id="29" name="Shape 27"/>
            <p:cNvSpPr/>
            <p:nvPr/>
          </p:nvSpPr>
          <p:spPr>
            <a:xfrm>
              <a:off x="762000" y="5111750"/>
              <a:ext cx="4826000" cy="857250"/>
            </a:xfrm>
            <a:prstGeom prst="roundRect">
              <a:avLst>
                <a:gd name="adj" fmla="val 14814"/>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pic>
          <p:nvPicPr>
            <p:cNvPr id="30" name="Shape 28" descr="icon-check-1fc7a8.png"/>
            <p:cNvPicPr>
              <a:picLocks noChangeAspect="1"/>
            </p:cNvPicPr>
            <p:nvPr/>
          </p:nvPicPr>
          <p:blipFill>
            <a:blip r:embed="rId7"/>
            <a:stretch>
              <a:fillRect/>
            </a:stretch>
          </p:blipFill>
          <p:spPr>
            <a:xfrm>
              <a:off x="952500" y="5314950"/>
              <a:ext cx="457200" cy="457200"/>
            </a:xfrm>
            <a:prstGeom prst="rect">
              <a:avLst/>
            </a:prstGeom>
          </p:spPr>
        </p:pic>
        <p:sp>
          <p:nvSpPr>
            <p:cNvPr id="31" name="Shape 29"/>
            <p:cNvSpPr txBox="1"/>
            <p:nvPr/>
          </p:nvSpPr>
          <p:spPr>
            <a:xfrm>
              <a:off x="1587500" y="5111750"/>
              <a:ext cx="3873500" cy="857250"/>
            </a:xfrm>
            <a:prstGeom prst="rect">
              <a:avLst/>
            </a:prstGeom>
            <a:noFill/>
          </p:spPr>
          <p:txBody>
            <a:bodyPr wrap="square" lIns="0" tIns="0" rIns="0" bIns="0" anchor="ctr">
              <a:spAutoFit/>
            </a:bodyPr>
            <a:lstStyle/>
            <a:p>
              <a:pPr algn="l">
                <a:lnSpc>
                  <a:spcPct val="115000"/>
                </a:lnSpc>
              </a:pPr>
              <a:r>
                <a:rPr sz="1700" b="1">
                  <a:solidFill>
                    <a:srgbClr val="F2F5FB"/>
                  </a:solidFill>
                  <a:latin typeface="Segoe UI"/>
                </a:rPr>
                <a:t>Use cases and BDD tests</a:t>
              </a:r>
            </a:p>
          </p:txBody>
        </p:sp>
        <p:sp>
          <p:nvSpPr>
            <p:cNvPr id="32" name="Shape 30"/>
            <p:cNvSpPr/>
            <p:nvPr/>
          </p:nvSpPr>
          <p:spPr>
            <a:xfrm>
              <a:off x="6604000" y="5111750"/>
              <a:ext cx="4826000" cy="857250"/>
            </a:xfrm>
            <a:prstGeom prst="roundRect">
              <a:avLst>
                <a:gd name="adj" fmla="val 14814"/>
              </a:avLst>
            </a:prstGeom>
            <a:solidFill>
              <a:srgbClr val="1FC7A8">
                <a:alpha val="12000"/>
              </a:srgbClr>
            </a:solidFill>
            <a:ln w="1270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Shape 31"/>
            <p:cNvSpPr txBox="1"/>
            <p:nvPr/>
          </p:nvSpPr>
          <p:spPr>
            <a:xfrm>
              <a:off x="6858000" y="5111750"/>
              <a:ext cx="4445000" cy="857250"/>
            </a:xfrm>
            <a:prstGeom prst="rect">
              <a:avLst/>
            </a:prstGeom>
            <a:noFill/>
          </p:spPr>
          <p:txBody>
            <a:bodyPr wrap="square" lIns="0" tIns="0" rIns="0" bIns="0" anchor="ctr">
              <a:spAutoFit/>
            </a:bodyPr>
            <a:lstStyle/>
            <a:p>
              <a:pPr algn="l">
                <a:lnSpc>
                  <a:spcPct val="115000"/>
                </a:lnSpc>
              </a:pPr>
              <a:r>
                <a:rPr sz="1600" b="0">
                  <a:solidFill>
                    <a:srgbClr val="F2F5FB"/>
                  </a:solidFill>
                  <a:latin typeface="Segoe UI"/>
                </a:rPr>
                <a:t>The agent verifies its own work</a:t>
              </a:r>
            </a:p>
          </p:txBody>
        </p:sp>
      </p:grpSp>
      <p:cxnSp>
        <p:nvCxnSpPr>
          <p:cNvPr id="35" name="Arrow 4"/>
          <p:cNvCxnSpPr/>
          <p:nvPr/>
        </p:nvCxnSpPr>
        <p:spPr>
          <a:xfrm>
            <a:off x="5715000" y="5543550"/>
            <a:ext cx="762000" cy="0"/>
          </a:xfrm>
          <a:prstGeom prst="line">
            <a:avLst/>
          </a:prstGeom>
          <a:ln w="31750">
            <a:solidFill>
              <a:srgbClr val="1FC7A8"/>
            </a:solidFill>
            <a:tailEnd type="triangle" w="med"/>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24700"/>
    </mc:Choice>
    <mc:Fallback>
      <p:transition spd="slow" advTm="24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grpId="0" nodeType="withEffect">
                                  <p:stCondLst>
                                    <p:cond delay="6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grpId="0" nodeType="withEffect">
                                  <p:stCondLst>
                                    <p:cond delay="6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2" presetClass="entr" presetSubtype="4" fill="hold" nodeType="withEffect">
                                  <p:stCondLst>
                                    <p:cond delay="440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600" fill="hold"/>
                                        <p:tgtEl>
                                          <p:spTgt spid="13"/>
                                        </p:tgtEl>
                                        <p:attrNameLst>
                                          <p:attrName>ppt_x</p:attrName>
                                        </p:attrNameLst>
                                      </p:cBhvr>
                                      <p:tavLst>
                                        <p:tav tm="0">
                                          <p:val>
                                            <p:strVal val="#ppt_x"/>
                                          </p:val>
                                        </p:tav>
                                        <p:tav tm="100000">
                                          <p:val>
                                            <p:strVal val="#ppt_x"/>
                                          </p:val>
                                        </p:tav>
                                      </p:tavLst>
                                    </p:anim>
                                    <p:anim calcmode="lin" valueType="num">
                                      <p:cBhvr additive="base">
                                        <p:cTn id="20" dur="600" fill="hold"/>
                                        <p:tgtEl>
                                          <p:spTgt spid="13"/>
                                        </p:tgtEl>
                                        <p:attrNameLst>
                                          <p:attrName>ppt_y</p:attrName>
                                        </p:attrNameLst>
                                      </p:cBhvr>
                                      <p:tavLst>
                                        <p:tav tm="0">
                                          <p:val>
                                            <p:strVal val="1+#ppt_h/2"/>
                                          </p:val>
                                        </p:tav>
                                        <p:tav tm="100000">
                                          <p:val>
                                            <p:strVal val="#ppt_y"/>
                                          </p:val>
                                        </p:tav>
                                      </p:tavLst>
                                    </p:anim>
                                  </p:childTnLst>
                                </p:cTn>
                              </p:par>
                              <p:par>
                                <p:cTn id="21" presetID="10" presetClass="entr" presetSubtype="0" fill="hold" nodeType="withEffect">
                                  <p:stCondLst>
                                    <p:cond delay="500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600"/>
                                        <p:tgtEl>
                                          <p:spTgt spid="14"/>
                                        </p:tgtEl>
                                      </p:cBhvr>
                                    </p:animEffect>
                                  </p:childTnLst>
                                </p:cTn>
                              </p:par>
                              <p:par>
                                <p:cTn id="24" presetID="2" presetClass="entr" presetSubtype="4" fill="hold" nodeType="withEffect">
                                  <p:stCondLst>
                                    <p:cond delay="800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600" fill="hold"/>
                                        <p:tgtEl>
                                          <p:spTgt spid="20"/>
                                        </p:tgtEl>
                                        <p:attrNameLst>
                                          <p:attrName>ppt_x</p:attrName>
                                        </p:attrNameLst>
                                      </p:cBhvr>
                                      <p:tavLst>
                                        <p:tav tm="0">
                                          <p:val>
                                            <p:strVal val="#ppt_x"/>
                                          </p:val>
                                        </p:tav>
                                        <p:tav tm="100000">
                                          <p:val>
                                            <p:strVal val="#ppt_x"/>
                                          </p:val>
                                        </p:tav>
                                      </p:tavLst>
                                    </p:anim>
                                    <p:anim calcmode="lin" valueType="num">
                                      <p:cBhvr additive="base">
                                        <p:cTn id="27" dur="600" fill="hold"/>
                                        <p:tgtEl>
                                          <p:spTgt spid="20"/>
                                        </p:tgtEl>
                                        <p:attrNameLst>
                                          <p:attrName>ppt_y</p:attrName>
                                        </p:attrNameLst>
                                      </p:cBhvr>
                                      <p:tavLst>
                                        <p:tav tm="0">
                                          <p:val>
                                            <p:strVal val="1+#ppt_h/2"/>
                                          </p:val>
                                        </p:tav>
                                        <p:tav tm="100000">
                                          <p:val>
                                            <p:strVal val="#ppt_y"/>
                                          </p:val>
                                        </p:tav>
                                      </p:tavLst>
                                    </p:anim>
                                  </p:childTnLst>
                                </p:cTn>
                              </p:par>
                              <p:par>
                                <p:cTn id="28" presetID="10" presetClass="entr" presetSubtype="0" fill="hold" nodeType="withEffect">
                                  <p:stCondLst>
                                    <p:cond delay="86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600"/>
                                        <p:tgtEl>
                                          <p:spTgt spid="21"/>
                                        </p:tgtEl>
                                      </p:cBhvr>
                                    </p:animEffect>
                                  </p:childTnLst>
                                </p:cTn>
                              </p:par>
                              <p:par>
                                <p:cTn id="31" presetID="2" presetClass="entr" presetSubtype="4" fill="hold" nodeType="withEffect">
                                  <p:stCondLst>
                                    <p:cond delay="13200"/>
                                  </p:stCondLst>
                                  <p:childTnLst>
                                    <p:set>
                                      <p:cBhvr>
                                        <p:cTn id="32" dur="1" fill="hold">
                                          <p:stCondLst>
                                            <p:cond delay="0"/>
                                          </p:stCondLst>
                                        </p:cTn>
                                        <p:tgtEl>
                                          <p:spTgt spid="27"/>
                                        </p:tgtEl>
                                        <p:attrNameLst>
                                          <p:attrName>style.visibility</p:attrName>
                                        </p:attrNameLst>
                                      </p:cBhvr>
                                      <p:to>
                                        <p:strVal val="visible"/>
                                      </p:to>
                                    </p:set>
                                    <p:anim calcmode="lin" valueType="num">
                                      <p:cBhvr additive="base">
                                        <p:cTn id="33" dur="600" fill="hold"/>
                                        <p:tgtEl>
                                          <p:spTgt spid="27"/>
                                        </p:tgtEl>
                                        <p:attrNameLst>
                                          <p:attrName>ppt_x</p:attrName>
                                        </p:attrNameLst>
                                      </p:cBhvr>
                                      <p:tavLst>
                                        <p:tav tm="0">
                                          <p:val>
                                            <p:strVal val="#ppt_x"/>
                                          </p:val>
                                        </p:tav>
                                        <p:tav tm="100000">
                                          <p:val>
                                            <p:strVal val="#ppt_x"/>
                                          </p:val>
                                        </p:tav>
                                      </p:tavLst>
                                    </p:anim>
                                    <p:anim calcmode="lin" valueType="num">
                                      <p:cBhvr additive="base">
                                        <p:cTn id="34" dur="600" fill="hold"/>
                                        <p:tgtEl>
                                          <p:spTgt spid="27"/>
                                        </p:tgtEl>
                                        <p:attrNameLst>
                                          <p:attrName>ppt_y</p:attrName>
                                        </p:attrNameLst>
                                      </p:cBhvr>
                                      <p:tavLst>
                                        <p:tav tm="0">
                                          <p:val>
                                            <p:strVal val="1+#ppt_h/2"/>
                                          </p:val>
                                        </p:tav>
                                        <p:tav tm="100000">
                                          <p:val>
                                            <p:strVal val="#ppt_y"/>
                                          </p:val>
                                        </p:tav>
                                      </p:tavLst>
                                    </p:anim>
                                  </p:childTnLst>
                                </p:cTn>
                              </p:par>
                              <p:par>
                                <p:cTn id="35" presetID="10" presetClass="entr" presetSubtype="0" fill="hold" nodeType="withEffect">
                                  <p:stCondLst>
                                    <p:cond delay="1380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600"/>
                                        <p:tgtEl>
                                          <p:spTgt spid="28"/>
                                        </p:tgtEl>
                                      </p:cBhvr>
                                    </p:animEffect>
                                  </p:childTnLst>
                                </p:cTn>
                              </p:par>
                              <p:par>
                                <p:cTn id="38" presetID="2" presetClass="entr" presetSubtype="4" fill="hold" nodeType="withEffect">
                                  <p:stCondLst>
                                    <p:cond delay="17600"/>
                                  </p:stCondLst>
                                  <p:childTnLst>
                                    <p:set>
                                      <p:cBhvr>
                                        <p:cTn id="39" dur="1" fill="hold">
                                          <p:stCondLst>
                                            <p:cond delay="0"/>
                                          </p:stCondLst>
                                        </p:cTn>
                                        <p:tgtEl>
                                          <p:spTgt spid="34"/>
                                        </p:tgtEl>
                                        <p:attrNameLst>
                                          <p:attrName>style.visibility</p:attrName>
                                        </p:attrNameLst>
                                      </p:cBhvr>
                                      <p:to>
                                        <p:strVal val="visible"/>
                                      </p:to>
                                    </p:set>
                                    <p:anim calcmode="lin" valueType="num">
                                      <p:cBhvr additive="base">
                                        <p:cTn id="40" dur="600" fill="hold"/>
                                        <p:tgtEl>
                                          <p:spTgt spid="34"/>
                                        </p:tgtEl>
                                        <p:attrNameLst>
                                          <p:attrName>ppt_x</p:attrName>
                                        </p:attrNameLst>
                                      </p:cBhvr>
                                      <p:tavLst>
                                        <p:tav tm="0">
                                          <p:val>
                                            <p:strVal val="#ppt_x"/>
                                          </p:val>
                                        </p:tav>
                                        <p:tav tm="100000">
                                          <p:val>
                                            <p:strVal val="#ppt_x"/>
                                          </p:val>
                                        </p:tav>
                                      </p:tavLst>
                                    </p:anim>
                                    <p:anim calcmode="lin" valueType="num">
                                      <p:cBhvr additive="base">
                                        <p:cTn id="41" dur="600" fill="hold"/>
                                        <p:tgtEl>
                                          <p:spTgt spid="34"/>
                                        </p:tgtEl>
                                        <p:attrNameLst>
                                          <p:attrName>ppt_y</p:attrName>
                                        </p:attrNameLst>
                                      </p:cBhvr>
                                      <p:tavLst>
                                        <p:tav tm="0">
                                          <p:val>
                                            <p:strVal val="1+#ppt_h/2"/>
                                          </p:val>
                                        </p:tav>
                                        <p:tav tm="100000">
                                          <p:val>
                                            <p:strVal val="#ppt_y"/>
                                          </p:val>
                                        </p:tav>
                                      </p:tavLst>
                                    </p:anim>
                                  </p:childTnLst>
                                </p:cTn>
                              </p:par>
                              <p:par>
                                <p:cTn id="42" presetID="10" presetClass="entr" presetSubtype="0" fill="hold" nodeType="withEffect">
                                  <p:stCondLst>
                                    <p:cond delay="1820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AGENTS.md in the oda-canvas repository</a:t>
            </a:r>
          </a:p>
        </p:txBody>
      </p:sp>
      <p:pic>
        <p:nvPicPr>
          <p:cNvPr id="3" name="Clip 2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700"/>
    </mc:Choice>
    <mc:Fallback>
      <p:transition spd="slow" advTm="28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6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Agent skills: knowledge as a reusable asset</a:t>
            </a:r>
          </a:p>
        </p:txBody>
      </p:sp>
      <p:pic>
        <p:nvPicPr>
          <p:cNvPr id="3" name="Clip 2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100"/>
    </mc:Choice>
    <mc:Fallback>
      <p:transition spd="slow" advTm="33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648895" y="0"/>
            <a:ext cx="5486400" cy="914400"/>
          </a:xfrm>
        </p:spPr>
        <p:txBody>
          <a:bodyPr/>
          <a:lstStyle/>
          <a:p>
            <a:r>
              <a:t>Live: the create-oda-operator skill</a:t>
            </a:r>
          </a:p>
        </p:txBody>
      </p:sp>
      <p:pic>
        <p:nvPicPr>
          <p:cNvPr id="3" name="Clip 2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695" cy="6858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7500"/>
    </mc:Choice>
    <mc:Fallback>
      <p:transition spd="slow" advTm="27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ai.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What's available today</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STATUS</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What's available today</a:t>
            </a:r>
          </a:p>
        </p:txBody>
      </p:sp>
      <p:grpSp>
        <p:nvGrpSpPr>
          <p:cNvPr id="10" name="Status 1"/>
          <p:cNvGrpSpPr/>
          <p:nvPr/>
        </p:nvGrpSpPr>
        <p:grpSpPr>
          <a:xfrm>
            <a:off x="762000" y="1651000"/>
            <a:ext cx="10668000" cy="520700"/>
            <a:chOff x="762000" y="1651000"/>
            <a:chExt cx="10668000" cy="520700"/>
          </a:xfrm>
        </p:grpSpPr>
        <p:sp>
          <p:nvSpPr>
            <p:cNvPr id="6" name="Shape 4"/>
            <p:cNvSpPr/>
            <p:nvPr/>
          </p:nvSpPr>
          <p:spPr>
            <a:xfrm>
              <a:off x="762000" y="16510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p:cNvSpPr/>
            <p:nvPr/>
          </p:nvSpPr>
          <p:spPr>
            <a:xfrm>
              <a:off x="762000" y="1651000"/>
              <a:ext cx="63500" cy="5207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8" name="Shape 6"/>
            <p:cNvSpPr txBox="1"/>
            <p:nvPr/>
          </p:nvSpPr>
          <p:spPr>
            <a:xfrm>
              <a:off x="1016000" y="16510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MCP as an exposed API type</a:t>
              </a:r>
            </a:p>
          </p:txBody>
        </p:sp>
        <p:sp>
          <p:nvSpPr>
            <p:cNvPr id="9" name="Shape 7"/>
            <p:cNvSpPr/>
            <p:nvPr/>
          </p:nvSpPr>
          <p:spPr>
            <a:xfrm>
              <a:off x="9652000" y="1765300"/>
              <a:ext cx="1587500" cy="266700"/>
            </a:xfrm>
            <a:prstGeom prst="roundRect">
              <a:avLst>
                <a:gd name="adj" fmla="val 50000"/>
              </a:avLst>
            </a:prstGeom>
            <a:solidFill>
              <a:srgbClr val="22C55E">
                <a:alpha val="15000"/>
              </a:srgbClr>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Available</a:t>
              </a:r>
            </a:p>
          </p:txBody>
        </p:sp>
      </p:grpSp>
      <p:grpSp>
        <p:nvGrpSpPr>
          <p:cNvPr id="15" name="Status 2"/>
          <p:cNvGrpSpPr/>
          <p:nvPr/>
        </p:nvGrpSpPr>
        <p:grpSpPr>
          <a:xfrm>
            <a:off x="762000" y="2273300"/>
            <a:ext cx="10668000" cy="520700"/>
            <a:chOff x="762000" y="2273300"/>
            <a:chExt cx="10668000" cy="520700"/>
          </a:xfrm>
        </p:grpSpPr>
        <p:sp>
          <p:nvSpPr>
            <p:cNvPr id="11" name="Shape 9"/>
            <p:cNvSpPr/>
            <p:nvPr/>
          </p:nvSpPr>
          <p:spPr>
            <a:xfrm>
              <a:off x="762000" y="22733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2" name="Shape 10"/>
            <p:cNvSpPr/>
            <p:nvPr/>
          </p:nvSpPr>
          <p:spPr>
            <a:xfrm>
              <a:off x="762000" y="2273300"/>
              <a:ext cx="63500" cy="5207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3" name="Shape 11"/>
            <p:cNvSpPr txBox="1"/>
            <p:nvPr/>
          </p:nvSpPr>
          <p:spPr>
            <a:xfrm>
              <a:off x="1016000" y="22733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Resource inventory MCP server, with Helm tools</a:t>
              </a:r>
            </a:p>
          </p:txBody>
        </p:sp>
        <p:sp>
          <p:nvSpPr>
            <p:cNvPr id="14" name="Shape 12"/>
            <p:cNvSpPr/>
            <p:nvPr/>
          </p:nvSpPr>
          <p:spPr>
            <a:xfrm>
              <a:off x="9652000" y="2387600"/>
              <a:ext cx="1587500" cy="266700"/>
            </a:xfrm>
            <a:prstGeom prst="roundRect">
              <a:avLst>
                <a:gd name="adj" fmla="val 50000"/>
              </a:avLst>
            </a:prstGeom>
            <a:solidFill>
              <a:srgbClr val="22C55E">
                <a:alpha val="15000"/>
              </a:srgbClr>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Available</a:t>
              </a:r>
            </a:p>
          </p:txBody>
        </p:sp>
      </p:grpSp>
      <p:grpSp>
        <p:nvGrpSpPr>
          <p:cNvPr id="20" name="Status 3"/>
          <p:cNvGrpSpPr/>
          <p:nvPr/>
        </p:nvGrpSpPr>
        <p:grpSpPr>
          <a:xfrm>
            <a:off x="762000" y="2895600"/>
            <a:ext cx="10668000" cy="520700"/>
            <a:chOff x="762000" y="2895600"/>
            <a:chExt cx="10668000" cy="520700"/>
          </a:xfrm>
        </p:grpSpPr>
        <p:sp>
          <p:nvSpPr>
            <p:cNvPr id="16" name="Shape 14"/>
            <p:cNvSpPr/>
            <p:nvPr/>
          </p:nvSpPr>
          <p:spPr>
            <a:xfrm>
              <a:off x="762000" y="28956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7" name="Shape 15"/>
            <p:cNvSpPr/>
            <p:nvPr/>
          </p:nvSpPr>
          <p:spPr>
            <a:xfrm>
              <a:off x="762000" y="2895600"/>
              <a:ext cx="63500" cy="5207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8" name="Shape 16"/>
            <p:cNvSpPr txBox="1"/>
            <p:nvPr/>
          </p:nvSpPr>
          <p:spPr>
            <a:xfrm>
              <a:off x="1016000" y="28956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Model-as-a-Service operator and model gateway</a:t>
              </a:r>
            </a:p>
          </p:txBody>
        </p:sp>
        <p:sp>
          <p:nvSpPr>
            <p:cNvPr id="19" name="Shape 17"/>
            <p:cNvSpPr/>
            <p:nvPr/>
          </p:nvSpPr>
          <p:spPr>
            <a:xfrm>
              <a:off x="9652000" y="3009900"/>
              <a:ext cx="158750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Experimental</a:t>
              </a:r>
            </a:p>
          </p:txBody>
        </p:sp>
      </p:grpSp>
      <p:grpSp>
        <p:nvGrpSpPr>
          <p:cNvPr id="25" name="Status 4"/>
          <p:cNvGrpSpPr/>
          <p:nvPr/>
        </p:nvGrpSpPr>
        <p:grpSpPr>
          <a:xfrm>
            <a:off x="762000" y="3517900"/>
            <a:ext cx="10668000" cy="520700"/>
            <a:chOff x="762000" y="3517900"/>
            <a:chExt cx="10668000" cy="520700"/>
          </a:xfrm>
        </p:grpSpPr>
        <p:sp>
          <p:nvSpPr>
            <p:cNvPr id="21" name="Shape 19"/>
            <p:cNvSpPr/>
            <p:nvPr/>
          </p:nvSpPr>
          <p:spPr>
            <a:xfrm>
              <a:off x="762000" y="35179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2" name="Shape 20"/>
            <p:cNvSpPr/>
            <p:nvPr/>
          </p:nvSpPr>
          <p:spPr>
            <a:xfrm>
              <a:off x="762000" y="3517900"/>
              <a:ext cx="63500" cy="5207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3" name="Shape 21"/>
            <p:cNvSpPr txBox="1"/>
            <p:nvPr/>
          </p:nvSpPr>
          <p:spPr>
            <a:xfrm>
              <a:off x="1016000" y="35179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Data product operator</a:t>
              </a:r>
            </a:p>
          </p:txBody>
        </p:sp>
        <p:sp>
          <p:nvSpPr>
            <p:cNvPr id="24" name="Shape 22"/>
            <p:cNvSpPr/>
            <p:nvPr/>
          </p:nvSpPr>
          <p:spPr>
            <a:xfrm>
              <a:off x="9652000" y="3632200"/>
              <a:ext cx="158750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Experimental</a:t>
              </a:r>
            </a:p>
          </p:txBody>
        </p:sp>
      </p:grpSp>
      <p:grpSp>
        <p:nvGrpSpPr>
          <p:cNvPr id="30" name="Status 5"/>
          <p:cNvGrpSpPr/>
          <p:nvPr/>
        </p:nvGrpSpPr>
        <p:grpSpPr>
          <a:xfrm>
            <a:off x="762000" y="4140200"/>
            <a:ext cx="10668000" cy="520700"/>
            <a:chOff x="762000" y="4140200"/>
            <a:chExt cx="10668000" cy="520700"/>
          </a:xfrm>
        </p:grpSpPr>
        <p:sp>
          <p:nvSpPr>
            <p:cNvPr id="26" name="Shape 24"/>
            <p:cNvSpPr/>
            <p:nvPr/>
          </p:nvSpPr>
          <p:spPr>
            <a:xfrm>
              <a:off x="762000" y="41402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7" name="Shape 25"/>
            <p:cNvSpPr/>
            <p:nvPr/>
          </p:nvSpPr>
          <p:spPr>
            <a:xfrm>
              <a:off x="762000" y="4140200"/>
              <a:ext cx="63500" cy="520700"/>
            </a:xfrm>
            <a:prstGeom prst="rect">
              <a:avLst/>
            </a:prstGeom>
            <a:solidFill>
              <a:srgbClr val="F472B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28" name="Shape 26"/>
            <p:cNvSpPr txBox="1"/>
            <p:nvPr/>
          </p:nvSpPr>
          <p:spPr>
            <a:xfrm>
              <a:off x="1016000" y="41402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DependentAIModel resource · joins the Component spec later</a:t>
              </a:r>
            </a:p>
          </p:txBody>
        </p:sp>
        <p:sp>
          <p:nvSpPr>
            <p:cNvPr id="29" name="Shape 27"/>
            <p:cNvSpPr/>
            <p:nvPr/>
          </p:nvSpPr>
          <p:spPr>
            <a:xfrm>
              <a:off x="9652000" y="4254500"/>
              <a:ext cx="1587500" cy="266700"/>
            </a:xfrm>
            <a:prstGeom prst="roundRect">
              <a:avLst>
                <a:gd name="adj" fmla="val 50000"/>
              </a:avLst>
            </a:prstGeom>
            <a:solidFill>
              <a:srgbClr val="F472B6">
                <a:alpha val="15000"/>
              </a:srgbClr>
            </a:solidFill>
            <a:ln w="12700">
              <a:solidFill>
                <a:srgbClr val="F472B6"/>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Experimental</a:t>
              </a:r>
            </a:p>
          </p:txBody>
        </p:sp>
      </p:grpSp>
      <p:grpSp>
        <p:nvGrpSpPr>
          <p:cNvPr id="35" name="Status 6"/>
          <p:cNvGrpSpPr/>
          <p:nvPr/>
        </p:nvGrpSpPr>
        <p:grpSpPr>
          <a:xfrm>
            <a:off x="762000" y="4762500"/>
            <a:ext cx="10668000" cy="520700"/>
            <a:chOff x="762000" y="4762500"/>
            <a:chExt cx="10668000" cy="520700"/>
          </a:xfrm>
        </p:grpSpPr>
        <p:sp>
          <p:nvSpPr>
            <p:cNvPr id="31" name="Shape 29"/>
            <p:cNvSpPr/>
            <p:nvPr/>
          </p:nvSpPr>
          <p:spPr>
            <a:xfrm>
              <a:off x="762000" y="47625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2" name="Shape 30"/>
            <p:cNvSpPr/>
            <p:nvPr/>
          </p:nvSpPr>
          <p:spPr>
            <a:xfrm>
              <a:off x="762000" y="4762500"/>
              <a:ext cx="63500" cy="520700"/>
            </a:xfrm>
            <a:prstGeom prst="rect">
              <a:avLst/>
            </a:prstGeom>
            <a:solidFill>
              <a:srgbClr val="8F9BB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3" name="Shape 31"/>
            <p:cNvSpPr txBox="1"/>
            <p:nvPr/>
          </p:nvSpPr>
          <p:spPr>
            <a:xfrm>
              <a:off x="1016000" y="47625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Model manager for classical ML</a:t>
              </a:r>
            </a:p>
          </p:txBody>
        </p:sp>
        <p:sp>
          <p:nvSpPr>
            <p:cNvPr id="34" name="Shape 32"/>
            <p:cNvSpPr/>
            <p:nvPr/>
          </p:nvSpPr>
          <p:spPr>
            <a:xfrm>
              <a:off x="9652000" y="4876800"/>
              <a:ext cx="1587500" cy="266700"/>
            </a:xfrm>
            <a:prstGeom prst="roundRect">
              <a:avLst>
                <a:gd name="adj" fmla="val 50000"/>
              </a:avLst>
            </a:prstGeom>
            <a:solidFill>
              <a:srgbClr val="8F9BB8">
                <a:alpha val="15000"/>
              </a:srgbClr>
            </a:solidFill>
            <a:ln w="12700">
              <a:solidFill>
                <a:srgbClr val="8F9BB8"/>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Proposal</a:t>
              </a:r>
            </a:p>
          </p:txBody>
        </p:sp>
      </p:grpSp>
      <p:grpSp>
        <p:nvGrpSpPr>
          <p:cNvPr id="40" name="Status 7"/>
          <p:cNvGrpSpPr/>
          <p:nvPr/>
        </p:nvGrpSpPr>
        <p:grpSpPr>
          <a:xfrm>
            <a:off x="762000" y="5384800"/>
            <a:ext cx="10668000" cy="520700"/>
            <a:chOff x="762000" y="5384800"/>
            <a:chExt cx="10668000" cy="520700"/>
          </a:xfrm>
        </p:grpSpPr>
        <p:sp>
          <p:nvSpPr>
            <p:cNvPr id="36" name="Shape 34"/>
            <p:cNvSpPr/>
            <p:nvPr/>
          </p:nvSpPr>
          <p:spPr>
            <a:xfrm>
              <a:off x="762000" y="5384800"/>
              <a:ext cx="10668000" cy="520700"/>
            </a:xfrm>
            <a:prstGeom prst="roundRect">
              <a:avLst>
                <a:gd name="adj" fmla="val 19512"/>
              </a:avLst>
            </a:prstGeom>
            <a:solidFill>
              <a:srgbClr val="111A30"/>
            </a:solidFill>
            <a:ln w="12700">
              <a:solidFill>
                <a:srgbClr val="24314F"/>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7" name="Shape 35"/>
            <p:cNvSpPr/>
            <p:nvPr/>
          </p:nvSpPr>
          <p:spPr>
            <a:xfrm>
              <a:off x="762000" y="5384800"/>
              <a:ext cx="63500" cy="520700"/>
            </a:xfrm>
            <a:prstGeom prst="rect">
              <a:avLst/>
            </a:prstGeom>
            <a:solidFill>
              <a:srgbClr val="22C55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38" name="Shape 36"/>
            <p:cNvSpPr txBox="1"/>
            <p:nvPr/>
          </p:nvSpPr>
          <p:spPr>
            <a:xfrm>
              <a:off x="1016000" y="5384800"/>
              <a:ext cx="8128000" cy="520700"/>
            </a:xfrm>
            <a:prstGeom prst="rect">
              <a:avLst/>
            </a:prstGeom>
            <a:noFill/>
          </p:spPr>
          <p:txBody>
            <a:bodyPr wrap="square" lIns="0" tIns="0" rIns="0" bIns="0" anchor="ctr">
              <a:spAutoFit/>
            </a:bodyPr>
            <a:lstStyle/>
            <a:p>
              <a:pPr algn="l">
                <a:lnSpc>
                  <a:spcPct val="115000"/>
                </a:lnSpc>
              </a:pPr>
              <a:r>
                <a:rPr sz="1500" b="1">
                  <a:solidFill>
                    <a:srgbClr val="F2F5FB"/>
                  </a:solidFill>
                  <a:latin typeface="Segoe UI"/>
                </a:rPr>
                <a:t>AGENTS.md files and agent skills</a:t>
              </a:r>
            </a:p>
          </p:txBody>
        </p:sp>
        <p:sp>
          <p:nvSpPr>
            <p:cNvPr id="39" name="Shape 37"/>
            <p:cNvSpPr/>
            <p:nvPr/>
          </p:nvSpPr>
          <p:spPr>
            <a:xfrm>
              <a:off x="9652000" y="5499100"/>
              <a:ext cx="1587500" cy="266700"/>
            </a:xfrm>
            <a:prstGeom prst="roundRect">
              <a:avLst>
                <a:gd name="adj" fmla="val 50000"/>
              </a:avLst>
            </a:prstGeom>
            <a:solidFill>
              <a:srgbClr val="22C55E">
                <a:alpha val="15000"/>
              </a:srgbClr>
            </a:solidFill>
            <a:ln w="12700">
              <a:solidFill>
                <a:srgbClr val="22C55E"/>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15000"/>
                </a:lnSpc>
              </a:pPr>
              <a:r>
                <a:rPr sz="1200" b="1">
                  <a:solidFill>
                    <a:srgbClr val="F2F5FB"/>
                  </a:solidFill>
                  <a:latin typeface="Segoe UI"/>
                </a:rPr>
                <a:t>Available</a:t>
              </a:r>
            </a:p>
          </p:txBody>
        </p:sp>
      </p:grpSp>
    </p:spTree>
  </p:cSld>
  <p:clrMapOvr>
    <a:masterClrMapping/>
  </p:clrMapOvr>
  <mc:AlternateContent xmlns:mc="http://schemas.openxmlformats.org/markup-compatibility/2006">
    <mc:Choice xmlns:p14="http://schemas.microsoft.com/office/powerpoint/2010/main" Requires="p14">
      <p:transition spd="slow" p14:dur="2000" advTm="30300"/>
    </mc:Choice>
    <mc:Fallback>
      <p:transition spd="slow" advTm="3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10" presetClass="entr" presetSubtype="0" fill="hold" nodeType="withEffect">
                                  <p:stCondLst>
                                    <p:cond delay="16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400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76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nodeType="withEffect">
                                  <p:stCondLst>
                                    <p:cond delay="104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500"/>
                                        <p:tgtEl>
                                          <p:spTgt spid="25"/>
                                        </p:tgtEl>
                                      </p:cBhvr>
                                    </p:animEffect>
                                  </p:childTnLst>
                                </p:cTn>
                              </p:par>
                              <p:par>
                                <p:cTn id="23" presetID="10" presetClass="entr" presetSubtype="0" fill="hold" nodeType="withEffect">
                                  <p:stCondLst>
                                    <p:cond delay="14000"/>
                                  </p:stCondLst>
                                  <p:childTnLst>
                                    <p:set>
                                      <p:cBhvr>
                                        <p:cTn id="24" dur="1" fill="hold">
                                          <p:stCondLst>
                                            <p:cond delay="0"/>
                                          </p:stCondLst>
                                        </p:cTn>
                                        <p:tgtEl>
                                          <p:spTgt spid="30"/>
                                        </p:tgtEl>
                                        <p:attrNameLst>
                                          <p:attrName>style.visibility</p:attrName>
                                        </p:attrNameLst>
                                      </p:cBhvr>
                                      <p:to>
                                        <p:strVal val="visible"/>
                                      </p:to>
                                    </p:set>
                                    <p:animEffect transition="in" filter="fade">
                                      <p:cBhvr>
                                        <p:cTn id="25" dur="500"/>
                                        <p:tgtEl>
                                          <p:spTgt spid="30"/>
                                        </p:tgtEl>
                                      </p:cBhvr>
                                    </p:animEffect>
                                  </p:childTnLst>
                                </p:cTn>
                              </p:par>
                              <p:par>
                                <p:cTn id="26" presetID="10" presetClass="entr" presetSubtype="0" fill="hold" nodeType="withEffect">
                                  <p:stCondLst>
                                    <p:cond delay="1960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0" presetClass="entr" presetSubtype="0" fill="hold" nodeType="withEffect">
                                  <p:stCondLst>
                                    <p:cond delay="24000"/>
                                  </p:stCondLst>
                                  <p:childTnLst>
                                    <p:set>
                                      <p:cBhvr>
                                        <p:cTn id="30" dur="1" fill="hold">
                                          <p:stCondLst>
                                            <p:cond delay="0"/>
                                          </p:stCondLst>
                                        </p:cTn>
                                        <p:tgtEl>
                                          <p:spTgt spid="40"/>
                                        </p:tgtEl>
                                        <p:attrNameLst>
                                          <p:attrName>style.visibility</p:attrName>
                                        </p:attrNameLst>
                                      </p:cBhvr>
                                      <p:to>
                                        <p:strVal val="visible"/>
                                      </p:to>
                                    </p:set>
                                    <p:animEffect transition="in" filter="fade">
                                      <p:cBhvr>
                                        <p:cTn id="3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pic>
        <p:nvPicPr>
          <p:cNvPr id="3" name="Background" descr="stage-title.pn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12648895" y="0"/>
            <a:ext cx="5486400" cy="914400"/>
          </a:xfrm>
        </p:spPr>
        <p:txBody>
          <a:bodyPr/>
          <a:lstStyle/>
          <a:p>
            <a:r>
              <a:t>Find out more</a:t>
            </a:r>
          </a:p>
        </p:txBody>
      </p:sp>
      <p:sp>
        <p:nvSpPr>
          <p:cNvPr id="4" name="Kicker"/>
          <p:cNvSpPr txBox="1"/>
          <p:nvPr/>
        </p:nvSpPr>
        <p:spPr>
          <a:xfrm>
            <a:off x="762000" y="533400"/>
            <a:ext cx="9525000" cy="254000"/>
          </a:xfrm>
          <a:prstGeom prst="rect">
            <a:avLst/>
          </a:prstGeom>
          <a:noFill/>
        </p:spPr>
        <p:txBody>
          <a:bodyPr wrap="square" lIns="0" tIns="0" rIns="0" bIns="0" anchor="t">
            <a:spAutoFit/>
          </a:bodyPr>
          <a:lstStyle/>
          <a:p>
            <a:pPr algn="l">
              <a:lnSpc>
                <a:spcPct val="115000"/>
              </a:lnSpc>
            </a:pPr>
            <a:r>
              <a:rPr sz="1300" b="1" spc="250">
                <a:solidFill>
                  <a:srgbClr val="F472B6"/>
                </a:solidFill>
                <a:latin typeface="Segoe UI"/>
              </a:rPr>
              <a:t>FIND OUT MORE</a:t>
            </a:r>
          </a:p>
        </p:txBody>
      </p:sp>
      <p:sp>
        <p:nvSpPr>
          <p:cNvPr id="5" name="Title"/>
          <p:cNvSpPr txBox="1"/>
          <p:nvPr/>
        </p:nvSpPr>
        <p:spPr>
          <a:xfrm>
            <a:off x="762000" y="774700"/>
            <a:ext cx="10795000" cy="571500"/>
          </a:xfrm>
          <a:prstGeom prst="rect">
            <a:avLst/>
          </a:prstGeom>
          <a:noFill/>
        </p:spPr>
        <p:txBody>
          <a:bodyPr wrap="square" lIns="0" tIns="0" rIns="0" bIns="0" anchor="t">
            <a:spAutoFit/>
          </a:bodyPr>
          <a:lstStyle/>
          <a:p>
            <a:pPr algn="l">
              <a:lnSpc>
                <a:spcPct val="115000"/>
              </a:lnSpc>
            </a:pPr>
            <a:r>
              <a:rPr sz="3400" b="1">
                <a:solidFill>
                  <a:srgbClr val="F2F5FB"/>
                </a:solidFill>
                <a:latin typeface="Segoe UI"/>
              </a:rPr>
              <a:t>Design, guide and code</a:t>
            </a:r>
          </a:p>
        </p:txBody>
      </p:sp>
      <p:grpSp>
        <p:nvGrpSpPr>
          <p:cNvPr id="9" name="Link 1"/>
          <p:cNvGrpSpPr/>
          <p:nvPr/>
        </p:nvGrpSpPr>
        <p:grpSpPr>
          <a:xfrm>
            <a:off x="762000" y="1714500"/>
            <a:ext cx="10668000" cy="800100"/>
            <a:chOff x="762000" y="1714500"/>
            <a:chExt cx="10668000" cy="800100"/>
          </a:xfrm>
        </p:grpSpPr>
        <p:sp>
          <p:nvSpPr>
            <p:cNvPr id="6" name="Shape 4">
              <a:hlinkClick r:id="rId4"/>
            </p:cNvPr>
            <p:cNvSpPr/>
            <p:nvPr/>
          </p:nvSpPr>
          <p:spPr>
            <a:xfrm>
              <a:off x="762000" y="1714500"/>
              <a:ext cx="10668000" cy="800100"/>
            </a:xfrm>
            <a:prstGeom prst="roundRect">
              <a:avLst>
                <a:gd name="adj" fmla="val 17460"/>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7" name="Shape 5">
              <a:hlinkClick r:id="rId4"/>
            </p:cNvPr>
            <p:cNvSpPr txBox="1"/>
            <p:nvPr/>
          </p:nvSpPr>
          <p:spPr>
            <a:xfrm>
              <a:off x="1016000" y="1828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AI-Native Canvas design</a:t>
              </a:r>
            </a:p>
          </p:txBody>
        </p:sp>
        <p:sp>
          <p:nvSpPr>
            <p:cNvPr id="8" name="Shape 6">
              <a:hlinkClick r:id="rId4"/>
            </p:cNvPr>
            <p:cNvSpPr txBox="1"/>
            <p:nvPr/>
          </p:nvSpPr>
          <p:spPr>
            <a:xfrm>
              <a:off x="1016000" y="2171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github.com/tmforum-oda/oda-canvas › AI-Native-Canvas-design.md</a:t>
              </a:r>
            </a:p>
          </p:txBody>
        </p:sp>
      </p:grpSp>
      <p:grpSp>
        <p:nvGrpSpPr>
          <p:cNvPr id="13" name="Link 2"/>
          <p:cNvGrpSpPr/>
          <p:nvPr/>
        </p:nvGrpSpPr>
        <p:grpSpPr>
          <a:xfrm>
            <a:off x="762000" y="2667000"/>
            <a:ext cx="10668000" cy="800100"/>
            <a:chOff x="762000" y="2667000"/>
            <a:chExt cx="10668000" cy="800100"/>
          </a:xfrm>
        </p:grpSpPr>
        <p:sp>
          <p:nvSpPr>
            <p:cNvPr id="10" name="Shape 8"/>
            <p:cNvSpPr/>
            <p:nvPr/>
          </p:nvSpPr>
          <p:spPr>
            <a:xfrm>
              <a:off x="762000" y="2667000"/>
              <a:ext cx="10668000" cy="800100"/>
            </a:xfrm>
            <a:prstGeom prst="roundRect">
              <a:avLst>
                <a:gd name="adj" fmla="val 17460"/>
              </a:avLst>
            </a:prstGeom>
            <a:solidFill>
              <a:srgbClr val="111A30"/>
            </a:solidFill>
            <a:ln w="19050">
              <a:solidFill>
                <a:srgbClr val="F472B6"/>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1" name="Shape 9"/>
            <p:cNvSpPr txBox="1"/>
            <p:nvPr/>
          </p:nvSpPr>
          <p:spPr>
            <a:xfrm>
              <a:off x="1016000" y="27813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Model-as-a-Service guide</a:t>
              </a:r>
            </a:p>
          </p:txBody>
        </p:sp>
        <p:sp>
          <p:nvSpPr>
            <p:cNvPr id="12" name="Shape 10"/>
            <p:cNvSpPr txBox="1"/>
            <p:nvPr/>
          </p:nvSpPr>
          <p:spPr>
            <a:xfrm>
              <a:off x="1016000" y="31242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TM Forum GB1085 · Model-as-a-Service (MODaaS) Introductory Guide</a:t>
              </a:r>
            </a:p>
          </p:txBody>
        </p:sp>
      </p:grpSp>
      <p:grpSp>
        <p:nvGrpSpPr>
          <p:cNvPr id="17" name="Link 3"/>
          <p:cNvGrpSpPr/>
          <p:nvPr/>
        </p:nvGrpSpPr>
        <p:grpSpPr>
          <a:xfrm>
            <a:off x="762000" y="3619500"/>
            <a:ext cx="10668000" cy="800100"/>
            <a:chOff x="762000" y="3619500"/>
            <a:chExt cx="10668000" cy="800100"/>
          </a:xfrm>
        </p:grpSpPr>
        <p:sp>
          <p:nvSpPr>
            <p:cNvPr id="14" name="Shape 12">
              <a:hlinkClick r:id="rId5"/>
            </p:cNvPr>
            <p:cNvSpPr/>
            <p:nvPr/>
          </p:nvSpPr>
          <p:spPr>
            <a:xfrm>
              <a:off x="762000" y="3619500"/>
              <a:ext cx="10668000" cy="800100"/>
            </a:xfrm>
            <a:prstGeom prst="roundRect">
              <a:avLst>
                <a:gd name="adj" fmla="val 1746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5" name="Shape 13">
              <a:hlinkClick r:id="rId5"/>
            </p:cNvPr>
            <p:cNvSpPr txBox="1"/>
            <p:nvPr/>
          </p:nvSpPr>
          <p:spPr>
            <a:xfrm>
              <a:off x="1016000" y="37338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Contribute with AI</a:t>
              </a:r>
            </a:p>
          </p:txBody>
        </p:sp>
        <p:sp>
          <p:nvSpPr>
            <p:cNvPr id="16" name="Shape 14">
              <a:hlinkClick r:id="rId5"/>
            </p:cNvPr>
            <p:cNvSpPr txBox="1"/>
            <p:nvPr/>
          </p:nvSpPr>
          <p:spPr>
            <a:xfrm>
              <a:off x="1016000" y="40767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github.com/tmforum-oda/oda-canvas › AGENTS.md · skills/</a:t>
              </a:r>
            </a:p>
          </p:txBody>
        </p:sp>
      </p:grpSp>
      <p:grpSp>
        <p:nvGrpSpPr>
          <p:cNvPr id="21" name="Link 4"/>
          <p:cNvGrpSpPr/>
          <p:nvPr/>
        </p:nvGrpSpPr>
        <p:grpSpPr>
          <a:xfrm>
            <a:off x="762000" y="4572000"/>
            <a:ext cx="10668000" cy="800100"/>
            <a:chOff x="762000" y="4572000"/>
            <a:chExt cx="10668000" cy="800100"/>
          </a:xfrm>
        </p:grpSpPr>
        <p:sp>
          <p:nvSpPr>
            <p:cNvPr id="18" name="Shape 16">
              <a:hlinkClick r:id="rId6"/>
            </p:cNvPr>
            <p:cNvSpPr/>
            <p:nvPr/>
          </p:nvSpPr>
          <p:spPr>
            <a:xfrm>
              <a:off x="762000" y="4572000"/>
              <a:ext cx="10668000" cy="800100"/>
            </a:xfrm>
            <a:prstGeom prst="roundRect">
              <a:avLst>
                <a:gd name="adj" fmla="val 17460"/>
              </a:avLst>
            </a:prstGeom>
            <a:solidFill>
              <a:srgbClr val="111A30"/>
            </a:solidFill>
            <a:ln w="19050">
              <a:solidFill>
                <a:srgbClr val="1FC7A8"/>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a:p>
          </p:txBody>
        </p:sp>
        <p:sp>
          <p:nvSpPr>
            <p:cNvPr id="19" name="Shape 17">
              <a:hlinkClick r:id="rId6"/>
            </p:cNvPr>
            <p:cNvSpPr txBox="1"/>
            <p:nvPr/>
          </p:nvSpPr>
          <p:spPr>
            <a:xfrm>
              <a:off x="1016000" y="4686300"/>
              <a:ext cx="7620000" cy="317500"/>
            </a:xfrm>
            <a:prstGeom prst="rect">
              <a:avLst/>
            </a:prstGeom>
            <a:noFill/>
          </p:spPr>
          <p:txBody>
            <a:bodyPr wrap="square" lIns="0" tIns="0" rIns="0" bIns="0" anchor="t">
              <a:spAutoFit/>
            </a:bodyPr>
            <a:lstStyle/>
            <a:p>
              <a:pPr algn="l">
                <a:lnSpc>
                  <a:spcPct val="115000"/>
                </a:lnSpc>
              </a:pPr>
              <a:r>
                <a:rPr sz="1900" b="1">
                  <a:solidFill>
                    <a:srgbClr val="F2F5FB"/>
                  </a:solidFill>
                  <a:latin typeface="Segoe UI"/>
                </a:rPr>
                <a:t>ODA agent skills marketplace</a:t>
              </a:r>
            </a:p>
          </p:txBody>
        </p:sp>
        <p:sp>
          <p:nvSpPr>
            <p:cNvPr id="20" name="Shape 18">
              <a:hlinkClick r:id="rId6"/>
            </p:cNvPr>
            <p:cNvSpPr txBox="1"/>
            <p:nvPr/>
          </p:nvSpPr>
          <p:spPr>
            <a:xfrm>
              <a:off x="1016000" y="5029200"/>
              <a:ext cx="9525000" cy="254000"/>
            </a:xfrm>
            <a:prstGeom prst="rect">
              <a:avLst/>
            </a:prstGeom>
            <a:noFill/>
          </p:spPr>
          <p:txBody>
            <a:bodyPr wrap="square" lIns="0" tIns="0" rIns="0" bIns="0" anchor="t">
              <a:spAutoFit/>
            </a:bodyPr>
            <a:lstStyle/>
            <a:p>
              <a:pPr algn="l">
                <a:lnSpc>
                  <a:spcPct val="115000"/>
                </a:lnSpc>
              </a:pPr>
              <a:r>
                <a:rPr sz="1400" b="0">
                  <a:solidFill>
                    <a:srgbClr val="8F9BB8"/>
                  </a:solidFill>
                  <a:latin typeface="Segoe UI"/>
                </a:rPr>
                <a:t>github.com/tmforum-oda/oda-agent-skills-marketplace · agent skills plugins for ODA</a:t>
              </a:r>
            </a:p>
          </p:txBody>
        </p:sp>
      </p:grpSp>
      <p:sp>
        <p:nvSpPr>
          <p:cNvPr id="22" name="Hub"/>
          <p:cNvSpPr txBox="1"/>
          <p:nvPr/>
        </p:nvSpPr>
        <p:spPr>
          <a:xfrm>
            <a:off x="762000" y="5715000"/>
            <a:ext cx="10668000" cy="317500"/>
          </a:xfrm>
          <a:prstGeom prst="rect">
            <a:avLst/>
          </a:prstGeom>
          <a:noFill/>
        </p:spPr>
        <p:txBody>
          <a:bodyPr wrap="square" lIns="0" tIns="0" rIns="0" bIns="0" anchor="t">
            <a:spAutoFit/>
          </a:bodyPr>
          <a:lstStyle/>
          <a:p>
            <a:pPr algn="l">
              <a:lnSpc>
                <a:spcPct val="115000"/>
              </a:lnSpc>
            </a:pPr>
            <a:r>
              <a:rPr sz="1500" b="1">
                <a:solidFill>
                  <a:srgbClr val="8F9BB8"/>
                </a:solidFill>
                <a:latin typeface="Segoe UI"/>
              </a:rPr>
              <a:t>Developed in the open in the TM Forum Innovation Hub</a:t>
            </a:r>
          </a:p>
        </p:txBody>
      </p:sp>
    </p:spTree>
  </p:cSld>
  <p:clrMapOvr>
    <a:masterClrMapping/>
  </p:clrMapOvr>
  <mc:AlternateContent xmlns:mc="http://schemas.openxmlformats.org/markup-compatibility/2006">
    <mc:Choice xmlns:p14="http://schemas.microsoft.com/office/powerpoint/2010/main" Requires="p14">
      <p:transition spd="slow" p14:dur="2000" advTm="30300"/>
    </mc:Choice>
    <mc:Fallback>
      <p:transition spd="slow" advTm="30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800"/>
                                        <p:tgtEl>
                                          <p:spTgt spid="5"/>
                                        </p:tgtEl>
                                      </p:cBhvr>
                                    </p:animEffect>
                                  </p:childTnLst>
                                </p:cTn>
                              </p:par>
                              <p:par>
                                <p:cTn id="11" presetID="2" presetClass="entr" presetSubtype="4" fill="hold" nodeType="withEffect">
                                  <p:stCondLst>
                                    <p:cond delay="60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600" fill="hold"/>
                                        <p:tgtEl>
                                          <p:spTgt spid="9"/>
                                        </p:tgtEl>
                                        <p:attrNameLst>
                                          <p:attrName>ppt_x</p:attrName>
                                        </p:attrNameLst>
                                      </p:cBhvr>
                                      <p:tavLst>
                                        <p:tav tm="0">
                                          <p:val>
                                            <p:strVal val="#ppt_x"/>
                                          </p:val>
                                        </p:tav>
                                        <p:tav tm="100000">
                                          <p:val>
                                            <p:strVal val="#ppt_x"/>
                                          </p:val>
                                        </p:tav>
                                      </p:tavLst>
                                    </p:anim>
                                    <p:anim calcmode="lin" valueType="num">
                                      <p:cBhvr additive="base">
                                        <p:cTn id="14" dur="6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600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600" fill="hold"/>
                                        <p:tgtEl>
                                          <p:spTgt spid="13"/>
                                        </p:tgtEl>
                                        <p:attrNameLst>
                                          <p:attrName>ppt_x</p:attrName>
                                        </p:attrNameLst>
                                      </p:cBhvr>
                                      <p:tavLst>
                                        <p:tav tm="0">
                                          <p:val>
                                            <p:strVal val="#ppt_x"/>
                                          </p:val>
                                        </p:tav>
                                        <p:tav tm="100000">
                                          <p:val>
                                            <p:strVal val="#ppt_x"/>
                                          </p:val>
                                        </p:tav>
                                      </p:tavLst>
                                    </p:anim>
                                    <p:anim calcmode="lin" valueType="num">
                                      <p:cBhvr additive="base">
                                        <p:cTn id="18" dur="600" fill="hold"/>
                                        <p:tgtEl>
                                          <p:spTgt spid="13"/>
                                        </p:tgtEl>
                                        <p:attrNameLst>
                                          <p:attrName>ppt_y</p:attrName>
                                        </p:attrNameLst>
                                      </p:cBhvr>
                                      <p:tavLst>
                                        <p:tav tm="0">
                                          <p:val>
                                            <p:strVal val="1+#ppt_h/2"/>
                                          </p:val>
                                        </p:tav>
                                        <p:tav tm="100000">
                                          <p:val>
                                            <p:strVal val="#ppt_y"/>
                                          </p:val>
                                        </p:tav>
                                      </p:tavLst>
                                    </p:anim>
                                  </p:childTnLst>
                                </p:cTn>
                              </p:par>
                              <p:par>
                                <p:cTn id="19" presetID="10" presetClass="entr" presetSubtype="0" fill="hold" grpId="0" nodeType="withEffect">
                                  <p:stCondLst>
                                    <p:cond delay="960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600"/>
                                        <p:tgtEl>
                                          <p:spTgt spid="22"/>
                                        </p:tgtEl>
                                      </p:cBhvr>
                                    </p:animEffect>
                                  </p:childTnLst>
                                </p:cTn>
                              </p:par>
                              <p:par>
                                <p:cTn id="22" presetID="2" presetClass="entr" presetSubtype="4" fill="hold" nodeType="withEffect">
                                  <p:stCondLst>
                                    <p:cond delay="1440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600" fill="hold"/>
                                        <p:tgtEl>
                                          <p:spTgt spid="17"/>
                                        </p:tgtEl>
                                        <p:attrNameLst>
                                          <p:attrName>ppt_x</p:attrName>
                                        </p:attrNameLst>
                                      </p:cBhvr>
                                      <p:tavLst>
                                        <p:tav tm="0">
                                          <p:val>
                                            <p:strVal val="#ppt_x"/>
                                          </p:val>
                                        </p:tav>
                                        <p:tav tm="100000">
                                          <p:val>
                                            <p:strVal val="#ppt_x"/>
                                          </p:val>
                                        </p:tav>
                                      </p:tavLst>
                                    </p:anim>
                                    <p:anim calcmode="lin" valueType="num">
                                      <p:cBhvr additive="base">
                                        <p:cTn id="25" dur="6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19200"/>
                                  </p:stCondLst>
                                  <p:childTnLst>
                                    <p:set>
                                      <p:cBhvr>
                                        <p:cTn id="27" dur="1" fill="hold">
                                          <p:stCondLst>
                                            <p:cond delay="0"/>
                                          </p:stCondLst>
                                        </p:cTn>
                                        <p:tgtEl>
                                          <p:spTgt spid="21"/>
                                        </p:tgtEl>
                                        <p:attrNameLst>
                                          <p:attrName>style.visibility</p:attrName>
                                        </p:attrNameLst>
                                      </p:cBhvr>
                                      <p:to>
                                        <p:strVal val="visible"/>
                                      </p:to>
                                    </p:set>
                                    <p:anim calcmode="lin" valueType="num">
                                      <p:cBhvr additive="base">
                                        <p:cTn id="28" dur="600" fill="hold"/>
                                        <p:tgtEl>
                                          <p:spTgt spid="21"/>
                                        </p:tgtEl>
                                        <p:attrNameLst>
                                          <p:attrName>ppt_x</p:attrName>
                                        </p:attrNameLst>
                                      </p:cBhvr>
                                      <p:tavLst>
                                        <p:tav tm="0">
                                          <p:val>
                                            <p:strVal val="#ppt_x"/>
                                          </p:val>
                                        </p:tav>
                                        <p:tav tm="100000">
                                          <p:val>
                                            <p:strVal val="#ppt_x"/>
                                          </p:val>
                                        </p:tav>
                                      </p:tavLst>
                                    </p:anim>
                                    <p:anim calcmode="lin" valueType="num">
                                      <p:cBhvr additive="base">
                                        <p:cTn id="29" dur="6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2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2692</Words>
  <Application>Microsoft Office PowerPoint</Application>
  <PresentationFormat>Widescreen</PresentationFormat>
  <Paragraphs>184</Paragraphs>
  <Slides>24</Slides>
  <Notes>24</Notes>
  <HiddenSlides>0</HiddenSlides>
  <MMClips>13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Segoe UI</vt:lpstr>
      <vt:lpstr>Office Theme</vt:lpstr>
      <vt:lpstr>The AI-Native ODA Canvas (presenter introduction)</vt:lpstr>
      <vt:lpstr>Four questions</vt:lpstr>
      <vt:lpstr>What the 2026 Catalysts show</vt:lpstr>
      <vt:lpstr>MCP is one more exposed API</vt:lpstr>
      <vt:lpstr>Descriptions are written for agents</vt:lpstr>
      <vt:lpstr>Agents as components</vt:lpstr>
      <vt:lpstr>Dependent AI models</vt:lpstr>
      <vt:lpstr>Training builds intelligence, inference builds cost</vt:lpstr>
      <vt:lpstr>Three options</vt:lpstr>
      <vt:lpstr>What the control plane provides</vt:lpstr>
      <vt:lpstr>The model gateway in the Canvas</vt:lpstr>
      <vt:lpstr>Simulated demo: Model Gateway in the Canvas Portal</vt:lpstr>
      <vt:lpstr>Six levers of inference cost</vt:lpstr>
      <vt:lpstr>Canvas services for AI</vt:lpstr>
      <vt:lpstr>The Canvas with AI and data</vt:lpstr>
      <vt:lpstr>The Canvas describes itself</vt:lpstr>
      <vt:lpstr>Evaluation</vt:lpstr>
      <vt:lpstr>AI is an amplifier</vt:lpstr>
      <vt:lpstr>Why ODA suits AI development</vt:lpstr>
      <vt:lpstr>Live: AGENTS.md in the oda-canvas repository</vt:lpstr>
      <vt:lpstr>Agent skills: knowledge as a reusable asset</vt:lpstr>
      <vt:lpstr>Live: the create-oda-operator skill</vt:lpstr>
      <vt:lpstr>What's available today</vt:lpstr>
      <vt:lpstr>Find out more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ODA Canvas</dc:title>
  <dc:subject/>
  <dc:creator/>
  <cp:keywords/>
  <dc:description>generated using python-pptx</dc:description>
  <cp:lastModifiedBy>Lester Thomas</cp:lastModifiedBy>
  <cp:revision>2</cp:revision>
  <dcterms:created xsi:type="dcterms:W3CDTF">2013-01-27T09:14:16Z</dcterms:created>
  <dcterms:modified xsi:type="dcterms:W3CDTF">2026-10-19T13:04:22Z</dcterms:modified>
  <cp:category/>
</cp:coreProperties>
</file>