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78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fifth video in the ODA Canvas training series, on observability. Traditionally, every application arrives with its own monitoring agents and its own dashboards. Operations teams then spend weeks wiring each into their own tools. An ODA Component is different. It declares its metrics APIs in its specification. The Canvas reads that declaration and configures the observability platform for it automatically. It uses open standards, OpenMetrics for metrics and OpenTelemetry for traces. So any compliant platform can be used. In this video, we look at the three kinds of observability the Canvas supports. We see how a component's metrics are wired up when it is deployed. Then we explore the reference stack live, with Prometheus, Grafana and Jaeger.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service provider may run dozens of components from many different vendors. The operations team needs one consistent view across all of them. They should not need a different tool for each vendor. The Canvas provides that view, by connecting every component to the same observability platform. It can even trace a single request across components, and into the Canvas services they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supports three kinds of observability. Technical metrics show how a component is running, such as its CPU, memory and request rates. Business metrics are specific to each component, for example the number of orders it has captured. Traces follow a single request step by step, even across components and the Canvas services they use. Together, they show whether a component is healthy, and give insights into its business performance metrics. They also help troubleshoot issues, for example to track where time is spent for a request.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builds on two open standards. OpenMetrics defines how a component exposes its metrics for a platform to collect. OpenTelemetry defines how a component sends traces and other telemetry. The reference implementation uses Prometheus, Grafana and Jaeger. But the Canvas mandates no product. A managed cloud service, or another observability platform, can be used instead.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repository includes a Helm chart for a complete reference stack. It installs into its own monitoring namespace. Prometheus collects and stores metrics, and Grafana turns them into dashboards. Jaeger stores and displays traces. The OpenTelemetry Collector receives telemetry from components and forwards traces to Jaeger.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Metrics start with the component specification. In the management function, the component lists a metrics API alongside its other exposed APIs. Its API type is openmetrics, the open standard for metrics. It also gives the path and port where its metrics can be read. The component does not say which observability platform will read them. That is the Canvas's job.</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the component is deployed, the component operator creates an ExposedAPI resource for each API. The API operator handles each one. For an API of type openmetrics, it also configures the observability platform. In the reference Canvas, it creates a ServiceMonitor resource. Prometheus finds the ServiceMonitor and starts scraping the metrics endpoint every fifteen seconds. When the component is removed, the ServiceMonitor is removed with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every platform uses ServiceMonitors. So the API operator has a setting called open metrics implementation. ServiceMonitor is the default, for platforms that use the Prometheus operator. Prometheus annotation adds pod annotations instead, which some managed Prometheus services read. Datadog annotation uses Datadog's own annotation format. The component specification stays the same in every case.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product catalog component, deployed as release obs. It has three exposed APIs, and one of them is the metrics API. The Canvas has created a ServiceMonitor for it automatically. It points at the component's metrics path on port four thousand, every fifteen seconds. Nobody had to configure Prometheus by hand.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Prometheus, the target health page lists everything it scrapes. The product catalog's metrics endpoint is here, and its state is up. Prometheus picked it up from the ServiceMonitor within seconds of the component being deployed.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component counts its business events. Every time a catalog, category, product specification or product offering is created or removed, a counter goes up. This query shows the rate of each kind of event over the last fifteen minutes. These are business metrics, defined by the component itself, and collected by the Canvas.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Technical metrics need nothing from the component at all. The platform already reports the CPU and memory of every container. Here is the CPU use of each pod in the product catalog component. The service mesh can add request rates and latencies in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Grafana turns these metrics into dashboards, using Prometheus as its data source. This dashboard puts one component's business and technical metrics side by side. At the top are business events per minute, by type. Below are the CPU and memory of each of the component's pods. An operations team can build one dashboard like this and reuse it for every component.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reference stack also comes with standard Kubernetes dashboards. Choosing the components namespace shows the CPU and memory of every deployed component together. So the same tool covers both the platform and the business view.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Traces work the other way round. Instead of being scraped, the component pushes its traces as they happen. It sends them using the OpenTelemetry protocol to the OpenTelemetry Collector. The collector batches them and forwards them to Jaeger. Because the protocol is standard, the collector could forward them to another tracing platform instead.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collector address is set when the component is installed, in its Helm values. It is part of the environment, not of the component specification. Here, tracing is enabled and the component sends its traces to the collector in the monitoring namespace.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Jaeger, the product catalog appears as its own service. Searching it lists recent traces, one for each API request. The chart at the top shows how long each request took. So a slow or failing request stands out straight away.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a trace shows one request from end to end. It starts with the incoming HTTP call. Then come the middleware steps that validate the request against the TMF API definition. Last come the calls to the database. Each step shows exactly how long it took, so it is clear where the time goes.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Portal has an observability page that finds the telemetry tools in the cluster. It shows Prometheus, Grafana and Jaeger, each with its address inside the cluster. Langfuse, a tool for LLM observability, is shown in grey. The Canvas is still under development, and LLM observability is in the backlog.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behaviours are tested automatically. One BDD feature installs a component and checks that a ServiceMonitor is created, then removed on uninstall. Another adds catalog data and checks that new events reach the OpenTelemetry Collector. Both are tagged, so a Canvas without these tools simply skips them.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recap. A component declares its metrics API in its specification, and sends its traces using OpenTelemetry. The Canvas configures the observability platform for it automatically, and removes the configuration when the component is uninstalled. The reference stack uses Prometheus, Grafana and Jaeger, but any platform that supports the open standards can be used. To find out more, see the observability design and the observability stack chart in the ODA Canvas repository.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0.mp4"/><Relationship Id="rId1" Type="http://schemas.microsoft.com/office/2007/relationships/media" Target="../media/media10.mp4"/><Relationship Id="rId5" Type="http://schemas.openxmlformats.org/officeDocument/2006/relationships/image" Target="../media/image1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1.mp4"/><Relationship Id="rId1" Type="http://schemas.microsoft.com/office/2007/relationships/media" Target="../media/media11.mp4"/><Relationship Id="rId5" Type="http://schemas.openxmlformats.org/officeDocument/2006/relationships/image" Target="../media/image1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2.mp4"/><Relationship Id="rId1" Type="http://schemas.microsoft.com/office/2007/relationships/media" Target="../media/media12.mp4"/><Relationship Id="rId5" Type="http://schemas.openxmlformats.org/officeDocument/2006/relationships/image" Target="../media/image2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3.mp4"/><Relationship Id="rId1" Type="http://schemas.microsoft.com/office/2007/relationships/media" Target="../media/media13.mp4"/><Relationship Id="rId5"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tmforum-oda/oda-canvas/blob/main/Observability-design.md" TargetMode="External"/><Relationship Id="rId3" Type="http://schemas.openxmlformats.org/officeDocument/2006/relationships/image" Target="../media/image2.png"/><Relationship Id="rId7" Type="http://schemas.openxmlformats.org/officeDocument/2006/relationships/hyperlink" Target="https://github.com/tmforum-oda/oda-canvas"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4.png"/><Relationship Id="rId4" Type="http://schemas.openxmlformats.org/officeDocument/2006/relationships/image" Target="../media/image6.png"/><Relationship Id="rId9" Type="http://schemas.openxmlformats.org/officeDocument/2006/relationships/hyperlink" Target="https://github.com/tmforum-oda/oda-canvas/tree/main/charts/observability-st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Observability in the ODA Canvas (presenter introduction)</a:t>
            </a:r>
          </a:p>
        </p:txBody>
      </p:sp>
      <p:pic>
        <p:nvPicPr>
          <p:cNvPr id="3" name="Clip 0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500"/>
    </mc:Choice>
    <mc:Fallback>
      <p:transition spd="slow" advTm="4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One view across many components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OPERATIONS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One view across many components</a:t>
            </a:r>
          </a:p>
        </p:txBody>
      </p:sp>
      <p:pic>
        <p:nvPicPr>
          <p:cNvPr id="6" name="Canvas" descr="canvas-dark.png"/>
          <p:cNvPicPr>
            <a:picLocks noChangeAspect="1"/>
          </p:cNvPicPr>
          <p:nvPr/>
        </p:nvPicPr>
        <p:blipFill>
          <a:blip r:embed="rId4"/>
          <a:stretch>
            <a:fillRect/>
          </a:stretch>
        </p:blipFill>
        <p:spPr>
          <a:xfrm>
            <a:off x="2921000" y="4445000"/>
            <a:ext cx="6350000" cy="2345531"/>
          </a:xfrm>
          <a:prstGeom prst="rect">
            <a:avLst/>
          </a:prstGeom>
        </p:spPr>
      </p:pic>
      <p:grpSp>
        <p:nvGrpSpPr>
          <p:cNvPr id="9" name="Own 1"/>
          <p:cNvGrpSpPr/>
          <p:nvPr/>
        </p:nvGrpSpPr>
        <p:grpSpPr>
          <a:xfrm>
            <a:off x="2921000" y="1905000"/>
            <a:ext cx="1524000" cy="622300"/>
            <a:chOff x="2921000" y="1905000"/>
            <a:chExt cx="1524000" cy="622300"/>
          </a:xfrm>
        </p:grpSpPr>
        <p:pic>
          <p:nvPicPr>
            <p:cNvPr id="7" name="Shape 5" descr="icon-chart-8f9bb8.png"/>
            <p:cNvPicPr>
              <a:picLocks noChangeAspect="1"/>
            </p:cNvPicPr>
            <p:nvPr/>
          </p:nvPicPr>
          <p:blipFill>
            <a:blip r:embed="rId5"/>
            <a:stretch>
              <a:fillRect/>
            </a:stretch>
          </p:blipFill>
          <p:spPr>
            <a:xfrm>
              <a:off x="3479800" y="1905000"/>
              <a:ext cx="406400" cy="406400"/>
            </a:xfrm>
            <a:prstGeom prst="rect">
              <a:avLst/>
            </a:prstGeom>
          </p:spPr>
        </p:pic>
        <p:sp>
          <p:nvSpPr>
            <p:cNvPr id="8" name="Shape 6"/>
            <p:cNvSpPr txBox="1"/>
            <p:nvPr/>
          </p:nvSpPr>
          <p:spPr>
            <a:xfrm>
              <a:off x="2921000" y="2336800"/>
              <a:ext cx="1524000" cy="190500"/>
            </a:xfrm>
            <a:prstGeom prst="rect">
              <a:avLst/>
            </a:prstGeom>
            <a:noFill/>
          </p:spPr>
          <p:txBody>
            <a:bodyPr wrap="square" lIns="0" tIns="0" rIns="0" bIns="0" anchor="t">
              <a:spAutoFit/>
            </a:bodyPr>
            <a:lstStyle/>
            <a:p>
              <a:pPr algn="ctr">
                <a:lnSpc>
                  <a:spcPct val="115000"/>
                </a:lnSpc>
              </a:pPr>
              <a:r>
                <a:rPr sz="1000" b="0">
                  <a:solidFill>
                    <a:srgbClr val="8F9BB8"/>
                  </a:solidFill>
                  <a:latin typeface="Segoe UI"/>
                </a:rPr>
                <a:t>its own dashboard</a:t>
              </a:r>
            </a:p>
          </p:txBody>
        </p:sp>
      </p:grpSp>
      <p:pic>
        <p:nvPicPr>
          <p:cNvPr id="10" name="Component 1" descr="oda.png"/>
          <p:cNvPicPr>
            <a:picLocks noChangeAspect="1"/>
          </p:cNvPicPr>
          <p:nvPr/>
        </p:nvPicPr>
        <p:blipFill>
          <a:blip r:embed="rId6"/>
          <a:stretch>
            <a:fillRect/>
          </a:stretch>
        </p:blipFill>
        <p:spPr>
          <a:xfrm>
            <a:off x="2984500" y="2667000"/>
            <a:ext cx="1397000" cy="1319389"/>
          </a:xfrm>
          <a:prstGeom prst="rect">
            <a:avLst/>
          </a:prstGeom>
        </p:spPr>
      </p:pic>
      <p:sp>
        <p:nvSpPr>
          <p:cNvPr id="11" name="Vendor 1"/>
          <p:cNvSpPr txBox="1"/>
          <p:nvPr/>
        </p:nvSpPr>
        <p:spPr>
          <a:xfrm>
            <a:off x="2984500" y="4064000"/>
            <a:ext cx="1397000" cy="254000"/>
          </a:xfrm>
          <a:prstGeom prst="rect">
            <a:avLst/>
          </a:prstGeom>
          <a:noFill/>
        </p:spPr>
        <p:txBody>
          <a:bodyPr wrap="square" lIns="0" tIns="0" rIns="0" bIns="0" anchor="t">
            <a:spAutoFit/>
          </a:bodyPr>
          <a:lstStyle/>
          <a:p>
            <a:pPr algn="ctr">
              <a:lnSpc>
                <a:spcPct val="115000"/>
              </a:lnSpc>
            </a:pPr>
            <a:r>
              <a:rPr sz="1300" b="1">
                <a:solidFill>
                  <a:srgbClr val="F5A623"/>
                </a:solidFill>
                <a:latin typeface="Segoe UI"/>
              </a:rPr>
              <a:t>Vendor A</a:t>
            </a:r>
          </a:p>
        </p:txBody>
      </p:sp>
      <p:grpSp>
        <p:nvGrpSpPr>
          <p:cNvPr id="14" name="Own 2"/>
          <p:cNvGrpSpPr/>
          <p:nvPr/>
        </p:nvGrpSpPr>
        <p:grpSpPr>
          <a:xfrm>
            <a:off x="5334000" y="1905000"/>
            <a:ext cx="1524000" cy="622300"/>
            <a:chOff x="5334000" y="1905000"/>
            <a:chExt cx="1524000" cy="622300"/>
          </a:xfrm>
        </p:grpSpPr>
        <p:pic>
          <p:nvPicPr>
            <p:cNvPr id="12" name="Shape 10" descr="icon-chart-8f9bb8.png"/>
            <p:cNvPicPr>
              <a:picLocks noChangeAspect="1"/>
            </p:cNvPicPr>
            <p:nvPr/>
          </p:nvPicPr>
          <p:blipFill>
            <a:blip r:embed="rId5"/>
            <a:stretch>
              <a:fillRect/>
            </a:stretch>
          </p:blipFill>
          <p:spPr>
            <a:xfrm>
              <a:off x="5892800" y="1905000"/>
              <a:ext cx="406400" cy="406400"/>
            </a:xfrm>
            <a:prstGeom prst="rect">
              <a:avLst/>
            </a:prstGeom>
          </p:spPr>
        </p:pic>
        <p:sp>
          <p:nvSpPr>
            <p:cNvPr id="13" name="Shape 11"/>
            <p:cNvSpPr txBox="1"/>
            <p:nvPr/>
          </p:nvSpPr>
          <p:spPr>
            <a:xfrm>
              <a:off x="5334000" y="2336800"/>
              <a:ext cx="1524000" cy="190500"/>
            </a:xfrm>
            <a:prstGeom prst="rect">
              <a:avLst/>
            </a:prstGeom>
            <a:noFill/>
          </p:spPr>
          <p:txBody>
            <a:bodyPr wrap="square" lIns="0" tIns="0" rIns="0" bIns="0" anchor="t">
              <a:spAutoFit/>
            </a:bodyPr>
            <a:lstStyle/>
            <a:p>
              <a:pPr algn="ctr">
                <a:lnSpc>
                  <a:spcPct val="115000"/>
                </a:lnSpc>
              </a:pPr>
              <a:r>
                <a:rPr sz="1000" b="0">
                  <a:solidFill>
                    <a:srgbClr val="8F9BB8"/>
                  </a:solidFill>
                  <a:latin typeface="Segoe UI"/>
                </a:rPr>
                <a:t>its own dashboard</a:t>
              </a:r>
            </a:p>
          </p:txBody>
        </p:sp>
      </p:grpSp>
      <p:pic>
        <p:nvPicPr>
          <p:cNvPr id="15" name="Component 2" descr="oda.png"/>
          <p:cNvPicPr>
            <a:picLocks noChangeAspect="1"/>
          </p:cNvPicPr>
          <p:nvPr/>
        </p:nvPicPr>
        <p:blipFill>
          <a:blip r:embed="rId6"/>
          <a:stretch>
            <a:fillRect/>
          </a:stretch>
        </p:blipFill>
        <p:spPr>
          <a:xfrm>
            <a:off x="5397500" y="2667000"/>
            <a:ext cx="1397000" cy="1319389"/>
          </a:xfrm>
          <a:prstGeom prst="rect">
            <a:avLst/>
          </a:prstGeom>
        </p:spPr>
      </p:pic>
      <p:sp>
        <p:nvSpPr>
          <p:cNvPr id="16" name="Vendor 2"/>
          <p:cNvSpPr txBox="1"/>
          <p:nvPr/>
        </p:nvSpPr>
        <p:spPr>
          <a:xfrm>
            <a:off x="5397500" y="4064000"/>
            <a:ext cx="1397000" cy="254000"/>
          </a:xfrm>
          <a:prstGeom prst="rect">
            <a:avLst/>
          </a:prstGeom>
          <a:noFill/>
        </p:spPr>
        <p:txBody>
          <a:bodyPr wrap="square" lIns="0" tIns="0" rIns="0" bIns="0" anchor="t">
            <a:spAutoFit/>
          </a:bodyPr>
          <a:lstStyle/>
          <a:p>
            <a:pPr algn="ctr">
              <a:lnSpc>
                <a:spcPct val="115000"/>
              </a:lnSpc>
            </a:pPr>
            <a:r>
              <a:rPr sz="1300" b="1">
                <a:solidFill>
                  <a:srgbClr val="F5A623"/>
                </a:solidFill>
                <a:latin typeface="Segoe UI"/>
              </a:rPr>
              <a:t>Vendor B</a:t>
            </a:r>
          </a:p>
        </p:txBody>
      </p:sp>
      <p:grpSp>
        <p:nvGrpSpPr>
          <p:cNvPr id="19" name="Own 3"/>
          <p:cNvGrpSpPr/>
          <p:nvPr/>
        </p:nvGrpSpPr>
        <p:grpSpPr>
          <a:xfrm>
            <a:off x="7747000" y="1905000"/>
            <a:ext cx="1524000" cy="622300"/>
            <a:chOff x="7747000" y="1905000"/>
            <a:chExt cx="1524000" cy="622300"/>
          </a:xfrm>
        </p:grpSpPr>
        <p:pic>
          <p:nvPicPr>
            <p:cNvPr id="17" name="Shape 15" descr="icon-chart-8f9bb8.png"/>
            <p:cNvPicPr>
              <a:picLocks noChangeAspect="1"/>
            </p:cNvPicPr>
            <p:nvPr/>
          </p:nvPicPr>
          <p:blipFill>
            <a:blip r:embed="rId5"/>
            <a:stretch>
              <a:fillRect/>
            </a:stretch>
          </p:blipFill>
          <p:spPr>
            <a:xfrm>
              <a:off x="8305800" y="1905000"/>
              <a:ext cx="406400" cy="406400"/>
            </a:xfrm>
            <a:prstGeom prst="rect">
              <a:avLst/>
            </a:prstGeom>
          </p:spPr>
        </p:pic>
        <p:sp>
          <p:nvSpPr>
            <p:cNvPr id="18" name="Shape 16"/>
            <p:cNvSpPr txBox="1"/>
            <p:nvPr/>
          </p:nvSpPr>
          <p:spPr>
            <a:xfrm>
              <a:off x="7747000" y="2336800"/>
              <a:ext cx="1524000" cy="190500"/>
            </a:xfrm>
            <a:prstGeom prst="rect">
              <a:avLst/>
            </a:prstGeom>
            <a:noFill/>
          </p:spPr>
          <p:txBody>
            <a:bodyPr wrap="square" lIns="0" tIns="0" rIns="0" bIns="0" anchor="t">
              <a:spAutoFit/>
            </a:bodyPr>
            <a:lstStyle/>
            <a:p>
              <a:pPr algn="ctr">
                <a:lnSpc>
                  <a:spcPct val="115000"/>
                </a:lnSpc>
              </a:pPr>
              <a:r>
                <a:rPr sz="1000" b="0">
                  <a:solidFill>
                    <a:srgbClr val="8F9BB8"/>
                  </a:solidFill>
                  <a:latin typeface="Segoe UI"/>
                </a:rPr>
                <a:t>its own dashboard</a:t>
              </a:r>
            </a:p>
          </p:txBody>
        </p:sp>
      </p:grpSp>
      <p:pic>
        <p:nvPicPr>
          <p:cNvPr id="20" name="Component 3" descr="oda.png"/>
          <p:cNvPicPr>
            <a:picLocks noChangeAspect="1"/>
          </p:cNvPicPr>
          <p:nvPr/>
        </p:nvPicPr>
        <p:blipFill>
          <a:blip r:embed="rId6"/>
          <a:stretch>
            <a:fillRect/>
          </a:stretch>
        </p:blipFill>
        <p:spPr>
          <a:xfrm>
            <a:off x="7810500" y="2667000"/>
            <a:ext cx="1397000" cy="1319389"/>
          </a:xfrm>
          <a:prstGeom prst="rect">
            <a:avLst/>
          </a:prstGeom>
        </p:spPr>
      </p:pic>
      <p:sp>
        <p:nvSpPr>
          <p:cNvPr id="21" name="Vendor 3"/>
          <p:cNvSpPr txBox="1"/>
          <p:nvPr/>
        </p:nvSpPr>
        <p:spPr>
          <a:xfrm>
            <a:off x="7810500" y="4064000"/>
            <a:ext cx="1397000" cy="254000"/>
          </a:xfrm>
          <a:prstGeom prst="rect">
            <a:avLst/>
          </a:prstGeom>
          <a:noFill/>
        </p:spPr>
        <p:txBody>
          <a:bodyPr wrap="square" lIns="0" tIns="0" rIns="0" bIns="0" anchor="t">
            <a:spAutoFit/>
          </a:bodyPr>
          <a:lstStyle/>
          <a:p>
            <a:pPr algn="ctr">
              <a:lnSpc>
                <a:spcPct val="115000"/>
              </a:lnSpc>
            </a:pPr>
            <a:r>
              <a:rPr sz="1300" b="1">
                <a:solidFill>
                  <a:srgbClr val="F5A623"/>
                </a:solidFill>
                <a:latin typeface="Segoe UI"/>
              </a:rPr>
              <a:t>Vendor C</a:t>
            </a:r>
          </a:p>
        </p:txBody>
      </p:sp>
      <p:grpSp>
        <p:nvGrpSpPr>
          <p:cNvPr id="26" name="Platform"/>
          <p:cNvGrpSpPr/>
          <p:nvPr/>
        </p:nvGrpSpPr>
        <p:grpSpPr>
          <a:xfrm>
            <a:off x="2540000" y="1714500"/>
            <a:ext cx="7112000" cy="825500"/>
            <a:chOff x="2540000" y="1714500"/>
            <a:chExt cx="7112000" cy="825500"/>
          </a:xfrm>
        </p:grpSpPr>
        <p:sp>
          <p:nvSpPr>
            <p:cNvPr id="22" name="Shape 20"/>
            <p:cNvSpPr/>
            <p:nvPr/>
          </p:nvSpPr>
          <p:spPr>
            <a:xfrm>
              <a:off x="2540000" y="1714500"/>
              <a:ext cx="7112000" cy="825500"/>
            </a:xfrm>
            <a:prstGeom prst="roundRect">
              <a:avLst>
                <a:gd name="adj" fmla="val 18461"/>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3" name="Shape 21" descr="icon-chart-38bdf8.png"/>
            <p:cNvPicPr>
              <a:picLocks noChangeAspect="1"/>
            </p:cNvPicPr>
            <p:nvPr/>
          </p:nvPicPr>
          <p:blipFill>
            <a:blip r:embed="rId7"/>
            <a:stretch>
              <a:fillRect/>
            </a:stretch>
          </p:blipFill>
          <p:spPr>
            <a:xfrm>
              <a:off x="2794000" y="1885950"/>
              <a:ext cx="482600" cy="482600"/>
            </a:xfrm>
            <a:prstGeom prst="rect">
              <a:avLst/>
            </a:prstGeom>
          </p:spPr>
        </p:pic>
        <p:sp>
          <p:nvSpPr>
            <p:cNvPr id="24" name="Shape 22"/>
            <p:cNvSpPr txBox="1"/>
            <p:nvPr/>
          </p:nvSpPr>
          <p:spPr>
            <a:xfrm>
              <a:off x="3429000" y="1841500"/>
              <a:ext cx="5969000" cy="317500"/>
            </a:xfrm>
            <a:prstGeom prst="rect">
              <a:avLst/>
            </a:prstGeom>
            <a:noFill/>
          </p:spPr>
          <p:txBody>
            <a:bodyPr wrap="square" lIns="0" tIns="0" rIns="0" bIns="0" anchor="t">
              <a:spAutoFit/>
            </a:bodyPr>
            <a:lstStyle/>
            <a:p>
              <a:pPr algn="l">
                <a:lnSpc>
                  <a:spcPct val="115000"/>
                </a:lnSpc>
              </a:pPr>
              <a:r>
                <a:rPr sz="2000" b="1">
                  <a:solidFill>
                    <a:srgbClr val="F2F5FB"/>
                  </a:solidFill>
                  <a:latin typeface="Segoe UI"/>
                </a:rPr>
                <a:t>One observability platform</a:t>
              </a:r>
            </a:p>
          </p:txBody>
        </p:sp>
        <p:sp>
          <p:nvSpPr>
            <p:cNvPr id="25" name="Shape 23"/>
            <p:cNvSpPr txBox="1"/>
            <p:nvPr/>
          </p:nvSpPr>
          <p:spPr>
            <a:xfrm>
              <a:off x="3429000" y="2184400"/>
              <a:ext cx="5969000" cy="2540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the same view for every component</a:t>
              </a:r>
            </a:p>
          </p:txBody>
        </p:sp>
      </p:grpSp>
      <p:cxnSp>
        <p:nvCxnSpPr>
          <p:cNvPr id="27" name="Feed 1"/>
          <p:cNvCxnSpPr/>
          <p:nvPr/>
        </p:nvCxnSpPr>
        <p:spPr>
          <a:xfrm flipV="1">
            <a:off x="3683000" y="2565400"/>
            <a:ext cx="0" cy="165100"/>
          </a:xfrm>
          <a:prstGeom prst="line">
            <a:avLst/>
          </a:prstGeom>
          <a:ln w="31750">
            <a:solidFill>
              <a:srgbClr val="38BDF8"/>
            </a:solidFill>
            <a:tailEnd type="triangle" w="med"/>
          </a:ln>
        </p:spPr>
        <p:style>
          <a:lnRef idx="2">
            <a:schemeClr val="accent1"/>
          </a:lnRef>
          <a:fillRef idx="0">
            <a:schemeClr val="accent1"/>
          </a:fillRef>
          <a:effectRef idx="1">
            <a:schemeClr val="accent1"/>
          </a:effectRef>
          <a:fontRef idx="minor">
            <a:schemeClr val="tx1"/>
          </a:fontRef>
        </p:style>
      </p:cxnSp>
      <p:cxnSp>
        <p:nvCxnSpPr>
          <p:cNvPr id="28" name="Feed 2"/>
          <p:cNvCxnSpPr/>
          <p:nvPr/>
        </p:nvCxnSpPr>
        <p:spPr>
          <a:xfrm flipV="1">
            <a:off x="6096000" y="2565400"/>
            <a:ext cx="0" cy="165100"/>
          </a:xfrm>
          <a:prstGeom prst="line">
            <a:avLst/>
          </a:prstGeom>
          <a:ln w="31750">
            <a:solidFill>
              <a:srgbClr val="38BDF8"/>
            </a:solidFill>
            <a:tailEnd type="triangle" w="med"/>
          </a:ln>
        </p:spPr>
        <p:style>
          <a:lnRef idx="2">
            <a:schemeClr val="accent1"/>
          </a:lnRef>
          <a:fillRef idx="0">
            <a:schemeClr val="accent1"/>
          </a:fillRef>
          <a:effectRef idx="1">
            <a:schemeClr val="accent1"/>
          </a:effectRef>
          <a:fontRef idx="minor">
            <a:schemeClr val="tx1"/>
          </a:fontRef>
        </p:style>
      </p:cxnSp>
      <p:cxnSp>
        <p:nvCxnSpPr>
          <p:cNvPr id="29" name="Feed 3"/>
          <p:cNvCxnSpPr/>
          <p:nvPr/>
        </p:nvCxnSpPr>
        <p:spPr>
          <a:xfrm flipV="1">
            <a:off x="8509000" y="2565400"/>
            <a:ext cx="0" cy="165100"/>
          </a:xfrm>
          <a:prstGeom prst="line">
            <a:avLst/>
          </a:prstGeom>
          <a:ln w="31750">
            <a:solidFill>
              <a:srgbClr val="38BDF8"/>
            </a:solidFill>
            <a:tailEnd type="triangle" w="med"/>
          </a:ln>
        </p:spPr>
        <p:style>
          <a:lnRef idx="2">
            <a:schemeClr val="accent1"/>
          </a:lnRef>
          <a:fillRef idx="0">
            <a:schemeClr val="accent1"/>
          </a:fillRef>
          <a:effectRef idx="1">
            <a:schemeClr val="accent1"/>
          </a:effectRef>
          <a:fontRef idx="minor">
            <a:schemeClr val="tx1"/>
          </a:fontRef>
        </p:style>
      </p:cxnSp>
      <p:cxnSp>
        <p:nvCxnSpPr>
          <p:cNvPr id="30" name="Trace 1"/>
          <p:cNvCxnSpPr/>
          <p:nvPr/>
        </p:nvCxnSpPr>
        <p:spPr>
          <a:xfrm>
            <a:off x="4406900" y="3429000"/>
            <a:ext cx="965200" cy="0"/>
          </a:xfrm>
          <a:prstGeom prst="line">
            <a:avLst/>
          </a:prstGeom>
          <a:ln w="31750">
            <a:solidFill>
              <a:srgbClr val="38BDF8"/>
            </a:solidFill>
            <a:prstDash val="dash"/>
            <a:tailEnd type="triangle" w="med"/>
          </a:ln>
        </p:spPr>
        <p:style>
          <a:lnRef idx="2">
            <a:schemeClr val="accent1"/>
          </a:lnRef>
          <a:fillRef idx="0">
            <a:schemeClr val="accent1"/>
          </a:fillRef>
          <a:effectRef idx="1">
            <a:schemeClr val="accent1"/>
          </a:effectRef>
          <a:fontRef idx="minor">
            <a:schemeClr val="tx1"/>
          </a:fontRef>
        </p:style>
      </p:cxnSp>
      <p:cxnSp>
        <p:nvCxnSpPr>
          <p:cNvPr id="31" name="Trace 2"/>
          <p:cNvCxnSpPr/>
          <p:nvPr/>
        </p:nvCxnSpPr>
        <p:spPr>
          <a:xfrm>
            <a:off x="6819900" y="3429000"/>
            <a:ext cx="965200" cy="0"/>
          </a:xfrm>
          <a:prstGeom prst="line">
            <a:avLst/>
          </a:prstGeom>
          <a:ln w="31750">
            <a:solidFill>
              <a:srgbClr val="38BDF8"/>
            </a:solidFill>
            <a:prstDash val="dash"/>
            <a:tailEnd type="triangle" w="med"/>
          </a:ln>
        </p:spPr>
        <p:style>
          <a:lnRef idx="2">
            <a:schemeClr val="accent1"/>
          </a:lnRef>
          <a:fillRef idx="0">
            <a:schemeClr val="accent1"/>
          </a:fillRef>
          <a:effectRef idx="1">
            <a:schemeClr val="accent1"/>
          </a:effectRef>
          <a:fontRef idx="minor">
            <a:schemeClr val="tx1"/>
          </a:fontRef>
        </p:style>
      </p:cxnSp>
      <p:grpSp>
        <p:nvGrpSpPr>
          <p:cNvPr id="35" name="Trace 3"/>
          <p:cNvGrpSpPr/>
          <p:nvPr/>
        </p:nvGrpSpPr>
        <p:grpSpPr>
          <a:xfrm>
            <a:off x="9144000" y="3429000"/>
            <a:ext cx="952500" cy="2286000"/>
            <a:chOff x="9144000" y="3429000"/>
            <a:chExt cx="952500" cy="2286000"/>
          </a:xfrm>
        </p:grpSpPr>
        <p:cxnSp>
          <p:nvCxnSpPr>
            <p:cNvPr id="32" name="Shape 30"/>
            <p:cNvCxnSpPr/>
            <p:nvPr/>
          </p:nvCxnSpPr>
          <p:spPr>
            <a:xfrm>
              <a:off x="9220200" y="3429000"/>
              <a:ext cx="876300" cy="0"/>
            </a:xfrm>
            <a:prstGeom prst="line">
              <a:avLst/>
            </a:prstGeom>
            <a:ln w="31750">
              <a:solidFill>
                <a:srgbClr val="38BDF8"/>
              </a:solidFill>
              <a:prstDash val="dash"/>
            </a:ln>
          </p:spPr>
          <p:style>
            <a:lnRef idx="2">
              <a:schemeClr val="accent1"/>
            </a:lnRef>
            <a:fillRef idx="0">
              <a:schemeClr val="accent1"/>
            </a:fillRef>
            <a:effectRef idx="1">
              <a:schemeClr val="accent1"/>
            </a:effectRef>
            <a:fontRef idx="minor">
              <a:schemeClr val="tx1"/>
            </a:fontRef>
          </p:style>
        </p:cxnSp>
        <p:cxnSp>
          <p:nvCxnSpPr>
            <p:cNvPr id="33" name="Shape 31"/>
            <p:cNvCxnSpPr/>
            <p:nvPr/>
          </p:nvCxnSpPr>
          <p:spPr>
            <a:xfrm>
              <a:off x="10096500" y="3429000"/>
              <a:ext cx="0" cy="2286000"/>
            </a:xfrm>
            <a:prstGeom prst="line">
              <a:avLst/>
            </a:prstGeom>
            <a:ln w="31750">
              <a:solidFill>
                <a:srgbClr val="38BDF8"/>
              </a:solidFill>
              <a:prstDash val="dash"/>
            </a:ln>
          </p:spPr>
          <p:style>
            <a:lnRef idx="2">
              <a:schemeClr val="accent1"/>
            </a:lnRef>
            <a:fillRef idx="0">
              <a:schemeClr val="accent1"/>
            </a:fillRef>
            <a:effectRef idx="1">
              <a:schemeClr val="accent1"/>
            </a:effectRef>
            <a:fontRef idx="minor">
              <a:schemeClr val="tx1"/>
            </a:fontRef>
          </p:style>
        </p:cxnSp>
        <p:cxnSp>
          <p:nvCxnSpPr>
            <p:cNvPr id="34" name="Shape 32"/>
            <p:cNvCxnSpPr/>
            <p:nvPr/>
          </p:nvCxnSpPr>
          <p:spPr>
            <a:xfrm flipH="1">
              <a:off x="9144000" y="5715000"/>
              <a:ext cx="952500" cy="0"/>
            </a:xfrm>
            <a:prstGeom prst="line">
              <a:avLst/>
            </a:prstGeom>
            <a:ln w="31750">
              <a:solidFill>
                <a:srgbClr val="38BDF8"/>
              </a:solidFill>
              <a:prstDash val="dash"/>
              <a:tailEnd type="triangle" w="med"/>
            </a:ln>
          </p:spPr>
          <p:style>
            <a:lnRef idx="2">
              <a:schemeClr val="accent1"/>
            </a:lnRef>
            <a:fillRef idx="0">
              <a:schemeClr val="accent1"/>
            </a:fillRef>
            <a:effectRef idx="1">
              <a:schemeClr val="accent1"/>
            </a:effectRef>
            <a:fontRef idx="minor">
              <a:schemeClr val="tx1"/>
            </a:fontRef>
          </p:style>
        </p:cxnSp>
      </p:grpSp>
      <p:sp>
        <p:nvSpPr>
          <p:cNvPr id="36" name="Trace label"/>
          <p:cNvSpPr txBox="1"/>
          <p:nvPr/>
        </p:nvSpPr>
        <p:spPr>
          <a:xfrm>
            <a:off x="508000" y="2984500"/>
            <a:ext cx="2286000" cy="889000"/>
          </a:xfrm>
          <a:prstGeom prst="rect">
            <a:avLst/>
          </a:prstGeom>
          <a:noFill/>
        </p:spPr>
        <p:txBody>
          <a:bodyPr wrap="square" lIns="0" tIns="0" rIns="0" bIns="0" anchor="t">
            <a:spAutoFit/>
          </a:bodyPr>
          <a:lstStyle/>
          <a:p>
            <a:pPr algn="l">
              <a:lnSpc>
                <a:spcPct val="115000"/>
              </a:lnSpc>
            </a:pPr>
            <a:r>
              <a:rPr sz="1500" b="1">
                <a:solidFill>
                  <a:srgbClr val="38BDF8"/>
                </a:solidFill>
                <a:latin typeface="Segoe UI"/>
              </a:rPr>
              <a:t>One trace across components and Canvas services</a:t>
            </a:r>
          </a:p>
        </p:txBody>
      </p:sp>
    </p:spTree>
  </p:cSld>
  <p:clrMapOvr>
    <a:masterClrMapping/>
  </p:clrMapOvr>
  <mc:AlternateContent xmlns:mc="http://schemas.openxmlformats.org/markup-compatibility/2006">
    <mc:Choice xmlns:p14="http://schemas.microsoft.com/office/powerpoint/2010/main" Requires="p14">
      <p:transition spd="slow" p14:dur="2000" advTm="26700"/>
    </mc:Choice>
    <mc:Fallback>
      <p:transition spd="slow" advTm="2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800"/>
                                        <p:tgtEl>
                                          <p:spTgt spid="6"/>
                                        </p:tgtEl>
                                      </p:cBhvr>
                                    </p:animEffect>
                                  </p:childTnLst>
                                </p:cTn>
                              </p:par>
                              <p:par>
                                <p:cTn id="14" presetID="58" presetClass="entr" presetSubtype="0" accel="100000" fill="hold" nodeType="withEffect">
                                  <p:stCondLst>
                                    <p:cond delay="80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strVal val="#ppt_w*2.5"/>
                                          </p:val>
                                        </p:tav>
                                        <p:tav tm="100000">
                                          <p:val>
                                            <p:strVal val="#ppt_w"/>
                                          </p:val>
                                        </p:tav>
                                      </p:tavLst>
                                    </p:anim>
                                    <p:anim calcmode="lin" valueType="num">
                                      <p:cBhvr>
                                        <p:cTn id="17" dur="500" fill="hold"/>
                                        <p:tgtEl>
                                          <p:spTgt spid="10"/>
                                        </p:tgtEl>
                                        <p:attrNameLst>
                                          <p:attrName>ppt_h</p:attrName>
                                        </p:attrNameLst>
                                      </p:cBhvr>
                                      <p:tavLst>
                                        <p:tav tm="0">
                                          <p:val>
                                            <p:strVal val="#ppt_h*0.01"/>
                                          </p:val>
                                        </p:tav>
                                        <p:tav tm="100000">
                                          <p:val>
                                            <p:strVal val="#ppt_h"/>
                                          </p:val>
                                        </p:tav>
                                      </p:tavLst>
                                    </p:anim>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h+1"/>
                                          </p:val>
                                        </p:tav>
                                        <p:tav tm="100000">
                                          <p:val>
                                            <p:strVal val="#ppt_y"/>
                                          </p:val>
                                        </p:tav>
                                      </p:tavLst>
                                    </p:anim>
                                    <p:animEffect transition="in" filter="fade">
                                      <p:cBhvr>
                                        <p:cTn id="20" dur="500"/>
                                        <p:tgtEl>
                                          <p:spTgt spid="10"/>
                                        </p:tgtEl>
                                      </p:cBhvr>
                                    </p:animEffect>
                                  </p:childTnLst>
                                </p:cTn>
                              </p:par>
                              <p:par>
                                <p:cTn id="21" presetID="10" presetClass="entr" presetSubtype="0"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58" presetClass="entr" presetSubtype="0" accel="100000" fill="hold" nodeType="withEffect">
                                  <p:stCondLst>
                                    <p:cond delay="140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strVal val="#ppt_w*2.5"/>
                                          </p:val>
                                        </p:tav>
                                        <p:tav tm="100000">
                                          <p:val>
                                            <p:strVal val="#ppt_w"/>
                                          </p:val>
                                        </p:tav>
                                      </p:tavLst>
                                    </p:anim>
                                    <p:anim calcmode="lin" valueType="num">
                                      <p:cBhvr>
                                        <p:cTn id="27" dur="500" fill="hold"/>
                                        <p:tgtEl>
                                          <p:spTgt spid="15"/>
                                        </p:tgtEl>
                                        <p:attrNameLst>
                                          <p:attrName>ppt_h</p:attrName>
                                        </p:attrNameLst>
                                      </p:cBhvr>
                                      <p:tavLst>
                                        <p:tav tm="0">
                                          <p:val>
                                            <p:strVal val="#ppt_h*0.01"/>
                                          </p:val>
                                        </p:tav>
                                        <p:tav tm="100000">
                                          <p:val>
                                            <p:strVal val="#ppt_h"/>
                                          </p:val>
                                        </p:tav>
                                      </p:tavLst>
                                    </p:anim>
                                    <p:anim calcmode="lin" valueType="num">
                                      <p:cBhvr>
                                        <p:cTn id="28" dur="500" fill="hold"/>
                                        <p:tgtEl>
                                          <p:spTgt spid="15"/>
                                        </p:tgtEl>
                                        <p:attrNameLst>
                                          <p:attrName>ppt_x</p:attrName>
                                        </p:attrNameLst>
                                      </p:cBhvr>
                                      <p:tavLst>
                                        <p:tav tm="0">
                                          <p:val>
                                            <p:strVal val="#ppt_x"/>
                                          </p:val>
                                        </p:tav>
                                        <p:tav tm="100000">
                                          <p:val>
                                            <p:strVal val="#ppt_x"/>
                                          </p:val>
                                        </p:tav>
                                      </p:tavLst>
                                    </p:anim>
                                    <p:anim calcmode="lin" valueType="num">
                                      <p:cBhvr>
                                        <p:cTn id="29" dur="500" fill="hold"/>
                                        <p:tgtEl>
                                          <p:spTgt spid="15"/>
                                        </p:tgtEl>
                                        <p:attrNameLst>
                                          <p:attrName>ppt_y</p:attrName>
                                        </p:attrNameLst>
                                      </p:cBhvr>
                                      <p:tavLst>
                                        <p:tav tm="0">
                                          <p:val>
                                            <p:strVal val="#ppt_h+1"/>
                                          </p:val>
                                        </p:tav>
                                        <p:tav tm="100000">
                                          <p:val>
                                            <p:strVal val="#ppt_y"/>
                                          </p:val>
                                        </p:tav>
                                      </p:tavLst>
                                    </p:anim>
                                    <p:animEffect transition="in" filter="fade">
                                      <p:cBhvr>
                                        <p:cTn id="30" dur="500"/>
                                        <p:tgtEl>
                                          <p:spTgt spid="15"/>
                                        </p:tgtEl>
                                      </p:cBhvr>
                                    </p:animEffect>
                                  </p:childTnLst>
                                </p:cTn>
                              </p:par>
                              <p:par>
                                <p:cTn id="31" presetID="10" presetClass="entr" presetSubtype="0" fill="hold" grpId="0" nodeType="withEffect">
                                  <p:stCondLst>
                                    <p:cond delay="160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par>
                                <p:cTn id="34" presetID="58" presetClass="entr" presetSubtype="0" accel="100000" fill="hold" nodeType="withEffect">
                                  <p:stCondLst>
                                    <p:cond delay="200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strVal val="#ppt_w*2.5"/>
                                          </p:val>
                                        </p:tav>
                                        <p:tav tm="100000">
                                          <p:val>
                                            <p:strVal val="#ppt_w"/>
                                          </p:val>
                                        </p:tav>
                                      </p:tavLst>
                                    </p:anim>
                                    <p:anim calcmode="lin" valueType="num">
                                      <p:cBhvr>
                                        <p:cTn id="37" dur="500" fill="hold"/>
                                        <p:tgtEl>
                                          <p:spTgt spid="20"/>
                                        </p:tgtEl>
                                        <p:attrNameLst>
                                          <p:attrName>ppt_h</p:attrName>
                                        </p:attrNameLst>
                                      </p:cBhvr>
                                      <p:tavLst>
                                        <p:tav tm="0">
                                          <p:val>
                                            <p:strVal val="#ppt_h*0.01"/>
                                          </p:val>
                                        </p:tav>
                                        <p:tav tm="100000">
                                          <p:val>
                                            <p:strVal val="#ppt_h"/>
                                          </p:val>
                                        </p:tav>
                                      </p:tavLst>
                                    </p:anim>
                                    <p:anim calcmode="lin" valueType="num">
                                      <p:cBhvr>
                                        <p:cTn id="38" dur="500" fill="hold"/>
                                        <p:tgtEl>
                                          <p:spTgt spid="20"/>
                                        </p:tgtEl>
                                        <p:attrNameLst>
                                          <p:attrName>ppt_x</p:attrName>
                                        </p:attrNameLst>
                                      </p:cBhvr>
                                      <p:tavLst>
                                        <p:tav tm="0">
                                          <p:val>
                                            <p:strVal val="#ppt_x"/>
                                          </p:val>
                                        </p:tav>
                                        <p:tav tm="100000">
                                          <p:val>
                                            <p:strVal val="#ppt_x"/>
                                          </p:val>
                                        </p:tav>
                                      </p:tavLst>
                                    </p:anim>
                                    <p:anim calcmode="lin" valueType="num">
                                      <p:cBhvr>
                                        <p:cTn id="39" dur="500" fill="hold"/>
                                        <p:tgtEl>
                                          <p:spTgt spid="20"/>
                                        </p:tgtEl>
                                        <p:attrNameLst>
                                          <p:attrName>ppt_y</p:attrName>
                                        </p:attrNameLst>
                                      </p:cBhvr>
                                      <p:tavLst>
                                        <p:tav tm="0">
                                          <p:val>
                                            <p:strVal val="#ppt_h+1"/>
                                          </p:val>
                                        </p:tav>
                                        <p:tav tm="100000">
                                          <p:val>
                                            <p:strVal val="#ppt_y"/>
                                          </p:val>
                                        </p:tav>
                                      </p:tavLst>
                                    </p:anim>
                                    <p:animEffect transition="in" filter="fade">
                                      <p:cBhvr>
                                        <p:cTn id="40" dur="500"/>
                                        <p:tgtEl>
                                          <p:spTgt spid="20"/>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nodeType="withEffect">
                                  <p:stCondLst>
                                    <p:cond delay="70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00"/>
                                        <p:tgtEl>
                                          <p:spTgt spid="9"/>
                                        </p:tgtEl>
                                      </p:cBhvr>
                                    </p:animEffect>
                                  </p:childTnLst>
                                </p:cTn>
                              </p:par>
                              <p:par>
                                <p:cTn id="47" presetID="10" presetClass="entr" presetSubtype="0" fill="hold" nodeType="withEffect">
                                  <p:stCondLst>
                                    <p:cond delay="75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00"/>
                                        <p:tgtEl>
                                          <p:spTgt spid="14"/>
                                        </p:tgtEl>
                                      </p:cBhvr>
                                    </p:animEffect>
                                  </p:childTnLst>
                                </p:cTn>
                              </p:par>
                              <p:par>
                                <p:cTn id="50" presetID="10" presetClass="entr" presetSubtype="0" fill="hold" nodeType="withEffect">
                                  <p:stCondLst>
                                    <p:cond delay="80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58" presetClass="entr" presetSubtype="0" accel="100000" fill="hold" nodeType="withEffect">
                                  <p:stCondLst>
                                    <p:cond delay="14600"/>
                                  </p:stCondLst>
                                  <p:childTnLst>
                                    <p:set>
                                      <p:cBhvr>
                                        <p:cTn id="54" dur="1" fill="hold">
                                          <p:stCondLst>
                                            <p:cond delay="0"/>
                                          </p:stCondLst>
                                        </p:cTn>
                                        <p:tgtEl>
                                          <p:spTgt spid="26"/>
                                        </p:tgtEl>
                                        <p:attrNameLst>
                                          <p:attrName>style.visibility</p:attrName>
                                        </p:attrNameLst>
                                      </p:cBhvr>
                                      <p:to>
                                        <p:strVal val="visible"/>
                                      </p:to>
                                    </p:set>
                                    <p:anim calcmode="lin" valueType="num">
                                      <p:cBhvr>
                                        <p:cTn id="55" dur="600" fill="hold"/>
                                        <p:tgtEl>
                                          <p:spTgt spid="26"/>
                                        </p:tgtEl>
                                        <p:attrNameLst>
                                          <p:attrName>ppt_w</p:attrName>
                                        </p:attrNameLst>
                                      </p:cBhvr>
                                      <p:tavLst>
                                        <p:tav tm="0">
                                          <p:val>
                                            <p:strVal val="#ppt_w*2.5"/>
                                          </p:val>
                                        </p:tav>
                                        <p:tav tm="100000">
                                          <p:val>
                                            <p:strVal val="#ppt_w"/>
                                          </p:val>
                                        </p:tav>
                                      </p:tavLst>
                                    </p:anim>
                                    <p:anim calcmode="lin" valueType="num">
                                      <p:cBhvr>
                                        <p:cTn id="56" dur="600" fill="hold"/>
                                        <p:tgtEl>
                                          <p:spTgt spid="26"/>
                                        </p:tgtEl>
                                        <p:attrNameLst>
                                          <p:attrName>ppt_h</p:attrName>
                                        </p:attrNameLst>
                                      </p:cBhvr>
                                      <p:tavLst>
                                        <p:tav tm="0">
                                          <p:val>
                                            <p:strVal val="#ppt_h*0.01"/>
                                          </p:val>
                                        </p:tav>
                                        <p:tav tm="100000">
                                          <p:val>
                                            <p:strVal val="#ppt_h"/>
                                          </p:val>
                                        </p:tav>
                                      </p:tavLst>
                                    </p:anim>
                                    <p:anim calcmode="lin" valueType="num">
                                      <p:cBhvr>
                                        <p:cTn id="57" dur="600" fill="hold"/>
                                        <p:tgtEl>
                                          <p:spTgt spid="26"/>
                                        </p:tgtEl>
                                        <p:attrNameLst>
                                          <p:attrName>ppt_x</p:attrName>
                                        </p:attrNameLst>
                                      </p:cBhvr>
                                      <p:tavLst>
                                        <p:tav tm="0">
                                          <p:val>
                                            <p:strVal val="#ppt_x"/>
                                          </p:val>
                                        </p:tav>
                                        <p:tav tm="100000">
                                          <p:val>
                                            <p:strVal val="#ppt_x"/>
                                          </p:val>
                                        </p:tav>
                                      </p:tavLst>
                                    </p:anim>
                                    <p:anim calcmode="lin" valueType="num">
                                      <p:cBhvr>
                                        <p:cTn id="58" dur="600" fill="hold"/>
                                        <p:tgtEl>
                                          <p:spTgt spid="26"/>
                                        </p:tgtEl>
                                        <p:attrNameLst>
                                          <p:attrName>ppt_y</p:attrName>
                                        </p:attrNameLst>
                                      </p:cBhvr>
                                      <p:tavLst>
                                        <p:tav tm="0">
                                          <p:val>
                                            <p:strVal val="#ppt_h+1"/>
                                          </p:val>
                                        </p:tav>
                                        <p:tav tm="100000">
                                          <p:val>
                                            <p:strVal val="#ppt_y"/>
                                          </p:val>
                                        </p:tav>
                                      </p:tavLst>
                                    </p:anim>
                                    <p:animEffect transition="in" filter="fade">
                                      <p:cBhvr>
                                        <p:cTn id="59" dur="600"/>
                                        <p:tgtEl>
                                          <p:spTgt spid="26"/>
                                        </p:tgtEl>
                                      </p:cBhvr>
                                    </p:animEffect>
                                  </p:childTnLst>
                                </p:cTn>
                              </p:par>
                              <p:par>
                                <p:cTn id="60" presetID="10" presetClass="entr" presetSubtype="0" fill="hold" nodeType="withEffect">
                                  <p:stCondLst>
                                    <p:cond delay="164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nodeType="withEffect">
                                  <p:stCondLst>
                                    <p:cond delay="1670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nodeType="withEffect">
                                  <p:stCondLst>
                                    <p:cond delay="1700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1920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00"/>
                                        <p:tgtEl>
                                          <p:spTgt spid="36"/>
                                        </p:tgtEl>
                                      </p:cBhvr>
                                    </p:animEffect>
                                  </p:childTnLst>
                                </p:cTn>
                              </p:par>
                              <p:par>
                                <p:cTn id="72" presetID="10" presetClass="entr" presetSubtype="0" fill="hold" nodeType="withEffect">
                                  <p:stCondLst>
                                    <p:cond delay="1960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nodeType="withEffect">
                                  <p:stCondLst>
                                    <p:cond delay="2020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2100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P spid="16" grpId="0"/>
      <p:bldP spid="21"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Three kinds of observability</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OBSERVABILITY</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Three kinds of observability</a:t>
            </a:r>
          </a:p>
        </p:txBody>
      </p:sp>
      <p:grpSp>
        <p:nvGrpSpPr>
          <p:cNvPr id="14" name="Kind 1"/>
          <p:cNvGrpSpPr/>
          <p:nvPr/>
        </p:nvGrpSpPr>
        <p:grpSpPr>
          <a:xfrm>
            <a:off x="762000" y="1714500"/>
            <a:ext cx="3429000" cy="2984500"/>
            <a:chOff x="762000" y="1714500"/>
            <a:chExt cx="3429000" cy="2984500"/>
          </a:xfrm>
        </p:grpSpPr>
        <p:sp>
          <p:nvSpPr>
            <p:cNvPr id="6" name="Shape 4"/>
            <p:cNvSpPr/>
            <p:nvPr/>
          </p:nvSpPr>
          <p:spPr>
            <a:xfrm>
              <a:off x="762000" y="1714500"/>
              <a:ext cx="3429000" cy="2984500"/>
            </a:xfrm>
            <a:prstGeom prst="roundRect">
              <a:avLst>
                <a:gd name="adj" fmla="val 5531"/>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chart-38bdf8.png"/>
            <p:cNvPicPr>
              <a:picLocks noChangeAspect="1"/>
            </p:cNvPicPr>
            <p:nvPr/>
          </p:nvPicPr>
          <p:blipFill>
            <a:blip r:embed="rId4"/>
            <a:stretch>
              <a:fillRect/>
            </a:stretch>
          </p:blipFill>
          <p:spPr>
            <a:xfrm>
              <a:off x="1016000" y="1968500"/>
              <a:ext cx="635000" cy="635000"/>
            </a:xfrm>
            <a:prstGeom prst="rect">
              <a:avLst/>
            </a:prstGeom>
          </p:spPr>
        </p:pic>
        <p:sp>
          <p:nvSpPr>
            <p:cNvPr id="8" name="Shape 6"/>
            <p:cNvSpPr txBox="1"/>
            <p:nvPr/>
          </p:nvSpPr>
          <p:spPr>
            <a:xfrm>
              <a:off x="1016000" y="2794000"/>
              <a:ext cx="2984500" cy="381000"/>
            </a:xfrm>
            <a:prstGeom prst="rect">
              <a:avLst/>
            </a:prstGeom>
            <a:noFill/>
          </p:spPr>
          <p:txBody>
            <a:bodyPr wrap="square" lIns="0" tIns="0" rIns="0" bIns="0" anchor="t">
              <a:spAutoFit/>
            </a:bodyPr>
            <a:lstStyle/>
            <a:p>
              <a:pPr algn="l">
                <a:lnSpc>
                  <a:spcPct val="115000"/>
                </a:lnSpc>
              </a:pPr>
              <a:r>
                <a:rPr sz="2200" b="1">
                  <a:solidFill>
                    <a:srgbClr val="F2F5FB"/>
                  </a:solidFill>
                  <a:latin typeface="Segoe UI"/>
                </a:rPr>
                <a:t>Technical metrics</a:t>
              </a:r>
            </a:p>
          </p:txBody>
        </p:sp>
        <p:sp>
          <p:nvSpPr>
            <p:cNvPr id="9" name="Shape 7"/>
            <p:cNvSpPr txBox="1"/>
            <p:nvPr/>
          </p:nvSpPr>
          <p:spPr>
            <a:xfrm>
              <a:off x="1016000" y="3213100"/>
              <a:ext cx="2984500" cy="508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How the component is running</a:t>
              </a:r>
            </a:p>
          </p:txBody>
        </p:sp>
        <p:sp>
          <p:nvSpPr>
            <p:cNvPr id="10" name="Shape 8"/>
            <p:cNvSpPr/>
            <p:nvPr/>
          </p:nvSpPr>
          <p:spPr>
            <a:xfrm>
              <a:off x="1016000" y="3810000"/>
              <a:ext cx="53340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CPU</a:t>
              </a:r>
            </a:p>
          </p:txBody>
        </p:sp>
        <p:sp>
          <p:nvSpPr>
            <p:cNvPr id="11" name="Shape 9"/>
            <p:cNvSpPr/>
            <p:nvPr/>
          </p:nvSpPr>
          <p:spPr>
            <a:xfrm>
              <a:off x="1612900" y="3810000"/>
              <a:ext cx="78740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memory</a:t>
              </a:r>
            </a:p>
          </p:txBody>
        </p:sp>
        <p:sp>
          <p:nvSpPr>
            <p:cNvPr id="12" name="Shape 10"/>
            <p:cNvSpPr/>
            <p:nvPr/>
          </p:nvSpPr>
          <p:spPr>
            <a:xfrm>
              <a:off x="2463800" y="3810000"/>
              <a:ext cx="95885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requests</a:t>
              </a:r>
            </a:p>
          </p:txBody>
        </p:sp>
        <p:sp>
          <p:nvSpPr>
            <p:cNvPr id="13" name="Shape 11"/>
            <p:cNvSpPr txBox="1"/>
            <p:nvPr/>
          </p:nvSpPr>
          <p:spPr>
            <a:xfrm>
              <a:off x="1016000" y="4305300"/>
              <a:ext cx="2984500" cy="254000"/>
            </a:xfrm>
            <a:prstGeom prst="rect">
              <a:avLst/>
            </a:prstGeom>
            <a:noFill/>
          </p:spPr>
          <p:txBody>
            <a:bodyPr wrap="square" lIns="0" tIns="0" rIns="0" bIns="0" anchor="t">
              <a:spAutoFit/>
            </a:bodyPr>
            <a:lstStyle/>
            <a:p>
              <a:pPr algn="l">
                <a:lnSpc>
                  <a:spcPct val="115000"/>
                </a:lnSpc>
              </a:pPr>
              <a:r>
                <a:rPr sz="1200" b="1">
                  <a:solidFill>
                    <a:srgbClr val="4A5675"/>
                  </a:solidFill>
                  <a:latin typeface="Segoe UI"/>
                </a:rPr>
                <a:t>UC011</a:t>
              </a:r>
            </a:p>
          </p:txBody>
        </p:sp>
      </p:grpSp>
      <p:sp>
        <p:nvSpPr>
          <p:cNvPr id="15" name="Question 1"/>
          <p:cNvSpPr txBox="1"/>
          <p:nvPr/>
        </p:nvSpPr>
        <p:spPr>
          <a:xfrm>
            <a:off x="762000" y="4953000"/>
            <a:ext cx="3429000" cy="317500"/>
          </a:xfrm>
          <a:prstGeom prst="rect">
            <a:avLst/>
          </a:prstGeom>
          <a:noFill/>
        </p:spPr>
        <p:txBody>
          <a:bodyPr wrap="square" lIns="0" tIns="0" rIns="0" bIns="0" anchor="t">
            <a:spAutoFit/>
          </a:bodyPr>
          <a:lstStyle/>
          <a:p>
            <a:pPr algn="ctr">
              <a:lnSpc>
                <a:spcPct val="115000"/>
              </a:lnSpc>
            </a:pPr>
            <a:r>
              <a:rPr sz="1700" b="1">
                <a:solidFill>
                  <a:srgbClr val="38BDF8"/>
                </a:solidFill>
                <a:latin typeface="Segoe UI"/>
              </a:rPr>
              <a:t>Component health</a:t>
            </a:r>
          </a:p>
        </p:txBody>
      </p:sp>
      <p:grpSp>
        <p:nvGrpSpPr>
          <p:cNvPr id="23" name="Kind 2"/>
          <p:cNvGrpSpPr/>
          <p:nvPr/>
        </p:nvGrpSpPr>
        <p:grpSpPr>
          <a:xfrm>
            <a:off x="4445000" y="1714500"/>
            <a:ext cx="3429000" cy="2984500"/>
            <a:chOff x="4445000" y="1714500"/>
            <a:chExt cx="3429000" cy="2984500"/>
          </a:xfrm>
        </p:grpSpPr>
        <p:sp>
          <p:nvSpPr>
            <p:cNvPr id="16" name="Shape 14"/>
            <p:cNvSpPr/>
            <p:nvPr/>
          </p:nvSpPr>
          <p:spPr>
            <a:xfrm>
              <a:off x="4445000" y="1714500"/>
              <a:ext cx="3429000" cy="2984500"/>
            </a:xfrm>
            <a:prstGeom prst="roundRect">
              <a:avLst>
                <a:gd name="adj" fmla="val 5531"/>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7" name="Shape 15" descr="icon-people-38bdf8.png"/>
            <p:cNvPicPr>
              <a:picLocks noChangeAspect="1"/>
            </p:cNvPicPr>
            <p:nvPr/>
          </p:nvPicPr>
          <p:blipFill>
            <a:blip r:embed="rId5"/>
            <a:stretch>
              <a:fillRect/>
            </a:stretch>
          </p:blipFill>
          <p:spPr>
            <a:xfrm>
              <a:off x="4699000" y="1968500"/>
              <a:ext cx="635000" cy="635000"/>
            </a:xfrm>
            <a:prstGeom prst="rect">
              <a:avLst/>
            </a:prstGeom>
          </p:spPr>
        </p:pic>
        <p:sp>
          <p:nvSpPr>
            <p:cNvPr id="18" name="Shape 16"/>
            <p:cNvSpPr txBox="1"/>
            <p:nvPr/>
          </p:nvSpPr>
          <p:spPr>
            <a:xfrm>
              <a:off x="4699000" y="2794000"/>
              <a:ext cx="2984500" cy="381000"/>
            </a:xfrm>
            <a:prstGeom prst="rect">
              <a:avLst/>
            </a:prstGeom>
            <a:noFill/>
          </p:spPr>
          <p:txBody>
            <a:bodyPr wrap="square" lIns="0" tIns="0" rIns="0" bIns="0" anchor="t">
              <a:spAutoFit/>
            </a:bodyPr>
            <a:lstStyle/>
            <a:p>
              <a:pPr algn="l">
                <a:lnSpc>
                  <a:spcPct val="115000"/>
                </a:lnSpc>
              </a:pPr>
              <a:r>
                <a:rPr sz="2200" b="1">
                  <a:solidFill>
                    <a:srgbClr val="F2F5FB"/>
                  </a:solidFill>
                  <a:latin typeface="Segoe UI"/>
                </a:rPr>
                <a:t>Business metrics</a:t>
              </a:r>
            </a:p>
          </p:txBody>
        </p:sp>
        <p:sp>
          <p:nvSpPr>
            <p:cNvPr id="19" name="Shape 17"/>
            <p:cNvSpPr txBox="1"/>
            <p:nvPr/>
          </p:nvSpPr>
          <p:spPr>
            <a:xfrm>
              <a:off x="4699000" y="3213100"/>
              <a:ext cx="2984500" cy="508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Defined by each component</a:t>
              </a:r>
            </a:p>
          </p:txBody>
        </p:sp>
        <p:sp>
          <p:nvSpPr>
            <p:cNvPr id="20" name="Shape 18"/>
            <p:cNvSpPr/>
            <p:nvPr/>
          </p:nvSpPr>
          <p:spPr>
            <a:xfrm>
              <a:off x="4699000" y="3810000"/>
              <a:ext cx="78740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orders</a:t>
              </a:r>
            </a:p>
          </p:txBody>
        </p:sp>
        <p:sp>
          <p:nvSpPr>
            <p:cNvPr id="21" name="Shape 19"/>
            <p:cNvSpPr/>
            <p:nvPr/>
          </p:nvSpPr>
          <p:spPr>
            <a:xfrm>
              <a:off x="5549900" y="3810000"/>
              <a:ext cx="155575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catalog changes</a:t>
              </a:r>
            </a:p>
          </p:txBody>
        </p:sp>
        <p:sp>
          <p:nvSpPr>
            <p:cNvPr id="22" name="Shape 20"/>
            <p:cNvSpPr txBox="1"/>
            <p:nvPr/>
          </p:nvSpPr>
          <p:spPr>
            <a:xfrm>
              <a:off x="4699000" y="4305300"/>
              <a:ext cx="2984500" cy="254000"/>
            </a:xfrm>
            <a:prstGeom prst="rect">
              <a:avLst/>
            </a:prstGeom>
            <a:noFill/>
          </p:spPr>
          <p:txBody>
            <a:bodyPr wrap="square" lIns="0" tIns="0" rIns="0" bIns="0" anchor="t">
              <a:spAutoFit/>
            </a:bodyPr>
            <a:lstStyle/>
            <a:p>
              <a:pPr algn="l">
                <a:lnSpc>
                  <a:spcPct val="115000"/>
                </a:lnSpc>
              </a:pPr>
              <a:r>
                <a:rPr sz="1200" b="1">
                  <a:solidFill>
                    <a:srgbClr val="4A5675"/>
                  </a:solidFill>
                  <a:latin typeface="Segoe UI"/>
                </a:rPr>
                <a:t>UC012</a:t>
              </a:r>
            </a:p>
          </p:txBody>
        </p:sp>
      </p:grpSp>
      <p:sp>
        <p:nvSpPr>
          <p:cNvPr id="24" name="Question 2"/>
          <p:cNvSpPr txBox="1"/>
          <p:nvPr/>
        </p:nvSpPr>
        <p:spPr>
          <a:xfrm>
            <a:off x="4445000" y="4953000"/>
            <a:ext cx="3429000" cy="317500"/>
          </a:xfrm>
          <a:prstGeom prst="rect">
            <a:avLst/>
          </a:prstGeom>
          <a:noFill/>
        </p:spPr>
        <p:txBody>
          <a:bodyPr wrap="square" lIns="0" tIns="0" rIns="0" bIns="0" anchor="t">
            <a:spAutoFit/>
          </a:bodyPr>
          <a:lstStyle/>
          <a:p>
            <a:pPr algn="ctr">
              <a:lnSpc>
                <a:spcPct val="115000"/>
              </a:lnSpc>
            </a:pPr>
            <a:r>
              <a:rPr sz="1700" b="1">
                <a:solidFill>
                  <a:srgbClr val="38BDF8"/>
                </a:solidFill>
                <a:latin typeface="Segoe UI"/>
              </a:rPr>
              <a:t>Business performance</a:t>
            </a:r>
          </a:p>
        </p:txBody>
      </p:sp>
      <p:grpSp>
        <p:nvGrpSpPr>
          <p:cNvPr id="32" name="Kind 3"/>
          <p:cNvGrpSpPr/>
          <p:nvPr/>
        </p:nvGrpSpPr>
        <p:grpSpPr>
          <a:xfrm>
            <a:off x="8128000" y="1714500"/>
            <a:ext cx="3429000" cy="2984500"/>
            <a:chOff x="8128000" y="1714500"/>
            <a:chExt cx="3429000" cy="2984500"/>
          </a:xfrm>
        </p:grpSpPr>
        <p:sp>
          <p:nvSpPr>
            <p:cNvPr id="25" name="Shape 23"/>
            <p:cNvSpPr/>
            <p:nvPr/>
          </p:nvSpPr>
          <p:spPr>
            <a:xfrm>
              <a:off x="8128000" y="1714500"/>
              <a:ext cx="3429000" cy="2984500"/>
            </a:xfrm>
            <a:prstGeom prst="roundRect">
              <a:avLst>
                <a:gd name="adj" fmla="val 5531"/>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6" name="Shape 24" descr="icon-trace-38bdf8.png"/>
            <p:cNvPicPr>
              <a:picLocks noChangeAspect="1"/>
            </p:cNvPicPr>
            <p:nvPr/>
          </p:nvPicPr>
          <p:blipFill>
            <a:blip r:embed="rId6"/>
            <a:stretch>
              <a:fillRect/>
            </a:stretch>
          </p:blipFill>
          <p:spPr>
            <a:xfrm>
              <a:off x="8382000" y="1968500"/>
              <a:ext cx="635000" cy="635000"/>
            </a:xfrm>
            <a:prstGeom prst="rect">
              <a:avLst/>
            </a:prstGeom>
          </p:spPr>
        </p:pic>
        <p:sp>
          <p:nvSpPr>
            <p:cNvPr id="27" name="Shape 25"/>
            <p:cNvSpPr txBox="1"/>
            <p:nvPr/>
          </p:nvSpPr>
          <p:spPr>
            <a:xfrm>
              <a:off x="8382000" y="2794000"/>
              <a:ext cx="2984500" cy="381000"/>
            </a:xfrm>
            <a:prstGeom prst="rect">
              <a:avLst/>
            </a:prstGeom>
            <a:noFill/>
          </p:spPr>
          <p:txBody>
            <a:bodyPr wrap="square" lIns="0" tIns="0" rIns="0" bIns="0" anchor="t">
              <a:spAutoFit/>
            </a:bodyPr>
            <a:lstStyle/>
            <a:p>
              <a:pPr algn="l">
                <a:lnSpc>
                  <a:spcPct val="115000"/>
                </a:lnSpc>
              </a:pPr>
              <a:r>
                <a:rPr sz="2200" b="1">
                  <a:solidFill>
                    <a:srgbClr val="F2F5FB"/>
                  </a:solidFill>
                  <a:latin typeface="Segoe UI"/>
                </a:rPr>
                <a:t>Traces</a:t>
              </a:r>
            </a:p>
          </p:txBody>
        </p:sp>
        <p:sp>
          <p:nvSpPr>
            <p:cNvPr id="28" name="Shape 26"/>
            <p:cNvSpPr txBox="1"/>
            <p:nvPr/>
          </p:nvSpPr>
          <p:spPr>
            <a:xfrm>
              <a:off x="8382000" y="3213100"/>
              <a:ext cx="2984500" cy="508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One request, across components and Canvas services</a:t>
              </a:r>
            </a:p>
          </p:txBody>
        </p:sp>
        <p:sp>
          <p:nvSpPr>
            <p:cNvPr id="29" name="Shape 27"/>
            <p:cNvSpPr/>
            <p:nvPr/>
          </p:nvSpPr>
          <p:spPr>
            <a:xfrm>
              <a:off x="8382000" y="3810000"/>
              <a:ext cx="70485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spans</a:t>
              </a:r>
            </a:p>
          </p:txBody>
        </p:sp>
        <p:sp>
          <p:nvSpPr>
            <p:cNvPr id="30" name="Shape 28"/>
            <p:cNvSpPr/>
            <p:nvPr/>
          </p:nvSpPr>
          <p:spPr>
            <a:xfrm>
              <a:off x="9150350" y="3810000"/>
              <a:ext cx="87630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timings</a:t>
              </a:r>
            </a:p>
          </p:txBody>
        </p:sp>
        <p:sp>
          <p:nvSpPr>
            <p:cNvPr id="31" name="Shape 29"/>
            <p:cNvSpPr txBox="1"/>
            <p:nvPr/>
          </p:nvSpPr>
          <p:spPr>
            <a:xfrm>
              <a:off x="8382000" y="4305300"/>
              <a:ext cx="2984500" cy="254000"/>
            </a:xfrm>
            <a:prstGeom prst="rect">
              <a:avLst/>
            </a:prstGeom>
            <a:noFill/>
          </p:spPr>
          <p:txBody>
            <a:bodyPr wrap="square" lIns="0" tIns="0" rIns="0" bIns="0" anchor="t">
              <a:spAutoFit/>
            </a:bodyPr>
            <a:lstStyle/>
            <a:p>
              <a:pPr algn="l">
                <a:lnSpc>
                  <a:spcPct val="115000"/>
                </a:lnSpc>
              </a:pPr>
              <a:r>
                <a:rPr sz="1200" b="1">
                  <a:solidFill>
                    <a:srgbClr val="4A5675"/>
                  </a:solidFill>
                  <a:latin typeface="Segoe UI"/>
                </a:rPr>
                <a:t>OpenTelemetry</a:t>
              </a:r>
            </a:p>
          </p:txBody>
        </p:sp>
      </p:grpSp>
      <p:sp>
        <p:nvSpPr>
          <p:cNvPr id="33" name="Question 3"/>
          <p:cNvSpPr txBox="1"/>
          <p:nvPr/>
        </p:nvSpPr>
        <p:spPr>
          <a:xfrm>
            <a:off x="8128000" y="4953000"/>
            <a:ext cx="3429000" cy="317500"/>
          </a:xfrm>
          <a:prstGeom prst="rect">
            <a:avLst/>
          </a:prstGeom>
          <a:noFill/>
        </p:spPr>
        <p:txBody>
          <a:bodyPr wrap="square" lIns="0" tIns="0" rIns="0" bIns="0" anchor="t">
            <a:spAutoFit/>
          </a:bodyPr>
          <a:lstStyle/>
          <a:p>
            <a:pPr algn="ctr">
              <a:lnSpc>
                <a:spcPct val="115000"/>
              </a:lnSpc>
            </a:pPr>
            <a:r>
              <a:rPr sz="1700" b="1">
                <a:solidFill>
                  <a:srgbClr val="38BDF8"/>
                </a:solidFill>
                <a:latin typeface="Segoe UI"/>
              </a:rPr>
              <a:t>Troubleshoot issues</a:t>
            </a:r>
          </a:p>
        </p:txBody>
      </p:sp>
    </p:spTree>
  </p:cSld>
  <p:clrMapOvr>
    <a:masterClrMapping/>
  </p:clrMapOvr>
  <mc:AlternateContent xmlns:mc="http://schemas.openxmlformats.org/markup-compatibility/2006">
    <mc:Choice xmlns:p14="http://schemas.microsoft.com/office/powerpoint/2010/main" Requires="p14">
      <p:transition spd="slow" p14:dur="2000" advTm="36700"/>
    </mc:Choice>
    <mc:Fallback>
      <p:transition spd="slow" advTm="3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80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600" fill="hold"/>
                                        <p:tgtEl>
                                          <p:spTgt spid="14"/>
                                        </p:tgtEl>
                                        <p:attrNameLst>
                                          <p:attrName>ppt_x</p:attrName>
                                        </p:attrNameLst>
                                      </p:cBhvr>
                                      <p:tavLst>
                                        <p:tav tm="0">
                                          <p:val>
                                            <p:strVal val="#ppt_x"/>
                                          </p:val>
                                        </p:tav>
                                        <p:tav tm="100000">
                                          <p:val>
                                            <p:strVal val="#ppt_x"/>
                                          </p:val>
                                        </p:tav>
                                      </p:tavLst>
                                    </p:anim>
                                    <p:anim calcmode="lin" valueType="num">
                                      <p:cBhvr additive="base">
                                        <p:cTn id="14" dur="6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920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600" fill="hold"/>
                                        <p:tgtEl>
                                          <p:spTgt spid="23"/>
                                        </p:tgtEl>
                                        <p:attrNameLst>
                                          <p:attrName>ppt_x</p:attrName>
                                        </p:attrNameLst>
                                      </p:cBhvr>
                                      <p:tavLst>
                                        <p:tav tm="0">
                                          <p:val>
                                            <p:strVal val="#ppt_x"/>
                                          </p:val>
                                        </p:tav>
                                        <p:tav tm="100000">
                                          <p:val>
                                            <p:strVal val="#ppt_x"/>
                                          </p:val>
                                        </p:tav>
                                      </p:tavLst>
                                    </p:anim>
                                    <p:anim calcmode="lin" valueType="num">
                                      <p:cBhvr additive="base">
                                        <p:cTn id="18" dur="6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15600"/>
                                  </p:stCondLst>
                                  <p:childTnLst>
                                    <p:set>
                                      <p:cBhvr>
                                        <p:cTn id="20" dur="1" fill="hold">
                                          <p:stCondLst>
                                            <p:cond delay="0"/>
                                          </p:stCondLst>
                                        </p:cTn>
                                        <p:tgtEl>
                                          <p:spTgt spid="32"/>
                                        </p:tgtEl>
                                        <p:attrNameLst>
                                          <p:attrName>style.visibility</p:attrName>
                                        </p:attrNameLst>
                                      </p:cBhvr>
                                      <p:to>
                                        <p:strVal val="visible"/>
                                      </p:to>
                                    </p:set>
                                    <p:anim calcmode="lin" valueType="num">
                                      <p:cBhvr additive="base">
                                        <p:cTn id="21" dur="600" fill="hold"/>
                                        <p:tgtEl>
                                          <p:spTgt spid="32"/>
                                        </p:tgtEl>
                                        <p:attrNameLst>
                                          <p:attrName>ppt_x</p:attrName>
                                        </p:attrNameLst>
                                      </p:cBhvr>
                                      <p:tavLst>
                                        <p:tav tm="0">
                                          <p:val>
                                            <p:strVal val="#ppt_x"/>
                                          </p:val>
                                        </p:tav>
                                        <p:tav tm="100000">
                                          <p:val>
                                            <p:strVal val="#ppt_x"/>
                                          </p:val>
                                        </p:tav>
                                      </p:tavLst>
                                    </p:anim>
                                    <p:anim calcmode="lin" valueType="num">
                                      <p:cBhvr additive="base">
                                        <p:cTn id="22" dur="600" fill="hold"/>
                                        <p:tgtEl>
                                          <p:spTgt spid="32"/>
                                        </p:tgtEl>
                                        <p:attrNameLst>
                                          <p:attrName>ppt_y</p:attrName>
                                        </p:attrNameLst>
                                      </p:cBhvr>
                                      <p:tavLst>
                                        <p:tav tm="0">
                                          <p:val>
                                            <p:strVal val="1+#ppt_h/2"/>
                                          </p:val>
                                        </p:tav>
                                        <p:tav tm="100000">
                                          <p:val>
                                            <p:strVal val="#ppt_y"/>
                                          </p:val>
                                        </p:tav>
                                      </p:tavLst>
                                    </p:anim>
                                  </p:childTnLst>
                                </p:cTn>
                              </p:par>
                              <p:par>
                                <p:cTn id="23" presetID="10" presetClass="entr" presetSubtype="0" fill="hold" grpId="0" nodeType="withEffect">
                                  <p:stCondLst>
                                    <p:cond delay="246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2660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2940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24"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Built on open standards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OPEN STANDARDS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Built on open standards</a:t>
            </a:r>
          </a:p>
        </p:txBody>
      </p:sp>
      <p:grpSp>
        <p:nvGrpSpPr>
          <p:cNvPr id="11" name="Standard 1"/>
          <p:cNvGrpSpPr/>
          <p:nvPr/>
        </p:nvGrpSpPr>
        <p:grpSpPr>
          <a:xfrm>
            <a:off x="762000" y="1714500"/>
            <a:ext cx="5207000" cy="2095500"/>
            <a:chOff x="762000" y="1714500"/>
            <a:chExt cx="5207000" cy="2095500"/>
          </a:xfrm>
        </p:grpSpPr>
        <p:sp>
          <p:nvSpPr>
            <p:cNvPr id="6" name="Shape 4"/>
            <p:cNvSpPr/>
            <p:nvPr/>
          </p:nvSpPr>
          <p:spPr>
            <a:xfrm>
              <a:off x="762000" y="1714500"/>
              <a:ext cx="5207000" cy="2095500"/>
            </a:xfrm>
            <a:prstGeom prst="roundRect">
              <a:avLst>
                <a:gd name="adj" fmla="val 7878"/>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chart-38bdf8.png"/>
            <p:cNvPicPr>
              <a:picLocks noChangeAspect="1"/>
            </p:cNvPicPr>
            <p:nvPr/>
          </p:nvPicPr>
          <p:blipFill>
            <a:blip r:embed="rId4"/>
            <a:stretch>
              <a:fillRect/>
            </a:stretch>
          </p:blipFill>
          <p:spPr>
            <a:xfrm>
              <a:off x="1041400" y="1968500"/>
              <a:ext cx="698500" cy="698500"/>
            </a:xfrm>
            <a:prstGeom prst="rect">
              <a:avLst/>
            </a:prstGeom>
          </p:spPr>
        </p:pic>
        <p:sp>
          <p:nvSpPr>
            <p:cNvPr id="8" name="Shape 6"/>
            <p:cNvSpPr txBox="1"/>
            <p:nvPr/>
          </p:nvSpPr>
          <p:spPr>
            <a:xfrm>
              <a:off x="1968500" y="2006600"/>
              <a:ext cx="3810000" cy="444500"/>
            </a:xfrm>
            <a:prstGeom prst="rect">
              <a:avLst/>
            </a:prstGeom>
            <a:noFill/>
          </p:spPr>
          <p:txBody>
            <a:bodyPr wrap="square" lIns="0" tIns="0" rIns="0" bIns="0" anchor="t">
              <a:spAutoFit/>
            </a:bodyPr>
            <a:lstStyle/>
            <a:p>
              <a:pPr algn="l">
                <a:lnSpc>
                  <a:spcPct val="115000"/>
                </a:lnSpc>
              </a:pPr>
              <a:r>
                <a:rPr sz="2800" b="1">
                  <a:solidFill>
                    <a:srgbClr val="F2F5FB"/>
                  </a:solidFill>
                  <a:latin typeface="Segoe UI"/>
                </a:rPr>
                <a:t>OpenMetrics</a:t>
              </a:r>
            </a:p>
          </p:txBody>
        </p:sp>
        <p:sp>
          <p:nvSpPr>
            <p:cNvPr id="9" name="Shape 7"/>
            <p:cNvSpPr txBox="1"/>
            <p:nvPr/>
          </p:nvSpPr>
          <p:spPr>
            <a:xfrm>
              <a:off x="1968500" y="2540000"/>
              <a:ext cx="3746500" cy="635000"/>
            </a:xfrm>
            <a:prstGeom prst="rect">
              <a:avLst/>
            </a:prstGeom>
            <a:noFill/>
          </p:spPr>
          <p:txBody>
            <a:bodyPr wrap="square" lIns="0" tIns="0" rIns="0" bIns="0" anchor="t">
              <a:spAutoFit/>
            </a:bodyPr>
            <a:lstStyle/>
            <a:p>
              <a:pPr algn="l">
                <a:lnSpc>
                  <a:spcPct val="115000"/>
                </a:lnSpc>
              </a:pPr>
              <a:r>
                <a:rPr sz="1500" b="0">
                  <a:solidFill>
                    <a:srgbClr val="8F9BB8"/>
                  </a:solidFill>
                  <a:latin typeface="Segoe UI"/>
                </a:rPr>
                <a:t>A metrics endpoint the platform scrapes</a:t>
              </a:r>
            </a:p>
          </p:txBody>
        </p:sp>
        <p:sp>
          <p:nvSpPr>
            <p:cNvPr id="10" name="Shape 8"/>
            <p:cNvSpPr/>
            <p:nvPr/>
          </p:nvSpPr>
          <p:spPr>
            <a:xfrm>
              <a:off x="1968500" y="3302000"/>
              <a:ext cx="61595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pull</a:t>
              </a:r>
            </a:p>
          </p:txBody>
        </p:sp>
      </p:grpSp>
      <p:grpSp>
        <p:nvGrpSpPr>
          <p:cNvPr id="17" name="Standard 2"/>
          <p:cNvGrpSpPr/>
          <p:nvPr/>
        </p:nvGrpSpPr>
        <p:grpSpPr>
          <a:xfrm>
            <a:off x="6223000" y="1714500"/>
            <a:ext cx="5207000" cy="2095500"/>
            <a:chOff x="6223000" y="1714500"/>
            <a:chExt cx="5207000" cy="2095500"/>
          </a:xfrm>
        </p:grpSpPr>
        <p:sp>
          <p:nvSpPr>
            <p:cNvPr id="12" name="Shape 10"/>
            <p:cNvSpPr/>
            <p:nvPr/>
          </p:nvSpPr>
          <p:spPr>
            <a:xfrm>
              <a:off x="6223000" y="1714500"/>
              <a:ext cx="5207000" cy="2095500"/>
            </a:xfrm>
            <a:prstGeom prst="roundRect">
              <a:avLst>
                <a:gd name="adj" fmla="val 7878"/>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3" name="Shape 11" descr="icon-trace-38bdf8.png"/>
            <p:cNvPicPr>
              <a:picLocks noChangeAspect="1"/>
            </p:cNvPicPr>
            <p:nvPr/>
          </p:nvPicPr>
          <p:blipFill>
            <a:blip r:embed="rId5"/>
            <a:stretch>
              <a:fillRect/>
            </a:stretch>
          </p:blipFill>
          <p:spPr>
            <a:xfrm>
              <a:off x="6502400" y="1968500"/>
              <a:ext cx="698500" cy="698500"/>
            </a:xfrm>
            <a:prstGeom prst="rect">
              <a:avLst/>
            </a:prstGeom>
          </p:spPr>
        </p:pic>
        <p:sp>
          <p:nvSpPr>
            <p:cNvPr id="14" name="Shape 12"/>
            <p:cNvSpPr txBox="1"/>
            <p:nvPr/>
          </p:nvSpPr>
          <p:spPr>
            <a:xfrm>
              <a:off x="7429500" y="2006600"/>
              <a:ext cx="3810000" cy="444500"/>
            </a:xfrm>
            <a:prstGeom prst="rect">
              <a:avLst/>
            </a:prstGeom>
            <a:noFill/>
          </p:spPr>
          <p:txBody>
            <a:bodyPr wrap="square" lIns="0" tIns="0" rIns="0" bIns="0" anchor="t">
              <a:spAutoFit/>
            </a:bodyPr>
            <a:lstStyle/>
            <a:p>
              <a:pPr algn="l">
                <a:lnSpc>
                  <a:spcPct val="115000"/>
                </a:lnSpc>
              </a:pPr>
              <a:r>
                <a:rPr sz="2800" b="1">
                  <a:solidFill>
                    <a:srgbClr val="F2F5FB"/>
                  </a:solidFill>
                  <a:latin typeface="Segoe UI"/>
                </a:rPr>
                <a:t>OpenTelemetry</a:t>
              </a:r>
            </a:p>
          </p:txBody>
        </p:sp>
        <p:sp>
          <p:nvSpPr>
            <p:cNvPr id="15" name="Shape 13"/>
            <p:cNvSpPr txBox="1"/>
            <p:nvPr/>
          </p:nvSpPr>
          <p:spPr>
            <a:xfrm>
              <a:off x="7429500" y="2540000"/>
              <a:ext cx="3746500" cy="635000"/>
            </a:xfrm>
            <a:prstGeom prst="rect">
              <a:avLst/>
            </a:prstGeom>
            <a:noFill/>
          </p:spPr>
          <p:txBody>
            <a:bodyPr wrap="square" lIns="0" tIns="0" rIns="0" bIns="0" anchor="t">
              <a:spAutoFit/>
            </a:bodyPr>
            <a:lstStyle/>
            <a:p>
              <a:pPr algn="l">
                <a:lnSpc>
                  <a:spcPct val="115000"/>
                </a:lnSpc>
              </a:pPr>
              <a:r>
                <a:rPr sz="1500" b="0">
                  <a:solidFill>
                    <a:srgbClr val="8F9BB8"/>
                  </a:solidFill>
                  <a:latin typeface="Segoe UI"/>
                </a:rPr>
                <a:t>Traces and telemetry the component sends</a:t>
              </a:r>
            </a:p>
          </p:txBody>
        </p:sp>
        <p:sp>
          <p:nvSpPr>
            <p:cNvPr id="16" name="Shape 14"/>
            <p:cNvSpPr/>
            <p:nvPr/>
          </p:nvSpPr>
          <p:spPr>
            <a:xfrm>
              <a:off x="7429500" y="3302000"/>
              <a:ext cx="1212850" cy="2667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push · OTLP</a:t>
              </a:r>
            </a:p>
          </p:txBody>
        </p:sp>
      </p:grpSp>
      <p:sp>
        <p:nvSpPr>
          <p:cNvPr id="18" name="Reference"/>
          <p:cNvSpPr txBox="1"/>
          <p:nvPr/>
        </p:nvSpPr>
        <p:spPr>
          <a:xfrm>
            <a:off x="762000" y="4318000"/>
            <a:ext cx="5080000" cy="254000"/>
          </a:xfrm>
          <a:prstGeom prst="rect">
            <a:avLst/>
          </a:prstGeom>
          <a:noFill/>
        </p:spPr>
        <p:txBody>
          <a:bodyPr wrap="square" lIns="0" tIns="0" rIns="0" bIns="0" anchor="t">
            <a:spAutoFit/>
          </a:bodyPr>
          <a:lstStyle/>
          <a:p>
            <a:pPr algn="l">
              <a:lnSpc>
                <a:spcPct val="115000"/>
              </a:lnSpc>
            </a:pPr>
            <a:r>
              <a:rPr sz="1400" b="1">
                <a:solidFill>
                  <a:srgbClr val="8F9BB8"/>
                </a:solidFill>
                <a:latin typeface="Segoe UI"/>
              </a:rPr>
              <a:t>In the reference Canvas</a:t>
            </a:r>
          </a:p>
        </p:txBody>
      </p:sp>
      <p:sp>
        <p:nvSpPr>
          <p:cNvPr id="19" name="Tool 1"/>
          <p:cNvSpPr/>
          <p:nvPr/>
        </p:nvSpPr>
        <p:spPr>
          <a:xfrm>
            <a:off x="762000" y="4635500"/>
            <a:ext cx="1346200" cy="3302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Prometheus</a:t>
            </a:r>
          </a:p>
        </p:txBody>
      </p:sp>
      <p:sp>
        <p:nvSpPr>
          <p:cNvPr id="20" name="Tool 2"/>
          <p:cNvSpPr/>
          <p:nvPr/>
        </p:nvSpPr>
        <p:spPr>
          <a:xfrm>
            <a:off x="2209800" y="4635500"/>
            <a:ext cx="1022350" cy="3302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Grafana</a:t>
            </a:r>
          </a:p>
        </p:txBody>
      </p:sp>
      <p:sp>
        <p:nvSpPr>
          <p:cNvPr id="21" name="Tool 3"/>
          <p:cNvSpPr/>
          <p:nvPr/>
        </p:nvSpPr>
        <p:spPr>
          <a:xfrm>
            <a:off x="3333750" y="4635500"/>
            <a:ext cx="914400" cy="3302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Jaeger</a:t>
            </a:r>
          </a:p>
        </p:txBody>
      </p:sp>
      <p:sp>
        <p:nvSpPr>
          <p:cNvPr id="22" name="Or"/>
          <p:cNvSpPr txBox="1"/>
          <p:nvPr/>
        </p:nvSpPr>
        <p:spPr>
          <a:xfrm>
            <a:off x="762000" y="5334000"/>
            <a:ext cx="10795000" cy="317500"/>
          </a:xfrm>
          <a:prstGeom prst="rect">
            <a:avLst/>
          </a:prstGeom>
          <a:noFill/>
        </p:spPr>
        <p:txBody>
          <a:bodyPr wrap="square" lIns="0" tIns="0" rIns="0" bIns="0" anchor="t">
            <a:spAutoFit/>
          </a:bodyPr>
          <a:lstStyle/>
          <a:p>
            <a:pPr algn="l">
              <a:lnSpc>
                <a:spcPct val="115000"/>
              </a:lnSpc>
            </a:pPr>
            <a:r>
              <a:rPr sz="1700" b="1">
                <a:solidFill>
                  <a:srgbClr val="F2F5FB"/>
                </a:solidFill>
                <a:latin typeface="Segoe UI"/>
              </a:rPr>
              <a:t>…or a managed cloud service, or another observability platform</a:t>
            </a:r>
          </a:p>
        </p:txBody>
      </p:sp>
    </p:spTree>
  </p:cSld>
  <p:clrMapOvr>
    <a:masterClrMapping/>
  </p:clrMapOvr>
  <mc:AlternateContent xmlns:mc="http://schemas.openxmlformats.org/markup-compatibility/2006">
    <mc:Choice xmlns:p14="http://schemas.microsoft.com/office/powerpoint/2010/main" Requires="p14">
      <p:transition spd="slow" p14:dur="2000" advTm="23900"/>
    </mc:Choice>
    <mc:Fallback>
      <p:transition spd="slow" advTm="2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80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600" fill="hold"/>
                                        <p:tgtEl>
                                          <p:spTgt spid="11"/>
                                        </p:tgtEl>
                                        <p:attrNameLst>
                                          <p:attrName>ppt_x</p:attrName>
                                        </p:attrNameLst>
                                      </p:cBhvr>
                                      <p:tavLst>
                                        <p:tav tm="0">
                                          <p:val>
                                            <p:strVal val="#ppt_x"/>
                                          </p:val>
                                        </p:tav>
                                        <p:tav tm="100000">
                                          <p:val>
                                            <p:strVal val="#ppt_x"/>
                                          </p:val>
                                        </p:tav>
                                      </p:tavLst>
                                    </p:anim>
                                    <p:anim calcmode="lin" valueType="num">
                                      <p:cBhvr additive="base">
                                        <p:cTn id="14" dur="6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840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600" fill="hold"/>
                                        <p:tgtEl>
                                          <p:spTgt spid="17"/>
                                        </p:tgtEl>
                                        <p:attrNameLst>
                                          <p:attrName>ppt_x</p:attrName>
                                        </p:attrNameLst>
                                      </p:cBhvr>
                                      <p:tavLst>
                                        <p:tav tm="0">
                                          <p:val>
                                            <p:strVal val="#ppt_x"/>
                                          </p:val>
                                        </p:tav>
                                        <p:tav tm="100000">
                                          <p:val>
                                            <p:strVal val="#ppt_x"/>
                                          </p:val>
                                        </p:tav>
                                      </p:tavLst>
                                    </p:anim>
                                    <p:anim calcmode="lin" valueType="num">
                                      <p:cBhvr additive="base">
                                        <p:cTn id="18" dur="600" fill="hold"/>
                                        <p:tgtEl>
                                          <p:spTgt spid="17"/>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130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00"/>
                                        <p:tgtEl>
                                          <p:spTgt spid="18"/>
                                        </p:tgtEl>
                                      </p:cBhvr>
                                    </p:animEffect>
                                  </p:childTnLst>
                                </p:cTn>
                              </p:par>
                              <p:par>
                                <p:cTn id="22" presetID="58" presetClass="entr" presetSubtype="0" accel="100000" fill="hold" grpId="0" nodeType="withEffect">
                                  <p:stCondLst>
                                    <p:cond delay="13200"/>
                                  </p:stCondLst>
                                  <p:childTnLst>
                                    <p:set>
                                      <p:cBhvr>
                                        <p:cTn id="23" dur="1" fill="hold">
                                          <p:stCondLst>
                                            <p:cond delay="0"/>
                                          </p:stCondLst>
                                        </p:cTn>
                                        <p:tgtEl>
                                          <p:spTgt spid="19"/>
                                        </p:tgtEl>
                                        <p:attrNameLst>
                                          <p:attrName>style.visibility</p:attrName>
                                        </p:attrNameLst>
                                      </p:cBhvr>
                                      <p:to>
                                        <p:strVal val="visible"/>
                                      </p:to>
                                    </p:set>
                                    <p:anim calcmode="lin" valueType="num">
                                      <p:cBhvr>
                                        <p:cTn id="24" dur="400" fill="hold"/>
                                        <p:tgtEl>
                                          <p:spTgt spid="19"/>
                                        </p:tgtEl>
                                        <p:attrNameLst>
                                          <p:attrName>ppt_w</p:attrName>
                                        </p:attrNameLst>
                                      </p:cBhvr>
                                      <p:tavLst>
                                        <p:tav tm="0">
                                          <p:val>
                                            <p:strVal val="#ppt_w*2.5"/>
                                          </p:val>
                                        </p:tav>
                                        <p:tav tm="100000">
                                          <p:val>
                                            <p:strVal val="#ppt_w"/>
                                          </p:val>
                                        </p:tav>
                                      </p:tavLst>
                                    </p:anim>
                                    <p:anim calcmode="lin" valueType="num">
                                      <p:cBhvr>
                                        <p:cTn id="25" dur="400" fill="hold"/>
                                        <p:tgtEl>
                                          <p:spTgt spid="19"/>
                                        </p:tgtEl>
                                        <p:attrNameLst>
                                          <p:attrName>ppt_h</p:attrName>
                                        </p:attrNameLst>
                                      </p:cBhvr>
                                      <p:tavLst>
                                        <p:tav tm="0">
                                          <p:val>
                                            <p:strVal val="#ppt_h*0.01"/>
                                          </p:val>
                                        </p:tav>
                                        <p:tav tm="100000">
                                          <p:val>
                                            <p:strVal val="#ppt_h"/>
                                          </p:val>
                                        </p:tav>
                                      </p:tavLst>
                                    </p:anim>
                                    <p:anim calcmode="lin" valueType="num">
                                      <p:cBhvr>
                                        <p:cTn id="26" dur="400" fill="hold"/>
                                        <p:tgtEl>
                                          <p:spTgt spid="19"/>
                                        </p:tgtEl>
                                        <p:attrNameLst>
                                          <p:attrName>ppt_x</p:attrName>
                                        </p:attrNameLst>
                                      </p:cBhvr>
                                      <p:tavLst>
                                        <p:tav tm="0">
                                          <p:val>
                                            <p:strVal val="#ppt_x"/>
                                          </p:val>
                                        </p:tav>
                                        <p:tav tm="100000">
                                          <p:val>
                                            <p:strVal val="#ppt_x"/>
                                          </p:val>
                                        </p:tav>
                                      </p:tavLst>
                                    </p:anim>
                                    <p:anim calcmode="lin" valueType="num">
                                      <p:cBhvr>
                                        <p:cTn id="27" dur="400" fill="hold"/>
                                        <p:tgtEl>
                                          <p:spTgt spid="19"/>
                                        </p:tgtEl>
                                        <p:attrNameLst>
                                          <p:attrName>ppt_y</p:attrName>
                                        </p:attrNameLst>
                                      </p:cBhvr>
                                      <p:tavLst>
                                        <p:tav tm="0">
                                          <p:val>
                                            <p:strVal val="#ppt_h+1"/>
                                          </p:val>
                                        </p:tav>
                                        <p:tav tm="100000">
                                          <p:val>
                                            <p:strVal val="#ppt_y"/>
                                          </p:val>
                                        </p:tav>
                                      </p:tavLst>
                                    </p:anim>
                                    <p:animEffect transition="in" filter="fade">
                                      <p:cBhvr>
                                        <p:cTn id="28" dur="400"/>
                                        <p:tgtEl>
                                          <p:spTgt spid="19"/>
                                        </p:tgtEl>
                                      </p:cBhvr>
                                    </p:animEffect>
                                  </p:childTnLst>
                                </p:cTn>
                              </p:par>
                              <p:par>
                                <p:cTn id="29" presetID="58" presetClass="entr" presetSubtype="0" accel="100000" fill="hold" grpId="0" nodeType="withEffect">
                                  <p:stCondLst>
                                    <p:cond delay="13700"/>
                                  </p:stCondLst>
                                  <p:childTnLst>
                                    <p:set>
                                      <p:cBhvr>
                                        <p:cTn id="30" dur="1" fill="hold">
                                          <p:stCondLst>
                                            <p:cond delay="0"/>
                                          </p:stCondLst>
                                        </p:cTn>
                                        <p:tgtEl>
                                          <p:spTgt spid="20"/>
                                        </p:tgtEl>
                                        <p:attrNameLst>
                                          <p:attrName>style.visibility</p:attrName>
                                        </p:attrNameLst>
                                      </p:cBhvr>
                                      <p:to>
                                        <p:strVal val="visible"/>
                                      </p:to>
                                    </p:set>
                                    <p:anim calcmode="lin" valueType="num">
                                      <p:cBhvr>
                                        <p:cTn id="31" dur="400" fill="hold"/>
                                        <p:tgtEl>
                                          <p:spTgt spid="20"/>
                                        </p:tgtEl>
                                        <p:attrNameLst>
                                          <p:attrName>ppt_w</p:attrName>
                                        </p:attrNameLst>
                                      </p:cBhvr>
                                      <p:tavLst>
                                        <p:tav tm="0">
                                          <p:val>
                                            <p:strVal val="#ppt_w*2.5"/>
                                          </p:val>
                                        </p:tav>
                                        <p:tav tm="100000">
                                          <p:val>
                                            <p:strVal val="#ppt_w"/>
                                          </p:val>
                                        </p:tav>
                                      </p:tavLst>
                                    </p:anim>
                                    <p:anim calcmode="lin" valueType="num">
                                      <p:cBhvr>
                                        <p:cTn id="32" dur="400" fill="hold"/>
                                        <p:tgtEl>
                                          <p:spTgt spid="20"/>
                                        </p:tgtEl>
                                        <p:attrNameLst>
                                          <p:attrName>ppt_h</p:attrName>
                                        </p:attrNameLst>
                                      </p:cBhvr>
                                      <p:tavLst>
                                        <p:tav tm="0">
                                          <p:val>
                                            <p:strVal val="#ppt_h*0.01"/>
                                          </p:val>
                                        </p:tav>
                                        <p:tav tm="100000">
                                          <p:val>
                                            <p:strVal val="#ppt_h"/>
                                          </p:val>
                                        </p:tav>
                                      </p:tavLst>
                                    </p:anim>
                                    <p:anim calcmode="lin" valueType="num">
                                      <p:cBhvr>
                                        <p:cTn id="33" dur="400" fill="hold"/>
                                        <p:tgtEl>
                                          <p:spTgt spid="20"/>
                                        </p:tgtEl>
                                        <p:attrNameLst>
                                          <p:attrName>ppt_x</p:attrName>
                                        </p:attrNameLst>
                                      </p:cBhvr>
                                      <p:tavLst>
                                        <p:tav tm="0">
                                          <p:val>
                                            <p:strVal val="#ppt_x"/>
                                          </p:val>
                                        </p:tav>
                                        <p:tav tm="100000">
                                          <p:val>
                                            <p:strVal val="#ppt_x"/>
                                          </p:val>
                                        </p:tav>
                                      </p:tavLst>
                                    </p:anim>
                                    <p:anim calcmode="lin" valueType="num">
                                      <p:cBhvr>
                                        <p:cTn id="34" dur="400" fill="hold"/>
                                        <p:tgtEl>
                                          <p:spTgt spid="20"/>
                                        </p:tgtEl>
                                        <p:attrNameLst>
                                          <p:attrName>ppt_y</p:attrName>
                                        </p:attrNameLst>
                                      </p:cBhvr>
                                      <p:tavLst>
                                        <p:tav tm="0">
                                          <p:val>
                                            <p:strVal val="#ppt_h+1"/>
                                          </p:val>
                                        </p:tav>
                                        <p:tav tm="100000">
                                          <p:val>
                                            <p:strVal val="#ppt_y"/>
                                          </p:val>
                                        </p:tav>
                                      </p:tavLst>
                                    </p:anim>
                                    <p:animEffect transition="in" filter="fade">
                                      <p:cBhvr>
                                        <p:cTn id="35" dur="400"/>
                                        <p:tgtEl>
                                          <p:spTgt spid="20"/>
                                        </p:tgtEl>
                                      </p:cBhvr>
                                    </p:animEffect>
                                  </p:childTnLst>
                                </p:cTn>
                              </p:par>
                              <p:par>
                                <p:cTn id="36" presetID="58" presetClass="entr" presetSubtype="0" accel="100000" fill="hold" grpId="0" nodeType="withEffect">
                                  <p:stCondLst>
                                    <p:cond delay="14200"/>
                                  </p:stCondLst>
                                  <p:childTnLst>
                                    <p:set>
                                      <p:cBhvr>
                                        <p:cTn id="37" dur="1" fill="hold">
                                          <p:stCondLst>
                                            <p:cond delay="0"/>
                                          </p:stCondLst>
                                        </p:cTn>
                                        <p:tgtEl>
                                          <p:spTgt spid="21"/>
                                        </p:tgtEl>
                                        <p:attrNameLst>
                                          <p:attrName>style.visibility</p:attrName>
                                        </p:attrNameLst>
                                      </p:cBhvr>
                                      <p:to>
                                        <p:strVal val="visible"/>
                                      </p:to>
                                    </p:set>
                                    <p:anim calcmode="lin" valueType="num">
                                      <p:cBhvr>
                                        <p:cTn id="38" dur="400" fill="hold"/>
                                        <p:tgtEl>
                                          <p:spTgt spid="21"/>
                                        </p:tgtEl>
                                        <p:attrNameLst>
                                          <p:attrName>ppt_w</p:attrName>
                                        </p:attrNameLst>
                                      </p:cBhvr>
                                      <p:tavLst>
                                        <p:tav tm="0">
                                          <p:val>
                                            <p:strVal val="#ppt_w*2.5"/>
                                          </p:val>
                                        </p:tav>
                                        <p:tav tm="100000">
                                          <p:val>
                                            <p:strVal val="#ppt_w"/>
                                          </p:val>
                                        </p:tav>
                                      </p:tavLst>
                                    </p:anim>
                                    <p:anim calcmode="lin" valueType="num">
                                      <p:cBhvr>
                                        <p:cTn id="39" dur="400" fill="hold"/>
                                        <p:tgtEl>
                                          <p:spTgt spid="21"/>
                                        </p:tgtEl>
                                        <p:attrNameLst>
                                          <p:attrName>ppt_h</p:attrName>
                                        </p:attrNameLst>
                                      </p:cBhvr>
                                      <p:tavLst>
                                        <p:tav tm="0">
                                          <p:val>
                                            <p:strVal val="#ppt_h*0.01"/>
                                          </p:val>
                                        </p:tav>
                                        <p:tav tm="100000">
                                          <p:val>
                                            <p:strVal val="#ppt_h"/>
                                          </p:val>
                                        </p:tav>
                                      </p:tavLst>
                                    </p:anim>
                                    <p:anim calcmode="lin" valueType="num">
                                      <p:cBhvr>
                                        <p:cTn id="40" dur="400" fill="hold"/>
                                        <p:tgtEl>
                                          <p:spTgt spid="21"/>
                                        </p:tgtEl>
                                        <p:attrNameLst>
                                          <p:attrName>ppt_x</p:attrName>
                                        </p:attrNameLst>
                                      </p:cBhvr>
                                      <p:tavLst>
                                        <p:tav tm="0">
                                          <p:val>
                                            <p:strVal val="#ppt_x"/>
                                          </p:val>
                                        </p:tav>
                                        <p:tav tm="100000">
                                          <p:val>
                                            <p:strVal val="#ppt_x"/>
                                          </p:val>
                                        </p:tav>
                                      </p:tavLst>
                                    </p:anim>
                                    <p:anim calcmode="lin" valueType="num">
                                      <p:cBhvr>
                                        <p:cTn id="41" dur="400" fill="hold"/>
                                        <p:tgtEl>
                                          <p:spTgt spid="21"/>
                                        </p:tgtEl>
                                        <p:attrNameLst>
                                          <p:attrName>ppt_y</p:attrName>
                                        </p:attrNameLst>
                                      </p:cBhvr>
                                      <p:tavLst>
                                        <p:tav tm="0">
                                          <p:val>
                                            <p:strVal val="#ppt_h+1"/>
                                          </p:val>
                                        </p:tav>
                                        <p:tav tm="100000">
                                          <p:val>
                                            <p:strVal val="#ppt_y"/>
                                          </p:val>
                                        </p:tav>
                                      </p:tavLst>
                                    </p:anim>
                                    <p:animEffect transition="in" filter="fade">
                                      <p:cBhvr>
                                        <p:cTn id="42" dur="400"/>
                                        <p:tgtEl>
                                          <p:spTgt spid="21"/>
                                        </p:tgtEl>
                                      </p:cBhvr>
                                    </p:animEffect>
                                  </p:childTnLst>
                                </p:cTn>
                              </p:par>
                              <p:par>
                                <p:cTn id="43" presetID="10" presetClass="entr" presetSubtype="0" fill="hold" grpId="0" nodeType="withEffect">
                                  <p:stCondLst>
                                    <p:cond delay="1840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8" grpId="0"/>
      <p:bldP spid="19" grpId="0" animBg="1"/>
      <p:bldP spid="20" grpId="0" animBg="1"/>
      <p:bldP spid="21" grpId="0" animBg="1"/>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reference observability stack</a:t>
            </a:r>
          </a:p>
        </p:txBody>
      </p:sp>
      <p:pic>
        <p:nvPicPr>
          <p:cNvPr id="3" name="Clip 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300"/>
    </mc:Choice>
    <mc:Fallback>
      <p:transition spd="slow" advTm="2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A component declares its metrics API</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COMPONENT SPECIFICATION</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A component declares its metrics API</a:t>
            </a:r>
          </a:p>
        </p:txBody>
      </p:sp>
      <p:pic>
        <p:nvPicPr>
          <p:cNvPr id="6" name="Component" descr="oda.png"/>
          <p:cNvPicPr>
            <a:picLocks noChangeAspect="1"/>
          </p:cNvPicPr>
          <p:nvPr/>
        </p:nvPicPr>
        <p:blipFill>
          <a:blip r:embed="rId4"/>
          <a:stretch>
            <a:fillRect/>
          </a:stretch>
        </p:blipFill>
        <p:spPr>
          <a:xfrm>
            <a:off x="762000" y="1905000"/>
            <a:ext cx="2667000" cy="2518833"/>
          </a:xfrm>
          <a:prstGeom prst="rect">
            <a:avLst/>
          </a:prstGeom>
        </p:spPr>
      </p:pic>
      <p:sp>
        <p:nvSpPr>
          <p:cNvPr id="7" name="Segment"/>
          <p:cNvSpPr/>
          <p:nvPr/>
        </p:nvSpPr>
        <p:spPr>
          <a:xfrm>
            <a:off x="1244600" y="4572000"/>
            <a:ext cx="2165350" cy="3111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400" b="1">
                <a:solidFill>
                  <a:srgbClr val="F2F5FB"/>
                </a:solidFill>
                <a:latin typeface="Segoe UI"/>
              </a:rPr>
              <a:t>Management function</a:t>
            </a:r>
          </a:p>
        </p:txBody>
      </p:sp>
      <p:sp>
        <p:nvSpPr>
          <p:cNvPr id="8" name="Spec panel"/>
          <p:cNvSpPr/>
          <p:nvPr/>
        </p:nvSpPr>
        <p:spPr>
          <a:xfrm>
            <a:off x="4064000" y="1778000"/>
            <a:ext cx="7366000" cy="2425700"/>
          </a:xfrm>
          <a:prstGeom prst="roundRect">
            <a:avLst>
              <a:gd name="adj" fmla="val 4712"/>
            </a:avLst>
          </a:prstGeom>
          <a:solidFill>
            <a:srgbClr val="0D1426"/>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pec 1"/>
          <p:cNvSpPr txBox="1"/>
          <p:nvPr/>
        </p:nvSpPr>
        <p:spPr>
          <a:xfrm>
            <a:off x="4292600" y="1968500"/>
            <a:ext cx="6985000" cy="292100"/>
          </a:xfrm>
          <a:prstGeom prst="rect">
            <a:avLst/>
          </a:prstGeom>
          <a:noFill/>
        </p:spPr>
        <p:txBody>
          <a:bodyPr wrap="square" lIns="0" tIns="0" rIns="0" bIns="0" anchor="t">
            <a:spAutoFit/>
          </a:bodyPr>
          <a:lstStyle/>
          <a:p>
            <a:pPr algn="l">
              <a:lnSpc>
                <a:spcPct val="115000"/>
              </a:lnSpc>
            </a:pPr>
            <a:r>
              <a:rPr sz="1500" b="0">
                <a:solidFill>
                  <a:srgbClr val="8F9BB8"/>
                </a:solidFill>
                <a:latin typeface="Cascadia Mono"/>
              </a:rPr>
              <a:t>spec:</a:t>
            </a:r>
          </a:p>
        </p:txBody>
      </p:sp>
      <p:sp>
        <p:nvSpPr>
          <p:cNvPr id="10" name="Spec 2"/>
          <p:cNvSpPr txBox="1"/>
          <p:nvPr/>
        </p:nvSpPr>
        <p:spPr>
          <a:xfrm>
            <a:off x="4508500" y="2260600"/>
            <a:ext cx="6985000" cy="292100"/>
          </a:xfrm>
          <a:prstGeom prst="rect">
            <a:avLst/>
          </a:prstGeom>
          <a:noFill/>
        </p:spPr>
        <p:txBody>
          <a:bodyPr wrap="square" lIns="0" tIns="0" rIns="0" bIns="0" anchor="t">
            <a:spAutoFit/>
          </a:bodyPr>
          <a:lstStyle/>
          <a:p>
            <a:pPr algn="l">
              <a:lnSpc>
                <a:spcPct val="115000"/>
              </a:lnSpc>
            </a:pPr>
            <a:r>
              <a:rPr sz="1500" b="1">
                <a:solidFill>
                  <a:srgbClr val="38BDF8"/>
                </a:solidFill>
                <a:latin typeface="Cascadia Mono"/>
              </a:rPr>
              <a:t>managementFunction:</a:t>
            </a:r>
          </a:p>
        </p:txBody>
      </p:sp>
      <p:sp>
        <p:nvSpPr>
          <p:cNvPr id="11" name="Spec 3"/>
          <p:cNvSpPr txBox="1"/>
          <p:nvPr/>
        </p:nvSpPr>
        <p:spPr>
          <a:xfrm>
            <a:off x="4724400" y="2552700"/>
            <a:ext cx="6985000" cy="292100"/>
          </a:xfrm>
          <a:prstGeom prst="rect">
            <a:avLst/>
          </a:prstGeom>
          <a:noFill/>
        </p:spPr>
        <p:txBody>
          <a:bodyPr wrap="square" lIns="0" tIns="0" rIns="0" bIns="0" anchor="t">
            <a:spAutoFit/>
          </a:bodyPr>
          <a:lstStyle/>
          <a:p>
            <a:pPr algn="l">
              <a:lnSpc>
                <a:spcPct val="115000"/>
              </a:lnSpc>
            </a:pPr>
            <a:r>
              <a:rPr sz="1500" b="0">
                <a:solidFill>
                  <a:srgbClr val="F2F5FB"/>
                </a:solidFill>
                <a:latin typeface="Cascadia Mono"/>
              </a:rPr>
              <a:t>exposedAPIs:</a:t>
            </a:r>
          </a:p>
        </p:txBody>
      </p:sp>
      <p:sp>
        <p:nvSpPr>
          <p:cNvPr id="12" name="Spec 4"/>
          <p:cNvSpPr txBox="1"/>
          <p:nvPr/>
        </p:nvSpPr>
        <p:spPr>
          <a:xfrm>
            <a:off x="4724400" y="2844800"/>
            <a:ext cx="6985000" cy="292100"/>
          </a:xfrm>
          <a:prstGeom prst="rect">
            <a:avLst/>
          </a:prstGeom>
          <a:noFill/>
        </p:spPr>
        <p:txBody>
          <a:bodyPr wrap="square" lIns="0" tIns="0" rIns="0" bIns="0" anchor="t">
            <a:spAutoFit/>
          </a:bodyPr>
          <a:lstStyle/>
          <a:p>
            <a:pPr algn="l">
              <a:lnSpc>
                <a:spcPct val="115000"/>
              </a:lnSpc>
            </a:pPr>
            <a:r>
              <a:rPr sz="1500" b="0">
                <a:solidFill>
                  <a:srgbClr val="F2F5FB"/>
                </a:solidFill>
                <a:latin typeface="Cascadia Mono"/>
              </a:rPr>
              <a:t>- name: metrics</a:t>
            </a:r>
          </a:p>
        </p:txBody>
      </p:sp>
      <p:sp>
        <p:nvSpPr>
          <p:cNvPr id="13" name="Spec 5"/>
          <p:cNvSpPr txBox="1"/>
          <p:nvPr/>
        </p:nvSpPr>
        <p:spPr>
          <a:xfrm>
            <a:off x="4940300" y="3136900"/>
            <a:ext cx="6985000" cy="292100"/>
          </a:xfrm>
          <a:prstGeom prst="rect">
            <a:avLst/>
          </a:prstGeom>
          <a:noFill/>
        </p:spPr>
        <p:txBody>
          <a:bodyPr wrap="square" lIns="0" tIns="0" rIns="0" bIns="0" anchor="t">
            <a:spAutoFit/>
          </a:bodyPr>
          <a:lstStyle/>
          <a:p>
            <a:pPr algn="l">
              <a:lnSpc>
                <a:spcPct val="115000"/>
              </a:lnSpc>
            </a:pPr>
            <a:r>
              <a:rPr sz="1500" b="1">
                <a:solidFill>
                  <a:srgbClr val="38BDF8"/>
                </a:solidFill>
                <a:latin typeface="Cascadia Mono"/>
              </a:rPr>
              <a:t>apiType: openmetrics</a:t>
            </a:r>
          </a:p>
        </p:txBody>
      </p:sp>
      <p:sp>
        <p:nvSpPr>
          <p:cNvPr id="14" name="Spec 6"/>
          <p:cNvSpPr txBox="1"/>
          <p:nvPr/>
        </p:nvSpPr>
        <p:spPr>
          <a:xfrm>
            <a:off x="4940300" y="3429000"/>
            <a:ext cx="6985000" cy="292100"/>
          </a:xfrm>
          <a:prstGeom prst="rect">
            <a:avLst/>
          </a:prstGeom>
          <a:noFill/>
        </p:spPr>
        <p:txBody>
          <a:bodyPr wrap="square" lIns="0" tIns="0" rIns="0" bIns="0" anchor="t">
            <a:spAutoFit/>
          </a:bodyPr>
          <a:lstStyle/>
          <a:p>
            <a:pPr algn="l">
              <a:lnSpc>
                <a:spcPct val="115000"/>
              </a:lnSpc>
            </a:pPr>
            <a:r>
              <a:rPr sz="1500" b="0">
                <a:solidFill>
                  <a:srgbClr val="F2F5FB"/>
                </a:solidFill>
                <a:latin typeface="Cascadia Mono"/>
              </a:rPr>
              <a:t>path: /obs-productcatalogmanagement/metrics</a:t>
            </a:r>
          </a:p>
        </p:txBody>
      </p:sp>
      <p:sp>
        <p:nvSpPr>
          <p:cNvPr id="15" name="Spec 7"/>
          <p:cNvSpPr txBox="1"/>
          <p:nvPr/>
        </p:nvSpPr>
        <p:spPr>
          <a:xfrm>
            <a:off x="4940300" y="3721100"/>
            <a:ext cx="6985000" cy="292100"/>
          </a:xfrm>
          <a:prstGeom prst="rect">
            <a:avLst/>
          </a:prstGeom>
          <a:noFill/>
        </p:spPr>
        <p:txBody>
          <a:bodyPr wrap="square" lIns="0" tIns="0" rIns="0" bIns="0" anchor="t">
            <a:spAutoFit/>
          </a:bodyPr>
          <a:lstStyle/>
          <a:p>
            <a:pPr algn="l">
              <a:lnSpc>
                <a:spcPct val="115000"/>
              </a:lnSpc>
            </a:pPr>
            <a:r>
              <a:rPr sz="1500" b="0">
                <a:solidFill>
                  <a:srgbClr val="F2F5FB"/>
                </a:solidFill>
                <a:latin typeface="Cascadia Mono"/>
              </a:rPr>
              <a:t>port: 4000</a:t>
            </a:r>
          </a:p>
        </p:txBody>
      </p:sp>
      <p:sp>
        <p:nvSpPr>
          <p:cNvPr id="16" name="Note"/>
          <p:cNvSpPr txBox="1"/>
          <p:nvPr/>
        </p:nvSpPr>
        <p:spPr>
          <a:xfrm>
            <a:off x="4064000" y="4826000"/>
            <a:ext cx="7366000" cy="381000"/>
          </a:xfrm>
          <a:prstGeom prst="rect">
            <a:avLst/>
          </a:prstGeom>
          <a:noFill/>
        </p:spPr>
        <p:txBody>
          <a:bodyPr wrap="square" lIns="0" tIns="0" rIns="0" bIns="0" anchor="t">
            <a:spAutoFit/>
          </a:bodyPr>
          <a:lstStyle/>
          <a:p>
            <a:pPr algn="l">
              <a:lnSpc>
                <a:spcPct val="115000"/>
              </a:lnSpc>
            </a:pPr>
            <a:r>
              <a:rPr sz="1700" b="1">
                <a:solidFill>
                  <a:srgbClr val="38BDF8"/>
                </a:solidFill>
                <a:latin typeface="Segoe UI"/>
              </a:rPr>
              <a:t>No observability platform named. That is the Canvas's job.</a:t>
            </a:r>
          </a:p>
        </p:txBody>
      </p:sp>
    </p:spTree>
  </p:cSld>
  <p:clrMapOvr>
    <a:masterClrMapping/>
  </p:clrMapOvr>
  <mc:AlternateContent xmlns:mc="http://schemas.openxmlformats.org/markup-compatibility/2006">
    <mc:Choice xmlns:p14="http://schemas.microsoft.com/office/powerpoint/2010/main" Requires="p14">
      <p:transition spd="slow" p14:dur="2000" advTm="25500"/>
    </mc:Choice>
    <mc:Fallback>
      <p:transition spd="slow" advTm="2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 calcmode="lin" valueType="num">
                                      <p:cBhvr>
                                        <p:cTn id="13" dur="600" fill="hold"/>
                                        <p:tgtEl>
                                          <p:spTgt spid="6"/>
                                        </p:tgtEl>
                                        <p:attrNameLst>
                                          <p:attrName>ppt_w</p:attrName>
                                        </p:attrNameLst>
                                      </p:cBhvr>
                                      <p:tavLst>
                                        <p:tav tm="0">
                                          <p:val>
                                            <p:strVal val="#ppt_w*2.5"/>
                                          </p:val>
                                        </p:tav>
                                        <p:tav tm="100000">
                                          <p:val>
                                            <p:strVal val="#ppt_w"/>
                                          </p:val>
                                        </p:tav>
                                      </p:tavLst>
                                    </p:anim>
                                    <p:anim calcmode="lin" valueType="num">
                                      <p:cBhvr>
                                        <p:cTn id="14" dur="600" fill="hold"/>
                                        <p:tgtEl>
                                          <p:spTgt spid="6"/>
                                        </p:tgtEl>
                                        <p:attrNameLst>
                                          <p:attrName>ppt_h</p:attrName>
                                        </p:attrNameLst>
                                      </p:cBhvr>
                                      <p:tavLst>
                                        <p:tav tm="0">
                                          <p:val>
                                            <p:strVal val="#ppt_h*0.01"/>
                                          </p:val>
                                        </p:tav>
                                        <p:tav tm="100000">
                                          <p:val>
                                            <p:strVal val="#ppt_h"/>
                                          </p:val>
                                        </p:tav>
                                      </p:tavLst>
                                    </p:anim>
                                    <p:anim calcmode="lin" valueType="num">
                                      <p:cBhvr>
                                        <p:cTn id="15" dur="600" fill="hold"/>
                                        <p:tgtEl>
                                          <p:spTgt spid="6"/>
                                        </p:tgtEl>
                                        <p:attrNameLst>
                                          <p:attrName>ppt_x</p:attrName>
                                        </p:attrNameLst>
                                      </p:cBhvr>
                                      <p:tavLst>
                                        <p:tav tm="0">
                                          <p:val>
                                            <p:strVal val="#ppt_x"/>
                                          </p:val>
                                        </p:tav>
                                        <p:tav tm="100000">
                                          <p:val>
                                            <p:strVal val="#ppt_x"/>
                                          </p:val>
                                        </p:tav>
                                      </p:tavLst>
                                    </p:anim>
                                    <p:anim calcmode="lin" valueType="num">
                                      <p:cBhvr>
                                        <p:cTn id="16" dur="600" fill="hold"/>
                                        <p:tgtEl>
                                          <p:spTgt spid="6"/>
                                        </p:tgtEl>
                                        <p:attrNameLst>
                                          <p:attrName>ppt_y</p:attrName>
                                        </p:attrNameLst>
                                      </p:cBhvr>
                                      <p:tavLst>
                                        <p:tav tm="0">
                                          <p:val>
                                            <p:strVal val="#ppt_h+1"/>
                                          </p:val>
                                        </p:tav>
                                        <p:tav tm="100000">
                                          <p:val>
                                            <p:strVal val="#ppt_y"/>
                                          </p:val>
                                        </p:tav>
                                      </p:tavLst>
                                    </p:anim>
                                    <p:animEffect transition="in" filter="fade">
                                      <p:cBhvr>
                                        <p:cTn id="17" dur="600"/>
                                        <p:tgtEl>
                                          <p:spTgt spid="6"/>
                                        </p:tgtEl>
                                      </p:cBhvr>
                                    </p:animEffect>
                                  </p:childTnLst>
                                </p:cTn>
                              </p:par>
                              <p:par>
                                <p:cTn id="18" presetID="10" presetClass="entr" presetSubtype="0" fill="hold" grpId="0" nodeType="withEffect">
                                  <p:stCondLst>
                                    <p:cond delay="8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12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grpId="0" nodeType="withEffect">
                                  <p:stCondLst>
                                    <p:cond delay="26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childTnLst>
                                </p:cTn>
                              </p:par>
                              <p:par>
                                <p:cTn id="27" presetID="10" presetClass="entr" presetSubtype="0" fill="hold" grpId="0" nodeType="withEffect">
                                  <p:stCondLst>
                                    <p:cond delay="30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46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par>
                                <p:cTn id="33" presetID="10" presetClass="entr" presetSubtype="0" fill="hold" grpId="0" nodeType="withEffect">
                                  <p:stCondLst>
                                    <p:cond delay="64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childTnLst>
                                </p:cTn>
                              </p:par>
                              <p:par>
                                <p:cTn id="36" presetID="10" presetClass="entr" presetSubtype="0" fill="hold" grpId="0" nodeType="withEffect">
                                  <p:stCondLst>
                                    <p:cond delay="96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childTnLst>
                                </p:cTn>
                              </p:par>
                              <p:par>
                                <p:cTn id="39" presetID="10" presetClass="entr" presetSubtype="0" fill="hold" grpId="0" nodeType="withEffect">
                                  <p:stCondLst>
                                    <p:cond delay="1480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grpId="0" nodeType="withEffect">
                                  <p:stCondLst>
                                    <p:cond delay="160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00"/>
                                        <p:tgtEl>
                                          <p:spTgt spid="15"/>
                                        </p:tgtEl>
                                      </p:cBhvr>
                                    </p:animEffect>
                                  </p:childTnLst>
                                </p:cTn>
                              </p:par>
                              <p:par>
                                <p:cTn id="45" presetID="10" presetClass="entr" presetSubtype="0" fill="hold" grpId="0" nodeType="withEffect">
                                  <p:stCondLst>
                                    <p:cond delay="2040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p:bldP spid="10" grpId="0"/>
      <p:bldP spid="11" grpId="0"/>
      <p:bldP spid="12" grpId="0"/>
      <p:bldP spid="13" grpId="0"/>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How the Canvas wires it up</a:t>
            </a:r>
          </a:p>
        </p:txBody>
      </p:sp>
      <p:pic>
        <p:nvPicPr>
          <p:cNvPr id="3" name="Clip 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Choose how metrics are collected</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API OPERATOR SETTING</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Choose how metrics are collected</a:t>
            </a:r>
          </a:p>
        </p:txBody>
      </p:sp>
      <p:grpSp>
        <p:nvGrpSpPr>
          <p:cNvPr id="9" name="Operator"/>
          <p:cNvGrpSpPr/>
          <p:nvPr/>
        </p:nvGrpSpPr>
        <p:grpSpPr>
          <a:xfrm>
            <a:off x="762000" y="1841500"/>
            <a:ext cx="5397500" cy="762000"/>
            <a:chOff x="762000" y="1841500"/>
            <a:chExt cx="5397500" cy="762000"/>
          </a:xfrm>
        </p:grpSpPr>
        <p:pic>
          <p:nvPicPr>
            <p:cNvPr id="6" name="Shape 4" descr="icon-gear-1fc7a8.png"/>
            <p:cNvPicPr>
              <a:picLocks noChangeAspect="1"/>
            </p:cNvPicPr>
            <p:nvPr/>
          </p:nvPicPr>
          <p:blipFill>
            <a:blip r:embed="rId4"/>
            <a:stretch>
              <a:fillRect/>
            </a:stretch>
          </p:blipFill>
          <p:spPr>
            <a:xfrm>
              <a:off x="762000" y="1841500"/>
              <a:ext cx="762000" cy="762000"/>
            </a:xfrm>
            <a:prstGeom prst="rect">
              <a:avLst/>
            </a:prstGeom>
          </p:spPr>
        </p:pic>
        <p:sp>
          <p:nvSpPr>
            <p:cNvPr id="7" name="Shape 5"/>
            <p:cNvSpPr txBox="1"/>
            <p:nvPr/>
          </p:nvSpPr>
          <p:spPr>
            <a:xfrm>
              <a:off x="1714500" y="1879600"/>
              <a:ext cx="4445000" cy="317500"/>
            </a:xfrm>
            <a:prstGeom prst="rect">
              <a:avLst/>
            </a:prstGeom>
            <a:noFill/>
          </p:spPr>
          <p:txBody>
            <a:bodyPr wrap="square" lIns="0" tIns="0" rIns="0" bIns="0" anchor="t">
              <a:spAutoFit/>
            </a:bodyPr>
            <a:lstStyle/>
            <a:p>
              <a:pPr algn="l">
                <a:lnSpc>
                  <a:spcPct val="115000"/>
                </a:lnSpc>
              </a:pPr>
              <a:r>
                <a:rPr sz="1700" b="1">
                  <a:solidFill>
                    <a:srgbClr val="F2F5FB"/>
                  </a:solidFill>
                  <a:latin typeface="Segoe UI"/>
                </a:rPr>
                <a:t>API operator</a:t>
              </a:r>
            </a:p>
          </p:txBody>
        </p:sp>
        <p:sp>
          <p:nvSpPr>
            <p:cNvPr id="8" name="Shape 6"/>
            <p:cNvSpPr txBox="1"/>
            <p:nvPr/>
          </p:nvSpPr>
          <p:spPr>
            <a:xfrm>
              <a:off x="1714500" y="2197100"/>
              <a:ext cx="4445000" cy="317500"/>
            </a:xfrm>
            <a:prstGeom prst="rect">
              <a:avLst/>
            </a:prstGeom>
            <a:noFill/>
          </p:spPr>
          <p:txBody>
            <a:bodyPr wrap="square" lIns="0" tIns="0" rIns="0" bIns="0" anchor="t">
              <a:spAutoFit/>
            </a:bodyPr>
            <a:lstStyle/>
            <a:p>
              <a:pPr algn="l">
                <a:lnSpc>
                  <a:spcPct val="115000"/>
                </a:lnSpc>
              </a:pPr>
              <a:r>
                <a:rPr sz="1500" b="0">
                  <a:solidFill>
                    <a:srgbClr val="38BDF8"/>
                  </a:solidFill>
                  <a:latin typeface="Cascadia Mono"/>
                </a:rPr>
                <a:t>openMetricsImplementation</a:t>
              </a:r>
            </a:p>
          </p:txBody>
        </p:sp>
      </p:grpSp>
      <p:grpSp>
        <p:nvGrpSpPr>
          <p:cNvPr id="14" name="Mode 1"/>
          <p:cNvGrpSpPr/>
          <p:nvPr/>
        </p:nvGrpSpPr>
        <p:grpSpPr>
          <a:xfrm>
            <a:off x="762000" y="2921000"/>
            <a:ext cx="10668000" cy="800100"/>
            <a:chOff x="762000" y="2921000"/>
            <a:chExt cx="10668000" cy="800100"/>
          </a:xfrm>
        </p:grpSpPr>
        <p:sp>
          <p:nvSpPr>
            <p:cNvPr id="10" name="Shape 8"/>
            <p:cNvSpPr/>
            <p:nvPr/>
          </p:nvSpPr>
          <p:spPr>
            <a:xfrm>
              <a:off x="762000" y="2921000"/>
              <a:ext cx="10668000" cy="800100"/>
            </a:xfrm>
            <a:prstGeom prst="roundRect">
              <a:avLst>
                <a:gd name="adj" fmla="val 17460"/>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p:cNvSpPr txBox="1"/>
            <p:nvPr/>
          </p:nvSpPr>
          <p:spPr>
            <a:xfrm>
              <a:off x="1016000" y="3162300"/>
              <a:ext cx="4064000" cy="317500"/>
            </a:xfrm>
            <a:prstGeom prst="rect">
              <a:avLst/>
            </a:prstGeom>
            <a:noFill/>
          </p:spPr>
          <p:txBody>
            <a:bodyPr wrap="square" lIns="0" tIns="0" rIns="0" bIns="0" anchor="t">
              <a:spAutoFit/>
            </a:bodyPr>
            <a:lstStyle/>
            <a:p>
              <a:pPr algn="l">
                <a:lnSpc>
                  <a:spcPct val="115000"/>
                </a:lnSpc>
              </a:pPr>
              <a:r>
                <a:rPr sz="1800" b="1">
                  <a:solidFill>
                    <a:srgbClr val="38BDF8"/>
                  </a:solidFill>
                  <a:latin typeface="Cascadia Mono"/>
                </a:rPr>
                <a:t>ServiceMonitor</a:t>
              </a:r>
            </a:p>
          </p:txBody>
        </p:sp>
        <p:sp>
          <p:nvSpPr>
            <p:cNvPr id="12" name="Shape 10"/>
            <p:cNvSpPr txBox="1"/>
            <p:nvPr/>
          </p:nvSpPr>
          <p:spPr>
            <a:xfrm>
              <a:off x="5207000" y="3175000"/>
              <a:ext cx="5969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A ServiceMonitor resource, for the Prometheus operator</a:t>
              </a:r>
            </a:p>
          </p:txBody>
        </p:sp>
        <p:sp>
          <p:nvSpPr>
            <p:cNvPr id="13" name="Shape 11"/>
            <p:cNvSpPr/>
            <p:nvPr/>
          </p:nvSpPr>
          <p:spPr>
            <a:xfrm>
              <a:off x="3429000" y="3149600"/>
              <a:ext cx="825500" cy="241300"/>
            </a:xfrm>
            <a:prstGeom prst="roundRect">
              <a:avLst>
                <a:gd name="adj" fmla="val 50000"/>
              </a:avLst>
            </a:prstGeom>
            <a:solidFill>
              <a:srgbClr val="22C55E">
                <a:alpha val="15000"/>
              </a:srgbClr>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default</a:t>
              </a:r>
            </a:p>
          </p:txBody>
        </p:sp>
      </p:grpSp>
      <p:grpSp>
        <p:nvGrpSpPr>
          <p:cNvPr id="18" name="Mode 2"/>
          <p:cNvGrpSpPr/>
          <p:nvPr/>
        </p:nvGrpSpPr>
        <p:grpSpPr>
          <a:xfrm>
            <a:off x="762000" y="3873500"/>
            <a:ext cx="10668000" cy="800100"/>
            <a:chOff x="762000" y="3873500"/>
            <a:chExt cx="10668000" cy="800100"/>
          </a:xfrm>
        </p:grpSpPr>
        <p:sp>
          <p:nvSpPr>
            <p:cNvPr id="15" name="Shape 13"/>
            <p:cNvSpPr/>
            <p:nvPr/>
          </p:nvSpPr>
          <p:spPr>
            <a:xfrm>
              <a:off x="762000" y="3873500"/>
              <a:ext cx="10668000" cy="800100"/>
            </a:xfrm>
            <a:prstGeom prst="roundRect">
              <a:avLst>
                <a:gd name="adj" fmla="val 17460"/>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Shape 14"/>
            <p:cNvSpPr txBox="1"/>
            <p:nvPr/>
          </p:nvSpPr>
          <p:spPr>
            <a:xfrm>
              <a:off x="1016000" y="4114800"/>
              <a:ext cx="4064000" cy="317500"/>
            </a:xfrm>
            <a:prstGeom prst="rect">
              <a:avLst/>
            </a:prstGeom>
            <a:noFill/>
          </p:spPr>
          <p:txBody>
            <a:bodyPr wrap="square" lIns="0" tIns="0" rIns="0" bIns="0" anchor="t">
              <a:spAutoFit/>
            </a:bodyPr>
            <a:lstStyle/>
            <a:p>
              <a:pPr algn="l">
                <a:lnSpc>
                  <a:spcPct val="115000"/>
                </a:lnSpc>
              </a:pPr>
              <a:r>
                <a:rPr sz="1800" b="1">
                  <a:solidFill>
                    <a:srgbClr val="38BDF8"/>
                  </a:solidFill>
                  <a:latin typeface="Cascadia Mono"/>
                </a:rPr>
                <a:t>PrometheusAnnotation</a:t>
              </a:r>
            </a:p>
          </p:txBody>
        </p:sp>
        <p:sp>
          <p:nvSpPr>
            <p:cNvPr id="17" name="Shape 15"/>
            <p:cNvSpPr txBox="1"/>
            <p:nvPr/>
          </p:nvSpPr>
          <p:spPr>
            <a:xfrm>
              <a:off x="5207000" y="4127500"/>
              <a:ext cx="5969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Pod annotations, read by some managed Prometheus services</a:t>
              </a:r>
            </a:p>
          </p:txBody>
        </p:sp>
      </p:grpSp>
      <p:grpSp>
        <p:nvGrpSpPr>
          <p:cNvPr id="22" name="Mode 3"/>
          <p:cNvGrpSpPr/>
          <p:nvPr/>
        </p:nvGrpSpPr>
        <p:grpSpPr>
          <a:xfrm>
            <a:off x="762000" y="4826000"/>
            <a:ext cx="10668000" cy="800100"/>
            <a:chOff x="762000" y="4826000"/>
            <a:chExt cx="10668000" cy="800100"/>
          </a:xfrm>
        </p:grpSpPr>
        <p:sp>
          <p:nvSpPr>
            <p:cNvPr id="19" name="Shape 17"/>
            <p:cNvSpPr/>
            <p:nvPr/>
          </p:nvSpPr>
          <p:spPr>
            <a:xfrm>
              <a:off x="762000" y="4826000"/>
              <a:ext cx="10668000" cy="800100"/>
            </a:xfrm>
            <a:prstGeom prst="roundRect">
              <a:avLst>
                <a:gd name="adj" fmla="val 17460"/>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Shape 18"/>
            <p:cNvSpPr txBox="1"/>
            <p:nvPr/>
          </p:nvSpPr>
          <p:spPr>
            <a:xfrm>
              <a:off x="1016000" y="5067300"/>
              <a:ext cx="4064000" cy="317500"/>
            </a:xfrm>
            <a:prstGeom prst="rect">
              <a:avLst/>
            </a:prstGeom>
            <a:noFill/>
          </p:spPr>
          <p:txBody>
            <a:bodyPr wrap="square" lIns="0" tIns="0" rIns="0" bIns="0" anchor="t">
              <a:spAutoFit/>
            </a:bodyPr>
            <a:lstStyle/>
            <a:p>
              <a:pPr algn="l">
                <a:lnSpc>
                  <a:spcPct val="115000"/>
                </a:lnSpc>
              </a:pPr>
              <a:r>
                <a:rPr sz="1800" b="1">
                  <a:solidFill>
                    <a:srgbClr val="38BDF8"/>
                  </a:solidFill>
                  <a:latin typeface="Cascadia Mono"/>
                </a:rPr>
                <a:t>DataDogAnnotation</a:t>
              </a:r>
            </a:p>
          </p:txBody>
        </p:sp>
        <p:sp>
          <p:nvSpPr>
            <p:cNvPr id="21" name="Shape 19"/>
            <p:cNvSpPr txBox="1"/>
            <p:nvPr/>
          </p:nvSpPr>
          <p:spPr>
            <a:xfrm>
              <a:off x="5207000" y="5080000"/>
              <a:ext cx="5969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Pod annotations in Datadog's format</a:t>
              </a:r>
            </a:p>
          </p:txBody>
        </p:sp>
      </p:grpSp>
      <p:sp>
        <p:nvSpPr>
          <p:cNvPr id="23" name="Same"/>
          <p:cNvSpPr txBox="1"/>
          <p:nvPr/>
        </p:nvSpPr>
        <p:spPr>
          <a:xfrm>
            <a:off x="762000" y="5905500"/>
            <a:ext cx="10668000" cy="317500"/>
          </a:xfrm>
          <a:prstGeom prst="rect">
            <a:avLst/>
          </a:prstGeom>
          <a:noFill/>
        </p:spPr>
        <p:txBody>
          <a:bodyPr wrap="square" lIns="0" tIns="0" rIns="0" bIns="0" anchor="t">
            <a:spAutoFit/>
          </a:bodyPr>
          <a:lstStyle/>
          <a:p>
            <a:pPr algn="l">
              <a:lnSpc>
                <a:spcPct val="115000"/>
              </a:lnSpc>
            </a:pPr>
            <a:r>
              <a:rPr sz="1600" b="1">
                <a:solidFill>
                  <a:srgbClr val="8F9BB8"/>
                </a:solidFill>
                <a:latin typeface="Segoe UI"/>
              </a:rPr>
              <a:t>The component specification is the same in every case</a:t>
            </a:r>
          </a:p>
        </p:txBody>
      </p:sp>
    </p:spTree>
  </p:cSld>
  <p:clrMapOvr>
    <a:masterClrMapping/>
  </p:clrMapOvr>
  <mc:AlternateContent xmlns:mc="http://schemas.openxmlformats.org/markup-compatibility/2006">
    <mc:Choice xmlns:p14="http://schemas.microsoft.com/office/powerpoint/2010/main" Requires="p14">
      <p:transition spd="slow" p14:dur="2000" advTm="23500"/>
    </mc:Choice>
    <mc:Fallback>
      <p:transition spd="slow" advTm="23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24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2" presetClass="entr" presetSubtype="4" fill="hold" nodeType="withEffect">
                                  <p:stCondLst>
                                    <p:cond delay="660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1100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ppt_x"/>
                                          </p:val>
                                        </p:tav>
                                        <p:tav tm="100000">
                                          <p:val>
                                            <p:strVal val="#ppt_x"/>
                                          </p:val>
                                        </p:tav>
                                      </p:tavLst>
                                    </p:anim>
                                    <p:anim calcmode="lin" valueType="num">
                                      <p:cBhvr additive="base">
                                        <p:cTn id="21" dur="500" fill="hold"/>
                                        <p:tgtEl>
                                          <p:spTgt spid="1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1580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ppt_x"/>
                                          </p:val>
                                        </p:tav>
                                        <p:tav tm="100000">
                                          <p:val>
                                            <p:strVal val="#ppt_x"/>
                                          </p:val>
                                        </p:tav>
                                      </p:tavLst>
                                    </p:anim>
                                    <p:anim calcmode="lin" valueType="num">
                                      <p:cBhvr additive="base">
                                        <p:cTn id="25" dur="500" fill="hold"/>
                                        <p:tgtEl>
                                          <p:spTgt spid="22"/>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860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the Canvas created the ServiceMonitor</a:t>
            </a:r>
          </a:p>
        </p:txBody>
      </p:sp>
      <p:pic>
        <p:nvPicPr>
          <p:cNvPr id="3" name="Clip 0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Prometheus finds the component</a:t>
            </a:r>
          </a:p>
        </p:txBody>
      </p:sp>
      <p:pic>
        <p:nvPicPr>
          <p:cNvPr id="3" name="Clip 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900"/>
    </mc:Choice>
    <mc:Fallback>
      <p:transition spd="slow" advTm="1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business metrics in Prometheus</a:t>
            </a:r>
          </a:p>
        </p:txBody>
      </p:sp>
      <p:pic>
        <p:nvPicPr>
          <p:cNvPr id="3" name="Clip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Technical metrics come with the platform</a:t>
            </a:r>
          </a:p>
        </p:txBody>
      </p:sp>
      <p:pic>
        <p:nvPicPr>
          <p:cNvPr id="3" name="Clip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900"/>
    </mc:Choice>
    <mc:Fallback>
      <p:transition spd="slow" advTm="1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a Grafana dashboard for the component</a:t>
            </a:r>
          </a:p>
        </p:txBody>
      </p:sp>
      <p:pic>
        <p:nvPicPr>
          <p:cNvPr id="3" name="Clip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900"/>
    </mc:Choice>
    <mc:Fallback>
      <p:transition spd="slow" advTm="2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the platform dashboards</a:t>
            </a:r>
          </a:p>
        </p:txBody>
      </p:sp>
      <p:pic>
        <p:nvPicPr>
          <p:cNvPr id="3" name="Clip 1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500"/>
    </mc:Choice>
    <mc:Fallback>
      <p:transition spd="slow" advTm="1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How traces reach Jaeger</a:t>
            </a:r>
          </a:p>
        </p:txBody>
      </p:sp>
      <p:pic>
        <p:nvPicPr>
          <p:cNvPr id="3" name="Clip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Pointing a component at the collector</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TRACES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Pointing a component at the collector</a:t>
            </a:r>
          </a:p>
        </p:txBody>
      </p:sp>
      <p:sp>
        <p:nvSpPr>
          <p:cNvPr id="6" name="Values panel"/>
          <p:cNvSpPr/>
          <p:nvPr/>
        </p:nvSpPr>
        <p:spPr>
          <a:xfrm>
            <a:off x="762000" y="1778000"/>
            <a:ext cx="10668000" cy="2559050"/>
          </a:xfrm>
          <a:prstGeom prst="roundRect">
            <a:avLst>
              <a:gd name="adj" fmla="val 4466"/>
            </a:avLst>
          </a:prstGeom>
          <a:solidFill>
            <a:srgbClr val="0D1426"/>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Values 1"/>
          <p:cNvSpPr txBox="1"/>
          <p:nvPr/>
        </p:nvSpPr>
        <p:spPr>
          <a:xfrm>
            <a:off x="990600" y="1968500"/>
            <a:ext cx="10287000" cy="311150"/>
          </a:xfrm>
          <a:prstGeom prst="rect">
            <a:avLst/>
          </a:prstGeom>
          <a:noFill/>
        </p:spPr>
        <p:txBody>
          <a:bodyPr wrap="square" lIns="0" tIns="0" rIns="0" bIns="0" anchor="t">
            <a:spAutoFit/>
          </a:bodyPr>
          <a:lstStyle/>
          <a:p>
            <a:pPr algn="l">
              <a:lnSpc>
                <a:spcPct val="115000"/>
              </a:lnSpc>
            </a:pPr>
            <a:r>
              <a:rPr sz="1600" b="0">
                <a:solidFill>
                  <a:srgbClr val="8F9BB8"/>
                </a:solidFill>
                <a:latin typeface="Cascadia Mono"/>
              </a:rPr>
              <a:t># Helm values for release obs</a:t>
            </a:r>
          </a:p>
        </p:txBody>
      </p:sp>
      <p:sp>
        <p:nvSpPr>
          <p:cNvPr id="8" name="Values 2"/>
          <p:cNvSpPr txBox="1"/>
          <p:nvPr/>
        </p:nvSpPr>
        <p:spPr>
          <a:xfrm>
            <a:off x="990600" y="2279650"/>
            <a:ext cx="10287000" cy="311150"/>
          </a:xfrm>
          <a:prstGeom prst="rect">
            <a:avLst/>
          </a:prstGeom>
          <a:noFill/>
        </p:spPr>
        <p:txBody>
          <a:bodyPr wrap="square" lIns="0" tIns="0" rIns="0" bIns="0" anchor="t">
            <a:spAutoFit/>
          </a:bodyPr>
          <a:lstStyle/>
          <a:p>
            <a:pPr algn="l">
              <a:lnSpc>
                <a:spcPct val="115000"/>
              </a:lnSpc>
            </a:pPr>
            <a:r>
              <a:rPr sz="1600" b="0">
                <a:solidFill>
                  <a:srgbClr val="F2F5FB"/>
                </a:solidFill>
                <a:latin typeface="Cascadia Mono"/>
              </a:rPr>
              <a:t>api:</a:t>
            </a:r>
          </a:p>
        </p:txBody>
      </p:sp>
      <p:sp>
        <p:nvSpPr>
          <p:cNvPr id="9" name="Values 3"/>
          <p:cNvSpPr txBox="1"/>
          <p:nvPr/>
        </p:nvSpPr>
        <p:spPr>
          <a:xfrm>
            <a:off x="1206500" y="2590800"/>
            <a:ext cx="10287000" cy="311150"/>
          </a:xfrm>
          <a:prstGeom prst="rect">
            <a:avLst/>
          </a:prstGeom>
          <a:noFill/>
        </p:spPr>
        <p:txBody>
          <a:bodyPr wrap="square" lIns="0" tIns="0" rIns="0" bIns="0" anchor="t">
            <a:spAutoFit/>
          </a:bodyPr>
          <a:lstStyle/>
          <a:p>
            <a:pPr algn="l">
              <a:lnSpc>
                <a:spcPct val="115000"/>
              </a:lnSpc>
            </a:pPr>
            <a:r>
              <a:rPr sz="1600" b="1">
                <a:solidFill>
                  <a:srgbClr val="38BDF8"/>
                </a:solidFill>
                <a:latin typeface="Cascadia Mono"/>
              </a:rPr>
              <a:t>otlp:</a:t>
            </a:r>
          </a:p>
        </p:txBody>
      </p:sp>
      <p:sp>
        <p:nvSpPr>
          <p:cNvPr id="10" name="Values 4"/>
          <p:cNvSpPr txBox="1"/>
          <p:nvPr/>
        </p:nvSpPr>
        <p:spPr>
          <a:xfrm>
            <a:off x="1422400" y="2901950"/>
            <a:ext cx="10287000" cy="311150"/>
          </a:xfrm>
          <a:prstGeom prst="rect">
            <a:avLst/>
          </a:prstGeom>
          <a:noFill/>
        </p:spPr>
        <p:txBody>
          <a:bodyPr wrap="square" lIns="0" tIns="0" rIns="0" bIns="0" anchor="t">
            <a:spAutoFit/>
          </a:bodyPr>
          <a:lstStyle/>
          <a:p>
            <a:pPr algn="l">
              <a:lnSpc>
                <a:spcPct val="115000"/>
              </a:lnSpc>
            </a:pPr>
            <a:r>
              <a:rPr sz="1600" b="0">
                <a:solidFill>
                  <a:srgbClr val="F2F5FB"/>
                </a:solidFill>
                <a:latin typeface="Cascadia Mono"/>
              </a:rPr>
              <a:t>protobuffCollector:</a:t>
            </a:r>
          </a:p>
        </p:txBody>
      </p:sp>
      <p:sp>
        <p:nvSpPr>
          <p:cNvPr id="11" name="Values 5"/>
          <p:cNvSpPr txBox="1"/>
          <p:nvPr/>
        </p:nvSpPr>
        <p:spPr>
          <a:xfrm>
            <a:off x="1638300" y="3213100"/>
            <a:ext cx="10287000" cy="311150"/>
          </a:xfrm>
          <a:prstGeom prst="rect">
            <a:avLst/>
          </a:prstGeom>
          <a:noFill/>
        </p:spPr>
        <p:txBody>
          <a:bodyPr wrap="square" lIns="0" tIns="0" rIns="0" bIns="0" anchor="t">
            <a:spAutoFit/>
          </a:bodyPr>
          <a:lstStyle/>
          <a:p>
            <a:pPr algn="l">
              <a:lnSpc>
                <a:spcPct val="115000"/>
              </a:lnSpc>
            </a:pPr>
            <a:r>
              <a:rPr sz="1600" b="1">
                <a:solidFill>
                  <a:srgbClr val="38BDF8"/>
                </a:solidFill>
                <a:latin typeface="Cascadia Mono"/>
              </a:rPr>
              <a:t>enabled: true</a:t>
            </a:r>
          </a:p>
        </p:txBody>
      </p:sp>
      <p:sp>
        <p:nvSpPr>
          <p:cNvPr id="12" name="Values 6"/>
          <p:cNvSpPr txBox="1"/>
          <p:nvPr/>
        </p:nvSpPr>
        <p:spPr>
          <a:xfrm>
            <a:off x="1638300" y="3524250"/>
            <a:ext cx="10287000" cy="311150"/>
          </a:xfrm>
          <a:prstGeom prst="rect">
            <a:avLst/>
          </a:prstGeom>
          <a:noFill/>
        </p:spPr>
        <p:txBody>
          <a:bodyPr wrap="square" lIns="0" tIns="0" rIns="0" bIns="0" anchor="t">
            <a:spAutoFit/>
          </a:bodyPr>
          <a:lstStyle/>
          <a:p>
            <a:pPr algn="l">
              <a:lnSpc>
                <a:spcPct val="115000"/>
              </a:lnSpc>
            </a:pPr>
            <a:r>
              <a:rPr sz="1600" b="0">
                <a:solidFill>
                  <a:srgbClr val="F2F5FB"/>
                </a:solidFill>
                <a:latin typeface="Cascadia Mono"/>
              </a:rPr>
              <a:t>url: http://observability-opentelemetry-collector</a:t>
            </a:r>
          </a:p>
        </p:txBody>
      </p:sp>
      <p:sp>
        <p:nvSpPr>
          <p:cNvPr id="13" name="Values 7"/>
          <p:cNvSpPr txBox="1"/>
          <p:nvPr/>
        </p:nvSpPr>
        <p:spPr>
          <a:xfrm>
            <a:off x="1854200" y="3835400"/>
            <a:ext cx="10287000" cy="311150"/>
          </a:xfrm>
          <a:prstGeom prst="rect">
            <a:avLst/>
          </a:prstGeom>
          <a:noFill/>
        </p:spPr>
        <p:txBody>
          <a:bodyPr wrap="square" lIns="0" tIns="0" rIns="0" bIns="0" anchor="t">
            <a:spAutoFit/>
          </a:bodyPr>
          <a:lstStyle/>
          <a:p>
            <a:pPr algn="l">
              <a:lnSpc>
                <a:spcPct val="115000"/>
              </a:lnSpc>
            </a:pPr>
            <a:r>
              <a:rPr sz="1600" b="0">
                <a:solidFill>
                  <a:srgbClr val="F2F5FB"/>
                </a:solidFill>
                <a:latin typeface="Cascadia Mono"/>
              </a:rPr>
              <a:t>.monitoring.svc.cluster.local:4318/v1/traces</a:t>
            </a:r>
          </a:p>
        </p:txBody>
      </p:sp>
      <p:sp>
        <p:nvSpPr>
          <p:cNvPr id="14" name="Install"/>
          <p:cNvSpPr/>
          <p:nvPr/>
        </p:nvSpPr>
        <p:spPr>
          <a:xfrm>
            <a:off x="762000" y="4826000"/>
            <a:ext cx="4159250" cy="3111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400" b="1">
                <a:solidFill>
                  <a:srgbClr val="F2F5FB"/>
                </a:solidFill>
                <a:latin typeface="Segoe UI"/>
              </a:rPr>
              <a:t>Set at install time, in the Helm values</a:t>
            </a:r>
          </a:p>
        </p:txBody>
      </p:sp>
      <p:sp>
        <p:nvSpPr>
          <p:cNvPr id="15" name="Not spec"/>
          <p:cNvSpPr/>
          <p:nvPr/>
        </p:nvSpPr>
        <p:spPr>
          <a:xfrm>
            <a:off x="762000" y="5270500"/>
            <a:ext cx="4159250" cy="31115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400" b="1">
                <a:solidFill>
                  <a:srgbClr val="F2F5FB"/>
                </a:solidFill>
                <a:latin typeface="Segoe UI"/>
              </a:rPr>
              <a:t>Not part of the Component specification</a:t>
            </a:r>
          </a:p>
        </p:txBody>
      </p:sp>
      <p:sp>
        <p:nvSpPr>
          <p:cNvPr id="16" name="Namespace"/>
          <p:cNvSpPr/>
          <p:nvPr/>
        </p:nvSpPr>
        <p:spPr>
          <a:xfrm>
            <a:off x="6858000" y="4826000"/>
            <a:ext cx="3962400" cy="3111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400" b="1">
                <a:solidFill>
                  <a:srgbClr val="F2F5FB"/>
                </a:solidFill>
                <a:latin typeface="Segoe UI"/>
              </a:rPr>
              <a:t>collector in the monitoring namespace</a:t>
            </a:r>
          </a:p>
        </p:txBody>
      </p:sp>
    </p:spTree>
  </p:cSld>
  <p:clrMapOvr>
    <a:masterClrMapping/>
  </p:clrMapOvr>
  <mc:AlternateContent xmlns:mc="http://schemas.openxmlformats.org/markup-compatibility/2006">
    <mc:Choice xmlns:p14="http://schemas.microsoft.com/office/powerpoint/2010/main" Requires="p14">
      <p:transition spd="slow" p14:dur="2000" advTm="18300"/>
    </mc:Choice>
    <mc:Fallback>
      <p:transition spd="slow" advTm="1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8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1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grpId="0" nodeType="withEffect">
                                  <p:stCondLst>
                                    <p:cond delay="24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00"/>
                                        <p:tgtEl>
                                          <p:spTgt spid="14"/>
                                        </p:tgtEl>
                                      </p:cBhvr>
                                    </p:animEffect>
                                  </p:childTnLst>
                                </p:cTn>
                              </p:par>
                              <p:par>
                                <p:cTn id="26" presetID="10" presetClass="entr" presetSubtype="0" fill="hold" grpId="0" nodeType="withEffect">
                                  <p:stCondLst>
                                    <p:cond delay="70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par>
                                <p:cTn id="29" presetID="10" presetClass="entr" presetSubtype="0" fill="hold" grpId="0" nodeType="withEffect">
                                  <p:stCondLst>
                                    <p:cond delay="104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114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par>
                                <p:cTn id="35" presetID="10" presetClass="entr" presetSubtype="0" fill="hold" grpId="0" nodeType="withEffect">
                                  <p:stCondLst>
                                    <p:cond delay="134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138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150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0" grpId="0"/>
      <p:bldP spid="11" grpId="0"/>
      <p:bldP spid="12" grpId="0"/>
      <p:bldP spid="13" grpId="0"/>
      <p:bldP spid="14"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finding traces in Jaeger</a:t>
            </a:r>
          </a:p>
        </p:txBody>
      </p:sp>
      <p:pic>
        <p:nvPicPr>
          <p:cNvPr id="3" name="Clip 1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900"/>
    </mc:Choice>
    <mc:Fallback>
      <p:transition spd="slow" advTm="1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inside one request</a:t>
            </a:r>
          </a:p>
        </p:txBody>
      </p:sp>
      <p:pic>
        <p:nvPicPr>
          <p:cNvPr id="3" name="Clip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Observability in the Canvas Portal</a:t>
            </a:r>
          </a:p>
        </p:txBody>
      </p:sp>
      <p:pic>
        <p:nvPicPr>
          <p:cNvPr id="3" name="Clip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900"/>
    </mc:Choice>
    <mc:Fallback>
      <p:transition spd="slow" advTm="2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Tested with BDD features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TESTED</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Tested with BDD features</a:t>
            </a:r>
          </a:p>
        </p:txBody>
      </p:sp>
      <p:grpSp>
        <p:nvGrpSpPr>
          <p:cNvPr id="10" name="Feature 1"/>
          <p:cNvGrpSpPr/>
          <p:nvPr/>
        </p:nvGrpSpPr>
        <p:grpSpPr>
          <a:xfrm>
            <a:off x="762000" y="1714500"/>
            <a:ext cx="5207000" cy="3810000"/>
            <a:chOff x="762000" y="1714500"/>
            <a:chExt cx="5207000" cy="3810000"/>
          </a:xfrm>
        </p:grpSpPr>
        <p:sp>
          <p:nvSpPr>
            <p:cNvPr id="6" name="Shape 4"/>
            <p:cNvSpPr/>
            <p:nvPr/>
          </p:nvSpPr>
          <p:spPr>
            <a:xfrm>
              <a:off x="762000" y="1714500"/>
              <a:ext cx="5207000" cy="3810000"/>
            </a:xfrm>
            <a:prstGeom prst="roundRect">
              <a:avLst>
                <a:gd name="adj" fmla="val 4333"/>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flask-38bdf8.png"/>
            <p:cNvPicPr>
              <a:picLocks noChangeAspect="1"/>
            </p:cNvPicPr>
            <p:nvPr/>
          </p:nvPicPr>
          <p:blipFill>
            <a:blip r:embed="rId4"/>
            <a:stretch>
              <a:fillRect/>
            </a:stretch>
          </p:blipFill>
          <p:spPr>
            <a:xfrm>
              <a:off x="1016000" y="1943100"/>
              <a:ext cx="508000" cy="508000"/>
            </a:xfrm>
            <a:prstGeom prst="rect">
              <a:avLst/>
            </a:prstGeom>
          </p:spPr>
        </p:pic>
        <p:sp>
          <p:nvSpPr>
            <p:cNvPr id="8" name="Shape 6"/>
            <p:cNvSpPr txBox="1"/>
            <p:nvPr/>
          </p:nvSpPr>
          <p:spPr>
            <a:xfrm>
              <a:off x="1651000" y="1905000"/>
              <a:ext cx="4064000" cy="317500"/>
            </a:xfrm>
            <a:prstGeom prst="rect">
              <a:avLst/>
            </a:prstGeom>
            <a:noFill/>
          </p:spPr>
          <p:txBody>
            <a:bodyPr wrap="square" lIns="0" tIns="0" rIns="0" bIns="0" anchor="t">
              <a:spAutoFit/>
            </a:bodyPr>
            <a:lstStyle/>
            <a:p>
              <a:pPr algn="l">
                <a:lnSpc>
                  <a:spcPct val="115000"/>
                </a:lnSpc>
              </a:pPr>
              <a:r>
                <a:rPr sz="1500" b="1">
                  <a:solidFill>
                    <a:srgbClr val="38BDF8"/>
                  </a:solidFill>
                  <a:latin typeface="Cascadia Mono"/>
                </a:rPr>
                <a:t>UC012-F002</a:t>
              </a:r>
            </a:p>
          </p:txBody>
        </p:sp>
        <p:sp>
          <p:nvSpPr>
            <p:cNvPr id="9" name="Shape 7"/>
            <p:cNvSpPr txBox="1"/>
            <p:nvPr/>
          </p:nvSpPr>
          <p:spPr>
            <a:xfrm>
              <a:off x="1651000" y="2184400"/>
              <a:ext cx="4191000" cy="635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Configure Open-Metrics collection</a:t>
              </a:r>
            </a:p>
          </p:txBody>
        </p:sp>
      </p:grpSp>
      <p:grpSp>
        <p:nvGrpSpPr>
          <p:cNvPr id="13" name="Feature 1 step 1"/>
          <p:cNvGrpSpPr/>
          <p:nvPr/>
        </p:nvGrpSpPr>
        <p:grpSpPr>
          <a:xfrm>
            <a:off x="1079500" y="3048000"/>
            <a:ext cx="4737100" cy="317500"/>
            <a:chOff x="1079500" y="3048000"/>
            <a:chExt cx="4737100" cy="317500"/>
          </a:xfrm>
        </p:grpSpPr>
        <p:pic>
          <p:nvPicPr>
            <p:cNvPr id="11" name="Shape 9" descr="icon-check-38bdf8.png"/>
            <p:cNvPicPr>
              <a:picLocks noChangeAspect="1"/>
            </p:cNvPicPr>
            <p:nvPr/>
          </p:nvPicPr>
          <p:blipFill>
            <a:blip r:embed="rId5"/>
            <a:stretch>
              <a:fillRect/>
            </a:stretch>
          </p:blipFill>
          <p:spPr>
            <a:xfrm>
              <a:off x="1079500" y="3048000"/>
              <a:ext cx="279400" cy="279400"/>
            </a:xfrm>
            <a:prstGeom prst="rect">
              <a:avLst/>
            </a:prstGeom>
          </p:spPr>
        </p:pic>
        <p:sp>
          <p:nvSpPr>
            <p:cNvPr id="12" name="Shape 10"/>
            <p:cNvSpPr txBox="1"/>
            <p:nvPr/>
          </p:nvSpPr>
          <p:spPr>
            <a:xfrm>
              <a:off x="1498600" y="3048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Install productcatalog-v1</a:t>
              </a:r>
            </a:p>
          </p:txBody>
        </p:sp>
      </p:grpSp>
      <p:grpSp>
        <p:nvGrpSpPr>
          <p:cNvPr id="16" name="Feature 1 step 2"/>
          <p:cNvGrpSpPr/>
          <p:nvPr/>
        </p:nvGrpSpPr>
        <p:grpSpPr>
          <a:xfrm>
            <a:off x="1079500" y="3556000"/>
            <a:ext cx="4737100" cy="317500"/>
            <a:chOff x="1079500" y="3556000"/>
            <a:chExt cx="4737100" cy="317500"/>
          </a:xfrm>
        </p:grpSpPr>
        <p:pic>
          <p:nvPicPr>
            <p:cNvPr id="14" name="Shape 12" descr="icon-check-38bdf8.png"/>
            <p:cNvPicPr>
              <a:picLocks noChangeAspect="1"/>
            </p:cNvPicPr>
            <p:nvPr/>
          </p:nvPicPr>
          <p:blipFill>
            <a:blip r:embed="rId5"/>
            <a:stretch>
              <a:fillRect/>
            </a:stretch>
          </p:blipFill>
          <p:spPr>
            <a:xfrm>
              <a:off x="1079500" y="3556000"/>
              <a:ext cx="279400" cy="279400"/>
            </a:xfrm>
            <a:prstGeom prst="rect">
              <a:avLst/>
            </a:prstGeom>
          </p:spPr>
        </p:pic>
        <p:sp>
          <p:nvSpPr>
            <p:cNvPr id="15" name="Shape 13"/>
            <p:cNvSpPr txBox="1"/>
            <p:nvPr/>
          </p:nvSpPr>
          <p:spPr>
            <a:xfrm>
              <a:off x="1498600" y="3556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A ServiceMonitor exists</a:t>
              </a:r>
            </a:p>
          </p:txBody>
        </p:sp>
      </p:grpSp>
      <p:grpSp>
        <p:nvGrpSpPr>
          <p:cNvPr id="19" name="Feature 1 step 3"/>
          <p:cNvGrpSpPr/>
          <p:nvPr/>
        </p:nvGrpSpPr>
        <p:grpSpPr>
          <a:xfrm>
            <a:off x="1079500" y="4064000"/>
            <a:ext cx="4737100" cy="317500"/>
            <a:chOff x="1079500" y="4064000"/>
            <a:chExt cx="4737100" cy="317500"/>
          </a:xfrm>
        </p:grpSpPr>
        <p:pic>
          <p:nvPicPr>
            <p:cNvPr id="17" name="Shape 15" descr="icon-check-38bdf8.png"/>
            <p:cNvPicPr>
              <a:picLocks noChangeAspect="1"/>
            </p:cNvPicPr>
            <p:nvPr/>
          </p:nvPicPr>
          <p:blipFill>
            <a:blip r:embed="rId5"/>
            <a:stretch>
              <a:fillRect/>
            </a:stretch>
          </p:blipFill>
          <p:spPr>
            <a:xfrm>
              <a:off x="1079500" y="4064000"/>
              <a:ext cx="279400" cy="279400"/>
            </a:xfrm>
            <a:prstGeom prst="rect">
              <a:avLst/>
            </a:prstGeom>
          </p:spPr>
        </p:pic>
        <p:sp>
          <p:nvSpPr>
            <p:cNvPr id="18" name="Shape 16"/>
            <p:cNvSpPr txBox="1"/>
            <p:nvPr/>
          </p:nvSpPr>
          <p:spPr>
            <a:xfrm>
              <a:off x="1498600" y="4064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Uninstall</a:t>
              </a:r>
            </a:p>
          </p:txBody>
        </p:sp>
      </p:grpSp>
      <p:grpSp>
        <p:nvGrpSpPr>
          <p:cNvPr id="22" name="Feature 1 step 4"/>
          <p:cNvGrpSpPr/>
          <p:nvPr/>
        </p:nvGrpSpPr>
        <p:grpSpPr>
          <a:xfrm>
            <a:off x="1079500" y="4572000"/>
            <a:ext cx="4737100" cy="317500"/>
            <a:chOff x="1079500" y="4572000"/>
            <a:chExt cx="4737100" cy="317500"/>
          </a:xfrm>
        </p:grpSpPr>
        <p:pic>
          <p:nvPicPr>
            <p:cNvPr id="20" name="Shape 18" descr="icon-check-38bdf8.png"/>
            <p:cNvPicPr>
              <a:picLocks noChangeAspect="1"/>
            </p:cNvPicPr>
            <p:nvPr/>
          </p:nvPicPr>
          <p:blipFill>
            <a:blip r:embed="rId5"/>
            <a:stretch>
              <a:fillRect/>
            </a:stretch>
          </p:blipFill>
          <p:spPr>
            <a:xfrm>
              <a:off x="1079500" y="4572000"/>
              <a:ext cx="279400" cy="279400"/>
            </a:xfrm>
            <a:prstGeom prst="rect">
              <a:avLst/>
            </a:prstGeom>
          </p:spPr>
        </p:pic>
        <p:sp>
          <p:nvSpPr>
            <p:cNvPr id="21" name="Shape 19"/>
            <p:cNvSpPr txBox="1"/>
            <p:nvPr/>
          </p:nvSpPr>
          <p:spPr>
            <a:xfrm>
              <a:off x="1498600" y="4572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It is removed</a:t>
              </a:r>
            </a:p>
          </p:txBody>
        </p:sp>
      </p:grpSp>
      <p:sp>
        <p:nvSpPr>
          <p:cNvPr id="23" name="Tag 1"/>
          <p:cNvSpPr/>
          <p:nvPr/>
        </p:nvSpPr>
        <p:spPr>
          <a:xfrm>
            <a:off x="1041400" y="5016500"/>
            <a:ext cx="1555750" cy="26670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@ServiceMonitor</a:t>
            </a:r>
          </a:p>
        </p:txBody>
      </p:sp>
      <p:grpSp>
        <p:nvGrpSpPr>
          <p:cNvPr id="28" name="Feature 2"/>
          <p:cNvGrpSpPr/>
          <p:nvPr/>
        </p:nvGrpSpPr>
        <p:grpSpPr>
          <a:xfrm>
            <a:off x="6223000" y="1714500"/>
            <a:ext cx="5207000" cy="3810000"/>
            <a:chOff x="6223000" y="1714500"/>
            <a:chExt cx="5207000" cy="3810000"/>
          </a:xfrm>
        </p:grpSpPr>
        <p:sp>
          <p:nvSpPr>
            <p:cNvPr id="24" name="Shape 22"/>
            <p:cNvSpPr/>
            <p:nvPr/>
          </p:nvSpPr>
          <p:spPr>
            <a:xfrm>
              <a:off x="6223000" y="1714500"/>
              <a:ext cx="5207000" cy="3810000"/>
            </a:xfrm>
            <a:prstGeom prst="roundRect">
              <a:avLst>
                <a:gd name="adj" fmla="val 4333"/>
              </a:avLst>
            </a:prstGeom>
            <a:solidFill>
              <a:srgbClr val="111A30"/>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5" name="Shape 23" descr="icon-flask-38bdf8.png"/>
            <p:cNvPicPr>
              <a:picLocks noChangeAspect="1"/>
            </p:cNvPicPr>
            <p:nvPr/>
          </p:nvPicPr>
          <p:blipFill>
            <a:blip r:embed="rId4"/>
            <a:stretch>
              <a:fillRect/>
            </a:stretch>
          </p:blipFill>
          <p:spPr>
            <a:xfrm>
              <a:off x="6477000" y="1943100"/>
              <a:ext cx="508000" cy="508000"/>
            </a:xfrm>
            <a:prstGeom prst="rect">
              <a:avLst/>
            </a:prstGeom>
          </p:spPr>
        </p:pic>
        <p:sp>
          <p:nvSpPr>
            <p:cNvPr id="26" name="Shape 24"/>
            <p:cNvSpPr txBox="1"/>
            <p:nvPr/>
          </p:nvSpPr>
          <p:spPr>
            <a:xfrm>
              <a:off x="7112000" y="1905000"/>
              <a:ext cx="4064000" cy="317500"/>
            </a:xfrm>
            <a:prstGeom prst="rect">
              <a:avLst/>
            </a:prstGeom>
            <a:noFill/>
          </p:spPr>
          <p:txBody>
            <a:bodyPr wrap="square" lIns="0" tIns="0" rIns="0" bIns="0" anchor="t">
              <a:spAutoFit/>
            </a:bodyPr>
            <a:lstStyle/>
            <a:p>
              <a:pPr algn="l">
                <a:lnSpc>
                  <a:spcPct val="115000"/>
                </a:lnSpc>
              </a:pPr>
              <a:r>
                <a:rPr sz="1500" b="1">
                  <a:solidFill>
                    <a:srgbClr val="38BDF8"/>
                  </a:solidFill>
                  <a:latin typeface="Cascadia Mono"/>
                </a:rPr>
                <a:t>UC012-F001</a:t>
              </a:r>
            </a:p>
          </p:txBody>
        </p:sp>
        <p:sp>
          <p:nvSpPr>
            <p:cNvPr id="27" name="Shape 25"/>
            <p:cNvSpPr txBox="1"/>
            <p:nvPr/>
          </p:nvSpPr>
          <p:spPr>
            <a:xfrm>
              <a:off x="7112000" y="2184400"/>
              <a:ext cx="4191000" cy="635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OpenTelemetry Collector configuration</a:t>
              </a:r>
            </a:p>
          </p:txBody>
        </p:sp>
      </p:grpSp>
      <p:grpSp>
        <p:nvGrpSpPr>
          <p:cNvPr id="31" name="Feature 2 step 1"/>
          <p:cNvGrpSpPr/>
          <p:nvPr/>
        </p:nvGrpSpPr>
        <p:grpSpPr>
          <a:xfrm>
            <a:off x="6540500" y="3048000"/>
            <a:ext cx="4737100" cy="317500"/>
            <a:chOff x="6540500" y="3048000"/>
            <a:chExt cx="4737100" cy="317500"/>
          </a:xfrm>
        </p:grpSpPr>
        <p:pic>
          <p:nvPicPr>
            <p:cNvPr id="29" name="Shape 27" descr="icon-check-38bdf8.png"/>
            <p:cNvPicPr>
              <a:picLocks noChangeAspect="1"/>
            </p:cNvPicPr>
            <p:nvPr/>
          </p:nvPicPr>
          <p:blipFill>
            <a:blip r:embed="rId5"/>
            <a:stretch>
              <a:fillRect/>
            </a:stretch>
          </p:blipFill>
          <p:spPr>
            <a:xfrm>
              <a:off x="6540500" y="3048000"/>
              <a:ext cx="279400" cy="279400"/>
            </a:xfrm>
            <a:prstGeom prst="rect">
              <a:avLst/>
            </a:prstGeom>
          </p:spPr>
        </p:pic>
        <p:sp>
          <p:nvSpPr>
            <p:cNvPr id="30" name="Shape 28"/>
            <p:cNvSpPr txBox="1"/>
            <p:nvPr/>
          </p:nvSpPr>
          <p:spPr>
            <a:xfrm>
              <a:off x="6959600" y="3048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Install productcatalog-v1</a:t>
              </a:r>
            </a:p>
          </p:txBody>
        </p:sp>
      </p:grpSp>
      <p:grpSp>
        <p:nvGrpSpPr>
          <p:cNvPr id="34" name="Feature 2 step 2"/>
          <p:cNvGrpSpPr/>
          <p:nvPr/>
        </p:nvGrpSpPr>
        <p:grpSpPr>
          <a:xfrm>
            <a:off x="6540500" y="3556000"/>
            <a:ext cx="4737100" cy="317500"/>
            <a:chOff x="6540500" y="3556000"/>
            <a:chExt cx="4737100" cy="317500"/>
          </a:xfrm>
        </p:grpSpPr>
        <p:pic>
          <p:nvPicPr>
            <p:cNvPr id="32" name="Shape 30" descr="icon-check-38bdf8.png"/>
            <p:cNvPicPr>
              <a:picLocks noChangeAspect="1"/>
            </p:cNvPicPr>
            <p:nvPr/>
          </p:nvPicPr>
          <p:blipFill>
            <a:blip r:embed="rId5"/>
            <a:stretch>
              <a:fillRect/>
            </a:stretch>
          </p:blipFill>
          <p:spPr>
            <a:xfrm>
              <a:off x="6540500" y="3556000"/>
              <a:ext cx="279400" cy="279400"/>
            </a:xfrm>
            <a:prstGeom prst="rect">
              <a:avLst/>
            </a:prstGeom>
          </p:spPr>
        </p:pic>
        <p:sp>
          <p:nvSpPr>
            <p:cNvPr id="33" name="Shape 31"/>
            <p:cNvSpPr txBox="1"/>
            <p:nvPr/>
          </p:nvSpPr>
          <p:spPr>
            <a:xfrm>
              <a:off x="6959600" y="3556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Add category data</a:t>
              </a:r>
            </a:p>
          </p:txBody>
        </p:sp>
      </p:grpSp>
      <p:grpSp>
        <p:nvGrpSpPr>
          <p:cNvPr id="37" name="Feature 2 step 3"/>
          <p:cNvGrpSpPr/>
          <p:nvPr/>
        </p:nvGrpSpPr>
        <p:grpSpPr>
          <a:xfrm>
            <a:off x="6540500" y="4064000"/>
            <a:ext cx="4737100" cy="317500"/>
            <a:chOff x="6540500" y="4064000"/>
            <a:chExt cx="4737100" cy="317500"/>
          </a:xfrm>
        </p:grpSpPr>
        <p:pic>
          <p:nvPicPr>
            <p:cNvPr id="35" name="Shape 33" descr="icon-check-38bdf8.png"/>
            <p:cNvPicPr>
              <a:picLocks noChangeAspect="1"/>
            </p:cNvPicPr>
            <p:nvPr/>
          </p:nvPicPr>
          <p:blipFill>
            <a:blip r:embed="rId5"/>
            <a:stretch>
              <a:fillRect/>
            </a:stretch>
          </p:blipFill>
          <p:spPr>
            <a:xfrm>
              <a:off x="6540500" y="4064000"/>
              <a:ext cx="279400" cy="279400"/>
            </a:xfrm>
            <a:prstGeom prst="rect">
              <a:avLst/>
            </a:prstGeom>
          </p:spPr>
        </p:pic>
        <p:sp>
          <p:nvSpPr>
            <p:cNvPr id="36" name="Shape 34"/>
            <p:cNvSpPr txBox="1"/>
            <p:nvPr/>
          </p:nvSpPr>
          <p:spPr>
            <a:xfrm>
              <a:off x="6959600" y="4064000"/>
              <a:ext cx="4318000" cy="317500"/>
            </a:xfrm>
            <a:prstGeom prst="rect">
              <a:avLst/>
            </a:prstGeom>
            <a:noFill/>
          </p:spPr>
          <p:txBody>
            <a:bodyPr wrap="square" lIns="0" tIns="0" rIns="0" bIns="0" anchor="t">
              <a:spAutoFit/>
            </a:bodyPr>
            <a:lstStyle/>
            <a:p>
              <a:pPr algn="l">
                <a:lnSpc>
                  <a:spcPct val="115000"/>
                </a:lnSpc>
              </a:pPr>
              <a:r>
                <a:rPr sz="1500" b="0">
                  <a:solidFill>
                    <a:srgbClr val="F2F5FB"/>
                  </a:solidFill>
                  <a:latin typeface="Segoe UI"/>
                </a:rPr>
                <a:t>New events in the collector</a:t>
              </a:r>
            </a:p>
          </p:txBody>
        </p:sp>
      </p:grpSp>
      <p:sp>
        <p:nvSpPr>
          <p:cNvPr id="38" name="Tag 2"/>
          <p:cNvSpPr/>
          <p:nvPr/>
        </p:nvSpPr>
        <p:spPr>
          <a:xfrm>
            <a:off x="6502400" y="5016500"/>
            <a:ext cx="2241550" cy="26670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@OpenTelemetryCollector</a:t>
            </a:r>
          </a:p>
        </p:txBody>
      </p:sp>
      <p:sp>
        <p:nvSpPr>
          <p:cNvPr id="39" name="Skip"/>
          <p:cNvSpPr txBox="1"/>
          <p:nvPr/>
        </p:nvSpPr>
        <p:spPr>
          <a:xfrm>
            <a:off x="762000" y="5842000"/>
            <a:ext cx="10668000" cy="317500"/>
          </a:xfrm>
          <a:prstGeom prst="rect">
            <a:avLst/>
          </a:prstGeom>
          <a:noFill/>
        </p:spPr>
        <p:txBody>
          <a:bodyPr wrap="square" lIns="0" tIns="0" rIns="0" bIns="0" anchor="t">
            <a:spAutoFit/>
          </a:bodyPr>
          <a:lstStyle/>
          <a:p>
            <a:pPr algn="l">
              <a:lnSpc>
                <a:spcPct val="115000"/>
              </a:lnSpc>
            </a:pPr>
            <a:r>
              <a:rPr sz="1500" b="1">
                <a:solidFill>
                  <a:srgbClr val="8F9BB8"/>
                </a:solidFill>
                <a:latin typeface="Segoe UI"/>
              </a:rPr>
              <a:t>No ServiceMonitor or collector in a Canvas? The tagged scenarios are skipped.</a:t>
            </a:r>
          </a:p>
        </p:txBody>
      </p:sp>
    </p:spTree>
  </p:cSld>
  <p:clrMapOvr>
    <a:masterClrMapping/>
  </p:clrMapOvr>
  <mc:AlternateContent xmlns:mc="http://schemas.openxmlformats.org/markup-compatibility/2006">
    <mc:Choice xmlns:p14="http://schemas.microsoft.com/office/powerpoint/2010/main" Requires="p14">
      <p:transition spd="slow" p14:dur="2000" advTm="20300"/>
    </mc:Choice>
    <mc:Fallback>
      <p:transition spd="slow" advTm="2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0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600" fill="hold"/>
                                        <p:tgtEl>
                                          <p:spTgt spid="10"/>
                                        </p:tgtEl>
                                        <p:attrNameLst>
                                          <p:attrName>ppt_x</p:attrName>
                                        </p:attrNameLst>
                                      </p:cBhvr>
                                      <p:tavLst>
                                        <p:tav tm="0">
                                          <p:val>
                                            <p:strVal val="#ppt_x"/>
                                          </p:val>
                                        </p:tav>
                                        <p:tav tm="100000">
                                          <p:val>
                                            <p:strVal val="#ppt_x"/>
                                          </p:val>
                                        </p:tav>
                                      </p:tavLst>
                                    </p:anim>
                                    <p:anim calcmode="lin" valueType="num">
                                      <p:cBhvr additive="base">
                                        <p:cTn id="14" dur="600" fill="hold"/>
                                        <p:tgtEl>
                                          <p:spTgt spid="10"/>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4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nodeType="withEffect">
                                  <p:stCondLst>
                                    <p:cond delay="60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76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840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par>
                                <p:cTn id="27" presetID="2" presetClass="entr" presetSubtype="4" fill="hold" nodeType="withEffect">
                                  <p:stCondLst>
                                    <p:cond delay="920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600" fill="hold"/>
                                        <p:tgtEl>
                                          <p:spTgt spid="28"/>
                                        </p:tgtEl>
                                        <p:attrNameLst>
                                          <p:attrName>ppt_x</p:attrName>
                                        </p:attrNameLst>
                                      </p:cBhvr>
                                      <p:tavLst>
                                        <p:tav tm="0">
                                          <p:val>
                                            <p:strVal val="#ppt_x"/>
                                          </p:val>
                                        </p:tav>
                                        <p:tav tm="100000">
                                          <p:val>
                                            <p:strVal val="#ppt_x"/>
                                          </p:val>
                                        </p:tav>
                                      </p:tavLst>
                                    </p:anim>
                                    <p:anim calcmode="lin" valueType="num">
                                      <p:cBhvr additive="base">
                                        <p:cTn id="30" dur="600" fill="hold"/>
                                        <p:tgtEl>
                                          <p:spTgt spid="28"/>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1020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400"/>
                                        <p:tgtEl>
                                          <p:spTgt spid="31"/>
                                        </p:tgtEl>
                                      </p:cBhvr>
                                    </p:animEffect>
                                  </p:childTnLst>
                                </p:cTn>
                              </p:par>
                              <p:par>
                                <p:cTn id="34" presetID="10" presetClass="entr" presetSubtype="0" fill="hold" nodeType="withEffect">
                                  <p:stCondLst>
                                    <p:cond delay="1120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400"/>
                                        <p:tgtEl>
                                          <p:spTgt spid="34"/>
                                        </p:tgtEl>
                                      </p:cBhvr>
                                    </p:animEffect>
                                  </p:childTnLst>
                                </p:cTn>
                              </p:par>
                              <p:par>
                                <p:cTn id="37" presetID="10" presetClass="entr" presetSubtype="0" fill="hold" nodeType="withEffect">
                                  <p:stCondLst>
                                    <p:cond delay="1340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400"/>
                                        <p:tgtEl>
                                          <p:spTgt spid="37"/>
                                        </p:tgtEl>
                                      </p:cBhvr>
                                    </p:animEffect>
                                  </p:childTnLst>
                                </p:cTn>
                              </p:par>
                              <p:par>
                                <p:cTn id="40" presetID="10" presetClass="entr" presetSubtype="0" fill="hold" grpId="0" nodeType="withEffect">
                                  <p:stCondLst>
                                    <p:cond delay="1460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600"/>
                                        <p:tgtEl>
                                          <p:spTgt spid="23"/>
                                        </p:tgtEl>
                                      </p:cBhvr>
                                    </p:animEffect>
                                  </p:childTnLst>
                                </p:cTn>
                              </p:par>
                              <p:par>
                                <p:cTn id="43" presetID="10" presetClass="entr" presetSubtype="0" fill="hold" grpId="0" nodeType="withEffect">
                                  <p:stCondLst>
                                    <p:cond delay="150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600"/>
                                        <p:tgtEl>
                                          <p:spTgt spid="38"/>
                                        </p:tgtEl>
                                      </p:cBhvr>
                                    </p:animEffect>
                                  </p:childTnLst>
                                </p:cTn>
                              </p:par>
                              <p:par>
                                <p:cTn id="46" presetID="10" presetClass="entr" presetSubtype="0" fill="hold" grpId="0" nodeType="withEffect">
                                  <p:stCondLst>
                                    <p:cond delay="1660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3" grpId="0" animBg="1"/>
      <p:bldP spid="38" grpId="0" animBg="1"/>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Summary</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38BDF8"/>
                </a:solidFill>
                <a:latin typeface="Segoe UI"/>
              </a:rPr>
              <a:t>SUMMARY</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Observability in the ODA Canvas</a:t>
            </a:r>
          </a:p>
        </p:txBody>
      </p:sp>
      <p:grpSp>
        <p:nvGrpSpPr>
          <p:cNvPr id="8" name="Recap 1"/>
          <p:cNvGrpSpPr/>
          <p:nvPr/>
        </p:nvGrpSpPr>
        <p:grpSpPr>
          <a:xfrm>
            <a:off x="762000" y="1778000"/>
            <a:ext cx="10668000" cy="533400"/>
            <a:chOff x="762000" y="1778000"/>
            <a:chExt cx="10668000" cy="533400"/>
          </a:xfrm>
        </p:grpSpPr>
        <p:pic>
          <p:nvPicPr>
            <p:cNvPr id="6" name="Shape 4" descr="icon-chart-38bdf8.png"/>
            <p:cNvPicPr>
              <a:picLocks noChangeAspect="1"/>
            </p:cNvPicPr>
            <p:nvPr/>
          </p:nvPicPr>
          <p:blipFill>
            <a:blip r:embed="rId4"/>
            <a:stretch>
              <a:fillRect/>
            </a:stretch>
          </p:blipFill>
          <p:spPr>
            <a:xfrm>
              <a:off x="762000" y="1778000"/>
              <a:ext cx="533400" cy="533400"/>
            </a:xfrm>
            <a:prstGeom prst="rect">
              <a:avLst/>
            </a:prstGeom>
          </p:spPr>
        </p:pic>
        <p:sp>
          <p:nvSpPr>
            <p:cNvPr id="7" name="Shape 5"/>
            <p:cNvSpPr txBox="1"/>
            <p:nvPr/>
          </p:nvSpPr>
          <p:spPr>
            <a:xfrm>
              <a:off x="1524000" y="1854200"/>
              <a:ext cx="9906000" cy="444500"/>
            </a:xfrm>
            <a:prstGeom prst="rect">
              <a:avLst/>
            </a:prstGeom>
            <a:noFill/>
          </p:spPr>
          <p:txBody>
            <a:bodyPr wrap="square" lIns="0" tIns="0" rIns="0" bIns="0" anchor="t">
              <a:spAutoFit/>
            </a:bodyPr>
            <a:lstStyle/>
            <a:p>
              <a:pPr algn="l">
                <a:lnSpc>
                  <a:spcPct val="115000"/>
                </a:lnSpc>
              </a:pPr>
              <a:r>
                <a:rPr sz="1800" b="1">
                  <a:solidFill>
                    <a:srgbClr val="F2F5FB"/>
                  </a:solidFill>
                  <a:latin typeface="Segoe UI"/>
                </a:rPr>
                <a:t>A component declares its metrics API, and sends traces with OpenTelemetry</a:t>
              </a:r>
            </a:p>
          </p:txBody>
        </p:sp>
      </p:grpSp>
      <p:grpSp>
        <p:nvGrpSpPr>
          <p:cNvPr id="11" name="Recap 2"/>
          <p:cNvGrpSpPr/>
          <p:nvPr/>
        </p:nvGrpSpPr>
        <p:grpSpPr>
          <a:xfrm>
            <a:off x="762000" y="2667000"/>
            <a:ext cx="10668000" cy="533400"/>
            <a:chOff x="762000" y="2667000"/>
            <a:chExt cx="10668000" cy="533400"/>
          </a:xfrm>
        </p:grpSpPr>
        <p:pic>
          <p:nvPicPr>
            <p:cNvPr id="9" name="Shape 7" descr="icon-gear-38bdf8.png"/>
            <p:cNvPicPr>
              <a:picLocks noChangeAspect="1"/>
            </p:cNvPicPr>
            <p:nvPr/>
          </p:nvPicPr>
          <p:blipFill>
            <a:blip r:embed="rId5"/>
            <a:stretch>
              <a:fillRect/>
            </a:stretch>
          </p:blipFill>
          <p:spPr>
            <a:xfrm>
              <a:off x="762000" y="2667000"/>
              <a:ext cx="533400" cy="533400"/>
            </a:xfrm>
            <a:prstGeom prst="rect">
              <a:avLst/>
            </a:prstGeom>
          </p:spPr>
        </p:pic>
        <p:sp>
          <p:nvSpPr>
            <p:cNvPr id="10" name="Shape 8"/>
            <p:cNvSpPr txBox="1"/>
            <p:nvPr/>
          </p:nvSpPr>
          <p:spPr>
            <a:xfrm>
              <a:off x="1524000" y="2743200"/>
              <a:ext cx="9906000" cy="444500"/>
            </a:xfrm>
            <a:prstGeom prst="rect">
              <a:avLst/>
            </a:prstGeom>
            <a:noFill/>
          </p:spPr>
          <p:txBody>
            <a:bodyPr wrap="square" lIns="0" tIns="0" rIns="0" bIns="0" anchor="t">
              <a:spAutoFit/>
            </a:bodyPr>
            <a:lstStyle/>
            <a:p>
              <a:pPr algn="l">
                <a:lnSpc>
                  <a:spcPct val="115000"/>
                </a:lnSpc>
              </a:pPr>
              <a:r>
                <a:rPr sz="1800" b="1">
                  <a:solidFill>
                    <a:srgbClr val="F2F5FB"/>
                  </a:solidFill>
                  <a:latin typeface="Segoe UI"/>
                </a:rPr>
                <a:t>The Canvas configures the observability platform, and cleans up on uninstall</a:t>
              </a:r>
            </a:p>
          </p:txBody>
        </p:sp>
      </p:grpSp>
      <p:grpSp>
        <p:nvGrpSpPr>
          <p:cNvPr id="14" name="Recap 3"/>
          <p:cNvGrpSpPr/>
          <p:nvPr/>
        </p:nvGrpSpPr>
        <p:grpSpPr>
          <a:xfrm>
            <a:off x="762000" y="3556000"/>
            <a:ext cx="10668000" cy="533400"/>
            <a:chOff x="762000" y="3556000"/>
            <a:chExt cx="10668000" cy="533400"/>
          </a:xfrm>
        </p:grpSpPr>
        <p:pic>
          <p:nvPicPr>
            <p:cNvPr id="12" name="Shape 10" descr="icon-check-38bdf8.png"/>
            <p:cNvPicPr>
              <a:picLocks noChangeAspect="1"/>
            </p:cNvPicPr>
            <p:nvPr/>
          </p:nvPicPr>
          <p:blipFill>
            <a:blip r:embed="rId6"/>
            <a:stretch>
              <a:fillRect/>
            </a:stretch>
          </p:blipFill>
          <p:spPr>
            <a:xfrm>
              <a:off x="762000" y="3556000"/>
              <a:ext cx="533400" cy="533400"/>
            </a:xfrm>
            <a:prstGeom prst="rect">
              <a:avLst/>
            </a:prstGeom>
          </p:spPr>
        </p:pic>
        <p:sp>
          <p:nvSpPr>
            <p:cNvPr id="13" name="Shape 11"/>
            <p:cNvSpPr txBox="1"/>
            <p:nvPr/>
          </p:nvSpPr>
          <p:spPr>
            <a:xfrm>
              <a:off x="1524000" y="3632200"/>
              <a:ext cx="9906000" cy="444500"/>
            </a:xfrm>
            <a:prstGeom prst="rect">
              <a:avLst/>
            </a:prstGeom>
            <a:noFill/>
          </p:spPr>
          <p:txBody>
            <a:bodyPr wrap="square" lIns="0" tIns="0" rIns="0" bIns="0" anchor="t">
              <a:spAutoFit/>
            </a:bodyPr>
            <a:lstStyle/>
            <a:p>
              <a:pPr algn="l">
                <a:lnSpc>
                  <a:spcPct val="115000"/>
                </a:lnSpc>
              </a:pPr>
              <a:r>
                <a:rPr sz="1800" b="1">
                  <a:solidFill>
                    <a:srgbClr val="F2F5FB"/>
                  </a:solidFill>
                  <a:latin typeface="Segoe UI"/>
                </a:rPr>
                <a:t>Prometheus, Grafana and Jaeger, or another platform that supports the open standards</a:t>
              </a:r>
            </a:p>
          </p:txBody>
        </p:sp>
      </p:grpSp>
      <p:sp>
        <p:nvSpPr>
          <p:cNvPr id="15" name="More"/>
          <p:cNvSpPr txBox="1"/>
          <p:nvPr/>
        </p:nvSpPr>
        <p:spPr>
          <a:xfrm>
            <a:off x="762000" y="4699000"/>
            <a:ext cx="6350000" cy="254000"/>
          </a:xfrm>
          <a:prstGeom prst="rect">
            <a:avLst/>
          </a:prstGeom>
          <a:noFill/>
        </p:spPr>
        <p:txBody>
          <a:bodyPr wrap="square" lIns="0" tIns="0" rIns="0" bIns="0" anchor="t">
            <a:spAutoFit/>
          </a:bodyPr>
          <a:lstStyle/>
          <a:p>
            <a:pPr algn="l">
              <a:lnSpc>
                <a:spcPct val="115000"/>
              </a:lnSpc>
            </a:pPr>
            <a:r>
              <a:rPr sz="1400" b="1">
                <a:solidFill>
                  <a:srgbClr val="8F9BB8"/>
                </a:solidFill>
                <a:latin typeface="Segoe UI"/>
              </a:rPr>
              <a:t>Find out more</a:t>
            </a:r>
          </a:p>
        </p:txBody>
      </p:sp>
      <p:sp>
        <p:nvSpPr>
          <p:cNvPr id="16" name="Link 1">
            <a:hlinkClick r:id="rId7"/>
          </p:cNvPr>
          <p:cNvSpPr/>
          <p:nvPr/>
        </p:nvSpPr>
        <p:spPr>
          <a:xfrm>
            <a:off x="762000" y="5080000"/>
            <a:ext cx="3327400" cy="2857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github.com/tmforum-oda/oda-canvas</a:t>
            </a:r>
          </a:p>
        </p:txBody>
      </p:sp>
      <p:sp>
        <p:nvSpPr>
          <p:cNvPr id="17" name="Link 2">
            <a:hlinkClick r:id="rId8"/>
          </p:cNvPr>
          <p:cNvSpPr/>
          <p:nvPr/>
        </p:nvSpPr>
        <p:spPr>
          <a:xfrm>
            <a:off x="762000" y="5499100"/>
            <a:ext cx="2400300" cy="2857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Observability-design.md</a:t>
            </a:r>
          </a:p>
        </p:txBody>
      </p:sp>
      <p:sp>
        <p:nvSpPr>
          <p:cNvPr id="18" name="Link 3">
            <a:hlinkClick r:id="rId9"/>
          </p:cNvPr>
          <p:cNvSpPr/>
          <p:nvPr/>
        </p:nvSpPr>
        <p:spPr>
          <a:xfrm>
            <a:off x="762000" y="5918200"/>
            <a:ext cx="2679700" cy="28575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charts/observability-stack</a:t>
            </a:r>
          </a:p>
        </p:txBody>
      </p:sp>
    </p:spTree>
  </p:cSld>
  <p:clrMapOvr>
    <a:masterClrMapping/>
  </p:clrMapOvr>
  <mc:AlternateContent xmlns:mc="http://schemas.openxmlformats.org/markup-compatibility/2006">
    <mc:Choice xmlns:p14="http://schemas.microsoft.com/office/powerpoint/2010/main" Requires="p14">
      <p:transition spd="slow" p14:dur="2000" advTm="30300"/>
    </mc:Choice>
    <mc:Fallback>
      <p:transition spd="slow" advTm="3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8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720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140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10" presetClass="entr" presetSubtype="0" fill="hold" grpId="0" nodeType="withEffect">
                                  <p:stCondLst>
                                    <p:cond delay="220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2240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600"/>
                                        <p:tgtEl>
                                          <p:spTgt spid="16"/>
                                        </p:tgtEl>
                                      </p:cBhvr>
                                    </p:animEffect>
                                  </p:childTnLst>
                                </p:cTn>
                              </p:par>
                              <p:par>
                                <p:cTn id="29" presetID="10" presetClass="entr" presetSubtype="0" fill="hold" grpId="0" nodeType="withEffect">
                                  <p:stCondLst>
                                    <p:cond delay="2300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600"/>
                                        <p:tgtEl>
                                          <p:spTgt spid="17"/>
                                        </p:tgtEl>
                                      </p:cBhvr>
                                    </p:animEffect>
                                  </p:childTnLst>
                                </p:cTn>
                              </p:par>
                              <p:par>
                                <p:cTn id="32" presetID="10" presetClass="entr" presetSubtype="0" fill="hold" grpId="0" nodeType="withEffect">
                                  <p:stCondLst>
                                    <p:cond delay="236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16" grpId="0" animBg="1"/>
      <p:bldP spid="17" grpId="0" animBg="1"/>
      <p:bldP spid="1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1858</Words>
  <Application>Microsoft Office PowerPoint</Application>
  <PresentationFormat>Widescreen</PresentationFormat>
  <Paragraphs>147</Paragraphs>
  <Slides>21</Slides>
  <Notes>21</Notes>
  <HiddenSlides>0</HiddenSlides>
  <MMClips>13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Cascadia Mono</vt:lpstr>
      <vt:lpstr>Segoe UI</vt:lpstr>
      <vt:lpstr>Office Theme</vt:lpstr>
      <vt:lpstr>Observability in the ODA Canvas (presenter introduction)</vt:lpstr>
      <vt:lpstr>One view across many components</vt:lpstr>
      <vt:lpstr>Three kinds of observability</vt:lpstr>
      <vt:lpstr>Built on open standards</vt:lpstr>
      <vt:lpstr>The reference observability stack</vt:lpstr>
      <vt:lpstr>A component declares its metrics API</vt:lpstr>
      <vt:lpstr>How the Canvas wires it up</vt:lpstr>
      <vt:lpstr>Choose how metrics are collected</vt:lpstr>
      <vt:lpstr>Live: the Canvas created the ServiceMonitor</vt:lpstr>
      <vt:lpstr>Live: Prometheus finds the component</vt:lpstr>
      <vt:lpstr>Live: business metrics in Prometheus</vt:lpstr>
      <vt:lpstr>Technical metrics come with the platform</vt:lpstr>
      <vt:lpstr>Live: a Grafana dashboard for the component</vt:lpstr>
      <vt:lpstr>Live: the platform dashboards</vt:lpstr>
      <vt:lpstr>How traces reach Jaeger</vt:lpstr>
      <vt:lpstr>Pointing a component at the collector</vt:lpstr>
      <vt:lpstr>Live: finding traces in Jaeger</vt:lpstr>
      <vt:lpstr>Live: inside one request</vt:lpstr>
      <vt:lpstr>Observability in the Canvas Portal</vt:lpstr>
      <vt:lpstr>Tested with BDD features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in the ODA Canvas</dc:title>
  <dc:subject/>
  <dc:creator/>
  <cp:keywords/>
  <dc:description>generated using python-pptx</dc:description>
  <cp:lastModifiedBy>Lester Thomas</cp:lastModifiedBy>
  <cp:revision>2</cp:revision>
  <dcterms:created xsi:type="dcterms:W3CDTF">2013-01-27T09:14:16Z</dcterms:created>
  <dcterms:modified xsi:type="dcterms:W3CDTF">2026-10-24T10:35:50Z</dcterms:modified>
  <cp:category/>
</cp:coreProperties>
</file>