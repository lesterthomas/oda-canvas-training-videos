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1277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question we're asked a lot is how do I buy or build an ODA Canvas?</a:t>
            </a:r>
          </a:p>
          <a:p>
            <a:endParaRPr/>
          </a:p>
          <a:p>
            <a:r>
              <a:t>With a traditional application, you buy the software and its platform together. Each vendor brings its own gateway, identity and monitoring. The ODA Canvas separates those. Components declare what they need, and the Canvas provides it, using the platform services you choose.</a:t>
            </a:r>
          </a:p>
          <a:p>
            <a:endParaRPr/>
          </a:p>
          <a:p>
            <a:r>
              <a:t>So the Canvas isn't one product. It's a modular platform, built from Canvas operators. In this video we'll look at the three ways to get a Canvas. We'll see how to check that it really is one. Then we'll look at the types of operator, with examples, and at the Canvas running on a real cluster. Finally, we'll see what's coming next.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is no separate standard for the Canvas itself. The standard is the ODA Component specification. A Canvas is any platform that reads a component's specification and meets its requirements. It exposes the component's APIs, registers its roles, and monitors it. A component can also declare the AI models it needs, through the Model-as-a-Service operator. It can ask for data products through the Data operator. It can even manage its cost and carbon footprint, through the cost and carbon operators. This list isn't exhaustive. Any common platform service can be offered through the same pattern. The reference implementation does this on Kubernetes.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ways to get a Canvas. First, a managed Canvas from a public cloud provider. At DTW Copenhagen, AWS, Microsoft Azure, China Mobile, Google Cloud and Oracle Cloud showed proofs of concept. They build on the reference implementation and the provider's own services.</a:t>
            </a:r>
          </a:p>
          <a:p>
            <a:endParaRPr/>
          </a:p>
          <a:p>
            <a:r>
              <a:t>Second, roll your own. The reference implementation is open source, under the Apache two dot O licence, and designed to be extended.</a:t>
            </a:r>
          </a:p>
          <a:p>
            <a:endParaRPr/>
          </a:p>
          <a:p>
            <a:r>
              <a:t>Third, use operators from software vendors and open-source projects, such as Istio and Kong.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aren't either-or choices. The Canvas is modular, so you can mix and match. You might take a cloud provider's API management, the reference identity operator, and your own operator for an in-house system. A typical production Canvas combines standard operators with custom ones that apply the organisation's own policies.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Whichever route you take, there's an objective way to check the result. The behaviour every Canvas must show is written down in two places. The use-case library describes it at a high level. Behaviour-driven development features describe it in detail, as scenarios. The test kit turns those scenarios into executable tests that can validate any Canvas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test kit in the Canvas Portal. The catalogue loads the feature files straight from the GitHub repository. Each one is named after the use case it tests, such as installing components, exposing APIs, or configuring roles. You can pick features and run them against this Canvas. Every change to the reference implementation is checked this way too.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modules of a Canvas are called Canvas operators. They follow the Kubernetes operator pattern, software that holds the operational knowledge for one job. The Component Management operator splits each component into parts, such as exposed APIs, dependent APIs and identity. A separate operator handles each part. So you can swap one technology for another without changing the component.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operator types today. Seven are available now. They cover components, APIs, identity, credentials, dependencies, secrets and disruption budgets. A prototype operator handles authentication between components. Three operators are experimental. One provides model as a service. One manages data products. And one scales workloads to cut carbon. Event management, cost control and database services are planned. The list isn't fixed. New types will be added as the Canvas matures.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operators in a running Canvas, in the Canvas Portal. Each one shows its catalogue number, its image and its pods. This Canvas uses the Kong API operator, the Keycloak identity operator, and the Vault secrets operator. The same list is visible from the command line, as ordinary Kubernetes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Choosing the modules is configuration, not code. When this Canvas was installed, the Istio API operator was switched off and Kong switched on. Only one API operator runs at a time. Later, the simple dependency operator was replaced with one that waits for an access grant in Keycloak. The components didn't change at all.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API management. Every component declares the APIs it exposes, with policies such as rate limits or API-key checks. A Canvas can use any API gateway or service mesh, and an API operator configures it. There are operators for Istio, Kong and Apache APISIX. There are also operators for Azure API Management, Google Apigee and Whale Cloud. Any other gateway can be added with its own operator.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observability. A component doesn't bring its own monitoring tools. It publishes metrics and traces using the OpenMetrics and OpenTelemetry standards. When the API operator exposes the metrics endpoint, it also sets up how it is collected. That could be a Prometheus operator, a managed Prometheus service, or Datadog. The reference implementation includes a ready-made stack, and any other observability platform can be used.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identity. Most applications today bring their own identity management. Each one has to be integrated with the company's central system. In the ODA model, a component holds only its roles and permissions, and declares them. Identity config operators register them in Keycloak, Microsoft Entra ID, or another identity platform. Companion operators manage each component's credentials and connect its dependencies once access is granted.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secrets. A component declares that it needs a secrets store, and the secrets management operator provides one. The reference implementation uses HashiCorp Vault, and another secrets platform can be used. The component signs in with its own Kubernetes identity, so no bootstrap passwords are needed.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Carbon management was only a plan in the original version of this video. Now there is an experimental operator. A component marks some workloads as carbon-aware. The operator reads real-time grid carbon intensity, and limits how far those workloads scale when electricity is carbon-intensive. There's a dedicated video on this.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 also build your own operators. They can be written in any language that follows the Kubernetes operator pattern. The reference operators use Python with the KOPF framework, and Go. To work with the rest of the Canvas, an operator uses the same standard custom resources. The repository includes an AI coding-assistant skill for creating operators, and the test kit to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biggest area of new work is the AI-Native Canvas. Components will declare which AI models they need. The experimental Model-as-a-Service operator grants governed access through a model gateway. The gateway applies guardrails and records usage. The AI-Native Canvas has its own video. Operators for events, cost control and database services are also on the roadmap.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recap. You can buy a Canvas, build one, or mix and match. Operators are the modules, and you choose them through configuration. Whatever you choose, the test kit checks that it behaves like a Canvas.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find out more, see the Open Digital Architecture pages on the TM Forum website. Browse the ODA Component Directory. And explore the reference implementation on GitHub, at TM Forum dash ODA slash ODA Canvas.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hyperlink" Target="https://github.com/tmforum-oda/oda-canvas"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4.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hyperlink" Target="https://github.com/tmforum-oda/oda-canvas" TargetMode="External"/><Relationship Id="rId5" Type="http://schemas.openxmlformats.org/officeDocument/2006/relationships/hyperlink" Target="https://www.tmforum.org/oda/directory" TargetMode="External"/><Relationship Id="rId4" Type="http://schemas.openxmlformats.org/officeDocument/2006/relationships/hyperlink" Target="https://www.tmforum.org/od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How do I buy or build an ODA Canvas? (presenter introduction)</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Component" descr="oda.png"/>
          <p:cNvPicPr>
            <a:picLocks noChangeAspect="1"/>
          </p:cNvPicPr>
          <p:nvPr/>
        </p:nvPicPr>
        <p:blipFill>
          <a:blip r:embed="rId5"/>
          <a:stretch>
            <a:fillRect/>
          </a:stretch>
        </p:blipFill>
        <p:spPr>
          <a:xfrm>
            <a:off x="8032750" y="1492250"/>
            <a:ext cx="1841500" cy="1739194"/>
          </a:xfrm>
          <a:prstGeom prst="rect">
            <a:avLst/>
          </a:prstGeom>
        </p:spPr>
      </p:pic>
      <p:pic>
        <p:nvPicPr>
          <p:cNvPr id="6" name="Gear" descr="icon-gear-1fc7a8.png"/>
          <p:cNvPicPr>
            <a:picLocks noChangeAspect="1"/>
          </p:cNvPicPr>
          <p:nvPr/>
        </p:nvPicPr>
        <p:blipFill>
          <a:blip r:embed="rId6"/>
          <a:stretch>
            <a:fillRect/>
          </a:stretch>
        </p:blipFill>
        <p:spPr>
          <a:xfrm>
            <a:off x="10160000" y="1587500"/>
            <a:ext cx="825500" cy="825500"/>
          </a:xfrm>
          <a:prstGeom prst="rect">
            <a:avLst/>
          </a:prstGeom>
        </p:spPr>
      </p:pic>
      <p:sp>
        <p:nvSpPr>
          <p:cNvPr id="7" name="Intro"/>
          <p:cNvSpPr txBox="1"/>
          <p:nvPr/>
        </p:nvSpPr>
        <p:spPr>
          <a:xfrm>
            <a:off x="762000" y="1905000"/>
            <a:ext cx="5715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Training series · Part 2</a:t>
            </a:r>
          </a:p>
        </p:txBody>
      </p:sp>
      <p:sp>
        <p:nvSpPr>
          <p:cNvPr id="8" name="Name"/>
          <p:cNvSpPr txBox="1"/>
          <p:nvPr/>
        </p:nvSpPr>
        <p:spPr>
          <a:xfrm>
            <a:off x="762000" y="2286000"/>
            <a:ext cx="6350000" cy="1651000"/>
          </a:xfrm>
          <a:prstGeom prst="rect">
            <a:avLst/>
          </a:prstGeom>
          <a:noFill/>
        </p:spPr>
        <p:txBody>
          <a:bodyPr wrap="square" lIns="0" tIns="0" rIns="0" bIns="0" anchor="t">
            <a:spAutoFit/>
          </a:bodyPr>
          <a:lstStyle/>
          <a:p>
            <a:pPr algn="l">
              <a:lnSpc>
                <a:spcPct val="100000"/>
              </a:lnSpc>
            </a:pPr>
            <a:r>
              <a:rPr sz="3900" b="1">
                <a:solidFill>
                  <a:srgbClr val="F2F5FB"/>
                </a:solidFill>
                <a:latin typeface="Segoe UI"/>
              </a:rPr>
              <a:t>How do I </a:t>
            </a:r>
            <a:r>
              <a:rPr sz="3900" b="1">
                <a:solidFill>
                  <a:srgbClr val="2F6FED"/>
                </a:solidFill>
                <a:latin typeface="Segoe UI"/>
              </a:rPr>
              <a:t>buy</a:t>
            </a:r>
            <a:r>
              <a:rPr sz="3900" b="1">
                <a:solidFill>
                  <a:srgbClr val="F2F5FB"/>
                </a:solidFill>
                <a:latin typeface="Segoe UI"/>
              </a:rPr>
              <a:t> or </a:t>
            </a:r>
            <a:r>
              <a:rPr sz="3900" b="1">
                <a:solidFill>
                  <a:srgbClr val="1FC7A8"/>
                </a:solidFill>
                <a:latin typeface="Segoe UI"/>
              </a:rPr>
              <a:t>build</a:t>
            </a:r>
          </a:p>
          <a:p>
            <a:pPr algn="l">
              <a:lnSpc>
                <a:spcPct val="100000"/>
              </a:lnSpc>
            </a:pPr>
            <a:r>
              <a:rPr sz="3900" b="1">
                <a:solidFill>
                  <a:srgbClr val="F2F5FB"/>
                </a:solidFill>
                <a:latin typeface="Segoe UI"/>
              </a:rPr>
              <a:t>an ODA Canvas?</a:t>
            </a:r>
          </a:p>
        </p:txBody>
      </p:sp>
      <p:sp>
        <p:nvSpPr>
          <p:cNvPr id="9" name="Live"/>
          <p:cNvSpPr/>
          <p:nvPr/>
        </p:nvSpPr>
        <p:spPr>
          <a:xfrm>
            <a:off x="787400" y="3810000"/>
            <a:ext cx="406400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With the Canvas running on a real cluster</a:t>
            </a:r>
          </a:p>
        </p:txBody>
      </p:sp>
    </p:spTree>
  </p:cSld>
  <p:clrMapOvr>
    <a:masterClrMapping/>
  </p:clrMapOvr>
  <mc:AlternateContent xmlns:mc="http://schemas.openxmlformats.org/markup-compatibility/2006">
    <mc:Choice xmlns:p14="http://schemas.microsoft.com/office/powerpoint/2010/main" Requires="p14">
      <p:transition spd="slow" p14:dur="2000" advTm="49500"/>
    </mc:Choice>
    <mc:Fallback>
      <p:transition spd="slow" advTm="4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p:tgtEl>
                                          <p:spTgt spid="7"/>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800"/>
                                        <p:tgtEl>
                                          <p:spTgt spid="8"/>
                                        </p:tgtEl>
                                      </p:cBhvr>
                                    </p:animEffect>
                                  </p:childTnLst>
                                </p:cTn>
                              </p:par>
                              <p:par>
                                <p:cTn id="11" presetID="10" presetClass="entr" presetSubtype="0" fill="hold" nodeType="withEffect">
                                  <p:stCondLst>
                                    <p:cond delay="9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800"/>
                                        <p:tgtEl>
                                          <p:spTgt spid="4"/>
                                        </p:tgtEl>
                                      </p:cBhvr>
                                    </p:animEffect>
                                  </p:childTnLst>
                                </p:cTn>
                              </p:par>
                              <p:par>
                                <p:cTn id="14" presetID="58" presetClass="entr" presetSubtype="0" accel="100000" fill="hold" nodeType="withEffect">
                                  <p:stCondLst>
                                    <p:cond delay="1600"/>
                                  </p:stCondLst>
                                  <p:childTnLst>
                                    <p:set>
                                      <p:cBhvr>
                                        <p:cTn id="15" dur="1" fill="hold">
                                          <p:stCondLst>
                                            <p:cond delay="0"/>
                                          </p:stCondLst>
                                        </p:cTn>
                                        <p:tgtEl>
                                          <p:spTgt spid="5"/>
                                        </p:tgtEl>
                                        <p:attrNameLst>
                                          <p:attrName>style.visibility</p:attrName>
                                        </p:attrNameLst>
                                      </p:cBhvr>
                                      <p:to>
                                        <p:strVal val="visible"/>
                                      </p:to>
                                    </p:set>
                                    <p:anim calcmode="lin" valueType="num">
                                      <p:cBhvr>
                                        <p:cTn id="16" dur="800" fill="hold"/>
                                        <p:tgtEl>
                                          <p:spTgt spid="5"/>
                                        </p:tgtEl>
                                        <p:attrNameLst>
                                          <p:attrName>ppt_w</p:attrName>
                                        </p:attrNameLst>
                                      </p:cBhvr>
                                      <p:tavLst>
                                        <p:tav tm="0">
                                          <p:val>
                                            <p:strVal val="#ppt_w*2.5"/>
                                          </p:val>
                                        </p:tav>
                                        <p:tav tm="100000">
                                          <p:val>
                                            <p:strVal val="#ppt_w"/>
                                          </p:val>
                                        </p:tav>
                                      </p:tavLst>
                                    </p:anim>
                                    <p:anim calcmode="lin" valueType="num">
                                      <p:cBhvr>
                                        <p:cTn id="17" dur="800" fill="hold"/>
                                        <p:tgtEl>
                                          <p:spTgt spid="5"/>
                                        </p:tgtEl>
                                        <p:attrNameLst>
                                          <p:attrName>ppt_h</p:attrName>
                                        </p:attrNameLst>
                                      </p:cBhvr>
                                      <p:tavLst>
                                        <p:tav tm="0">
                                          <p:val>
                                            <p:strVal val="#ppt_h*0.01"/>
                                          </p:val>
                                        </p:tav>
                                        <p:tav tm="100000">
                                          <p:val>
                                            <p:strVal val="#ppt_h"/>
                                          </p:val>
                                        </p:tav>
                                      </p:tavLst>
                                    </p:anim>
                                    <p:anim calcmode="lin" valueType="num">
                                      <p:cBhvr>
                                        <p:cTn id="18" dur="800" fill="hold"/>
                                        <p:tgtEl>
                                          <p:spTgt spid="5"/>
                                        </p:tgtEl>
                                        <p:attrNameLst>
                                          <p:attrName>ppt_x</p:attrName>
                                        </p:attrNameLst>
                                      </p:cBhvr>
                                      <p:tavLst>
                                        <p:tav tm="0">
                                          <p:val>
                                            <p:strVal val="#ppt_x"/>
                                          </p:val>
                                        </p:tav>
                                        <p:tav tm="100000">
                                          <p:val>
                                            <p:strVal val="#ppt_x"/>
                                          </p:val>
                                        </p:tav>
                                      </p:tavLst>
                                    </p:anim>
                                    <p:anim calcmode="lin" valueType="num">
                                      <p:cBhvr>
                                        <p:cTn id="19" dur="800" fill="hold"/>
                                        <p:tgtEl>
                                          <p:spTgt spid="5"/>
                                        </p:tgtEl>
                                        <p:attrNameLst>
                                          <p:attrName>ppt_y</p:attrName>
                                        </p:attrNameLst>
                                      </p:cBhvr>
                                      <p:tavLst>
                                        <p:tav tm="0">
                                          <p:val>
                                            <p:strVal val="#ppt_h+1"/>
                                          </p:val>
                                        </p:tav>
                                        <p:tav tm="100000">
                                          <p:val>
                                            <p:strVal val="#ppt_y"/>
                                          </p:val>
                                        </p:tav>
                                      </p:tavLst>
                                    </p:anim>
                                    <p:animEffect transition="in" filter="fade">
                                      <p:cBhvr>
                                        <p:cTn id="20" dur="800"/>
                                        <p:tgtEl>
                                          <p:spTgt spid="5"/>
                                        </p:tgtEl>
                                      </p:cBhvr>
                                    </p:animEffect>
                                  </p:childTnLst>
                                </p:cTn>
                              </p:par>
                              <p:par>
                                <p:cTn id="21" presetID="58" presetClass="entr" presetSubtype="0" accel="100000" fill="hold" nodeType="withEffect">
                                  <p:stCondLst>
                                    <p:cond delay="2400"/>
                                  </p:stCondLst>
                                  <p:childTnLst>
                                    <p:set>
                                      <p:cBhvr>
                                        <p:cTn id="22" dur="1" fill="hold">
                                          <p:stCondLst>
                                            <p:cond delay="0"/>
                                          </p:stCondLst>
                                        </p:cTn>
                                        <p:tgtEl>
                                          <p:spTgt spid="6"/>
                                        </p:tgtEl>
                                        <p:attrNameLst>
                                          <p:attrName>style.visibility</p:attrName>
                                        </p:attrNameLst>
                                      </p:cBhvr>
                                      <p:to>
                                        <p:strVal val="visible"/>
                                      </p:to>
                                    </p:set>
                                    <p:anim calcmode="lin" valueType="num">
                                      <p:cBhvr>
                                        <p:cTn id="23" dur="600" fill="hold"/>
                                        <p:tgtEl>
                                          <p:spTgt spid="6"/>
                                        </p:tgtEl>
                                        <p:attrNameLst>
                                          <p:attrName>ppt_w</p:attrName>
                                        </p:attrNameLst>
                                      </p:cBhvr>
                                      <p:tavLst>
                                        <p:tav tm="0">
                                          <p:val>
                                            <p:strVal val="#ppt_w*2.5"/>
                                          </p:val>
                                        </p:tav>
                                        <p:tav tm="100000">
                                          <p:val>
                                            <p:strVal val="#ppt_w"/>
                                          </p:val>
                                        </p:tav>
                                      </p:tavLst>
                                    </p:anim>
                                    <p:anim calcmode="lin" valueType="num">
                                      <p:cBhvr>
                                        <p:cTn id="24" dur="600" fill="hold"/>
                                        <p:tgtEl>
                                          <p:spTgt spid="6"/>
                                        </p:tgtEl>
                                        <p:attrNameLst>
                                          <p:attrName>ppt_h</p:attrName>
                                        </p:attrNameLst>
                                      </p:cBhvr>
                                      <p:tavLst>
                                        <p:tav tm="0">
                                          <p:val>
                                            <p:strVal val="#ppt_h*0.01"/>
                                          </p:val>
                                        </p:tav>
                                        <p:tav tm="100000">
                                          <p:val>
                                            <p:strVal val="#ppt_h"/>
                                          </p:val>
                                        </p:tav>
                                      </p:tavLst>
                                    </p:anim>
                                    <p:anim calcmode="lin" valueType="num">
                                      <p:cBhvr>
                                        <p:cTn id="25" dur="600" fill="hold"/>
                                        <p:tgtEl>
                                          <p:spTgt spid="6"/>
                                        </p:tgtEl>
                                        <p:attrNameLst>
                                          <p:attrName>ppt_x</p:attrName>
                                        </p:attrNameLst>
                                      </p:cBhvr>
                                      <p:tavLst>
                                        <p:tav tm="0">
                                          <p:val>
                                            <p:strVal val="#ppt_x"/>
                                          </p:val>
                                        </p:tav>
                                        <p:tav tm="100000">
                                          <p:val>
                                            <p:strVal val="#ppt_x"/>
                                          </p:val>
                                        </p:tav>
                                      </p:tavLst>
                                    </p:anim>
                                    <p:anim calcmode="lin" valueType="num">
                                      <p:cBhvr>
                                        <p:cTn id="26" dur="600" fill="hold"/>
                                        <p:tgtEl>
                                          <p:spTgt spid="6"/>
                                        </p:tgtEl>
                                        <p:attrNameLst>
                                          <p:attrName>ppt_y</p:attrName>
                                        </p:attrNameLst>
                                      </p:cBhvr>
                                      <p:tavLst>
                                        <p:tav tm="0">
                                          <p:val>
                                            <p:strVal val="#ppt_h+1"/>
                                          </p:val>
                                        </p:tav>
                                        <p:tav tm="100000">
                                          <p:val>
                                            <p:strVal val="#ppt_y"/>
                                          </p:val>
                                        </p:tav>
                                      </p:tavLst>
                                    </p:anim>
                                    <p:animEffect transition="in" filter="fade">
                                      <p:cBhvr>
                                        <p:cTn id="27" dur="600"/>
                                        <p:tgtEl>
                                          <p:spTgt spid="6"/>
                                        </p:tgtEl>
                                      </p:cBhvr>
                                    </p:animEffect>
                                  </p:childTnLst>
                                </p:cTn>
                              </p:par>
                              <p:par>
                                <p:cTn id="28" presetID="10" presetClass="entr" presetSubtype="0" fill="hold" grpId="0" nodeType="withEffect">
                                  <p:stCondLst>
                                    <p:cond delay="380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standard is the component</a:t>
            </a:r>
          </a:p>
        </p:txBody>
      </p:sp>
      <p:pic>
        <p:nvPicPr>
          <p:cNvPr id="3" name="Clip 0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Three ways to get a Canvas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THREE ROUTES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Three ways to get a Canvas</a:t>
            </a:r>
          </a:p>
        </p:txBody>
      </p:sp>
      <p:pic>
        <p:nvPicPr>
          <p:cNvPr id="6" name="Canvas" descr="canvas-dark.png"/>
          <p:cNvPicPr>
            <a:picLocks noChangeAspect="1"/>
          </p:cNvPicPr>
          <p:nvPr/>
        </p:nvPicPr>
        <p:blipFill>
          <a:blip r:embed="rId4"/>
          <a:stretch>
            <a:fillRect/>
          </a:stretch>
        </p:blipFill>
        <p:spPr>
          <a:xfrm>
            <a:off x="635000" y="2540000"/>
            <a:ext cx="3746500" cy="1383863"/>
          </a:xfrm>
          <a:prstGeom prst="rect">
            <a:avLst/>
          </a:prstGeom>
        </p:spPr>
      </p:pic>
      <p:grpSp>
        <p:nvGrpSpPr>
          <p:cNvPr id="12" name="Route 1"/>
          <p:cNvGrpSpPr/>
          <p:nvPr/>
        </p:nvGrpSpPr>
        <p:grpSpPr>
          <a:xfrm>
            <a:off x="5207000" y="1587500"/>
            <a:ext cx="6223000" cy="1333500"/>
            <a:chOff x="5207000" y="1587500"/>
            <a:chExt cx="6223000" cy="1333500"/>
          </a:xfrm>
        </p:grpSpPr>
        <p:sp>
          <p:nvSpPr>
            <p:cNvPr id="7" name="Shape 5"/>
            <p:cNvSpPr/>
            <p:nvPr/>
          </p:nvSpPr>
          <p:spPr>
            <a:xfrm>
              <a:off x="5207000" y="1587500"/>
              <a:ext cx="6223000" cy="1333500"/>
            </a:xfrm>
            <a:prstGeom prst="roundRect">
              <a:avLst>
                <a:gd name="adj" fmla="val 1142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hape 6"/>
            <p:cNvSpPr txBox="1"/>
            <p:nvPr/>
          </p:nvSpPr>
          <p:spPr>
            <a:xfrm>
              <a:off x="5461000" y="1739900"/>
              <a:ext cx="508000" cy="381000"/>
            </a:xfrm>
            <a:prstGeom prst="rect">
              <a:avLst/>
            </a:prstGeom>
            <a:noFill/>
          </p:spPr>
          <p:txBody>
            <a:bodyPr wrap="square" lIns="0" tIns="0" rIns="0" bIns="0" anchor="t">
              <a:spAutoFit/>
            </a:bodyPr>
            <a:lstStyle/>
            <a:p>
              <a:pPr algn="l">
                <a:lnSpc>
                  <a:spcPct val="115000"/>
                </a:lnSpc>
              </a:pPr>
              <a:r>
                <a:rPr sz="2200" b="1">
                  <a:solidFill>
                    <a:srgbClr val="2F6FED"/>
                  </a:solidFill>
                  <a:latin typeface="Segoe UI"/>
                </a:rPr>
                <a:t>1</a:t>
              </a:r>
            </a:p>
          </p:txBody>
        </p:sp>
        <p:pic>
          <p:nvPicPr>
            <p:cNvPr id="9" name="Shape 7" descr="icon-cloud-2f6fed.png"/>
            <p:cNvPicPr>
              <a:picLocks noChangeAspect="1"/>
            </p:cNvPicPr>
            <p:nvPr/>
          </p:nvPicPr>
          <p:blipFill>
            <a:blip r:embed="rId5"/>
            <a:stretch>
              <a:fillRect/>
            </a:stretch>
          </p:blipFill>
          <p:spPr>
            <a:xfrm>
              <a:off x="10795000" y="1752600"/>
              <a:ext cx="406400" cy="406400"/>
            </a:xfrm>
            <a:prstGeom prst="rect">
              <a:avLst/>
            </a:prstGeom>
          </p:spPr>
        </p:pic>
        <p:sp>
          <p:nvSpPr>
            <p:cNvPr id="10" name="Shape 8"/>
            <p:cNvSpPr txBox="1"/>
            <p:nvPr/>
          </p:nvSpPr>
          <p:spPr>
            <a:xfrm>
              <a:off x="5905500" y="1752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Public cloud offerings</a:t>
              </a:r>
            </a:p>
          </p:txBody>
        </p:sp>
        <p:sp>
          <p:nvSpPr>
            <p:cNvPr id="11" name="Shape 9"/>
            <p:cNvSpPr txBox="1"/>
            <p:nvPr/>
          </p:nvSpPr>
          <p:spPr>
            <a:xfrm>
              <a:off x="5905500" y="2108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A managed Canvas on the provider's Kubernetes services</a:t>
              </a:r>
            </a:p>
          </p:txBody>
        </p:sp>
      </p:grpSp>
      <p:cxnSp>
        <p:nvCxnSpPr>
          <p:cNvPr id="13" name="Arrow 1"/>
          <p:cNvCxnSpPr/>
          <p:nvPr/>
        </p:nvCxnSpPr>
        <p:spPr>
          <a:xfrm flipV="1">
            <a:off x="4445000" y="2254250"/>
            <a:ext cx="698500" cy="1301750"/>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sp>
        <p:nvSpPr>
          <p:cNvPr id="14" name="PoC label"/>
          <p:cNvSpPr txBox="1"/>
          <p:nvPr/>
        </p:nvSpPr>
        <p:spPr>
          <a:xfrm>
            <a:off x="5905500" y="2413000"/>
            <a:ext cx="1841500" cy="254000"/>
          </a:xfrm>
          <a:prstGeom prst="rect">
            <a:avLst/>
          </a:prstGeom>
          <a:noFill/>
        </p:spPr>
        <p:txBody>
          <a:bodyPr wrap="square" lIns="0" tIns="0" rIns="0" bIns="0" anchor="t">
            <a:spAutoFit/>
          </a:bodyPr>
          <a:lstStyle/>
          <a:p>
            <a:pPr algn="l">
              <a:lnSpc>
                <a:spcPct val="115000"/>
              </a:lnSpc>
            </a:pPr>
            <a:r>
              <a:rPr sz="1000" b="1">
                <a:solidFill>
                  <a:srgbClr val="8F9BB8"/>
                </a:solidFill>
                <a:latin typeface="Segoe UI"/>
              </a:rPr>
              <a:t>PoCs at DTW Copenhagen</a:t>
            </a:r>
          </a:p>
        </p:txBody>
      </p:sp>
      <p:sp>
        <p:nvSpPr>
          <p:cNvPr id="15" name="Cloud 1"/>
          <p:cNvSpPr/>
          <p:nvPr/>
        </p:nvSpPr>
        <p:spPr>
          <a:xfrm>
            <a:off x="7778750" y="2362200"/>
            <a:ext cx="48895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AWS</a:t>
            </a:r>
          </a:p>
        </p:txBody>
      </p:sp>
      <p:sp>
        <p:nvSpPr>
          <p:cNvPr id="16" name="Cloud 2"/>
          <p:cNvSpPr/>
          <p:nvPr/>
        </p:nvSpPr>
        <p:spPr>
          <a:xfrm>
            <a:off x="8343900" y="2362200"/>
            <a:ext cx="13462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Microsoft Azure</a:t>
            </a:r>
          </a:p>
        </p:txBody>
      </p:sp>
      <p:sp>
        <p:nvSpPr>
          <p:cNvPr id="17" name="Cloud 3"/>
          <p:cNvSpPr/>
          <p:nvPr/>
        </p:nvSpPr>
        <p:spPr>
          <a:xfrm>
            <a:off x="9766300" y="23622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China Mobile</a:t>
            </a:r>
          </a:p>
        </p:txBody>
      </p:sp>
      <p:sp>
        <p:nvSpPr>
          <p:cNvPr id="18" name="Cloud 4"/>
          <p:cNvSpPr/>
          <p:nvPr/>
        </p:nvSpPr>
        <p:spPr>
          <a:xfrm>
            <a:off x="77787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Google Cloud</a:t>
            </a:r>
          </a:p>
        </p:txBody>
      </p:sp>
      <p:sp>
        <p:nvSpPr>
          <p:cNvPr id="19" name="Cloud 5"/>
          <p:cNvSpPr/>
          <p:nvPr/>
        </p:nvSpPr>
        <p:spPr>
          <a:xfrm>
            <a:off x="89852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Oracle Cloud</a:t>
            </a:r>
          </a:p>
        </p:txBody>
      </p:sp>
      <p:grpSp>
        <p:nvGrpSpPr>
          <p:cNvPr id="25" name="Route 2"/>
          <p:cNvGrpSpPr/>
          <p:nvPr/>
        </p:nvGrpSpPr>
        <p:grpSpPr>
          <a:xfrm>
            <a:off x="5207000" y="3175000"/>
            <a:ext cx="6223000" cy="1333500"/>
            <a:chOff x="5207000" y="3175000"/>
            <a:chExt cx="6223000" cy="1333500"/>
          </a:xfrm>
        </p:grpSpPr>
        <p:sp>
          <p:nvSpPr>
            <p:cNvPr id="20" name="Shape 18"/>
            <p:cNvSpPr/>
            <p:nvPr/>
          </p:nvSpPr>
          <p:spPr>
            <a:xfrm>
              <a:off x="5207000" y="3175000"/>
              <a:ext cx="6223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Shape 19"/>
            <p:cNvSpPr txBox="1"/>
            <p:nvPr/>
          </p:nvSpPr>
          <p:spPr>
            <a:xfrm>
              <a:off x="5461000" y="3327400"/>
              <a:ext cx="508000" cy="381000"/>
            </a:xfrm>
            <a:prstGeom prst="rect">
              <a:avLst/>
            </a:prstGeom>
            <a:noFill/>
          </p:spPr>
          <p:txBody>
            <a:bodyPr wrap="square" lIns="0" tIns="0" rIns="0" bIns="0" anchor="t">
              <a:spAutoFit/>
            </a:bodyPr>
            <a:lstStyle/>
            <a:p>
              <a:pPr algn="l">
                <a:lnSpc>
                  <a:spcPct val="115000"/>
                </a:lnSpc>
              </a:pPr>
              <a:r>
                <a:rPr sz="2200" b="1">
                  <a:solidFill>
                    <a:srgbClr val="1FC7A8"/>
                  </a:solidFill>
                  <a:latin typeface="Segoe UI"/>
                </a:rPr>
                <a:t>2</a:t>
              </a:r>
            </a:p>
          </p:txBody>
        </p:sp>
        <p:pic>
          <p:nvPicPr>
            <p:cNvPr id="22" name="Shape 20" descr="icon-layers-1fc7a8.png"/>
            <p:cNvPicPr>
              <a:picLocks noChangeAspect="1"/>
            </p:cNvPicPr>
            <p:nvPr/>
          </p:nvPicPr>
          <p:blipFill>
            <a:blip r:embed="rId6"/>
            <a:stretch>
              <a:fillRect/>
            </a:stretch>
          </p:blipFill>
          <p:spPr>
            <a:xfrm>
              <a:off x="10795000" y="3340100"/>
              <a:ext cx="406400" cy="406400"/>
            </a:xfrm>
            <a:prstGeom prst="rect">
              <a:avLst/>
            </a:prstGeom>
          </p:spPr>
        </p:pic>
        <p:sp>
          <p:nvSpPr>
            <p:cNvPr id="23" name="Shape 21"/>
            <p:cNvSpPr txBox="1"/>
            <p:nvPr/>
          </p:nvSpPr>
          <p:spPr>
            <a:xfrm>
              <a:off x="5905500" y="33401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Roll your own</a:t>
              </a:r>
            </a:p>
          </p:txBody>
        </p:sp>
        <p:sp>
          <p:nvSpPr>
            <p:cNvPr id="24" name="Shape 22"/>
            <p:cNvSpPr txBox="1"/>
            <p:nvPr/>
          </p:nvSpPr>
          <p:spPr>
            <a:xfrm>
              <a:off x="5905500" y="36957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The reference implementation · Apache 2.0 · extensible</a:t>
              </a:r>
            </a:p>
          </p:txBody>
        </p:sp>
      </p:grpSp>
      <p:cxnSp>
        <p:nvCxnSpPr>
          <p:cNvPr id="26" name="Arrow 2"/>
          <p:cNvCxnSpPr/>
          <p:nvPr/>
        </p:nvCxnSpPr>
        <p:spPr>
          <a:xfrm>
            <a:off x="4445000" y="3556000"/>
            <a:ext cx="698500" cy="285750"/>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sp>
        <p:nvSpPr>
          <p:cNvPr id="27" name="Repo">
            <a:hlinkClick r:id="rId7"/>
          </p:cNvPr>
          <p:cNvSpPr/>
          <p:nvPr/>
        </p:nvSpPr>
        <p:spPr>
          <a:xfrm>
            <a:off x="5905500" y="4000500"/>
            <a:ext cx="2857500" cy="2413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github.com/tmforum-oda/oda-canvas</a:t>
            </a:r>
          </a:p>
        </p:txBody>
      </p:sp>
      <p:grpSp>
        <p:nvGrpSpPr>
          <p:cNvPr id="33" name="Route 3"/>
          <p:cNvGrpSpPr/>
          <p:nvPr/>
        </p:nvGrpSpPr>
        <p:grpSpPr>
          <a:xfrm>
            <a:off x="5207000" y="4762500"/>
            <a:ext cx="6223000" cy="1333500"/>
            <a:chOff x="5207000" y="4762500"/>
            <a:chExt cx="6223000" cy="1333500"/>
          </a:xfrm>
        </p:grpSpPr>
        <p:sp>
          <p:nvSpPr>
            <p:cNvPr id="28" name="Shape 26"/>
            <p:cNvSpPr/>
            <p:nvPr/>
          </p:nvSpPr>
          <p:spPr>
            <a:xfrm>
              <a:off x="5207000" y="4762500"/>
              <a:ext cx="6223000" cy="1333500"/>
            </a:xfrm>
            <a:prstGeom prst="roundRect">
              <a:avLst>
                <a:gd name="adj" fmla="val 11428"/>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Shape 27"/>
            <p:cNvSpPr txBox="1"/>
            <p:nvPr/>
          </p:nvSpPr>
          <p:spPr>
            <a:xfrm>
              <a:off x="5461000" y="4914900"/>
              <a:ext cx="508000" cy="381000"/>
            </a:xfrm>
            <a:prstGeom prst="rect">
              <a:avLst/>
            </a:prstGeom>
            <a:noFill/>
          </p:spPr>
          <p:txBody>
            <a:bodyPr wrap="square" lIns="0" tIns="0" rIns="0" bIns="0" anchor="t">
              <a:spAutoFit/>
            </a:bodyPr>
            <a:lstStyle/>
            <a:p>
              <a:pPr algn="l">
                <a:lnSpc>
                  <a:spcPct val="115000"/>
                </a:lnSpc>
              </a:pPr>
              <a:r>
                <a:rPr sz="2200" b="1">
                  <a:solidFill>
                    <a:srgbClr val="F5A623"/>
                  </a:solidFill>
                  <a:latin typeface="Segoe UI"/>
                </a:rPr>
                <a:t>3</a:t>
              </a:r>
            </a:p>
          </p:txBody>
        </p:sp>
        <p:pic>
          <p:nvPicPr>
            <p:cNvPr id="30" name="Shape 28" descr="icon-wrench-f5a623.png"/>
            <p:cNvPicPr>
              <a:picLocks noChangeAspect="1"/>
            </p:cNvPicPr>
            <p:nvPr/>
          </p:nvPicPr>
          <p:blipFill>
            <a:blip r:embed="rId8"/>
            <a:stretch>
              <a:fillRect/>
            </a:stretch>
          </p:blipFill>
          <p:spPr>
            <a:xfrm>
              <a:off x="10795000" y="4927600"/>
              <a:ext cx="406400" cy="406400"/>
            </a:xfrm>
            <a:prstGeom prst="rect">
              <a:avLst/>
            </a:prstGeom>
          </p:spPr>
        </p:pic>
        <p:sp>
          <p:nvSpPr>
            <p:cNvPr id="31" name="Shape 29"/>
            <p:cNvSpPr txBox="1"/>
            <p:nvPr/>
          </p:nvSpPr>
          <p:spPr>
            <a:xfrm>
              <a:off x="5905500" y="4927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Vendor and open-source operators</a:t>
              </a:r>
            </a:p>
          </p:txBody>
        </p:sp>
        <p:sp>
          <p:nvSpPr>
            <p:cNvPr id="32" name="Shape 30"/>
            <p:cNvSpPr txBox="1"/>
            <p:nvPr/>
          </p:nvSpPr>
          <p:spPr>
            <a:xfrm>
              <a:off x="5905500" y="5283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Products that already manage themselves on Kubernetes</a:t>
              </a:r>
            </a:p>
          </p:txBody>
        </p:sp>
      </p:grpSp>
      <p:cxnSp>
        <p:nvCxnSpPr>
          <p:cNvPr id="34" name="Arrow 3"/>
          <p:cNvCxnSpPr/>
          <p:nvPr/>
        </p:nvCxnSpPr>
        <p:spPr>
          <a:xfrm>
            <a:off x="4445000" y="3556000"/>
            <a:ext cx="698500" cy="1873250"/>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sp>
        <p:nvSpPr>
          <p:cNvPr id="35" name="Vendor 1"/>
          <p:cNvSpPr/>
          <p:nvPr/>
        </p:nvSpPr>
        <p:spPr>
          <a:xfrm>
            <a:off x="5905500" y="5588000"/>
            <a:ext cx="6667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Istio</a:t>
            </a:r>
          </a:p>
        </p:txBody>
      </p:sp>
      <p:sp>
        <p:nvSpPr>
          <p:cNvPr id="36" name="Vendor 2"/>
          <p:cNvSpPr/>
          <p:nvPr/>
        </p:nvSpPr>
        <p:spPr>
          <a:xfrm>
            <a:off x="6648450" y="5588000"/>
            <a:ext cx="5905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Kong</a:t>
            </a:r>
          </a:p>
        </p:txBody>
      </p:sp>
      <p:sp>
        <p:nvSpPr>
          <p:cNvPr id="37" name="Vendor 3"/>
          <p:cNvSpPr/>
          <p:nvPr/>
        </p:nvSpPr>
        <p:spPr>
          <a:xfrm>
            <a:off x="7315200" y="5588000"/>
            <a:ext cx="25463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or another product's operator</a:t>
            </a:r>
          </a:p>
        </p:txBody>
      </p:sp>
    </p:spTree>
  </p:cSld>
  <p:clrMapOvr>
    <a:masterClrMapping/>
  </p:clrMapOvr>
  <mc:AlternateContent xmlns:mc="http://schemas.openxmlformats.org/markup-compatibility/2006">
    <mc:Choice xmlns:p14="http://schemas.microsoft.com/office/powerpoint/2010/main" Requires="p14">
      <p:transition spd="slow" p14:dur="2000" advTm="33900"/>
    </mc:Choice>
    <mc:Fallback>
      <p:transition spd="slow" advTm="3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800"/>
                                        <p:tgtEl>
                                          <p:spTgt spid="6"/>
                                        </p:tgtEl>
                                      </p:cBhvr>
                                    </p:animEffect>
                                  </p:childTnLst>
                                </p:cTn>
                              </p:par>
                              <p:par>
                                <p:cTn id="14" presetID="10" presetClass="entr" presetSubtype="0" fill="hold" nodeType="withEffect">
                                  <p:stCondLst>
                                    <p:cond delay="300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2" presetClass="entr" presetSubtype="4" fill="hold" nodeType="withEffect">
                                  <p:stCondLst>
                                    <p:cond delay="320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600" fill="hold"/>
                                        <p:tgtEl>
                                          <p:spTgt spid="12"/>
                                        </p:tgtEl>
                                        <p:attrNameLst>
                                          <p:attrName>ppt_x</p:attrName>
                                        </p:attrNameLst>
                                      </p:cBhvr>
                                      <p:tavLst>
                                        <p:tav tm="0">
                                          <p:val>
                                            <p:strVal val="#ppt_x"/>
                                          </p:val>
                                        </p:tav>
                                        <p:tav tm="100000">
                                          <p:val>
                                            <p:strVal val="#ppt_x"/>
                                          </p:val>
                                        </p:tav>
                                      </p:tavLst>
                                    </p:anim>
                                    <p:anim calcmode="lin" valueType="num">
                                      <p:cBhvr additive="base">
                                        <p:cTn id="20" dur="600" fill="hold"/>
                                        <p:tgtEl>
                                          <p:spTgt spid="12"/>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68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600"/>
                                        <p:tgtEl>
                                          <p:spTgt spid="14"/>
                                        </p:tgtEl>
                                      </p:cBhvr>
                                    </p:animEffect>
                                  </p:childTnLst>
                                </p:cTn>
                              </p:par>
                              <p:par>
                                <p:cTn id="24" presetID="58" presetClass="entr" presetSubtype="0" accel="100000" fill="hold" grpId="0" nodeType="withEffect">
                                  <p:stCondLst>
                                    <p:cond delay="7400"/>
                                  </p:stCondLst>
                                  <p:childTnLst>
                                    <p:set>
                                      <p:cBhvr>
                                        <p:cTn id="25" dur="1" fill="hold">
                                          <p:stCondLst>
                                            <p:cond delay="0"/>
                                          </p:stCondLst>
                                        </p:cTn>
                                        <p:tgtEl>
                                          <p:spTgt spid="15"/>
                                        </p:tgtEl>
                                        <p:attrNameLst>
                                          <p:attrName>style.visibility</p:attrName>
                                        </p:attrNameLst>
                                      </p:cBhvr>
                                      <p:to>
                                        <p:strVal val="visible"/>
                                      </p:to>
                                    </p:set>
                                    <p:anim calcmode="lin" valueType="num">
                                      <p:cBhvr>
                                        <p:cTn id="26" dur="400" fill="hold"/>
                                        <p:tgtEl>
                                          <p:spTgt spid="15"/>
                                        </p:tgtEl>
                                        <p:attrNameLst>
                                          <p:attrName>ppt_w</p:attrName>
                                        </p:attrNameLst>
                                      </p:cBhvr>
                                      <p:tavLst>
                                        <p:tav tm="0">
                                          <p:val>
                                            <p:strVal val="#ppt_w*2.5"/>
                                          </p:val>
                                        </p:tav>
                                        <p:tav tm="100000">
                                          <p:val>
                                            <p:strVal val="#ppt_w"/>
                                          </p:val>
                                        </p:tav>
                                      </p:tavLst>
                                    </p:anim>
                                    <p:anim calcmode="lin" valueType="num">
                                      <p:cBhvr>
                                        <p:cTn id="27" dur="400" fill="hold"/>
                                        <p:tgtEl>
                                          <p:spTgt spid="15"/>
                                        </p:tgtEl>
                                        <p:attrNameLst>
                                          <p:attrName>ppt_h</p:attrName>
                                        </p:attrNameLst>
                                      </p:cBhvr>
                                      <p:tavLst>
                                        <p:tav tm="0">
                                          <p:val>
                                            <p:strVal val="#ppt_h*0.01"/>
                                          </p:val>
                                        </p:tav>
                                        <p:tav tm="100000">
                                          <p:val>
                                            <p:strVal val="#ppt_h"/>
                                          </p:val>
                                        </p:tav>
                                      </p:tavLst>
                                    </p:anim>
                                    <p:anim calcmode="lin" valueType="num">
                                      <p:cBhvr>
                                        <p:cTn id="28" dur="400" fill="hold"/>
                                        <p:tgtEl>
                                          <p:spTgt spid="15"/>
                                        </p:tgtEl>
                                        <p:attrNameLst>
                                          <p:attrName>ppt_x</p:attrName>
                                        </p:attrNameLst>
                                      </p:cBhvr>
                                      <p:tavLst>
                                        <p:tav tm="0">
                                          <p:val>
                                            <p:strVal val="#ppt_x"/>
                                          </p:val>
                                        </p:tav>
                                        <p:tav tm="100000">
                                          <p:val>
                                            <p:strVal val="#ppt_x"/>
                                          </p:val>
                                        </p:tav>
                                      </p:tavLst>
                                    </p:anim>
                                    <p:anim calcmode="lin" valueType="num">
                                      <p:cBhvr>
                                        <p:cTn id="29" dur="400" fill="hold"/>
                                        <p:tgtEl>
                                          <p:spTgt spid="15"/>
                                        </p:tgtEl>
                                        <p:attrNameLst>
                                          <p:attrName>ppt_y</p:attrName>
                                        </p:attrNameLst>
                                      </p:cBhvr>
                                      <p:tavLst>
                                        <p:tav tm="0">
                                          <p:val>
                                            <p:strVal val="#ppt_h+1"/>
                                          </p:val>
                                        </p:tav>
                                        <p:tav tm="100000">
                                          <p:val>
                                            <p:strVal val="#ppt_y"/>
                                          </p:val>
                                        </p:tav>
                                      </p:tavLst>
                                    </p:anim>
                                    <p:animEffect transition="in" filter="fade">
                                      <p:cBhvr>
                                        <p:cTn id="30" dur="400"/>
                                        <p:tgtEl>
                                          <p:spTgt spid="15"/>
                                        </p:tgtEl>
                                      </p:cBhvr>
                                    </p:animEffect>
                                  </p:childTnLst>
                                </p:cTn>
                              </p:par>
                              <p:par>
                                <p:cTn id="31" presetID="58" presetClass="entr" presetSubtype="0" accel="100000" fill="hold" grpId="0" nodeType="withEffect">
                                  <p:stCondLst>
                                    <p:cond delay="7900"/>
                                  </p:stCondLst>
                                  <p:childTnLst>
                                    <p:set>
                                      <p:cBhvr>
                                        <p:cTn id="32" dur="1" fill="hold">
                                          <p:stCondLst>
                                            <p:cond delay="0"/>
                                          </p:stCondLst>
                                        </p:cTn>
                                        <p:tgtEl>
                                          <p:spTgt spid="16"/>
                                        </p:tgtEl>
                                        <p:attrNameLst>
                                          <p:attrName>style.visibility</p:attrName>
                                        </p:attrNameLst>
                                      </p:cBhvr>
                                      <p:to>
                                        <p:strVal val="visible"/>
                                      </p:to>
                                    </p:set>
                                    <p:anim calcmode="lin" valueType="num">
                                      <p:cBhvr>
                                        <p:cTn id="33" dur="400" fill="hold"/>
                                        <p:tgtEl>
                                          <p:spTgt spid="16"/>
                                        </p:tgtEl>
                                        <p:attrNameLst>
                                          <p:attrName>ppt_w</p:attrName>
                                        </p:attrNameLst>
                                      </p:cBhvr>
                                      <p:tavLst>
                                        <p:tav tm="0">
                                          <p:val>
                                            <p:strVal val="#ppt_w*2.5"/>
                                          </p:val>
                                        </p:tav>
                                        <p:tav tm="100000">
                                          <p:val>
                                            <p:strVal val="#ppt_w"/>
                                          </p:val>
                                        </p:tav>
                                      </p:tavLst>
                                    </p:anim>
                                    <p:anim calcmode="lin" valueType="num">
                                      <p:cBhvr>
                                        <p:cTn id="34" dur="400" fill="hold"/>
                                        <p:tgtEl>
                                          <p:spTgt spid="16"/>
                                        </p:tgtEl>
                                        <p:attrNameLst>
                                          <p:attrName>ppt_h</p:attrName>
                                        </p:attrNameLst>
                                      </p:cBhvr>
                                      <p:tavLst>
                                        <p:tav tm="0">
                                          <p:val>
                                            <p:strVal val="#ppt_h*0.01"/>
                                          </p:val>
                                        </p:tav>
                                        <p:tav tm="100000">
                                          <p:val>
                                            <p:strVal val="#ppt_h"/>
                                          </p:val>
                                        </p:tav>
                                      </p:tavLst>
                                    </p:anim>
                                    <p:anim calcmode="lin" valueType="num">
                                      <p:cBhvr>
                                        <p:cTn id="35" dur="400" fill="hold"/>
                                        <p:tgtEl>
                                          <p:spTgt spid="16"/>
                                        </p:tgtEl>
                                        <p:attrNameLst>
                                          <p:attrName>ppt_x</p:attrName>
                                        </p:attrNameLst>
                                      </p:cBhvr>
                                      <p:tavLst>
                                        <p:tav tm="0">
                                          <p:val>
                                            <p:strVal val="#ppt_x"/>
                                          </p:val>
                                        </p:tav>
                                        <p:tav tm="100000">
                                          <p:val>
                                            <p:strVal val="#ppt_x"/>
                                          </p:val>
                                        </p:tav>
                                      </p:tavLst>
                                    </p:anim>
                                    <p:anim calcmode="lin" valueType="num">
                                      <p:cBhvr>
                                        <p:cTn id="36" dur="400" fill="hold"/>
                                        <p:tgtEl>
                                          <p:spTgt spid="16"/>
                                        </p:tgtEl>
                                        <p:attrNameLst>
                                          <p:attrName>ppt_y</p:attrName>
                                        </p:attrNameLst>
                                      </p:cBhvr>
                                      <p:tavLst>
                                        <p:tav tm="0">
                                          <p:val>
                                            <p:strVal val="#ppt_h+1"/>
                                          </p:val>
                                        </p:tav>
                                        <p:tav tm="100000">
                                          <p:val>
                                            <p:strVal val="#ppt_y"/>
                                          </p:val>
                                        </p:tav>
                                      </p:tavLst>
                                    </p:anim>
                                    <p:animEffect transition="in" filter="fade">
                                      <p:cBhvr>
                                        <p:cTn id="37" dur="400"/>
                                        <p:tgtEl>
                                          <p:spTgt spid="16"/>
                                        </p:tgtEl>
                                      </p:cBhvr>
                                    </p:animEffect>
                                  </p:childTnLst>
                                </p:cTn>
                              </p:par>
                              <p:par>
                                <p:cTn id="38" presetID="58" presetClass="entr" presetSubtype="0" accel="100000" fill="hold" grpId="0" nodeType="withEffect">
                                  <p:stCondLst>
                                    <p:cond delay="8400"/>
                                  </p:stCondLst>
                                  <p:childTnLst>
                                    <p:set>
                                      <p:cBhvr>
                                        <p:cTn id="39" dur="1" fill="hold">
                                          <p:stCondLst>
                                            <p:cond delay="0"/>
                                          </p:stCondLst>
                                        </p:cTn>
                                        <p:tgtEl>
                                          <p:spTgt spid="17"/>
                                        </p:tgtEl>
                                        <p:attrNameLst>
                                          <p:attrName>style.visibility</p:attrName>
                                        </p:attrNameLst>
                                      </p:cBhvr>
                                      <p:to>
                                        <p:strVal val="visible"/>
                                      </p:to>
                                    </p:set>
                                    <p:anim calcmode="lin" valueType="num">
                                      <p:cBhvr>
                                        <p:cTn id="40" dur="400" fill="hold"/>
                                        <p:tgtEl>
                                          <p:spTgt spid="17"/>
                                        </p:tgtEl>
                                        <p:attrNameLst>
                                          <p:attrName>ppt_w</p:attrName>
                                        </p:attrNameLst>
                                      </p:cBhvr>
                                      <p:tavLst>
                                        <p:tav tm="0">
                                          <p:val>
                                            <p:strVal val="#ppt_w*2.5"/>
                                          </p:val>
                                        </p:tav>
                                        <p:tav tm="100000">
                                          <p:val>
                                            <p:strVal val="#ppt_w"/>
                                          </p:val>
                                        </p:tav>
                                      </p:tavLst>
                                    </p:anim>
                                    <p:anim calcmode="lin" valueType="num">
                                      <p:cBhvr>
                                        <p:cTn id="41" dur="400" fill="hold"/>
                                        <p:tgtEl>
                                          <p:spTgt spid="17"/>
                                        </p:tgtEl>
                                        <p:attrNameLst>
                                          <p:attrName>ppt_h</p:attrName>
                                        </p:attrNameLst>
                                      </p:cBhvr>
                                      <p:tavLst>
                                        <p:tav tm="0">
                                          <p:val>
                                            <p:strVal val="#ppt_h*0.01"/>
                                          </p:val>
                                        </p:tav>
                                        <p:tav tm="100000">
                                          <p:val>
                                            <p:strVal val="#ppt_h"/>
                                          </p:val>
                                        </p:tav>
                                      </p:tavLst>
                                    </p:anim>
                                    <p:anim calcmode="lin" valueType="num">
                                      <p:cBhvr>
                                        <p:cTn id="42" dur="400" fill="hold"/>
                                        <p:tgtEl>
                                          <p:spTgt spid="17"/>
                                        </p:tgtEl>
                                        <p:attrNameLst>
                                          <p:attrName>ppt_x</p:attrName>
                                        </p:attrNameLst>
                                      </p:cBhvr>
                                      <p:tavLst>
                                        <p:tav tm="0">
                                          <p:val>
                                            <p:strVal val="#ppt_x"/>
                                          </p:val>
                                        </p:tav>
                                        <p:tav tm="100000">
                                          <p:val>
                                            <p:strVal val="#ppt_x"/>
                                          </p:val>
                                        </p:tav>
                                      </p:tavLst>
                                    </p:anim>
                                    <p:anim calcmode="lin" valueType="num">
                                      <p:cBhvr>
                                        <p:cTn id="43" dur="400" fill="hold"/>
                                        <p:tgtEl>
                                          <p:spTgt spid="17"/>
                                        </p:tgtEl>
                                        <p:attrNameLst>
                                          <p:attrName>ppt_y</p:attrName>
                                        </p:attrNameLst>
                                      </p:cBhvr>
                                      <p:tavLst>
                                        <p:tav tm="0">
                                          <p:val>
                                            <p:strVal val="#ppt_h+1"/>
                                          </p:val>
                                        </p:tav>
                                        <p:tav tm="100000">
                                          <p:val>
                                            <p:strVal val="#ppt_y"/>
                                          </p:val>
                                        </p:tav>
                                      </p:tavLst>
                                    </p:anim>
                                    <p:animEffect transition="in" filter="fade">
                                      <p:cBhvr>
                                        <p:cTn id="44" dur="400"/>
                                        <p:tgtEl>
                                          <p:spTgt spid="17"/>
                                        </p:tgtEl>
                                      </p:cBhvr>
                                    </p:animEffect>
                                  </p:childTnLst>
                                </p:cTn>
                              </p:par>
                              <p:par>
                                <p:cTn id="45" presetID="58" presetClass="entr" presetSubtype="0" accel="100000" fill="hold" grpId="0" nodeType="withEffect">
                                  <p:stCondLst>
                                    <p:cond delay="8900"/>
                                  </p:stCondLst>
                                  <p:childTnLst>
                                    <p:set>
                                      <p:cBhvr>
                                        <p:cTn id="46" dur="1" fill="hold">
                                          <p:stCondLst>
                                            <p:cond delay="0"/>
                                          </p:stCondLst>
                                        </p:cTn>
                                        <p:tgtEl>
                                          <p:spTgt spid="18"/>
                                        </p:tgtEl>
                                        <p:attrNameLst>
                                          <p:attrName>style.visibility</p:attrName>
                                        </p:attrNameLst>
                                      </p:cBhvr>
                                      <p:to>
                                        <p:strVal val="visible"/>
                                      </p:to>
                                    </p:set>
                                    <p:anim calcmode="lin" valueType="num">
                                      <p:cBhvr>
                                        <p:cTn id="47" dur="400" fill="hold"/>
                                        <p:tgtEl>
                                          <p:spTgt spid="18"/>
                                        </p:tgtEl>
                                        <p:attrNameLst>
                                          <p:attrName>ppt_w</p:attrName>
                                        </p:attrNameLst>
                                      </p:cBhvr>
                                      <p:tavLst>
                                        <p:tav tm="0">
                                          <p:val>
                                            <p:strVal val="#ppt_w*2.5"/>
                                          </p:val>
                                        </p:tav>
                                        <p:tav tm="100000">
                                          <p:val>
                                            <p:strVal val="#ppt_w"/>
                                          </p:val>
                                        </p:tav>
                                      </p:tavLst>
                                    </p:anim>
                                    <p:anim calcmode="lin" valueType="num">
                                      <p:cBhvr>
                                        <p:cTn id="48" dur="400" fill="hold"/>
                                        <p:tgtEl>
                                          <p:spTgt spid="18"/>
                                        </p:tgtEl>
                                        <p:attrNameLst>
                                          <p:attrName>ppt_h</p:attrName>
                                        </p:attrNameLst>
                                      </p:cBhvr>
                                      <p:tavLst>
                                        <p:tav tm="0">
                                          <p:val>
                                            <p:strVal val="#ppt_h*0.01"/>
                                          </p:val>
                                        </p:tav>
                                        <p:tav tm="100000">
                                          <p:val>
                                            <p:strVal val="#ppt_h"/>
                                          </p:val>
                                        </p:tav>
                                      </p:tavLst>
                                    </p:anim>
                                    <p:anim calcmode="lin" valueType="num">
                                      <p:cBhvr>
                                        <p:cTn id="49" dur="400" fill="hold"/>
                                        <p:tgtEl>
                                          <p:spTgt spid="18"/>
                                        </p:tgtEl>
                                        <p:attrNameLst>
                                          <p:attrName>ppt_x</p:attrName>
                                        </p:attrNameLst>
                                      </p:cBhvr>
                                      <p:tavLst>
                                        <p:tav tm="0">
                                          <p:val>
                                            <p:strVal val="#ppt_x"/>
                                          </p:val>
                                        </p:tav>
                                        <p:tav tm="100000">
                                          <p:val>
                                            <p:strVal val="#ppt_x"/>
                                          </p:val>
                                        </p:tav>
                                      </p:tavLst>
                                    </p:anim>
                                    <p:anim calcmode="lin" valueType="num">
                                      <p:cBhvr>
                                        <p:cTn id="50" dur="400" fill="hold"/>
                                        <p:tgtEl>
                                          <p:spTgt spid="18"/>
                                        </p:tgtEl>
                                        <p:attrNameLst>
                                          <p:attrName>ppt_y</p:attrName>
                                        </p:attrNameLst>
                                      </p:cBhvr>
                                      <p:tavLst>
                                        <p:tav tm="0">
                                          <p:val>
                                            <p:strVal val="#ppt_h+1"/>
                                          </p:val>
                                        </p:tav>
                                        <p:tav tm="100000">
                                          <p:val>
                                            <p:strVal val="#ppt_y"/>
                                          </p:val>
                                        </p:tav>
                                      </p:tavLst>
                                    </p:anim>
                                    <p:animEffect transition="in" filter="fade">
                                      <p:cBhvr>
                                        <p:cTn id="51" dur="400"/>
                                        <p:tgtEl>
                                          <p:spTgt spid="18"/>
                                        </p:tgtEl>
                                      </p:cBhvr>
                                    </p:animEffect>
                                  </p:childTnLst>
                                </p:cTn>
                              </p:par>
                              <p:par>
                                <p:cTn id="52" presetID="58" presetClass="entr" presetSubtype="0" accel="100000" fill="hold" grpId="0" nodeType="withEffect">
                                  <p:stCondLst>
                                    <p:cond delay="9400"/>
                                  </p:stCondLst>
                                  <p:childTnLst>
                                    <p:set>
                                      <p:cBhvr>
                                        <p:cTn id="53" dur="1" fill="hold">
                                          <p:stCondLst>
                                            <p:cond delay="0"/>
                                          </p:stCondLst>
                                        </p:cTn>
                                        <p:tgtEl>
                                          <p:spTgt spid="19"/>
                                        </p:tgtEl>
                                        <p:attrNameLst>
                                          <p:attrName>style.visibility</p:attrName>
                                        </p:attrNameLst>
                                      </p:cBhvr>
                                      <p:to>
                                        <p:strVal val="visible"/>
                                      </p:to>
                                    </p:set>
                                    <p:anim calcmode="lin" valueType="num">
                                      <p:cBhvr>
                                        <p:cTn id="54" dur="400" fill="hold"/>
                                        <p:tgtEl>
                                          <p:spTgt spid="19"/>
                                        </p:tgtEl>
                                        <p:attrNameLst>
                                          <p:attrName>ppt_w</p:attrName>
                                        </p:attrNameLst>
                                      </p:cBhvr>
                                      <p:tavLst>
                                        <p:tav tm="0">
                                          <p:val>
                                            <p:strVal val="#ppt_w*2.5"/>
                                          </p:val>
                                        </p:tav>
                                        <p:tav tm="100000">
                                          <p:val>
                                            <p:strVal val="#ppt_w"/>
                                          </p:val>
                                        </p:tav>
                                      </p:tavLst>
                                    </p:anim>
                                    <p:anim calcmode="lin" valueType="num">
                                      <p:cBhvr>
                                        <p:cTn id="55" dur="400" fill="hold"/>
                                        <p:tgtEl>
                                          <p:spTgt spid="19"/>
                                        </p:tgtEl>
                                        <p:attrNameLst>
                                          <p:attrName>ppt_h</p:attrName>
                                        </p:attrNameLst>
                                      </p:cBhvr>
                                      <p:tavLst>
                                        <p:tav tm="0">
                                          <p:val>
                                            <p:strVal val="#ppt_h*0.01"/>
                                          </p:val>
                                        </p:tav>
                                        <p:tav tm="100000">
                                          <p:val>
                                            <p:strVal val="#ppt_h"/>
                                          </p:val>
                                        </p:tav>
                                      </p:tavLst>
                                    </p:anim>
                                    <p:anim calcmode="lin" valueType="num">
                                      <p:cBhvr>
                                        <p:cTn id="56" dur="400" fill="hold"/>
                                        <p:tgtEl>
                                          <p:spTgt spid="19"/>
                                        </p:tgtEl>
                                        <p:attrNameLst>
                                          <p:attrName>ppt_x</p:attrName>
                                        </p:attrNameLst>
                                      </p:cBhvr>
                                      <p:tavLst>
                                        <p:tav tm="0">
                                          <p:val>
                                            <p:strVal val="#ppt_x"/>
                                          </p:val>
                                        </p:tav>
                                        <p:tav tm="100000">
                                          <p:val>
                                            <p:strVal val="#ppt_x"/>
                                          </p:val>
                                        </p:tav>
                                      </p:tavLst>
                                    </p:anim>
                                    <p:anim calcmode="lin" valueType="num">
                                      <p:cBhvr>
                                        <p:cTn id="57" dur="400" fill="hold"/>
                                        <p:tgtEl>
                                          <p:spTgt spid="19"/>
                                        </p:tgtEl>
                                        <p:attrNameLst>
                                          <p:attrName>ppt_y</p:attrName>
                                        </p:attrNameLst>
                                      </p:cBhvr>
                                      <p:tavLst>
                                        <p:tav tm="0">
                                          <p:val>
                                            <p:strVal val="#ppt_h+1"/>
                                          </p:val>
                                        </p:tav>
                                        <p:tav tm="100000">
                                          <p:val>
                                            <p:strVal val="#ppt_y"/>
                                          </p:val>
                                        </p:tav>
                                      </p:tavLst>
                                    </p:anim>
                                    <p:animEffect transition="in" filter="fade">
                                      <p:cBhvr>
                                        <p:cTn id="58" dur="400"/>
                                        <p:tgtEl>
                                          <p:spTgt spid="19"/>
                                        </p:tgtEl>
                                      </p:cBhvr>
                                    </p:animEffect>
                                  </p:childTnLst>
                                </p:cTn>
                              </p:par>
                              <p:par>
                                <p:cTn id="59" presetID="10" presetClass="entr" presetSubtype="0" fill="hold" nodeType="withEffect">
                                  <p:stCondLst>
                                    <p:cond delay="178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2" presetID="2" presetClass="entr" presetSubtype="4" fill="hold" nodeType="withEffect">
                                  <p:stCondLst>
                                    <p:cond delay="18000"/>
                                  </p:stCondLst>
                                  <p:childTnLst>
                                    <p:set>
                                      <p:cBhvr>
                                        <p:cTn id="63" dur="1" fill="hold">
                                          <p:stCondLst>
                                            <p:cond delay="0"/>
                                          </p:stCondLst>
                                        </p:cTn>
                                        <p:tgtEl>
                                          <p:spTgt spid="25"/>
                                        </p:tgtEl>
                                        <p:attrNameLst>
                                          <p:attrName>style.visibility</p:attrName>
                                        </p:attrNameLst>
                                      </p:cBhvr>
                                      <p:to>
                                        <p:strVal val="visible"/>
                                      </p:to>
                                    </p:set>
                                    <p:anim calcmode="lin" valueType="num">
                                      <p:cBhvr additive="base">
                                        <p:cTn id="64" dur="600" fill="hold"/>
                                        <p:tgtEl>
                                          <p:spTgt spid="25"/>
                                        </p:tgtEl>
                                        <p:attrNameLst>
                                          <p:attrName>ppt_x</p:attrName>
                                        </p:attrNameLst>
                                      </p:cBhvr>
                                      <p:tavLst>
                                        <p:tav tm="0">
                                          <p:val>
                                            <p:strVal val="#ppt_x"/>
                                          </p:val>
                                        </p:tav>
                                        <p:tav tm="100000">
                                          <p:val>
                                            <p:strVal val="#ppt_x"/>
                                          </p:val>
                                        </p:tav>
                                      </p:tavLst>
                                    </p:anim>
                                    <p:anim calcmode="lin" valueType="num">
                                      <p:cBhvr additive="base">
                                        <p:cTn id="65" dur="600" fill="hold"/>
                                        <p:tgtEl>
                                          <p:spTgt spid="25"/>
                                        </p:tgtEl>
                                        <p:attrNameLst>
                                          <p:attrName>ppt_y</p:attrName>
                                        </p:attrNameLst>
                                      </p:cBhvr>
                                      <p:tavLst>
                                        <p:tav tm="0">
                                          <p:val>
                                            <p:strVal val="1+#ppt_h/2"/>
                                          </p:val>
                                        </p:tav>
                                        <p:tav tm="100000">
                                          <p:val>
                                            <p:strVal val="#ppt_y"/>
                                          </p:val>
                                        </p:tav>
                                      </p:tavLst>
                                    </p:anim>
                                  </p:childTnLst>
                                </p:cTn>
                              </p:par>
                              <p:par>
                                <p:cTn id="66" presetID="10" presetClass="entr" presetSubtype="0" fill="hold" grpId="0" nodeType="withEffect">
                                  <p:stCondLst>
                                    <p:cond delay="1960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600"/>
                                        <p:tgtEl>
                                          <p:spTgt spid="27"/>
                                        </p:tgtEl>
                                      </p:cBhvr>
                                    </p:animEffect>
                                  </p:childTnLst>
                                </p:cTn>
                              </p:par>
                              <p:par>
                                <p:cTn id="69" presetID="10" presetClass="entr" presetSubtype="0" fill="hold" nodeType="withEffect">
                                  <p:stCondLst>
                                    <p:cond delay="2580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00"/>
                                        <p:tgtEl>
                                          <p:spTgt spid="34"/>
                                        </p:tgtEl>
                                      </p:cBhvr>
                                    </p:animEffect>
                                  </p:childTnLst>
                                </p:cTn>
                              </p:par>
                              <p:par>
                                <p:cTn id="72" presetID="2" presetClass="entr" presetSubtype="4" fill="hold" nodeType="withEffect">
                                  <p:stCondLst>
                                    <p:cond delay="26000"/>
                                  </p:stCondLst>
                                  <p:childTnLst>
                                    <p:set>
                                      <p:cBhvr>
                                        <p:cTn id="73" dur="1" fill="hold">
                                          <p:stCondLst>
                                            <p:cond delay="0"/>
                                          </p:stCondLst>
                                        </p:cTn>
                                        <p:tgtEl>
                                          <p:spTgt spid="33"/>
                                        </p:tgtEl>
                                        <p:attrNameLst>
                                          <p:attrName>style.visibility</p:attrName>
                                        </p:attrNameLst>
                                      </p:cBhvr>
                                      <p:to>
                                        <p:strVal val="visible"/>
                                      </p:to>
                                    </p:set>
                                    <p:anim calcmode="lin" valueType="num">
                                      <p:cBhvr additive="base">
                                        <p:cTn id="74" dur="600" fill="hold"/>
                                        <p:tgtEl>
                                          <p:spTgt spid="33"/>
                                        </p:tgtEl>
                                        <p:attrNameLst>
                                          <p:attrName>ppt_x</p:attrName>
                                        </p:attrNameLst>
                                      </p:cBhvr>
                                      <p:tavLst>
                                        <p:tav tm="0">
                                          <p:val>
                                            <p:strVal val="#ppt_x"/>
                                          </p:val>
                                        </p:tav>
                                        <p:tav tm="100000">
                                          <p:val>
                                            <p:strVal val="#ppt_x"/>
                                          </p:val>
                                        </p:tav>
                                      </p:tavLst>
                                    </p:anim>
                                    <p:anim calcmode="lin" valueType="num">
                                      <p:cBhvr additive="base">
                                        <p:cTn id="75" dur="600" fill="hold"/>
                                        <p:tgtEl>
                                          <p:spTgt spid="33"/>
                                        </p:tgtEl>
                                        <p:attrNameLst>
                                          <p:attrName>ppt_y</p:attrName>
                                        </p:attrNameLst>
                                      </p:cBhvr>
                                      <p:tavLst>
                                        <p:tav tm="0">
                                          <p:val>
                                            <p:strVal val="1+#ppt_h/2"/>
                                          </p:val>
                                        </p:tav>
                                        <p:tav tm="100000">
                                          <p:val>
                                            <p:strVal val="#ppt_y"/>
                                          </p:val>
                                        </p:tav>
                                      </p:tavLst>
                                    </p:anim>
                                  </p:childTnLst>
                                </p:cTn>
                              </p:par>
                              <p:par>
                                <p:cTn id="76" presetID="58" presetClass="entr" presetSubtype="0" accel="100000" fill="hold" grpId="0" nodeType="withEffect">
                                  <p:stCondLst>
                                    <p:cond delay="29000"/>
                                  </p:stCondLst>
                                  <p:childTnLst>
                                    <p:set>
                                      <p:cBhvr>
                                        <p:cTn id="77" dur="1" fill="hold">
                                          <p:stCondLst>
                                            <p:cond delay="0"/>
                                          </p:stCondLst>
                                        </p:cTn>
                                        <p:tgtEl>
                                          <p:spTgt spid="35"/>
                                        </p:tgtEl>
                                        <p:attrNameLst>
                                          <p:attrName>style.visibility</p:attrName>
                                        </p:attrNameLst>
                                      </p:cBhvr>
                                      <p:to>
                                        <p:strVal val="visible"/>
                                      </p:to>
                                    </p:set>
                                    <p:anim calcmode="lin" valueType="num">
                                      <p:cBhvr>
                                        <p:cTn id="78" dur="400" fill="hold"/>
                                        <p:tgtEl>
                                          <p:spTgt spid="35"/>
                                        </p:tgtEl>
                                        <p:attrNameLst>
                                          <p:attrName>ppt_w</p:attrName>
                                        </p:attrNameLst>
                                      </p:cBhvr>
                                      <p:tavLst>
                                        <p:tav tm="0">
                                          <p:val>
                                            <p:strVal val="#ppt_w*2.5"/>
                                          </p:val>
                                        </p:tav>
                                        <p:tav tm="100000">
                                          <p:val>
                                            <p:strVal val="#ppt_w"/>
                                          </p:val>
                                        </p:tav>
                                      </p:tavLst>
                                    </p:anim>
                                    <p:anim calcmode="lin" valueType="num">
                                      <p:cBhvr>
                                        <p:cTn id="79" dur="400" fill="hold"/>
                                        <p:tgtEl>
                                          <p:spTgt spid="35"/>
                                        </p:tgtEl>
                                        <p:attrNameLst>
                                          <p:attrName>ppt_h</p:attrName>
                                        </p:attrNameLst>
                                      </p:cBhvr>
                                      <p:tavLst>
                                        <p:tav tm="0">
                                          <p:val>
                                            <p:strVal val="#ppt_h*0.01"/>
                                          </p:val>
                                        </p:tav>
                                        <p:tav tm="100000">
                                          <p:val>
                                            <p:strVal val="#ppt_h"/>
                                          </p:val>
                                        </p:tav>
                                      </p:tavLst>
                                    </p:anim>
                                    <p:anim calcmode="lin" valueType="num">
                                      <p:cBhvr>
                                        <p:cTn id="80" dur="400" fill="hold"/>
                                        <p:tgtEl>
                                          <p:spTgt spid="35"/>
                                        </p:tgtEl>
                                        <p:attrNameLst>
                                          <p:attrName>ppt_x</p:attrName>
                                        </p:attrNameLst>
                                      </p:cBhvr>
                                      <p:tavLst>
                                        <p:tav tm="0">
                                          <p:val>
                                            <p:strVal val="#ppt_x"/>
                                          </p:val>
                                        </p:tav>
                                        <p:tav tm="100000">
                                          <p:val>
                                            <p:strVal val="#ppt_x"/>
                                          </p:val>
                                        </p:tav>
                                      </p:tavLst>
                                    </p:anim>
                                    <p:anim calcmode="lin" valueType="num">
                                      <p:cBhvr>
                                        <p:cTn id="81" dur="400" fill="hold"/>
                                        <p:tgtEl>
                                          <p:spTgt spid="35"/>
                                        </p:tgtEl>
                                        <p:attrNameLst>
                                          <p:attrName>ppt_y</p:attrName>
                                        </p:attrNameLst>
                                      </p:cBhvr>
                                      <p:tavLst>
                                        <p:tav tm="0">
                                          <p:val>
                                            <p:strVal val="#ppt_h+1"/>
                                          </p:val>
                                        </p:tav>
                                        <p:tav tm="100000">
                                          <p:val>
                                            <p:strVal val="#ppt_y"/>
                                          </p:val>
                                        </p:tav>
                                      </p:tavLst>
                                    </p:anim>
                                    <p:animEffect transition="in" filter="fade">
                                      <p:cBhvr>
                                        <p:cTn id="82" dur="400"/>
                                        <p:tgtEl>
                                          <p:spTgt spid="35"/>
                                        </p:tgtEl>
                                      </p:cBhvr>
                                    </p:animEffect>
                                  </p:childTnLst>
                                </p:cTn>
                              </p:par>
                              <p:par>
                                <p:cTn id="83" presetID="58" presetClass="entr" presetSubtype="0" accel="100000" fill="hold" grpId="0" nodeType="withEffect">
                                  <p:stCondLst>
                                    <p:cond delay="29400"/>
                                  </p:stCondLst>
                                  <p:childTnLst>
                                    <p:set>
                                      <p:cBhvr>
                                        <p:cTn id="84" dur="1" fill="hold">
                                          <p:stCondLst>
                                            <p:cond delay="0"/>
                                          </p:stCondLst>
                                        </p:cTn>
                                        <p:tgtEl>
                                          <p:spTgt spid="36"/>
                                        </p:tgtEl>
                                        <p:attrNameLst>
                                          <p:attrName>style.visibility</p:attrName>
                                        </p:attrNameLst>
                                      </p:cBhvr>
                                      <p:to>
                                        <p:strVal val="visible"/>
                                      </p:to>
                                    </p:set>
                                    <p:anim calcmode="lin" valueType="num">
                                      <p:cBhvr>
                                        <p:cTn id="85" dur="400" fill="hold"/>
                                        <p:tgtEl>
                                          <p:spTgt spid="36"/>
                                        </p:tgtEl>
                                        <p:attrNameLst>
                                          <p:attrName>ppt_w</p:attrName>
                                        </p:attrNameLst>
                                      </p:cBhvr>
                                      <p:tavLst>
                                        <p:tav tm="0">
                                          <p:val>
                                            <p:strVal val="#ppt_w*2.5"/>
                                          </p:val>
                                        </p:tav>
                                        <p:tav tm="100000">
                                          <p:val>
                                            <p:strVal val="#ppt_w"/>
                                          </p:val>
                                        </p:tav>
                                      </p:tavLst>
                                    </p:anim>
                                    <p:anim calcmode="lin" valueType="num">
                                      <p:cBhvr>
                                        <p:cTn id="86" dur="400" fill="hold"/>
                                        <p:tgtEl>
                                          <p:spTgt spid="36"/>
                                        </p:tgtEl>
                                        <p:attrNameLst>
                                          <p:attrName>ppt_h</p:attrName>
                                        </p:attrNameLst>
                                      </p:cBhvr>
                                      <p:tavLst>
                                        <p:tav tm="0">
                                          <p:val>
                                            <p:strVal val="#ppt_h*0.01"/>
                                          </p:val>
                                        </p:tav>
                                        <p:tav tm="100000">
                                          <p:val>
                                            <p:strVal val="#ppt_h"/>
                                          </p:val>
                                        </p:tav>
                                      </p:tavLst>
                                    </p:anim>
                                    <p:anim calcmode="lin" valueType="num">
                                      <p:cBhvr>
                                        <p:cTn id="87" dur="400" fill="hold"/>
                                        <p:tgtEl>
                                          <p:spTgt spid="36"/>
                                        </p:tgtEl>
                                        <p:attrNameLst>
                                          <p:attrName>ppt_x</p:attrName>
                                        </p:attrNameLst>
                                      </p:cBhvr>
                                      <p:tavLst>
                                        <p:tav tm="0">
                                          <p:val>
                                            <p:strVal val="#ppt_x"/>
                                          </p:val>
                                        </p:tav>
                                        <p:tav tm="100000">
                                          <p:val>
                                            <p:strVal val="#ppt_x"/>
                                          </p:val>
                                        </p:tav>
                                      </p:tavLst>
                                    </p:anim>
                                    <p:anim calcmode="lin" valueType="num">
                                      <p:cBhvr>
                                        <p:cTn id="88" dur="400" fill="hold"/>
                                        <p:tgtEl>
                                          <p:spTgt spid="36"/>
                                        </p:tgtEl>
                                        <p:attrNameLst>
                                          <p:attrName>ppt_y</p:attrName>
                                        </p:attrNameLst>
                                      </p:cBhvr>
                                      <p:tavLst>
                                        <p:tav tm="0">
                                          <p:val>
                                            <p:strVal val="#ppt_h+1"/>
                                          </p:val>
                                        </p:tav>
                                        <p:tav tm="100000">
                                          <p:val>
                                            <p:strVal val="#ppt_y"/>
                                          </p:val>
                                        </p:tav>
                                      </p:tavLst>
                                    </p:anim>
                                    <p:animEffect transition="in" filter="fade">
                                      <p:cBhvr>
                                        <p:cTn id="89" dur="400"/>
                                        <p:tgtEl>
                                          <p:spTgt spid="36"/>
                                        </p:tgtEl>
                                      </p:cBhvr>
                                    </p:animEffect>
                                  </p:childTnLst>
                                </p:cTn>
                              </p:par>
                              <p:par>
                                <p:cTn id="90" presetID="58" presetClass="entr" presetSubtype="0" accel="100000" fill="hold" grpId="0" nodeType="withEffect">
                                  <p:stCondLst>
                                    <p:cond delay="29800"/>
                                  </p:stCondLst>
                                  <p:childTnLst>
                                    <p:set>
                                      <p:cBhvr>
                                        <p:cTn id="91" dur="1" fill="hold">
                                          <p:stCondLst>
                                            <p:cond delay="0"/>
                                          </p:stCondLst>
                                        </p:cTn>
                                        <p:tgtEl>
                                          <p:spTgt spid="37"/>
                                        </p:tgtEl>
                                        <p:attrNameLst>
                                          <p:attrName>style.visibility</p:attrName>
                                        </p:attrNameLst>
                                      </p:cBhvr>
                                      <p:to>
                                        <p:strVal val="visible"/>
                                      </p:to>
                                    </p:set>
                                    <p:anim calcmode="lin" valueType="num">
                                      <p:cBhvr>
                                        <p:cTn id="92" dur="400" fill="hold"/>
                                        <p:tgtEl>
                                          <p:spTgt spid="37"/>
                                        </p:tgtEl>
                                        <p:attrNameLst>
                                          <p:attrName>ppt_w</p:attrName>
                                        </p:attrNameLst>
                                      </p:cBhvr>
                                      <p:tavLst>
                                        <p:tav tm="0">
                                          <p:val>
                                            <p:strVal val="#ppt_w*2.5"/>
                                          </p:val>
                                        </p:tav>
                                        <p:tav tm="100000">
                                          <p:val>
                                            <p:strVal val="#ppt_w"/>
                                          </p:val>
                                        </p:tav>
                                      </p:tavLst>
                                    </p:anim>
                                    <p:anim calcmode="lin" valueType="num">
                                      <p:cBhvr>
                                        <p:cTn id="93" dur="400" fill="hold"/>
                                        <p:tgtEl>
                                          <p:spTgt spid="37"/>
                                        </p:tgtEl>
                                        <p:attrNameLst>
                                          <p:attrName>ppt_h</p:attrName>
                                        </p:attrNameLst>
                                      </p:cBhvr>
                                      <p:tavLst>
                                        <p:tav tm="0">
                                          <p:val>
                                            <p:strVal val="#ppt_h*0.01"/>
                                          </p:val>
                                        </p:tav>
                                        <p:tav tm="100000">
                                          <p:val>
                                            <p:strVal val="#ppt_h"/>
                                          </p:val>
                                        </p:tav>
                                      </p:tavLst>
                                    </p:anim>
                                    <p:anim calcmode="lin" valueType="num">
                                      <p:cBhvr>
                                        <p:cTn id="94" dur="400" fill="hold"/>
                                        <p:tgtEl>
                                          <p:spTgt spid="37"/>
                                        </p:tgtEl>
                                        <p:attrNameLst>
                                          <p:attrName>ppt_x</p:attrName>
                                        </p:attrNameLst>
                                      </p:cBhvr>
                                      <p:tavLst>
                                        <p:tav tm="0">
                                          <p:val>
                                            <p:strVal val="#ppt_x"/>
                                          </p:val>
                                        </p:tav>
                                        <p:tav tm="100000">
                                          <p:val>
                                            <p:strVal val="#ppt_x"/>
                                          </p:val>
                                        </p:tav>
                                      </p:tavLst>
                                    </p:anim>
                                    <p:anim calcmode="lin" valueType="num">
                                      <p:cBhvr>
                                        <p:cTn id="95" dur="400" fill="hold"/>
                                        <p:tgtEl>
                                          <p:spTgt spid="37"/>
                                        </p:tgtEl>
                                        <p:attrNameLst>
                                          <p:attrName>ppt_y</p:attrName>
                                        </p:attrNameLst>
                                      </p:cBhvr>
                                      <p:tavLst>
                                        <p:tav tm="0">
                                          <p:val>
                                            <p:strVal val="#ppt_h+1"/>
                                          </p:val>
                                        </p:tav>
                                        <p:tav tm="100000">
                                          <p:val>
                                            <p:strVal val="#ppt_y"/>
                                          </p:val>
                                        </p:tav>
                                      </p:tavLst>
                                    </p:anim>
                                    <p:animEffect transition="in" filter="fade">
                                      <p:cBhvr>
                                        <p:cTn id="96"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4" grpId="0"/>
      <p:bldP spid="15" grpId="0" animBg="1"/>
      <p:bldP spid="16" grpId="0" animBg="1"/>
      <p:bldP spid="17" grpId="0" animBg="1"/>
      <p:bldP spid="18" grpId="0" animBg="1"/>
      <p:bldP spid="19" grpId="0" animBg="1"/>
      <p:bldP spid="27" grpId="0" animBg="1"/>
      <p:bldP spid="35" grpId="0" animBg="1"/>
      <p:bldP spid="36" grpId="0" animBg="1"/>
      <p:bldP spid="3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Mix and match</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How you know it's a Canvas</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test kit in the Canvas Portal</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Operators are the modules</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operator catalogue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CANVAS OPERATORS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operator catalogue</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now</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001 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002 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003 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004 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005 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007 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010 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286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008 OAuth2 Config</a:t>
              </a:r>
            </a:p>
          </p:txBody>
        </p:sp>
        <p:sp>
          <p:nvSpPr>
            <p:cNvPr id="40" name="Shape 38"/>
            <p:cNvSpPr txBox="1"/>
            <p:nvPr/>
          </p:nvSpPr>
          <p:spPr>
            <a:xfrm>
              <a:off x="2857500" y="5168900"/>
              <a:ext cx="12192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009 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011 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006 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Database Management</a:t>
              </a:r>
            </a:p>
          </p:txBody>
        </p:sp>
      </p:grpSp>
      <p:grpSp>
        <p:nvGrpSpPr>
          <p:cNvPr id="75" name="Not fixed"/>
          <p:cNvGrpSpPr/>
          <p:nvPr/>
        </p:nvGrpSpPr>
        <p:grpSpPr>
          <a:xfrm>
            <a:off x="4381500" y="4318000"/>
            <a:ext cx="7048500" cy="825500"/>
            <a:chOff x="4381500" y="4318000"/>
            <a:chExt cx="7048500" cy="825500"/>
          </a:xfrm>
        </p:grpSpPr>
        <p:sp>
          <p:nvSpPr>
            <p:cNvPr id="72" name="Shape 70"/>
            <p:cNvSpPr/>
            <p:nvPr/>
          </p:nvSpPr>
          <p:spPr>
            <a:xfrm>
              <a:off x="4381500" y="4318000"/>
              <a:ext cx="7048500" cy="825500"/>
            </a:xfrm>
            <a:prstGeom prst="roundRect">
              <a:avLst>
                <a:gd name="adj" fmla="val 18461"/>
              </a:avLst>
            </a:prstGeom>
            <a:solidFill>
              <a:srgbClr val="1FC7A8">
                <a:alpha val="8000"/>
              </a:srgbClr>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gear-1fc7a8.png"/>
            <p:cNvPicPr>
              <a:picLocks noChangeAspect="1"/>
            </p:cNvPicPr>
            <p:nvPr/>
          </p:nvPicPr>
          <p:blipFill>
            <a:blip r:embed="rId7"/>
            <a:stretch>
              <a:fillRect/>
            </a:stretch>
          </p:blipFill>
          <p:spPr>
            <a:xfrm>
              <a:off x="4610100" y="4552950"/>
              <a:ext cx="355600" cy="355600"/>
            </a:xfrm>
            <a:prstGeom prst="rect">
              <a:avLst/>
            </a:prstGeom>
          </p:spPr>
        </p:pic>
        <p:sp>
          <p:nvSpPr>
            <p:cNvPr id="74" name="Shape 72"/>
            <p:cNvSpPr txBox="1"/>
            <p:nvPr/>
          </p:nvSpPr>
          <p:spPr>
            <a:xfrm>
              <a:off x="5080000" y="4445000"/>
              <a:ext cx="6223000" cy="5715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Not a fixed list. New operator types are added as the Canvas matures.</a:t>
              </a:r>
            </a:p>
          </p:txBody>
        </p:sp>
      </p:grpSp>
    </p:spTree>
  </p:cSld>
  <p:clrMapOvr>
    <a:masterClrMapping/>
  </p:clrMapOvr>
  <mc:AlternateContent xmlns:mc="http://schemas.openxmlformats.org/markup-compatibility/2006">
    <mc:Choice xmlns:p14="http://schemas.microsoft.com/office/powerpoint/2010/main" Requires="p14">
      <p:transition spd="slow" p14:dur="2000" advTm="29900"/>
    </mc:Choice>
    <mc:Fallback>
      <p:transition spd="slow" advTm="2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4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48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52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56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60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64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68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76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88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12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36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0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96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96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204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16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36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operators in this Canvas</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choosing the modules</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1, API management</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2, observability</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3, identity</a:t>
            </a:r>
          </a:p>
        </p:txBody>
      </p:sp>
      <p:pic>
        <p:nvPicPr>
          <p:cNvPr id="3" name="Clip 1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Example 4, secrets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9C46A"/>
                </a:solidFill>
                <a:latin typeface="Segoe UI"/>
              </a:rPr>
              <a:t>EXAMPLE 4 · TMFOP007</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Secrets</a:t>
            </a:r>
          </a:p>
        </p:txBody>
      </p:sp>
      <p:grpSp>
        <p:nvGrpSpPr>
          <p:cNvPr id="8" name="Component"/>
          <p:cNvGrpSpPr/>
          <p:nvPr/>
        </p:nvGrpSpPr>
        <p:grpSpPr>
          <a:xfrm>
            <a:off x="444500" y="1905000"/>
            <a:ext cx="2540000" cy="2222500"/>
            <a:chOff x="444500" y="1905000"/>
            <a:chExt cx="2540000" cy="2222500"/>
          </a:xfrm>
        </p:grpSpPr>
        <p:pic>
          <p:nvPicPr>
            <p:cNvPr id="6" name="Shape 4" descr="oda.png"/>
            <p:cNvPicPr>
              <a:picLocks noChangeAspect="1"/>
            </p:cNvPicPr>
            <p:nvPr/>
          </p:nvPicPr>
          <p:blipFill>
            <a:blip r:embed="rId4"/>
            <a:stretch>
              <a:fillRect/>
            </a:stretch>
          </p:blipFill>
          <p:spPr>
            <a:xfrm>
              <a:off x="762000" y="1905000"/>
              <a:ext cx="1905000" cy="1799167"/>
            </a:xfrm>
            <a:prstGeom prst="rect">
              <a:avLst/>
            </a:prstGeom>
          </p:spPr>
        </p:pic>
        <p:sp>
          <p:nvSpPr>
            <p:cNvPr id="7" name="Shape 5"/>
            <p:cNvSpPr txBox="1"/>
            <p:nvPr/>
          </p:nvSpPr>
          <p:spPr>
            <a:xfrm>
              <a:off x="444500" y="3810000"/>
              <a:ext cx="2540000" cy="3175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ODA Component</a:t>
              </a:r>
            </a:p>
          </p:txBody>
        </p:sp>
      </p:grpSp>
      <p:sp>
        <p:nvSpPr>
          <p:cNvPr id="9" name="Needs"/>
          <p:cNvSpPr/>
          <p:nvPr/>
        </p:nvSpPr>
        <p:spPr>
          <a:xfrm>
            <a:off x="603250" y="4254500"/>
            <a:ext cx="2413000" cy="266700"/>
          </a:xfrm>
          <a:prstGeom prst="roundRect">
            <a:avLst>
              <a:gd name="adj" fmla="val 50000"/>
            </a:avLst>
          </a:prstGeom>
          <a:solidFill>
            <a:srgbClr val="E9C46A">
              <a:alpha val="15000"/>
            </a:srgbClr>
          </a:solidFill>
          <a:ln w="12700">
            <a:solidFill>
              <a:srgbClr val="E9C46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declares: a secrets store</a:t>
            </a:r>
          </a:p>
        </p:txBody>
      </p:sp>
      <p:cxnSp>
        <p:nvCxnSpPr>
          <p:cNvPr id="10" name="Arrow 1"/>
          <p:cNvCxnSpPr/>
          <p:nvPr/>
        </p:nvCxnSpPr>
        <p:spPr>
          <a:xfrm>
            <a:off x="2984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15" name="Operator"/>
          <p:cNvGrpSpPr/>
          <p:nvPr/>
        </p:nvGrpSpPr>
        <p:grpSpPr>
          <a:xfrm>
            <a:off x="4064000" y="2095500"/>
            <a:ext cx="3302000" cy="1397000"/>
            <a:chOff x="4064000" y="2095500"/>
            <a:chExt cx="3302000" cy="1397000"/>
          </a:xfrm>
        </p:grpSpPr>
        <p:sp>
          <p:nvSpPr>
            <p:cNvPr id="11" name="Shape 9"/>
            <p:cNvSpPr/>
            <p:nvPr/>
          </p:nvSpPr>
          <p:spPr>
            <a:xfrm>
              <a:off x="4064000" y="2095500"/>
              <a:ext cx="3302000" cy="1397000"/>
            </a:xfrm>
            <a:prstGeom prst="roundRect">
              <a:avLst>
                <a:gd name="adj" fmla="val 10909"/>
              </a:avLst>
            </a:prstGeom>
            <a:solidFill>
              <a:srgbClr val="111A30"/>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gear-1fc7a8.png"/>
            <p:cNvPicPr>
              <a:picLocks noChangeAspect="1"/>
            </p:cNvPicPr>
            <p:nvPr/>
          </p:nvPicPr>
          <p:blipFill>
            <a:blip r:embed="rId5"/>
            <a:stretch>
              <a:fillRect/>
            </a:stretch>
          </p:blipFill>
          <p:spPr>
            <a:xfrm>
              <a:off x="4254500" y="2286000"/>
              <a:ext cx="444500" cy="444500"/>
            </a:xfrm>
            <a:prstGeom prst="rect">
              <a:avLst/>
            </a:prstGeom>
          </p:spPr>
        </p:pic>
        <p:sp>
          <p:nvSpPr>
            <p:cNvPr id="13" name="Shape 11"/>
            <p:cNvSpPr txBox="1"/>
            <p:nvPr/>
          </p:nvSpPr>
          <p:spPr>
            <a:xfrm>
              <a:off x="4826000" y="2286000"/>
              <a:ext cx="2413000" cy="635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Secrets management operator</a:t>
              </a:r>
            </a:p>
          </p:txBody>
        </p:sp>
        <p:sp>
          <p:nvSpPr>
            <p:cNvPr id="14" name="Shape 12"/>
            <p:cNvSpPr txBox="1"/>
            <p:nvPr/>
          </p:nvSpPr>
          <p:spPr>
            <a:xfrm>
              <a:off x="4254500" y="2984500"/>
              <a:ext cx="2984500" cy="381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provides the store for the component</a:t>
              </a:r>
            </a:p>
          </p:txBody>
        </p:sp>
      </p:grpSp>
      <p:cxnSp>
        <p:nvCxnSpPr>
          <p:cNvPr id="16" name="Arrow 2"/>
          <p:cNvCxnSpPr/>
          <p:nvPr/>
        </p:nvCxnSpPr>
        <p:spPr>
          <a:xfrm>
            <a:off x="7429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21" name="Vault"/>
          <p:cNvGrpSpPr/>
          <p:nvPr/>
        </p:nvGrpSpPr>
        <p:grpSpPr>
          <a:xfrm>
            <a:off x="8509000" y="2095500"/>
            <a:ext cx="2921000" cy="1397000"/>
            <a:chOff x="8509000" y="2095500"/>
            <a:chExt cx="2921000" cy="1397000"/>
          </a:xfrm>
        </p:grpSpPr>
        <p:sp>
          <p:nvSpPr>
            <p:cNvPr id="17" name="Shape 15"/>
            <p:cNvSpPr/>
            <p:nvPr/>
          </p:nvSpPr>
          <p:spPr>
            <a:xfrm>
              <a:off x="8509000" y="2095500"/>
              <a:ext cx="2921000" cy="1397000"/>
            </a:xfrm>
            <a:prstGeom prst="roundRect">
              <a:avLst>
                <a:gd name="adj" fmla="val 10909"/>
              </a:avLst>
            </a:prstGeom>
            <a:solidFill>
              <a:srgbClr val="E9C46A">
                <a:alpha val="12000"/>
              </a:srgbClr>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8" name="Shape 16" descr="icon-lock-e9c46a.png"/>
            <p:cNvPicPr>
              <a:picLocks noChangeAspect="1"/>
            </p:cNvPicPr>
            <p:nvPr/>
          </p:nvPicPr>
          <p:blipFill>
            <a:blip r:embed="rId6"/>
            <a:stretch>
              <a:fillRect/>
            </a:stretch>
          </p:blipFill>
          <p:spPr>
            <a:xfrm>
              <a:off x="8699500" y="2286000"/>
              <a:ext cx="444500" cy="444500"/>
            </a:xfrm>
            <a:prstGeom prst="rect">
              <a:avLst/>
            </a:prstGeom>
          </p:spPr>
        </p:pic>
        <p:sp>
          <p:nvSpPr>
            <p:cNvPr id="19" name="Shape 17"/>
            <p:cNvSpPr txBox="1"/>
            <p:nvPr/>
          </p:nvSpPr>
          <p:spPr>
            <a:xfrm>
              <a:off x="9271000" y="2286000"/>
              <a:ext cx="2032000" cy="381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HashiCorp Vault</a:t>
              </a:r>
            </a:p>
          </p:txBody>
        </p:sp>
        <p:sp>
          <p:nvSpPr>
            <p:cNvPr id="20" name="Shape 18"/>
            <p:cNvSpPr txBox="1"/>
            <p:nvPr/>
          </p:nvSpPr>
          <p:spPr>
            <a:xfrm>
              <a:off x="8699500" y="2857500"/>
              <a:ext cx="2603500" cy="508000"/>
            </a:xfrm>
            <a:prstGeom prst="rect">
              <a:avLst/>
            </a:prstGeom>
            <a:noFill/>
          </p:spPr>
          <p:txBody>
            <a:bodyPr wrap="square" lIns="0" tIns="0" rIns="0" bIns="0" anchor="t">
              <a:spAutoFit/>
            </a:bodyPr>
            <a:lstStyle/>
            <a:p>
              <a:pPr algn="l">
                <a:lnSpc>
                  <a:spcPct val="115000"/>
                </a:lnSpc>
              </a:pPr>
              <a:r>
                <a:rPr sz="1300" b="1">
                  <a:solidFill>
                    <a:srgbClr val="8F9BB8"/>
                  </a:solidFill>
                  <a:latin typeface="Segoe UI"/>
                </a:rPr>
                <a:t>or another secrets platform</a:t>
              </a:r>
            </a:p>
          </p:txBody>
        </p:sp>
      </p:grpSp>
      <p:grpSp>
        <p:nvGrpSpPr>
          <p:cNvPr id="25" name="Identity"/>
          <p:cNvGrpSpPr/>
          <p:nvPr/>
        </p:nvGrpSpPr>
        <p:grpSpPr>
          <a:xfrm>
            <a:off x="4064000" y="4318000"/>
            <a:ext cx="7366000" cy="889000"/>
            <a:chOff x="4064000" y="4318000"/>
            <a:chExt cx="7366000" cy="889000"/>
          </a:xfrm>
        </p:grpSpPr>
        <p:sp>
          <p:nvSpPr>
            <p:cNvPr id="22" name="Shape 20"/>
            <p:cNvSpPr/>
            <p:nvPr/>
          </p:nvSpPr>
          <p:spPr>
            <a:xfrm>
              <a:off x="4064000" y="4318000"/>
              <a:ext cx="7366000" cy="889000"/>
            </a:xfrm>
            <a:prstGeom prst="roundRect">
              <a:avLst>
                <a:gd name="adj" fmla="val 17142"/>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key-e9c46a.png"/>
            <p:cNvPicPr>
              <a:picLocks noChangeAspect="1"/>
            </p:cNvPicPr>
            <p:nvPr/>
          </p:nvPicPr>
          <p:blipFill>
            <a:blip r:embed="rId7"/>
            <a:stretch>
              <a:fillRect/>
            </a:stretch>
          </p:blipFill>
          <p:spPr>
            <a:xfrm>
              <a:off x="4292600" y="4572000"/>
              <a:ext cx="381000" cy="381000"/>
            </a:xfrm>
            <a:prstGeom prst="rect">
              <a:avLst/>
            </a:prstGeom>
          </p:spPr>
        </p:pic>
        <p:sp>
          <p:nvSpPr>
            <p:cNvPr id="24" name="Shape 22"/>
            <p:cNvSpPr txBox="1"/>
            <p:nvPr/>
          </p:nvSpPr>
          <p:spPr>
            <a:xfrm>
              <a:off x="4826000" y="4381500"/>
              <a:ext cx="6350000" cy="762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Signs in with its own Kubernetes identity</a:t>
              </a:r>
            </a:p>
            <a:p>
              <a:pPr algn="l">
                <a:lnSpc>
                  <a:spcPct val="115000"/>
                </a:lnSpc>
              </a:pPr>
              <a:r>
                <a:rPr sz="1300" b="0">
                  <a:solidFill>
                    <a:srgbClr val="8F9BB8"/>
                  </a:solidFill>
                  <a:latin typeface="Segoe UI"/>
                </a:rPr>
                <a:t>No bootstrap passwords · JWT/OIDC based (UC014)</a:t>
              </a:r>
            </a:p>
          </p:txBody>
        </p:sp>
      </p:grpSp>
    </p:spTree>
  </p:cSld>
  <p:clrMapOvr>
    <a:masterClrMapping/>
  </p:clrMapOvr>
  <mc:AlternateContent xmlns:mc="http://schemas.openxmlformats.org/markup-compatibility/2006">
    <mc:Choice xmlns:p14="http://schemas.microsoft.com/office/powerpoint/2010/main" Requires="p14">
      <p:transition spd="slow" p14:dur="2000" advTm="19900"/>
    </mc:Choice>
    <mc:Fallback>
      <p:transition spd="slow" advTm="1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800"/>
                                  </p:stCondLst>
                                  <p:childTnLst>
                                    <p:set>
                                      <p:cBhvr>
                                        <p:cTn id="12" dur="1" fill="hold">
                                          <p:stCondLst>
                                            <p:cond delay="0"/>
                                          </p:stCondLst>
                                        </p:cTn>
                                        <p:tgtEl>
                                          <p:spTgt spid="8"/>
                                        </p:tgtEl>
                                        <p:attrNameLst>
                                          <p:attrName>style.visibility</p:attrName>
                                        </p:attrNameLst>
                                      </p:cBhvr>
                                      <p:to>
                                        <p:strVal val="visible"/>
                                      </p:to>
                                    </p:set>
                                    <p:anim calcmode="lin" valueType="num">
                                      <p:cBhvr>
                                        <p:cTn id="13" dur="600" fill="hold"/>
                                        <p:tgtEl>
                                          <p:spTgt spid="8"/>
                                        </p:tgtEl>
                                        <p:attrNameLst>
                                          <p:attrName>ppt_w</p:attrName>
                                        </p:attrNameLst>
                                      </p:cBhvr>
                                      <p:tavLst>
                                        <p:tav tm="0">
                                          <p:val>
                                            <p:strVal val="#ppt_w*2.5"/>
                                          </p:val>
                                        </p:tav>
                                        <p:tav tm="100000">
                                          <p:val>
                                            <p:strVal val="#ppt_w"/>
                                          </p:val>
                                        </p:tav>
                                      </p:tavLst>
                                    </p:anim>
                                    <p:anim calcmode="lin" valueType="num">
                                      <p:cBhvr>
                                        <p:cTn id="14" dur="600" fill="hold"/>
                                        <p:tgtEl>
                                          <p:spTgt spid="8"/>
                                        </p:tgtEl>
                                        <p:attrNameLst>
                                          <p:attrName>ppt_h</p:attrName>
                                        </p:attrNameLst>
                                      </p:cBhvr>
                                      <p:tavLst>
                                        <p:tav tm="0">
                                          <p:val>
                                            <p:strVal val="#ppt_h*0.01"/>
                                          </p:val>
                                        </p:tav>
                                        <p:tav tm="100000">
                                          <p:val>
                                            <p:strVal val="#ppt_h"/>
                                          </p:val>
                                        </p:tav>
                                      </p:tavLst>
                                    </p:anim>
                                    <p:anim calcmode="lin" valueType="num">
                                      <p:cBhvr>
                                        <p:cTn id="15" dur="600" fill="hold"/>
                                        <p:tgtEl>
                                          <p:spTgt spid="8"/>
                                        </p:tgtEl>
                                        <p:attrNameLst>
                                          <p:attrName>ppt_x</p:attrName>
                                        </p:attrNameLst>
                                      </p:cBhvr>
                                      <p:tavLst>
                                        <p:tav tm="0">
                                          <p:val>
                                            <p:strVal val="#ppt_x"/>
                                          </p:val>
                                        </p:tav>
                                        <p:tav tm="100000">
                                          <p:val>
                                            <p:strVal val="#ppt_x"/>
                                          </p:val>
                                        </p:tav>
                                      </p:tavLst>
                                    </p:anim>
                                    <p:anim calcmode="lin" valueType="num">
                                      <p:cBhvr>
                                        <p:cTn id="16" dur="600" fill="hold"/>
                                        <p:tgtEl>
                                          <p:spTgt spid="8"/>
                                        </p:tgtEl>
                                        <p:attrNameLst>
                                          <p:attrName>ppt_y</p:attrName>
                                        </p:attrNameLst>
                                      </p:cBhvr>
                                      <p:tavLst>
                                        <p:tav tm="0">
                                          <p:val>
                                            <p:strVal val="#ppt_h+1"/>
                                          </p:val>
                                        </p:tav>
                                        <p:tav tm="100000">
                                          <p:val>
                                            <p:strVal val="#ppt_y"/>
                                          </p:val>
                                        </p:tav>
                                      </p:tavLst>
                                    </p:anim>
                                    <p:animEffect transition="in" filter="fade">
                                      <p:cBhvr>
                                        <p:cTn id="17" dur="600"/>
                                        <p:tgtEl>
                                          <p:spTgt spid="8"/>
                                        </p:tgtEl>
                                      </p:cBhvr>
                                    </p:animEffect>
                                  </p:childTnLst>
                                </p:cTn>
                              </p:par>
                              <p:par>
                                <p:cTn id="18" presetID="10" presetClass="entr" presetSubtype="0" fill="hold" grpId="0" nodeType="withEffect">
                                  <p:stCondLst>
                                    <p:cond delay="24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1" presetID="10" presetClass="entr" presetSubtype="0" fill="hold" nodeType="withEffect">
                                  <p:stCondLst>
                                    <p:cond delay="34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600"/>
                                        <p:tgtEl>
                                          <p:spTgt spid="10"/>
                                        </p:tgtEl>
                                      </p:cBhvr>
                                    </p:animEffect>
                                  </p:childTnLst>
                                </p:cTn>
                              </p:par>
                              <p:par>
                                <p:cTn id="24" presetID="2" presetClass="entr" presetSubtype="4" fill="hold" nodeType="withEffect">
                                  <p:stCondLst>
                                    <p:cond delay="3600"/>
                                  </p:stCondLst>
                                  <p:childTnLst>
                                    <p:set>
                                      <p:cBhvr>
                                        <p:cTn id="25" dur="1" fill="hold">
                                          <p:stCondLst>
                                            <p:cond delay="0"/>
                                          </p:stCondLst>
                                        </p:cTn>
                                        <p:tgtEl>
                                          <p:spTgt spid="15"/>
                                        </p:tgtEl>
                                        <p:attrNameLst>
                                          <p:attrName>style.visibility</p:attrName>
                                        </p:attrNameLst>
                                      </p:cBhvr>
                                      <p:to>
                                        <p:strVal val="visible"/>
                                      </p:to>
                                    </p:set>
                                    <p:anim calcmode="lin" valueType="num">
                                      <p:cBhvr additive="base">
                                        <p:cTn id="26" dur="600" fill="hold"/>
                                        <p:tgtEl>
                                          <p:spTgt spid="15"/>
                                        </p:tgtEl>
                                        <p:attrNameLst>
                                          <p:attrName>ppt_x</p:attrName>
                                        </p:attrNameLst>
                                      </p:cBhvr>
                                      <p:tavLst>
                                        <p:tav tm="0">
                                          <p:val>
                                            <p:strVal val="#ppt_x"/>
                                          </p:val>
                                        </p:tav>
                                        <p:tav tm="100000">
                                          <p:val>
                                            <p:strVal val="#ppt_x"/>
                                          </p:val>
                                        </p:tav>
                                      </p:tavLst>
                                    </p:anim>
                                    <p:anim calcmode="lin" valueType="num">
                                      <p:cBhvr additive="base">
                                        <p:cTn id="27" dur="600" fill="hold"/>
                                        <p:tgtEl>
                                          <p:spTgt spid="15"/>
                                        </p:tgtEl>
                                        <p:attrNameLst>
                                          <p:attrName>ppt_y</p:attrName>
                                        </p:attrNameLst>
                                      </p:cBhvr>
                                      <p:tavLst>
                                        <p:tav tm="0">
                                          <p:val>
                                            <p:strVal val="1+#ppt_h/2"/>
                                          </p:val>
                                        </p:tav>
                                        <p:tav tm="100000">
                                          <p:val>
                                            <p:strVal val="#ppt_y"/>
                                          </p:val>
                                        </p:tav>
                                      </p:tavLst>
                                    </p:anim>
                                  </p:childTnLst>
                                </p:cTn>
                              </p:par>
                              <p:par>
                                <p:cTn id="28" presetID="10" presetClass="entr" presetSubtype="0" fill="hold" nodeType="withEffect">
                                  <p:stCondLst>
                                    <p:cond delay="70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600"/>
                                        <p:tgtEl>
                                          <p:spTgt spid="16"/>
                                        </p:tgtEl>
                                      </p:cBhvr>
                                    </p:animEffect>
                                  </p:childTnLst>
                                </p:cTn>
                              </p:par>
                              <p:par>
                                <p:cTn id="31" presetID="2" presetClass="entr" presetSubtype="4" fill="hold" nodeType="withEffect">
                                  <p:stCondLst>
                                    <p:cond delay="7200"/>
                                  </p:stCondLst>
                                  <p:childTnLst>
                                    <p:set>
                                      <p:cBhvr>
                                        <p:cTn id="32" dur="1" fill="hold">
                                          <p:stCondLst>
                                            <p:cond delay="0"/>
                                          </p:stCondLst>
                                        </p:cTn>
                                        <p:tgtEl>
                                          <p:spTgt spid="21"/>
                                        </p:tgtEl>
                                        <p:attrNameLst>
                                          <p:attrName>style.visibility</p:attrName>
                                        </p:attrNameLst>
                                      </p:cBhvr>
                                      <p:to>
                                        <p:strVal val="visible"/>
                                      </p:to>
                                    </p:set>
                                    <p:anim calcmode="lin" valueType="num">
                                      <p:cBhvr additive="base">
                                        <p:cTn id="33" dur="600" fill="hold"/>
                                        <p:tgtEl>
                                          <p:spTgt spid="21"/>
                                        </p:tgtEl>
                                        <p:attrNameLst>
                                          <p:attrName>ppt_x</p:attrName>
                                        </p:attrNameLst>
                                      </p:cBhvr>
                                      <p:tavLst>
                                        <p:tav tm="0">
                                          <p:val>
                                            <p:strVal val="#ppt_x"/>
                                          </p:val>
                                        </p:tav>
                                        <p:tav tm="100000">
                                          <p:val>
                                            <p:strVal val="#ppt_x"/>
                                          </p:val>
                                        </p:tav>
                                      </p:tavLst>
                                    </p:anim>
                                    <p:anim calcmode="lin" valueType="num">
                                      <p:cBhvr additive="base">
                                        <p:cTn id="34" dur="600" fill="hold"/>
                                        <p:tgtEl>
                                          <p:spTgt spid="21"/>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12400"/>
                                  </p:stCondLst>
                                  <p:childTnLst>
                                    <p:set>
                                      <p:cBhvr>
                                        <p:cTn id="36" dur="1" fill="hold">
                                          <p:stCondLst>
                                            <p:cond delay="0"/>
                                          </p:stCondLst>
                                        </p:cTn>
                                        <p:tgtEl>
                                          <p:spTgt spid="25"/>
                                        </p:tgtEl>
                                        <p:attrNameLst>
                                          <p:attrName>style.visibility</p:attrName>
                                        </p:attrNameLst>
                                      </p:cBhvr>
                                      <p:to>
                                        <p:strVal val="visible"/>
                                      </p:to>
                                    </p:set>
                                    <p:anim calcmode="lin" valueType="num">
                                      <p:cBhvr additive="base">
                                        <p:cTn id="37" dur="600" fill="hold"/>
                                        <p:tgtEl>
                                          <p:spTgt spid="25"/>
                                        </p:tgtEl>
                                        <p:attrNameLst>
                                          <p:attrName>ppt_x</p:attrName>
                                        </p:attrNameLst>
                                      </p:cBhvr>
                                      <p:tavLst>
                                        <p:tav tm="0">
                                          <p:val>
                                            <p:strVal val="#ppt_x"/>
                                          </p:val>
                                        </p:tav>
                                        <p:tav tm="100000">
                                          <p:val>
                                            <p:strVal val="#ppt_x"/>
                                          </p:val>
                                        </p:tav>
                                      </p:tavLst>
                                    </p:anim>
                                    <p:anim calcmode="lin" valueType="num">
                                      <p:cBhvr additive="base">
                                        <p:cTn id="38"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5, carbon-aware scaling</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Build your own operator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BUILDING YOUR OWN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Build your own operator</a:t>
            </a:r>
          </a:p>
        </p:txBody>
      </p:sp>
      <p:grpSp>
        <p:nvGrpSpPr>
          <p:cNvPr id="10" name="Card 1"/>
          <p:cNvGrpSpPr/>
          <p:nvPr/>
        </p:nvGrpSpPr>
        <p:grpSpPr>
          <a:xfrm>
            <a:off x="762000" y="1778000"/>
            <a:ext cx="3429000" cy="3302000"/>
            <a:chOff x="762000" y="1778000"/>
            <a:chExt cx="3429000" cy="3302000"/>
          </a:xfrm>
        </p:grpSpPr>
        <p:sp>
          <p:nvSpPr>
            <p:cNvPr id="6" name="Shape 4"/>
            <p:cNvSpPr/>
            <p:nvPr/>
          </p:nvSpPr>
          <p:spPr>
            <a:xfrm>
              <a:off x="762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wrench-1fc7a8.png"/>
            <p:cNvPicPr>
              <a:picLocks noChangeAspect="1"/>
            </p:cNvPicPr>
            <p:nvPr/>
          </p:nvPicPr>
          <p:blipFill>
            <a:blip r:embed="rId4"/>
            <a:stretch>
              <a:fillRect/>
            </a:stretch>
          </p:blipFill>
          <p:spPr>
            <a:xfrm>
              <a:off x="990600" y="2006600"/>
              <a:ext cx="533400" cy="533400"/>
            </a:xfrm>
            <a:prstGeom prst="rect">
              <a:avLst/>
            </a:prstGeom>
          </p:spPr>
        </p:pic>
        <p:sp>
          <p:nvSpPr>
            <p:cNvPr id="8" name="Shape 6"/>
            <p:cNvSpPr txBox="1"/>
            <p:nvPr/>
          </p:nvSpPr>
          <p:spPr>
            <a:xfrm>
              <a:off x="990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Any language</a:t>
              </a:r>
            </a:p>
          </p:txBody>
        </p:sp>
        <p:sp>
          <p:nvSpPr>
            <p:cNvPr id="9" name="Shape 7"/>
            <p:cNvSpPr txBox="1"/>
            <p:nvPr/>
          </p:nvSpPr>
          <p:spPr>
            <a:xfrm>
              <a:off x="990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Follows the Kubernetes operator pattern. The reference operators use Python with KOPF, and Go.</a:t>
              </a:r>
            </a:p>
          </p:txBody>
        </p:sp>
      </p:grpSp>
      <p:grpSp>
        <p:nvGrpSpPr>
          <p:cNvPr id="15" name="Card 2"/>
          <p:cNvGrpSpPr/>
          <p:nvPr/>
        </p:nvGrpSpPr>
        <p:grpSpPr>
          <a:xfrm>
            <a:off x="4381500" y="1778000"/>
            <a:ext cx="3429000" cy="3302000"/>
            <a:chOff x="4381500" y="1778000"/>
            <a:chExt cx="3429000" cy="3302000"/>
          </a:xfrm>
        </p:grpSpPr>
        <p:sp>
          <p:nvSpPr>
            <p:cNvPr id="11" name="Shape 9"/>
            <p:cNvSpPr/>
            <p:nvPr/>
          </p:nvSpPr>
          <p:spPr>
            <a:xfrm>
              <a:off x="43815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doc-1fc7a8.png"/>
            <p:cNvPicPr>
              <a:picLocks noChangeAspect="1"/>
            </p:cNvPicPr>
            <p:nvPr/>
          </p:nvPicPr>
          <p:blipFill>
            <a:blip r:embed="rId5"/>
            <a:stretch>
              <a:fillRect/>
            </a:stretch>
          </p:blipFill>
          <p:spPr>
            <a:xfrm>
              <a:off x="4610100" y="2006600"/>
              <a:ext cx="533400" cy="533400"/>
            </a:xfrm>
            <a:prstGeom prst="rect">
              <a:avLst/>
            </a:prstGeom>
          </p:spPr>
        </p:pic>
        <p:sp>
          <p:nvSpPr>
            <p:cNvPr id="13" name="Shape 11"/>
            <p:cNvSpPr txBox="1"/>
            <p:nvPr/>
          </p:nvSpPr>
          <p:spPr>
            <a:xfrm>
              <a:off x="46101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Same custom resources</a:t>
              </a:r>
            </a:p>
          </p:txBody>
        </p:sp>
        <p:sp>
          <p:nvSpPr>
            <p:cNvPr id="14" name="Shape 12"/>
            <p:cNvSpPr txBox="1"/>
            <p:nvPr/>
          </p:nvSpPr>
          <p:spPr>
            <a:xfrm>
              <a:off x="46101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Component · ExposedAPI · DependentAPI · IdentityConfig · SecretsManagement</a:t>
              </a:r>
            </a:p>
          </p:txBody>
        </p:sp>
      </p:grpSp>
      <p:grpSp>
        <p:nvGrpSpPr>
          <p:cNvPr id="20" name="Card 3"/>
          <p:cNvGrpSpPr/>
          <p:nvPr/>
        </p:nvGrpSpPr>
        <p:grpSpPr>
          <a:xfrm>
            <a:off x="8001000" y="1778000"/>
            <a:ext cx="3429000" cy="3302000"/>
            <a:chOff x="8001000" y="1778000"/>
            <a:chExt cx="3429000" cy="3302000"/>
          </a:xfrm>
        </p:grpSpPr>
        <p:sp>
          <p:nvSpPr>
            <p:cNvPr id="16" name="Shape 14"/>
            <p:cNvSpPr/>
            <p:nvPr/>
          </p:nvSpPr>
          <p:spPr>
            <a:xfrm>
              <a:off x="8001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spark-1fc7a8.png"/>
            <p:cNvPicPr>
              <a:picLocks noChangeAspect="1"/>
            </p:cNvPicPr>
            <p:nvPr/>
          </p:nvPicPr>
          <p:blipFill>
            <a:blip r:embed="rId6"/>
            <a:stretch>
              <a:fillRect/>
            </a:stretch>
          </p:blipFill>
          <p:spPr>
            <a:xfrm>
              <a:off x="8229600" y="2006600"/>
              <a:ext cx="533400" cy="533400"/>
            </a:xfrm>
            <a:prstGeom prst="rect">
              <a:avLst/>
            </a:prstGeom>
          </p:spPr>
        </p:pic>
        <p:sp>
          <p:nvSpPr>
            <p:cNvPr id="18" name="Shape 16"/>
            <p:cNvSpPr txBox="1"/>
            <p:nvPr/>
          </p:nvSpPr>
          <p:spPr>
            <a:xfrm>
              <a:off x="8229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Help to start</a:t>
              </a:r>
            </a:p>
          </p:txBody>
        </p:sp>
        <p:sp>
          <p:nvSpPr>
            <p:cNvPr id="19" name="Shape 17"/>
            <p:cNvSpPr txBox="1"/>
            <p:nvPr/>
          </p:nvSpPr>
          <p:spPr>
            <a:xfrm>
              <a:off x="8229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The create-oda-operator AI coding-assistant skill, and the BDD test kit to check it.</a:t>
              </a:r>
            </a:p>
          </p:txBody>
        </p:sp>
      </p:grpSp>
      <p:sp>
        <p:nvSpPr>
          <p:cNvPr id="21" name="Repo"/>
          <p:cNvSpPr txBox="1"/>
          <p:nvPr/>
        </p:nvSpPr>
        <p:spPr>
          <a:xfrm>
            <a:off x="762000" y="5461000"/>
            <a:ext cx="10668000" cy="317500"/>
          </a:xfrm>
          <a:prstGeom prst="rect">
            <a:avLst/>
          </a:prstGeom>
          <a:noFill/>
        </p:spPr>
        <p:txBody>
          <a:bodyPr wrap="square" lIns="0" tIns="0" rIns="0" bIns="0" anchor="t">
            <a:spAutoFit/>
          </a:bodyPr>
          <a:lstStyle/>
          <a:p>
            <a:pPr algn="l">
              <a:lnSpc>
                <a:spcPct val="115000"/>
              </a:lnSpc>
            </a:pPr>
            <a:r>
              <a:rPr sz="1400" b="1">
                <a:solidFill>
                  <a:srgbClr val="1FC7A8"/>
                </a:solidFill>
                <a:latin typeface="Segoe UI"/>
              </a:rPr>
              <a:t>github.com/tmforum-oda/oda-canvas › source/operators · skills/create-oda-operator</a:t>
            </a:r>
          </a:p>
        </p:txBody>
      </p:sp>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8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600" fill="hold"/>
                                        <p:tgtEl>
                                          <p:spTgt spid="10"/>
                                        </p:tgtEl>
                                        <p:attrNameLst>
                                          <p:attrName>ppt_x</p:attrName>
                                        </p:attrNameLst>
                                      </p:cBhvr>
                                      <p:tavLst>
                                        <p:tav tm="0">
                                          <p:val>
                                            <p:strVal val="#ppt_x"/>
                                          </p:val>
                                        </p:tav>
                                        <p:tav tm="100000">
                                          <p:val>
                                            <p:strVal val="#ppt_x"/>
                                          </p:val>
                                        </p:tav>
                                      </p:tavLst>
                                    </p:anim>
                                    <p:anim calcmode="lin" valueType="num">
                                      <p:cBhvr additive="base">
                                        <p:cTn id="14" dur="6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124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600" fill="hold"/>
                                        <p:tgtEl>
                                          <p:spTgt spid="15"/>
                                        </p:tgtEl>
                                        <p:attrNameLst>
                                          <p:attrName>ppt_x</p:attrName>
                                        </p:attrNameLst>
                                      </p:cBhvr>
                                      <p:tavLst>
                                        <p:tav tm="0">
                                          <p:val>
                                            <p:strVal val="#ppt_x"/>
                                          </p:val>
                                        </p:tav>
                                        <p:tav tm="100000">
                                          <p:val>
                                            <p:strVal val="#ppt_x"/>
                                          </p:val>
                                        </p:tav>
                                      </p:tavLst>
                                    </p:anim>
                                    <p:anim calcmode="lin" valueType="num">
                                      <p:cBhvr additive="base">
                                        <p:cTn id="18" dur="6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88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600" fill="hold"/>
                                        <p:tgtEl>
                                          <p:spTgt spid="20"/>
                                        </p:tgtEl>
                                        <p:attrNameLst>
                                          <p:attrName>ppt_x</p:attrName>
                                        </p:attrNameLst>
                                      </p:cBhvr>
                                      <p:tavLst>
                                        <p:tav tm="0">
                                          <p:val>
                                            <p:strVal val="#ppt_x"/>
                                          </p:val>
                                        </p:tav>
                                        <p:tav tm="100000">
                                          <p:val>
                                            <p:strVal val="#ppt_x"/>
                                          </p:val>
                                        </p:tav>
                                      </p:tavLst>
                                    </p:anim>
                                    <p:anim calcmode="lin" valueType="num">
                                      <p:cBhvr additive="base">
                                        <p:cTn id="22" dur="600" fill="hold"/>
                                        <p:tgtEl>
                                          <p:spTgt spid="20"/>
                                        </p:tgtEl>
                                        <p:attrNameLst>
                                          <p:attrName>ppt_y</p:attrName>
                                        </p:attrNameLst>
                                      </p:cBhvr>
                                      <p:tavLst>
                                        <p:tav tm="0">
                                          <p:val>
                                            <p:strVal val="1+#ppt_h/2"/>
                                          </p:val>
                                        </p:tav>
                                        <p:tav tm="100000">
                                          <p:val>
                                            <p:strVal val="#ppt_y"/>
                                          </p:val>
                                        </p:tav>
                                      </p:tavLst>
                                    </p:anim>
                                  </p:childTnLst>
                                </p:cTn>
                              </p:par>
                              <p:par>
                                <p:cTn id="23" presetID="10" presetClass="entr" presetSubtype="0" fill="hold" grpId="0" nodeType="withEffect">
                                  <p:stCondLst>
                                    <p:cond delay="2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LOOKING AHEAD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9" name="AI"/>
          <p:cNvGrpSpPr/>
          <p:nvPr/>
        </p:nvGrpSpPr>
        <p:grpSpPr>
          <a:xfrm>
            <a:off x="762000" y="1651000"/>
            <a:ext cx="6350000" cy="3810000"/>
            <a:chOff x="762000" y="1651000"/>
            <a:chExt cx="6350000" cy="3810000"/>
          </a:xfrm>
        </p:grpSpPr>
        <p:sp>
          <p:nvSpPr>
            <p:cNvPr id="6" name="Shape 4"/>
            <p:cNvSpPr/>
            <p:nvPr/>
          </p:nvSpPr>
          <p:spPr>
            <a:xfrm>
              <a:off x="762000" y="1651000"/>
              <a:ext cx="6350000" cy="3810000"/>
            </a:xfrm>
            <a:prstGeom prst="roundRect">
              <a:avLst>
                <a:gd name="adj" fmla="val 4333"/>
              </a:avLst>
            </a:prstGeom>
            <a:solidFill>
              <a:srgbClr val="F472B6">
                <a:alpha val="8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oda-agent.png"/>
            <p:cNvPicPr>
              <a:picLocks noChangeAspect="1"/>
            </p:cNvPicPr>
            <p:nvPr/>
          </p:nvPicPr>
          <p:blipFill>
            <a:blip r:embed="rId4"/>
            <a:stretch>
              <a:fillRect/>
            </a:stretch>
          </p:blipFill>
          <p:spPr>
            <a:xfrm>
              <a:off x="952500" y="1841500"/>
              <a:ext cx="762000" cy="719667"/>
            </a:xfrm>
            <a:prstGeom prst="rect">
              <a:avLst/>
            </a:prstGeom>
          </p:spPr>
        </p:pic>
        <p:sp>
          <p:nvSpPr>
            <p:cNvPr id="8" name="Shape 6"/>
            <p:cNvSpPr txBox="1"/>
            <p:nvPr/>
          </p:nvSpPr>
          <p:spPr>
            <a:xfrm>
              <a:off x="1905000" y="1905000"/>
              <a:ext cx="4953000" cy="444500"/>
            </a:xfrm>
            <a:prstGeom prst="rect">
              <a:avLst/>
            </a:prstGeom>
            <a:noFill/>
          </p:spPr>
          <p:txBody>
            <a:bodyPr wrap="square" lIns="0" tIns="0" rIns="0" bIns="0" anchor="t">
              <a:spAutoFit/>
            </a:bodyPr>
            <a:lstStyle/>
            <a:p>
              <a:pPr algn="l">
                <a:lnSpc>
                  <a:spcPct val="115000"/>
                </a:lnSpc>
              </a:pPr>
              <a:r>
                <a:rPr sz="2300" b="1">
                  <a:solidFill>
                    <a:srgbClr val="F2F5FB"/>
                  </a:solidFill>
                  <a:latin typeface="Segoe UI"/>
                </a:rPr>
                <a:t>The AI-Native Canvas</a:t>
              </a:r>
            </a:p>
          </p:txBody>
        </p:sp>
      </p:grpSp>
      <p:grpSp>
        <p:nvGrpSpPr>
          <p:cNvPr id="12" name="AI 1"/>
          <p:cNvGrpSpPr/>
          <p:nvPr/>
        </p:nvGrpSpPr>
        <p:grpSpPr>
          <a:xfrm>
            <a:off x="1016000" y="2857500"/>
            <a:ext cx="5905500" cy="317500"/>
            <a:chOff x="1016000" y="2857500"/>
            <a:chExt cx="5905500" cy="317500"/>
          </a:xfrm>
        </p:grpSpPr>
        <p:pic>
          <p:nvPicPr>
            <p:cNvPr id="10" name="Shape 8" descr="icon-spark-f472b6.png"/>
            <p:cNvPicPr>
              <a:picLocks noChangeAspect="1"/>
            </p:cNvPicPr>
            <p:nvPr/>
          </p:nvPicPr>
          <p:blipFill>
            <a:blip r:embed="rId5"/>
            <a:stretch>
              <a:fillRect/>
            </a:stretch>
          </p:blipFill>
          <p:spPr>
            <a:xfrm>
              <a:off x="1016000" y="2882900"/>
              <a:ext cx="279400" cy="279400"/>
            </a:xfrm>
            <a:prstGeom prst="rect">
              <a:avLst/>
            </a:prstGeom>
          </p:spPr>
        </p:pic>
        <p:sp>
          <p:nvSpPr>
            <p:cNvPr id="11" name="Shape 9"/>
            <p:cNvSpPr txBox="1"/>
            <p:nvPr/>
          </p:nvSpPr>
          <p:spPr>
            <a:xfrm>
              <a:off x="1460500" y="2857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Components declare the AI models they need</a:t>
              </a:r>
            </a:p>
          </p:txBody>
        </p:sp>
      </p:grpSp>
      <p:grpSp>
        <p:nvGrpSpPr>
          <p:cNvPr id="15" name="AI 2"/>
          <p:cNvGrpSpPr/>
          <p:nvPr/>
        </p:nvGrpSpPr>
        <p:grpSpPr>
          <a:xfrm>
            <a:off x="1016000" y="3460750"/>
            <a:ext cx="5905500" cy="317500"/>
            <a:chOff x="1016000" y="3460750"/>
            <a:chExt cx="5905500" cy="317500"/>
          </a:xfrm>
        </p:grpSpPr>
        <p:pic>
          <p:nvPicPr>
            <p:cNvPr id="13" name="Shape 11" descr="icon-spark-f472b6.png"/>
            <p:cNvPicPr>
              <a:picLocks noChangeAspect="1"/>
            </p:cNvPicPr>
            <p:nvPr/>
          </p:nvPicPr>
          <p:blipFill>
            <a:blip r:embed="rId5"/>
            <a:stretch>
              <a:fillRect/>
            </a:stretch>
          </p:blipFill>
          <p:spPr>
            <a:xfrm>
              <a:off x="1016000" y="3486150"/>
              <a:ext cx="279400" cy="279400"/>
            </a:xfrm>
            <a:prstGeom prst="rect">
              <a:avLst/>
            </a:prstGeom>
          </p:spPr>
        </p:pic>
        <p:sp>
          <p:nvSpPr>
            <p:cNvPr id="14" name="Shape 12"/>
            <p:cNvSpPr txBox="1"/>
            <p:nvPr/>
          </p:nvSpPr>
          <p:spPr>
            <a:xfrm>
              <a:off x="1460500" y="3460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Governed access through a model gateway</a:t>
              </a:r>
            </a:p>
          </p:txBody>
        </p:sp>
      </p:grpSp>
      <p:grpSp>
        <p:nvGrpSpPr>
          <p:cNvPr id="18" name="AI 3"/>
          <p:cNvGrpSpPr/>
          <p:nvPr/>
        </p:nvGrpSpPr>
        <p:grpSpPr>
          <a:xfrm>
            <a:off x="1016000" y="4381500"/>
            <a:ext cx="5905500" cy="317500"/>
            <a:chOff x="1016000" y="4381500"/>
            <a:chExt cx="5905500" cy="317500"/>
          </a:xfrm>
        </p:grpSpPr>
        <p:pic>
          <p:nvPicPr>
            <p:cNvPr id="16" name="Shape 14" descr="icon-spark-f472b6.png"/>
            <p:cNvPicPr>
              <a:picLocks noChangeAspect="1"/>
            </p:cNvPicPr>
            <p:nvPr/>
          </p:nvPicPr>
          <p:blipFill>
            <a:blip r:embed="rId5"/>
            <a:stretch>
              <a:fillRect/>
            </a:stretch>
          </p:blipFill>
          <p:spPr>
            <a:xfrm>
              <a:off x="1016000" y="4406900"/>
              <a:ext cx="279400" cy="279400"/>
            </a:xfrm>
            <a:prstGeom prst="rect">
              <a:avLst/>
            </a:prstGeom>
          </p:spPr>
        </p:pic>
        <p:sp>
          <p:nvSpPr>
            <p:cNvPr id="17" name="Shape 15"/>
            <p:cNvSpPr txBox="1"/>
            <p:nvPr/>
          </p:nvSpPr>
          <p:spPr>
            <a:xfrm>
              <a:off x="1460500" y="4381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Guardrails and usage records</a:t>
              </a:r>
            </a:p>
          </p:txBody>
        </p:sp>
      </p:grpSp>
      <p:grpSp>
        <p:nvGrpSpPr>
          <p:cNvPr id="21" name="AI 4"/>
          <p:cNvGrpSpPr/>
          <p:nvPr/>
        </p:nvGrpSpPr>
        <p:grpSpPr>
          <a:xfrm>
            <a:off x="1016000" y="4984750"/>
            <a:ext cx="5905500" cy="317500"/>
            <a:chOff x="1016000" y="4984750"/>
            <a:chExt cx="5905500" cy="317500"/>
          </a:xfrm>
        </p:grpSpPr>
        <p:pic>
          <p:nvPicPr>
            <p:cNvPr id="19" name="Shape 17" descr="icon-spark-f472b6.png"/>
            <p:cNvPicPr>
              <a:picLocks noChangeAspect="1"/>
            </p:cNvPicPr>
            <p:nvPr/>
          </p:nvPicPr>
          <p:blipFill>
            <a:blip r:embed="rId5"/>
            <a:stretch>
              <a:fillRect/>
            </a:stretch>
          </p:blipFill>
          <p:spPr>
            <a:xfrm>
              <a:off x="1016000" y="5010150"/>
              <a:ext cx="279400" cy="279400"/>
            </a:xfrm>
            <a:prstGeom prst="rect">
              <a:avLst/>
            </a:prstGeom>
          </p:spPr>
        </p:pic>
        <p:sp>
          <p:nvSpPr>
            <p:cNvPr id="20" name="Shape 18"/>
            <p:cNvSpPr txBox="1"/>
            <p:nvPr/>
          </p:nvSpPr>
          <p:spPr>
            <a:xfrm>
              <a:off x="1460500" y="4984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MCP tools and agentic components</a:t>
              </a:r>
            </a:p>
          </p:txBody>
        </p:sp>
      </p:grpSp>
      <p:sp>
        <p:nvSpPr>
          <p:cNvPr id="22" name="Experimental"/>
          <p:cNvSpPr/>
          <p:nvPr/>
        </p:nvSpPr>
        <p:spPr>
          <a:xfrm>
            <a:off x="1905000" y="2413000"/>
            <a:ext cx="26670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 · its own video</a:t>
            </a:r>
          </a:p>
        </p:txBody>
      </p:sp>
      <p:sp>
        <p:nvSpPr>
          <p:cNvPr id="23" name="MaaS"/>
          <p:cNvSpPr/>
          <p:nvPr/>
        </p:nvSpPr>
        <p:spPr>
          <a:xfrm>
            <a:off x="1460500" y="3835400"/>
            <a:ext cx="4419600" cy="2413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Model-as-a-Service operator · TMFOP009 · experimental</a:t>
            </a:r>
          </a:p>
        </p:txBody>
      </p:sp>
      <p:sp>
        <p:nvSpPr>
          <p:cNvPr id="24" name="Planned"/>
          <p:cNvSpPr txBox="1"/>
          <p:nvPr/>
        </p:nvSpPr>
        <p:spPr>
          <a:xfrm>
            <a:off x="7620000" y="1651000"/>
            <a:ext cx="3810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Planned</a:t>
            </a:r>
          </a:p>
        </p:txBody>
      </p:sp>
      <p:grpSp>
        <p:nvGrpSpPr>
          <p:cNvPr id="28" name="Roadmap 1"/>
          <p:cNvGrpSpPr/>
          <p:nvPr/>
        </p:nvGrpSpPr>
        <p:grpSpPr>
          <a:xfrm>
            <a:off x="7620000" y="2159000"/>
            <a:ext cx="3810000" cy="508000"/>
            <a:chOff x="7620000" y="2159000"/>
            <a:chExt cx="3810000" cy="508000"/>
          </a:xfrm>
        </p:grpSpPr>
        <p:sp>
          <p:nvSpPr>
            <p:cNvPr id="25" name="Shape 23"/>
            <p:cNvSpPr/>
            <p:nvPr/>
          </p:nvSpPr>
          <p:spPr>
            <a:xfrm>
              <a:off x="7620000" y="215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0" y="215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7810500" y="215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Event Management</a:t>
              </a:r>
            </a:p>
          </p:txBody>
        </p:sp>
      </p:grpSp>
      <p:grpSp>
        <p:nvGrpSpPr>
          <p:cNvPr id="32" name="Roadmap 2"/>
          <p:cNvGrpSpPr/>
          <p:nvPr/>
        </p:nvGrpSpPr>
        <p:grpSpPr>
          <a:xfrm>
            <a:off x="7620000" y="2794000"/>
            <a:ext cx="3810000" cy="508000"/>
            <a:chOff x="7620000" y="2794000"/>
            <a:chExt cx="3810000" cy="508000"/>
          </a:xfrm>
        </p:grpSpPr>
        <p:sp>
          <p:nvSpPr>
            <p:cNvPr id="29" name="Shape 27"/>
            <p:cNvSpPr/>
            <p:nvPr/>
          </p:nvSpPr>
          <p:spPr>
            <a:xfrm>
              <a:off x="7620000" y="2794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0" y="2794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7810500" y="2794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Cost Control</a:t>
              </a:r>
            </a:p>
          </p:txBody>
        </p:sp>
      </p:grpSp>
      <p:grpSp>
        <p:nvGrpSpPr>
          <p:cNvPr id="36" name="Roadmap 3"/>
          <p:cNvGrpSpPr/>
          <p:nvPr/>
        </p:nvGrpSpPr>
        <p:grpSpPr>
          <a:xfrm>
            <a:off x="7620000" y="3429000"/>
            <a:ext cx="3810000" cy="508000"/>
            <a:chOff x="7620000" y="3429000"/>
            <a:chExt cx="3810000" cy="508000"/>
          </a:xfrm>
        </p:grpSpPr>
        <p:sp>
          <p:nvSpPr>
            <p:cNvPr id="33" name="Shape 31"/>
            <p:cNvSpPr/>
            <p:nvPr/>
          </p:nvSpPr>
          <p:spPr>
            <a:xfrm>
              <a:off x="7620000" y="342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0" y="342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7810500" y="342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Database Management</a:t>
              </a:r>
            </a:p>
          </p:txBody>
        </p:sp>
      </p:grpSp>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4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10" presetClass="entr" presetSubtype="0" fill="hold" nodeType="withEffect">
                                  <p:stCondLst>
                                    <p:cond delay="40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600"/>
                                        <p:tgtEl>
                                          <p:spTgt spid="12"/>
                                        </p:tgtEl>
                                      </p:cBhvr>
                                    </p:animEffect>
                                  </p:childTnLst>
                                </p:cTn>
                              </p:par>
                              <p:par>
                                <p:cTn id="18" presetID="10" presetClass="entr" presetSubtype="0" fill="hold" nodeType="withEffect">
                                  <p:stCondLst>
                                    <p:cond delay="72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600"/>
                                        <p:tgtEl>
                                          <p:spTgt spid="15"/>
                                        </p:tgtEl>
                                      </p:cBhvr>
                                    </p:animEffect>
                                  </p:childTnLst>
                                </p:cTn>
                              </p:par>
                              <p:par>
                                <p:cTn id="21" presetID="10" presetClass="entr" presetSubtype="0" fill="hold" grpId="0" nodeType="withEffect">
                                  <p:stCondLst>
                                    <p:cond delay="84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600"/>
                                        <p:tgtEl>
                                          <p:spTgt spid="23"/>
                                        </p:tgtEl>
                                      </p:cBhvr>
                                    </p:animEffect>
                                  </p:childTnLst>
                                </p:cTn>
                              </p:par>
                              <p:par>
                                <p:cTn id="24" presetID="10" presetClass="entr" presetSubtype="0" fill="hold" nodeType="withEffect">
                                  <p:stCondLst>
                                    <p:cond delay="120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childTnLst>
                                </p:cTn>
                              </p:par>
                              <p:par>
                                <p:cTn id="27" presetID="10" presetClass="entr" presetSubtype="0" fill="hold" nodeType="withEffect">
                                  <p:stCondLst>
                                    <p:cond delay="1360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600"/>
                                        <p:tgtEl>
                                          <p:spTgt spid="21"/>
                                        </p:tgtEl>
                                      </p:cBhvr>
                                    </p:animEffect>
                                  </p:childTnLst>
                                </p:cTn>
                              </p:par>
                              <p:par>
                                <p:cTn id="30" presetID="58" presetClass="entr" presetSubtype="0" accel="100000" fill="hold" grpId="0" nodeType="withEffect">
                                  <p:stCondLst>
                                    <p:cond delay="14800"/>
                                  </p:stCondLst>
                                  <p:childTnLst>
                                    <p:set>
                                      <p:cBhvr>
                                        <p:cTn id="31" dur="1" fill="hold">
                                          <p:stCondLst>
                                            <p:cond delay="0"/>
                                          </p:stCondLst>
                                        </p:cTn>
                                        <p:tgtEl>
                                          <p:spTgt spid="22"/>
                                        </p:tgtEl>
                                        <p:attrNameLst>
                                          <p:attrName>style.visibility</p:attrName>
                                        </p:attrNameLst>
                                      </p:cBhvr>
                                      <p:to>
                                        <p:strVal val="visible"/>
                                      </p:to>
                                    </p:set>
                                    <p:anim calcmode="lin" valueType="num">
                                      <p:cBhvr>
                                        <p:cTn id="32" dur="500" fill="hold"/>
                                        <p:tgtEl>
                                          <p:spTgt spid="22"/>
                                        </p:tgtEl>
                                        <p:attrNameLst>
                                          <p:attrName>ppt_w</p:attrName>
                                        </p:attrNameLst>
                                      </p:cBhvr>
                                      <p:tavLst>
                                        <p:tav tm="0">
                                          <p:val>
                                            <p:strVal val="#ppt_w*2.5"/>
                                          </p:val>
                                        </p:tav>
                                        <p:tav tm="100000">
                                          <p:val>
                                            <p:strVal val="#ppt_w"/>
                                          </p:val>
                                        </p:tav>
                                      </p:tavLst>
                                    </p:anim>
                                    <p:anim calcmode="lin" valueType="num">
                                      <p:cBhvr>
                                        <p:cTn id="33" dur="500" fill="hold"/>
                                        <p:tgtEl>
                                          <p:spTgt spid="22"/>
                                        </p:tgtEl>
                                        <p:attrNameLst>
                                          <p:attrName>ppt_h</p:attrName>
                                        </p:attrNameLst>
                                      </p:cBhvr>
                                      <p:tavLst>
                                        <p:tav tm="0">
                                          <p:val>
                                            <p:strVal val="#ppt_h*0.01"/>
                                          </p:val>
                                        </p:tav>
                                        <p:tav tm="100000">
                                          <p:val>
                                            <p:strVal val="#ppt_h"/>
                                          </p:val>
                                        </p:tav>
                                      </p:tavLst>
                                    </p:anim>
                                    <p:anim calcmode="lin" valueType="num">
                                      <p:cBhvr>
                                        <p:cTn id="34" dur="500" fill="hold"/>
                                        <p:tgtEl>
                                          <p:spTgt spid="22"/>
                                        </p:tgtEl>
                                        <p:attrNameLst>
                                          <p:attrName>ppt_x</p:attrName>
                                        </p:attrNameLst>
                                      </p:cBhvr>
                                      <p:tavLst>
                                        <p:tav tm="0">
                                          <p:val>
                                            <p:strVal val="#ppt_x"/>
                                          </p:val>
                                        </p:tav>
                                        <p:tav tm="100000">
                                          <p:val>
                                            <p:strVal val="#ppt_x"/>
                                          </p:val>
                                        </p:tav>
                                      </p:tavLst>
                                    </p:anim>
                                    <p:anim calcmode="lin" valueType="num">
                                      <p:cBhvr>
                                        <p:cTn id="35" dur="500" fill="hold"/>
                                        <p:tgtEl>
                                          <p:spTgt spid="22"/>
                                        </p:tgtEl>
                                        <p:attrNameLst>
                                          <p:attrName>ppt_y</p:attrName>
                                        </p:attrNameLst>
                                      </p:cBhvr>
                                      <p:tavLst>
                                        <p:tav tm="0">
                                          <p:val>
                                            <p:strVal val="#ppt_h+1"/>
                                          </p:val>
                                        </p:tav>
                                        <p:tav tm="100000">
                                          <p:val>
                                            <p:strVal val="#ppt_y"/>
                                          </p:val>
                                        </p:tav>
                                      </p:tavLst>
                                    </p:anim>
                                    <p:animEffect transition="in" filter="fade">
                                      <p:cBhvr>
                                        <p:cTn id="36" dur="500"/>
                                        <p:tgtEl>
                                          <p:spTgt spid="22"/>
                                        </p:tgtEl>
                                      </p:cBhvr>
                                    </p:animEffect>
                                  </p:childTnLst>
                                </p:cTn>
                              </p:par>
                              <p:par>
                                <p:cTn id="37" presetID="10" presetClass="entr" presetSubtype="0" fill="hold" grpId="0" nodeType="withEffect">
                                  <p:stCondLst>
                                    <p:cond delay="1760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600"/>
                                        <p:tgtEl>
                                          <p:spTgt spid="24"/>
                                        </p:tgtEl>
                                      </p:cBhvr>
                                    </p:animEffect>
                                  </p:childTnLst>
                                </p:cTn>
                              </p:par>
                              <p:par>
                                <p:cTn id="40" presetID="58" presetClass="entr" presetSubtype="0" accel="100000" fill="hold" nodeType="withEffect">
                                  <p:stCondLst>
                                    <p:cond delay="18800"/>
                                  </p:stCondLst>
                                  <p:childTnLst>
                                    <p:set>
                                      <p:cBhvr>
                                        <p:cTn id="41" dur="1" fill="hold">
                                          <p:stCondLst>
                                            <p:cond delay="0"/>
                                          </p:stCondLst>
                                        </p:cTn>
                                        <p:tgtEl>
                                          <p:spTgt spid="28"/>
                                        </p:tgtEl>
                                        <p:attrNameLst>
                                          <p:attrName>style.visibility</p:attrName>
                                        </p:attrNameLst>
                                      </p:cBhvr>
                                      <p:to>
                                        <p:strVal val="visible"/>
                                      </p:to>
                                    </p:set>
                                    <p:anim calcmode="lin" valueType="num">
                                      <p:cBhvr>
                                        <p:cTn id="42" dur="500" fill="hold"/>
                                        <p:tgtEl>
                                          <p:spTgt spid="28"/>
                                        </p:tgtEl>
                                        <p:attrNameLst>
                                          <p:attrName>ppt_w</p:attrName>
                                        </p:attrNameLst>
                                      </p:cBhvr>
                                      <p:tavLst>
                                        <p:tav tm="0">
                                          <p:val>
                                            <p:strVal val="#ppt_w*2.5"/>
                                          </p:val>
                                        </p:tav>
                                        <p:tav tm="100000">
                                          <p:val>
                                            <p:strVal val="#ppt_w"/>
                                          </p:val>
                                        </p:tav>
                                      </p:tavLst>
                                    </p:anim>
                                    <p:anim calcmode="lin" valueType="num">
                                      <p:cBhvr>
                                        <p:cTn id="43" dur="500" fill="hold"/>
                                        <p:tgtEl>
                                          <p:spTgt spid="28"/>
                                        </p:tgtEl>
                                        <p:attrNameLst>
                                          <p:attrName>ppt_h</p:attrName>
                                        </p:attrNameLst>
                                      </p:cBhvr>
                                      <p:tavLst>
                                        <p:tav tm="0">
                                          <p:val>
                                            <p:strVal val="#ppt_h*0.01"/>
                                          </p:val>
                                        </p:tav>
                                        <p:tav tm="100000">
                                          <p:val>
                                            <p:strVal val="#ppt_h"/>
                                          </p:val>
                                        </p:tav>
                                      </p:tavLst>
                                    </p:anim>
                                    <p:anim calcmode="lin" valueType="num">
                                      <p:cBhvr>
                                        <p:cTn id="44" dur="500" fill="hold"/>
                                        <p:tgtEl>
                                          <p:spTgt spid="28"/>
                                        </p:tgtEl>
                                        <p:attrNameLst>
                                          <p:attrName>ppt_x</p:attrName>
                                        </p:attrNameLst>
                                      </p:cBhvr>
                                      <p:tavLst>
                                        <p:tav tm="0">
                                          <p:val>
                                            <p:strVal val="#ppt_x"/>
                                          </p:val>
                                        </p:tav>
                                        <p:tav tm="100000">
                                          <p:val>
                                            <p:strVal val="#ppt_x"/>
                                          </p:val>
                                        </p:tav>
                                      </p:tavLst>
                                    </p:anim>
                                    <p:anim calcmode="lin" valueType="num">
                                      <p:cBhvr>
                                        <p:cTn id="45" dur="500" fill="hold"/>
                                        <p:tgtEl>
                                          <p:spTgt spid="28"/>
                                        </p:tgtEl>
                                        <p:attrNameLst>
                                          <p:attrName>ppt_y</p:attrName>
                                        </p:attrNameLst>
                                      </p:cBhvr>
                                      <p:tavLst>
                                        <p:tav tm="0">
                                          <p:val>
                                            <p:strVal val="#ppt_h+1"/>
                                          </p:val>
                                        </p:tav>
                                        <p:tav tm="100000">
                                          <p:val>
                                            <p:strVal val="#ppt_y"/>
                                          </p:val>
                                        </p:tav>
                                      </p:tavLst>
                                    </p:anim>
                                    <p:animEffect transition="in" filter="fade">
                                      <p:cBhvr>
                                        <p:cTn id="46" dur="500"/>
                                        <p:tgtEl>
                                          <p:spTgt spid="28"/>
                                        </p:tgtEl>
                                      </p:cBhvr>
                                    </p:animEffect>
                                  </p:childTnLst>
                                </p:cTn>
                              </p:par>
                              <p:par>
                                <p:cTn id="47" presetID="58" presetClass="entr" presetSubtype="0" accel="100000" fill="hold" nodeType="withEffect">
                                  <p:stCondLst>
                                    <p:cond delay="19600"/>
                                  </p:stCondLst>
                                  <p:childTnLst>
                                    <p:set>
                                      <p:cBhvr>
                                        <p:cTn id="48" dur="1" fill="hold">
                                          <p:stCondLst>
                                            <p:cond delay="0"/>
                                          </p:stCondLst>
                                        </p:cTn>
                                        <p:tgtEl>
                                          <p:spTgt spid="32"/>
                                        </p:tgtEl>
                                        <p:attrNameLst>
                                          <p:attrName>style.visibility</p:attrName>
                                        </p:attrNameLst>
                                      </p:cBhvr>
                                      <p:to>
                                        <p:strVal val="visible"/>
                                      </p:to>
                                    </p:set>
                                    <p:anim calcmode="lin" valueType="num">
                                      <p:cBhvr>
                                        <p:cTn id="49" dur="500" fill="hold"/>
                                        <p:tgtEl>
                                          <p:spTgt spid="32"/>
                                        </p:tgtEl>
                                        <p:attrNameLst>
                                          <p:attrName>ppt_w</p:attrName>
                                        </p:attrNameLst>
                                      </p:cBhvr>
                                      <p:tavLst>
                                        <p:tav tm="0">
                                          <p:val>
                                            <p:strVal val="#ppt_w*2.5"/>
                                          </p:val>
                                        </p:tav>
                                        <p:tav tm="100000">
                                          <p:val>
                                            <p:strVal val="#ppt_w"/>
                                          </p:val>
                                        </p:tav>
                                      </p:tavLst>
                                    </p:anim>
                                    <p:anim calcmode="lin" valueType="num">
                                      <p:cBhvr>
                                        <p:cTn id="50" dur="500" fill="hold"/>
                                        <p:tgtEl>
                                          <p:spTgt spid="32"/>
                                        </p:tgtEl>
                                        <p:attrNameLst>
                                          <p:attrName>ppt_h</p:attrName>
                                        </p:attrNameLst>
                                      </p:cBhvr>
                                      <p:tavLst>
                                        <p:tav tm="0">
                                          <p:val>
                                            <p:strVal val="#ppt_h*0.01"/>
                                          </p:val>
                                        </p:tav>
                                        <p:tav tm="100000">
                                          <p:val>
                                            <p:strVal val="#ppt_h"/>
                                          </p:val>
                                        </p:tav>
                                      </p:tavLst>
                                    </p:anim>
                                    <p:anim calcmode="lin" valueType="num">
                                      <p:cBhvr>
                                        <p:cTn id="51" dur="500" fill="hold"/>
                                        <p:tgtEl>
                                          <p:spTgt spid="32"/>
                                        </p:tgtEl>
                                        <p:attrNameLst>
                                          <p:attrName>ppt_x</p:attrName>
                                        </p:attrNameLst>
                                      </p:cBhvr>
                                      <p:tavLst>
                                        <p:tav tm="0">
                                          <p:val>
                                            <p:strVal val="#ppt_x"/>
                                          </p:val>
                                        </p:tav>
                                        <p:tav tm="100000">
                                          <p:val>
                                            <p:strVal val="#ppt_x"/>
                                          </p:val>
                                        </p:tav>
                                      </p:tavLst>
                                    </p:anim>
                                    <p:anim calcmode="lin" valueType="num">
                                      <p:cBhvr>
                                        <p:cTn id="52" dur="500" fill="hold"/>
                                        <p:tgtEl>
                                          <p:spTgt spid="32"/>
                                        </p:tgtEl>
                                        <p:attrNameLst>
                                          <p:attrName>ppt_y</p:attrName>
                                        </p:attrNameLst>
                                      </p:cBhvr>
                                      <p:tavLst>
                                        <p:tav tm="0">
                                          <p:val>
                                            <p:strVal val="#ppt_h+1"/>
                                          </p:val>
                                        </p:tav>
                                        <p:tav tm="100000">
                                          <p:val>
                                            <p:strVal val="#ppt_y"/>
                                          </p:val>
                                        </p:tav>
                                      </p:tavLst>
                                    </p:anim>
                                    <p:animEffect transition="in" filter="fade">
                                      <p:cBhvr>
                                        <p:cTn id="53" dur="500"/>
                                        <p:tgtEl>
                                          <p:spTgt spid="32"/>
                                        </p:tgtEl>
                                      </p:cBhvr>
                                    </p:animEffect>
                                  </p:childTnLst>
                                </p:cTn>
                              </p:par>
                              <p:par>
                                <p:cTn id="54" presetID="58" presetClass="entr" presetSubtype="0" accel="100000" fill="hold" nodeType="withEffect">
                                  <p:stCondLst>
                                    <p:cond delay="20400"/>
                                  </p:stCondLst>
                                  <p:childTnLst>
                                    <p:set>
                                      <p:cBhvr>
                                        <p:cTn id="55" dur="1" fill="hold">
                                          <p:stCondLst>
                                            <p:cond delay="0"/>
                                          </p:stCondLst>
                                        </p:cTn>
                                        <p:tgtEl>
                                          <p:spTgt spid="36"/>
                                        </p:tgtEl>
                                        <p:attrNameLst>
                                          <p:attrName>style.visibility</p:attrName>
                                        </p:attrNameLst>
                                      </p:cBhvr>
                                      <p:to>
                                        <p:strVal val="visible"/>
                                      </p:to>
                                    </p:set>
                                    <p:anim calcmode="lin" valueType="num">
                                      <p:cBhvr>
                                        <p:cTn id="56" dur="500" fill="hold"/>
                                        <p:tgtEl>
                                          <p:spTgt spid="36"/>
                                        </p:tgtEl>
                                        <p:attrNameLst>
                                          <p:attrName>ppt_w</p:attrName>
                                        </p:attrNameLst>
                                      </p:cBhvr>
                                      <p:tavLst>
                                        <p:tav tm="0">
                                          <p:val>
                                            <p:strVal val="#ppt_w*2.5"/>
                                          </p:val>
                                        </p:tav>
                                        <p:tav tm="100000">
                                          <p:val>
                                            <p:strVal val="#ppt_w"/>
                                          </p:val>
                                        </p:tav>
                                      </p:tavLst>
                                    </p:anim>
                                    <p:anim calcmode="lin" valueType="num">
                                      <p:cBhvr>
                                        <p:cTn id="57" dur="500" fill="hold"/>
                                        <p:tgtEl>
                                          <p:spTgt spid="36"/>
                                        </p:tgtEl>
                                        <p:attrNameLst>
                                          <p:attrName>ppt_h</p:attrName>
                                        </p:attrNameLst>
                                      </p:cBhvr>
                                      <p:tavLst>
                                        <p:tav tm="0">
                                          <p:val>
                                            <p:strVal val="#ppt_h*0.01"/>
                                          </p:val>
                                        </p:tav>
                                        <p:tav tm="100000">
                                          <p:val>
                                            <p:strVal val="#ppt_h"/>
                                          </p:val>
                                        </p:tav>
                                      </p:tavLst>
                                    </p:anim>
                                    <p:anim calcmode="lin" valueType="num">
                                      <p:cBhvr>
                                        <p:cTn id="58" dur="500" fill="hold"/>
                                        <p:tgtEl>
                                          <p:spTgt spid="36"/>
                                        </p:tgtEl>
                                        <p:attrNameLst>
                                          <p:attrName>ppt_x</p:attrName>
                                        </p:attrNameLst>
                                      </p:cBhvr>
                                      <p:tavLst>
                                        <p:tav tm="0">
                                          <p:val>
                                            <p:strVal val="#ppt_x"/>
                                          </p:val>
                                        </p:tav>
                                        <p:tav tm="100000">
                                          <p:val>
                                            <p:strVal val="#ppt_x"/>
                                          </p:val>
                                        </p:tav>
                                      </p:tavLst>
                                    </p:anim>
                                    <p:anim calcmode="lin" valueType="num">
                                      <p:cBhvr>
                                        <p:cTn id="59" dur="500" fill="hold"/>
                                        <p:tgtEl>
                                          <p:spTgt spid="36"/>
                                        </p:tgtEl>
                                        <p:attrNameLst>
                                          <p:attrName>ppt_y</p:attrName>
                                        </p:attrNameLst>
                                      </p:cBhvr>
                                      <p:tavLst>
                                        <p:tav tm="0">
                                          <p:val>
                                            <p:strVal val="#ppt_h+1"/>
                                          </p:val>
                                        </p:tav>
                                        <p:tav tm="100000">
                                          <p:val>
                                            <p:strVal val="#ppt_y"/>
                                          </p:val>
                                        </p:tav>
                                      </p:tavLst>
                                    </p:anim>
                                    <p:animEffect transition="in" filter="fade">
                                      <p:cBhvr>
                                        <p:cTn id="60"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animBg="1"/>
      <p:bldP spid="23" grpId="0" animBg="1"/>
      <p:bldP spid="2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Recap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RECAP</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I buy or build an ODA Canvas?</a:t>
            </a:r>
          </a:p>
        </p:txBody>
      </p:sp>
      <p:grpSp>
        <p:nvGrpSpPr>
          <p:cNvPr id="9" name="Point 1"/>
          <p:cNvGrpSpPr/>
          <p:nvPr/>
        </p:nvGrpSpPr>
        <p:grpSpPr>
          <a:xfrm>
            <a:off x="762000" y="1905000"/>
            <a:ext cx="10668000" cy="1016000"/>
            <a:chOff x="762000" y="1905000"/>
            <a:chExt cx="10668000" cy="1016000"/>
          </a:xfrm>
        </p:grpSpPr>
        <p:sp>
          <p:nvSpPr>
            <p:cNvPr id="6" name="Shape 4"/>
            <p:cNvSpPr/>
            <p:nvPr/>
          </p:nvSpPr>
          <p:spPr>
            <a:xfrm>
              <a:off x="762000" y="1905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layers-1fc7a8.png"/>
            <p:cNvPicPr>
              <a:picLocks noChangeAspect="1"/>
            </p:cNvPicPr>
            <p:nvPr/>
          </p:nvPicPr>
          <p:blipFill>
            <a:blip r:embed="rId4"/>
            <a:stretch>
              <a:fillRect/>
            </a:stretch>
          </p:blipFill>
          <p:spPr>
            <a:xfrm>
              <a:off x="1016000" y="2159000"/>
              <a:ext cx="508000" cy="508000"/>
            </a:xfrm>
            <a:prstGeom prst="rect">
              <a:avLst/>
            </a:prstGeom>
          </p:spPr>
        </p:pic>
        <p:sp>
          <p:nvSpPr>
            <p:cNvPr id="8" name="Shape 6"/>
            <p:cNvSpPr txBox="1"/>
            <p:nvPr/>
          </p:nvSpPr>
          <p:spPr>
            <a:xfrm>
              <a:off x="1778000" y="1905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Buy, build, or mix and match</a:t>
              </a:r>
            </a:p>
          </p:txBody>
        </p:sp>
      </p:grpSp>
      <p:grpSp>
        <p:nvGrpSpPr>
          <p:cNvPr id="13" name="Point 2"/>
          <p:cNvGrpSpPr/>
          <p:nvPr/>
        </p:nvGrpSpPr>
        <p:grpSpPr>
          <a:xfrm>
            <a:off x="762000" y="3111500"/>
            <a:ext cx="10668000" cy="1016000"/>
            <a:chOff x="762000" y="3111500"/>
            <a:chExt cx="10668000" cy="1016000"/>
          </a:xfrm>
        </p:grpSpPr>
        <p:sp>
          <p:nvSpPr>
            <p:cNvPr id="10" name="Shape 8"/>
            <p:cNvSpPr/>
            <p:nvPr/>
          </p:nvSpPr>
          <p:spPr>
            <a:xfrm>
              <a:off x="762000" y="31115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gear-1fc7a8.png"/>
            <p:cNvPicPr>
              <a:picLocks noChangeAspect="1"/>
            </p:cNvPicPr>
            <p:nvPr/>
          </p:nvPicPr>
          <p:blipFill>
            <a:blip r:embed="rId5"/>
            <a:stretch>
              <a:fillRect/>
            </a:stretch>
          </p:blipFill>
          <p:spPr>
            <a:xfrm>
              <a:off x="1016000" y="3365500"/>
              <a:ext cx="508000" cy="508000"/>
            </a:xfrm>
            <a:prstGeom prst="rect">
              <a:avLst/>
            </a:prstGeom>
          </p:spPr>
        </p:pic>
        <p:sp>
          <p:nvSpPr>
            <p:cNvPr id="12" name="Shape 10"/>
            <p:cNvSpPr txBox="1"/>
            <p:nvPr/>
          </p:nvSpPr>
          <p:spPr>
            <a:xfrm>
              <a:off x="1778000" y="31115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Operators are the modules, chosen by configuration</a:t>
              </a:r>
            </a:p>
          </p:txBody>
        </p:sp>
      </p:grpSp>
      <p:grpSp>
        <p:nvGrpSpPr>
          <p:cNvPr id="17" name="Point 3"/>
          <p:cNvGrpSpPr/>
          <p:nvPr/>
        </p:nvGrpSpPr>
        <p:grpSpPr>
          <a:xfrm>
            <a:off x="762000" y="4318000"/>
            <a:ext cx="10668000" cy="1016000"/>
            <a:chOff x="762000" y="4318000"/>
            <a:chExt cx="10668000" cy="1016000"/>
          </a:xfrm>
        </p:grpSpPr>
        <p:sp>
          <p:nvSpPr>
            <p:cNvPr id="14" name="Shape 12"/>
            <p:cNvSpPr/>
            <p:nvPr/>
          </p:nvSpPr>
          <p:spPr>
            <a:xfrm>
              <a:off x="762000" y="4318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check-22c55e.png"/>
            <p:cNvPicPr>
              <a:picLocks noChangeAspect="1"/>
            </p:cNvPicPr>
            <p:nvPr/>
          </p:nvPicPr>
          <p:blipFill>
            <a:blip r:embed="rId6"/>
            <a:stretch>
              <a:fillRect/>
            </a:stretch>
          </p:blipFill>
          <p:spPr>
            <a:xfrm>
              <a:off x="1016000" y="4572000"/>
              <a:ext cx="508000" cy="508000"/>
            </a:xfrm>
            <a:prstGeom prst="rect">
              <a:avLst/>
            </a:prstGeom>
          </p:spPr>
        </p:pic>
        <p:sp>
          <p:nvSpPr>
            <p:cNvPr id="16" name="Shape 14"/>
            <p:cNvSpPr txBox="1"/>
            <p:nvPr/>
          </p:nvSpPr>
          <p:spPr>
            <a:xfrm>
              <a:off x="1778000" y="4318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The test kit checks any Canvas</a:t>
              </a:r>
            </a:p>
          </p:txBody>
        </p:sp>
      </p:grpSp>
    </p:spTree>
  </p:cSld>
  <p:clrMapOvr>
    <a:masterClrMapping/>
  </p:clrMapOvr>
  <mc:AlternateContent xmlns:mc="http://schemas.openxmlformats.org/markup-compatibility/2006">
    <mc:Choice xmlns:p14="http://schemas.microsoft.com/office/powerpoint/2010/main" Requires="p14">
      <p:transition spd="slow" p14:dur="2000" advTm="15900"/>
    </mc:Choice>
    <mc:Fallback>
      <p:transition spd="slow" advTm="1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8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52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92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Docs, components and code</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E6007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Open Digital Architecture</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a:t>
              </a:r>
            </a:p>
          </p:txBody>
        </p:sp>
      </p:grpSp>
      <p:grpSp>
        <p:nvGrpSpPr>
          <p:cNvPr id="13" name="Link 2"/>
          <p:cNvGrpSpPr/>
          <p:nvPr/>
        </p:nvGrpSpPr>
        <p:grpSpPr>
          <a:xfrm>
            <a:off x="762000" y="2667000"/>
            <a:ext cx="10668000" cy="800100"/>
            <a:chOff x="762000" y="2667000"/>
            <a:chExt cx="10668000" cy="800100"/>
          </a:xfrm>
        </p:grpSpPr>
        <p:sp>
          <p:nvSpPr>
            <p:cNvPr id="10" name="Shape 8">
              <a:hlinkClick r:id="rId5"/>
            </p:cNvPr>
            <p:cNvSpPr/>
            <p:nvPr/>
          </p:nvSpPr>
          <p:spPr>
            <a:xfrm>
              <a:off x="762000" y="2667000"/>
              <a:ext cx="10668000" cy="800100"/>
            </a:xfrm>
            <a:prstGeom prst="roundRect">
              <a:avLst>
                <a:gd name="adj" fmla="val 17460"/>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a:hlinkClick r:id="rId5"/>
            </p:cNvPr>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Component Directory</a:t>
              </a:r>
            </a:p>
          </p:txBody>
        </p:sp>
        <p:sp>
          <p:nvSpPr>
            <p:cNvPr id="12" name="Shape 10">
              <a:hlinkClick r:id="rId5"/>
            </p:cNvPr>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tmforum.org/oda/directory</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6"/>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6"/>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Canvas reference implementation</a:t>
              </a:r>
            </a:p>
          </p:txBody>
        </p:sp>
        <p:sp>
          <p:nvSpPr>
            <p:cNvPr id="16" name="Shape 14">
              <a:hlinkClick r:id="rId6"/>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Canvas-design.md · source/operators</a:t>
              </a:r>
            </a:p>
          </p:txBody>
        </p:sp>
      </p:grpSp>
    </p:spTree>
  </p:cSld>
  <p:clrMapOvr>
    <a:masterClrMapping/>
  </p:clrMapOvr>
  <mc:AlternateContent xmlns:mc="http://schemas.openxmlformats.org/markup-compatibility/2006">
    <mc:Choice xmlns:p14="http://schemas.microsoft.com/office/powerpoint/2010/main" Requires="p14">
      <p:transition spd="slow" p14:dur="2000" advTm="15500"/>
    </mc:Choice>
    <mc:Fallback>
      <p:transition spd="slow" advTm="1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60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80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1867</Words>
  <Application>Microsoft Office PowerPoint</Application>
  <PresentationFormat>Widescreen</PresentationFormat>
  <Paragraphs>137</Paragraphs>
  <Slides>19</Slides>
  <Notes>19</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vt:lpstr>
      <vt:lpstr>Office Theme</vt:lpstr>
      <vt:lpstr>How do I buy or build an ODA Canvas? (presenter introduction)</vt:lpstr>
      <vt:lpstr>The standard is the component</vt:lpstr>
      <vt:lpstr>Three ways to get a Canvas</vt:lpstr>
      <vt:lpstr>Mix and match</vt:lpstr>
      <vt:lpstr>How you know it's a Canvas</vt:lpstr>
      <vt:lpstr>Live, the test kit in the Canvas Portal</vt:lpstr>
      <vt:lpstr>Operators are the modules</vt:lpstr>
      <vt:lpstr>The operator catalogue</vt:lpstr>
      <vt:lpstr>Live, the operators in this Canvas</vt:lpstr>
      <vt:lpstr>Live, choosing the modules</vt:lpstr>
      <vt:lpstr>Example 1, API management</vt:lpstr>
      <vt:lpstr>Example 2, observability</vt:lpstr>
      <vt:lpstr>Example 3, identity</vt:lpstr>
      <vt:lpstr>Example 4, secrets</vt:lpstr>
      <vt:lpstr>Example 5, carbon-aware scaling</vt:lpstr>
      <vt:lpstr>Build your own operator</vt:lpstr>
      <vt:lpstr>What's next</vt:lpstr>
      <vt:lpstr>Recap</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do I buy or build an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2026-10-19T11:35:46Z</dcterms:modified>
  <cp:category/>
</cp:coreProperties>
</file>