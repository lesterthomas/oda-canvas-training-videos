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0824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question we're asked a lot is how do I buy or build an ODA Canvas?</a:t>
            </a:r>
          </a:p>
          <a:p>
            <a:endParaRPr/>
          </a:p>
          <a:p>
            <a:r>
              <a:t>With a traditional application, you buy the software and its platform together. Each vendor brings its own gateway, identity and monitoring. The ODA Canvas separates those. Components declare what they need, and the Canvas provides it, using the platform services you choose.</a:t>
            </a:r>
          </a:p>
          <a:p>
            <a:endParaRPr/>
          </a:p>
          <a:p>
            <a:r>
              <a:t>So the Canvas isn't one product. It's a modular platform, built from Canvas operators. In this video we'll look at the three ways to get a Canvas. We'll see how to check that it really is one. Then we'll look at the types of operator, with examples, and at the Canvas running on a real cluster. Finally, we'll see what's coming next.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is no separate standard for the Canvas itself. The standard is the ODA Component specification. A Canvas is any platform that reads a component's specification and meets its requirements. It exposes the component's APIs, registers its roles, and monitors it. A component can also declare the AI models it needs, through the Model-as-a-Service operator. It can ask for data products through the Data operator. It can even manage its cost and carbon footprint, through the cost and carbon operators. This list isn't exhaustive. Any common platform service can be offered through the same pattern. The reference implementation does this on Kubernetes.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three ways to get a Canvas. First, a managed Canvas from a public cloud provider. At DTW Copenhagen, AWS, Microsoft Azure, China Mobile, Google Cloud and Oracle Cloud showed proofs of concept. They build on the reference implementation and the provider's own services.</a:t>
            </a:r>
          </a:p>
          <a:p>
            <a:endParaRPr/>
          </a:p>
          <a:p>
            <a:r>
              <a:t>Second, roll your own. The reference implementation is open source, under the Apache two dot O licence, and designed to be extended.</a:t>
            </a:r>
          </a:p>
          <a:p>
            <a:endParaRPr/>
          </a:p>
          <a:p>
            <a:r>
              <a:t>Third, use operators from software vendors and open-source projects, such as Istio and Kong.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aren't either-or choices. The Canvas is modular, so you can mix and match. You might take a cloud provider's API management, the reference identity operator, and your own operator for an in-house system. A typical production Canvas combines standard operators with custom ones that apply the organisation's own policies.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Whichever route you take, there's an objective way to check the result. The behaviour every Canvas must show is written down in two places. The use-case library describes it at a high level. Behaviour-driven development features describe it in detail, as scenarios. The test kit turns those scenarios into executable tests that can validate any Canvas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test kit in the Canvas Portal. The catalogue loads the feature files straight from the GitHub repository. Each one is named after the use case it tests, such as installing components, exposing APIs, or configuring roles. You can pick features and run them against this Canvas. Every change to the reference implementation is checked this way too.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modules of a Canvas are called Canvas operators. They follow the Kubernetes operator pattern, software that holds the operational knowledge for one job. The Component Management operator splits each component into parts, such as exposed APIs, dependent APIs and identity. A separate operator handles each part. So you can swap one technology for another without changing the component.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operator types today. Seven are available now. They cover components, APIs, identity, credentials, dependencies, secrets and disruption budgets. A prototype operator handles authentication between components. Three operators are experimental. One provides model as a service. One manages data products. And one scales workloads to cut carbon. Event management, cost control and database services are planned. The list isn't fixed. New types will be added as the Canvas matures.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operators in a running Canvas, in the Canvas Portal. Each one shows its catalogue number, its image and its pods. This Canvas uses the Kong API operator, the Keycloak identity operator, and the Vault secrets operator. The same list is visible from the command line, as ordinary Kubernetes deployments.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Choosing the modules is configuration, not code. When this Canvas was installed, the Istio API operator was switched off and Kong switched on. Only one API operator runs at a time. Later, the simple dependency operator was replaced with one that waits for an access grant in Keycloak. The components didn't change at all.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API management. Every component declares the APIs it exposes, with policies such as rate limits or API-key checks. A Canvas can use any API gateway or service mesh, and an API operator configures it. There are operators for Istio, Kong and Apache APISIX. There are also operators for Azure API Management, Google Apigee and Whale Cloud. Any other gateway can be added with its own operator.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observability. A component doesn't bring its own monitoring tools. It publishes metrics and traces using the OpenMetrics and OpenTelemetry standards. When the API operator exposes the metrics endpoint, it also sets up how it is collected. That could be a Prometheus operator, a managed Prometheus service, or Datadog. The reference implementation includes a ready-made stack, and any other observability platform can be used.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identity. Most applications today bring their own identity management. Each one has to be integrated with the company's central system. In the ODA model, a component holds only its roles and permissions, and declares them. Identity config operators register them in Keycloak, Microsoft Entra ID, or another identity platform. Companion operators manage each component's credentials and connect its dependencies once access is granted.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Fourth, secrets. A component declares that it needs a secrets store, and the secrets management operator provides one. The reference implementation uses HashiCorp Vault, and another secrets platform can be used. The component signs in with its own Kubernetes identity, so no bootstrap passwords are needed.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Carbon management was only a plan in the original version of this video. Now there is an experimental operator. A component marks some workloads as carbon-aware. The operator reads real-time grid carbon intensity, and limits how far those workloads scale when electricity is carbon-intensive. There's a dedicated video on this.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can also build your own operators. They can be written in any language that follows the Kubernetes operator pattern. The reference operators use Python with the KOPF framework, and Go. To work with the rest of the Canvas, an operator uses the same standard custom resources. The repository includes an AI coding-assistant skill for creating operators, and the test kit to check them.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biggest area of new work is the AI-Native Canvas. Components will declare which AI models they need. The experimental Model-as-a-Service operator grants governed access through a model gateway. The gateway applies guardrails and records usage. The AI-Native Canvas has its own video. Operators for events, cost control and database services are also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recap. You can buy a Canvas, build one, or mix and match. Operators are the modules, and you choose them through configuration. Whatever you choose, the test kit checks that it behaves like a Canvas.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find out more, see the Open Digital Architecture pages on the TM Forum website. Browse the ODA Component Directory. And explore the reference implementation on GitHub, at TM Forum dash ODA slash ODA Canvas.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hyperlink" Target="https://github.com/tmforum-oda/oda-canvas"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1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1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2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0.mp4"/><Relationship Id="rId1" Type="http://schemas.microsoft.com/office/2007/relationships/media" Target="../media/media10.mp4"/><Relationship Id="rId5" Type="http://schemas.openxmlformats.org/officeDocument/2006/relationships/image" Target="../media/image2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1.mp4"/><Relationship Id="rId1" Type="http://schemas.microsoft.com/office/2007/relationships/media" Target="../media/media11.mp4"/><Relationship Id="rId5" Type="http://schemas.openxmlformats.org/officeDocument/2006/relationships/image" Target="../media/image2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github.com/tmforum-oda/oda-canvas" TargetMode="External"/><Relationship Id="rId5" Type="http://schemas.openxmlformats.org/officeDocument/2006/relationships/hyperlink" Target="https://www.tmforum.org/oda/directory" TargetMode="External"/><Relationship Id="rId4" Type="http://schemas.openxmlformats.org/officeDocument/2006/relationships/hyperlink" Target="https://www.tmforum.org/od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How do I buy or build an ODA Canvas? (presenter introduction)</a:t>
            </a:r>
          </a:p>
        </p:txBody>
      </p:sp>
      <p:pic>
        <p:nvPicPr>
          <p:cNvPr id="4" name="Canvas" descr="canvas-dark.png"/>
          <p:cNvPicPr>
            <a:picLocks noChangeAspect="1"/>
          </p:cNvPicPr>
          <p:nvPr/>
        </p:nvPicPr>
        <p:blipFill>
          <a:blip r:embed="rId4"/>
          <a:stretch>
            <a:fillRect/>
          </a:stretch>
        </p:blipFill>
        <p:spPr>
          <a:xfrm>
            <a:off x="6350000" y="3556000"/>
            <a:ext cx="5207000" cy="1923336"/>
          </a:xfrm>
          <a:prstGeom prst="rect">
            <a:avLst/>
          </a:prstGeom>
        </p:spPr>
      </p:pic>
      <p:pic>
        <p:nvPicPr>
          <p:cNvPr id="5" name="Component" descr="oda.png"/>
          <p:cNvPicPr>
            <a:picLocks noChangeAspect="1"/>
          </p:cNvPicPr>
          <p:nvPr/>
        </p:nvPicPr>
        <p:blipFill>
          <a:blip r:embed="rId5"/>
          <a:stretch>
            <a:fillRect/>
          </a:stretch>
        </p:blipFill>
        <p:spPr>
          <a:xfrm>
            <a:off x="8032750" y="1492250"/>
            <a:ext cx="1841500" cy="1739194"/>
          </a:xfrm>
          <a:prstGeom prst="rect">
            <a:avLst/>
          </a:prstGeom>
        </p:spPr>
      </p:pic>
      <p:pic>
        <p:nvPicPr>
          <p:cNvPr id="6" name="Gear" descr="icon-gear-1fc7a8.png"/>
          <p:cNvPicPr>
            <a:picLocks noChangeAspect="1"/>
          </p:cNvPicPr>
          <p:nvPr/>
        </p:nvPicPr>
        <p:blipFill>
          <a:blip r:embed="rId6"/>
          <a:stretch>
            <a:fillRect/>
          </a:stretch>
        </p:blipFill>
        <p:spPr>
          <a:xfrm>
            <a:off x="10160000" y="1587500"/>
            <a:ext cx="825500" cy="825500"/>
          </a:xfrm>
          <a:prstGeom prst="rect">
            <a:avLst/>
          </a:prstGeom>
        </p:spPr>
      </p:pic>
      <p:sp>
        <p:nvSpPr>
          <p:cNvPr id="7" name="Intro"/>
          <p:cNvSpPr txBox="1"/>
          <p:nvPr/>
        </p:nvSpPr>
        <p:spPr>
          <a:xfrm>
            <a:off x="762000" y="1905000"/>
            <a:ext cx="5715000" cy="381000"/>
          </a:xfrm>
          <a:prstGeom prst="rect">
            <a:avLst/>
          </a:prstGeom>
          <a:noFill/>
        </p:spPr>
        <p:txBody>
          <a:bodyPr wrap="square" lIns="0" tIns="0" rIns="0" bIns="0" anchor="t">
            <a:spAutoFit/>
          </a:bodyPr>
          <a:lstStyle/>
          <a:p>
            <a:pPr algn="l">
              <a:lnSpc>
                <a:spcPct val="115000"/>
              </a:lnSpc>
            </a:pPr>
            <a:r>
              <a:rPr sz="2000" b="1">
                <a:solidFill>
                  <a:srgbClr val="8F9BB8"/>
                </a:solidFill>
                <a:latin typeface="Segoe UI"/>
              </a:rPr>
              <a:t>Training series · Part 2</a:t>
            </a:r>
          </a:p>
        </p:txBody>
      </p:sp>
      <p:sp>
        <p:nvSpPr>
          <p:cNvPr id="8" name="Name"/>
          <p:cNvSpPr txBox="1"/>
          <p:nvPr/>
        </p:nvSpPr>
        <p:spPr>
          <a:xfrm>
            <a:off x="762000" y="2286000"/>
            <a:ext cx="6350000" cy="1651000"/>
          </a:xfrm>
          <a:prstGeom prst="rect">
            <a:avLst/>
          </a:prstGeom>
          <a:noFill/>
        </p:spPr>
        <p:txBody>
          <a:bodyPr wrap="square" lIns="0" tIns="0" rIns="0" bIns="0" anchor="t">
            <a:spAutoFit/>
          </a:bodyPr>
          <a:lstStyle/>
          <a:p>
            <a:pPr algn="l">
              <a:lnSpc>
                <a:spcPct val="100000"/>
              </a:lnSpc>
            </a:pPr>
            <a:r>
              <a:rPr sz="3900" b="1">
                <a:solidFill>
                  <a:srgbClr val="F2F5FB"/>
                </a:solidFill>
                <a:latin typeface="Segoe UI"/>
              </a:rPr>
              <a:t>How do I </a:t>
            </a:r>
            <a:r>
              <a:rPr sz="3900" b="1">
                <a:solidFill>
                  <a:srgbClr val="2F6FED"/>
                </a:solidFill>
                <a:latin typeface="Segoe UI"/>
              </a:rPr>
              <a:t>buy</a:t>
            </a:r>
            <a:r>
              <a:rPr sz="3900" b="1">
                <a:solidFill>
                  <a:srgbClr val="F2F5FB"/>
                </a:solidFill>
                <a:latin typeface="Segoe UI"/>
              </a:rPr>
              <a:t> or </a:t>
            </a:r>
            <a:r>
              <a:rPr sz="3900" b="1">
                <a:solidFill>
                  <a:srgbClr val="1FC7A8"/>
                </a:solidFill>
                <a:latin typeface="Segoe UI"/>
              </a:rPr>
              <a:t>build</a:t>
            </a:r>
          </a:p>
          <a:p>
            <a:pPr algn="l">
              <a:lnSpc>
                <a:spcPct val="100000"/>
              </a:lnSpc>
            </a:pPr>
            <a:r>
              <a:rPr sz="3900" b="1">
                <a:solidFill>
                  <a:srgbClr val="F2F5FB"/>
                </a:solidFill>
                <a:latin typeface="Segoe UI"/>
              </a:rPr>
              <a:t>an ODA Canvas?</a:t>
            </a:r>
          </a:p>
        </p:txBody>
      </p:sp>
      <p:sp>
        <p:nvSpPr>
          <p:cNvPr id="9" name="Live"/>
          <p:cNvSpPr/>
          <p:nvPr/>
        </p:nvSpPr>
        <p:spPr>
          <a:xfrm>
            <a:off x="787400" y="3810000"/>
            <a:ext cx="4064000" cy="285750"/>
          </a:xfrm>
          <a:prstGeom prst="roundRect">
            <a:avLst>
              <a:gd name="adj" fmla="val 50000"/>
            </a:avLst>
          </a:prstGeom>
          <a:solidFill>
            <a:srgbClr val="1FC7A8">
              <a:alpha val="15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With the Canvas running on a real cluster</a:t>
            </a:r>
          </a:p>
        </p:txBody>
      </p:sp>
    </p:spTree>
  </p:cSld>
  <p:clrMapOvr>
    <a:masterClrMapping/>
  </p:clrMapOvr>
  <mc:AlternateContent xmlns:mc="http://schemas.openxmlformats.org/markup-compatibility/2006">
    <mc:Choice xmlns:p14="http://schemas.microsoft.com/office/powerpoint/2010/main" Requires="p14">
      <p:transition spd="slow" p14:dur="2000" advTm="49500"/>
    </mc:Choice>
    <mc:Fallback>
      <p:transition spd="slow" advTm="4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800"/>
                                        <p:tgtEl>
                                          <p:spTgt spid="8"/>
                                        </p:tgtEl>
                                      </p:cBhvr>
                                    </p:animEffect>
                                  </p:childTnLst>
                                </p:cTn>
                              </p:par>
                              <p:par>
                                <p:cTn id="11" presetID="10" presetClass="entr" presetSubtype="0" fill="hold" nodeType="withEffect">
                                  <p:stCondLst>
                                    <p:cond delay="9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childTnLst>
                                </p:cTn>
                              </p:par>
                              <p:par>
                                <p:cTn id="14" presetID="58" presetClass="entr" presetSubtype="0" accel="100000" fill="hold" nodeType="withEffect">
                                  <p:stCondLst>
                                    <p:cond delay="1600"/>
                                  </p:stCondLst>
                                  <p:childTnLst>
                                    <p:set>
                                      <p:cBhvr>
                                        <p:cTn id="15" dur="1" fill="hold">
                                          <p:stCondLst>
                                            <p:cond delay="0"/>
                                          </p:stCondLst>
                                        </p:cTn>
                                        <p:tgtEl>
                                          <p:spTgt spid="5"/>
                                        </p:tgtEl>
                                        <p:attrNameLst>
                                          <p:attrName>style.visibility</p:attrName>
                                        </p:attrNameLst>
                                      </p:cBhvr>
                                      <p:to>
                                        <p:strVal val="visible"/>
                                      </p:to>
                                    </p:set>
                                    <p:anim calcmode="lin" valueType="num">
                                      <p:cBhvr>
                                        <p:cTn id="16" dur="800" fill="hold"/>
                                        <p:tgtEl>
                                          <p:spTgt spid="5"/>
                                        </p:tgtEl>
                                        <p:attrNameLst>
                                          <p:attrName>ppt_w</p:attrName>
                                        </p:attrNameLst>
                                      </p:cBhvr>
                                      <p:tavLst>
                                        <p:tav tm="0">
                                          <p:val>
                                            <p:strVal val="#ppt_w*2.5"/>
                                          </p:val>
                                        </p:tav>
                                        <p:tav tm="100000">
                                          <p:val>
                                            <p:strVal val="#ppt_w"/>
                                          </p:val>
                                        </p:tav>
                                      </p:tavLst>
                                    </p:anim>
                                    <p:anim calcmode="lin" valueType="num">
                                      <p:cBhvr>
                                        <p:cTn id="17" dur="800" fill="hold"/>
                                        <p:tgtEl>
                                          <p:spTgt spid="5"/>
                                        </p:tgtEl>
                                        <p:attrNameLst>
                                          <p:attrName>ppt_h</p:attrName>
                                        </p:attrNameLst>
                                      </p:cBhvr>
                                      <p:tavLst>
                                        <p:tav tm="0">
                                          <p:val>
                                            <p:strVal val="#ppt_h*0.01"/>
                                          </p:val>
                                        </p:tav>
                                        <p:tav tm="100000">
                                          <p:val>
                                            <p:strVal val="#ppt_h"/>
                                          </p:val>
                                        </p:tav>
                                      </p:tavLst>
                                    </p:anim>
                                    <p:anim calcmode="lin" valueType="num">
                                      <p:cBhvr>
                                        <p:cTn id="18" dur="800" fill="hold"/>
                                        <p:tgtEl>
                                          <p:spTgt spid="5"/>
                                        </p:tgtEl>
                                        <p:attrNameLst>
                                          <p:attrName>ppt_x</p:attrName>
                                        </p:attrNameLst>
                                      </p:cBhvr>
                                      <p:tavLst>
                                        <p:tav tm="0">
                                          <p:val>
                                            <p:strVal val="#ppt_x"/>
                                          </p:val>
                                        </p:tav>
                                        <p:tav tm="100000">
                                          <p:val>
                                            <p:strVal val="#ppt_x"/>
                                          </p:val>
                                        </p:tav>
                                      </p:tavLst>
                                    </p:anim>
                                    <p:anim calcmode="lin" valueType="num">
                                      <p:cBhvr>
                                        <p:cTn id="19" dur="800" fill="hold"/>
                                        <p:tgtEl>
                                          <p:spTgt spid="5"/>
                                        </p:tgtEl>
                                        <p:attrNameLst>
                                          <p:attrName>ppt_y</p:attrName>
                                        </p:attrNameLst>
                                      </p:cBhvr>
                                      <p:tavLst>
                                        <p:tav tm="0">
                                          <p:val>
                                            <p:strVal val="#ppt_h+1"/>
                                          </p:val>
                                        </p:tav>
                                        <p:tav tm="100000">
                                          <p:val>
                                            <p:strVal val="#ppt_y"/>
                                          </p:val>
                                        </p:tav>
                                      </p:tavLst>
                                    </p:anim>
                                    <p:animEffect transition="in" filter="fade">
                                      <p:cBhvr>
                                        <p:cTn id="20" dur="800"/>
                                        <p:tgtEl>
                                          <p:spTgt spid="5"/>
                                        </p:tgtEl>
                                      </p:cBhvr>
                                    </p:animEffect>
                                  </p:childTnLst>
                                </p:cTn>
                              </p:par>
                              <p:par>
                                <p:cTn id="21" presetID="58" presetClass="entr" presetSubtype="0" accel="100000" fill="hold" nodeType="withEffect">
                                  <p:stCondLst>
                                    <p:cond delay="2400"/>
                                  </p:stCondLst>
                                  <p:childTnLst>
                                    <p:set>
                                      <p:cBhvr>
                                        <p:cTn id="22" dur="1" fill="hold">
                                          <p:stCondLst>
                                            <p:cond delay="0"/>
                                          </p:stCondLst>
                                        </p:cTn>
                                        <p:tgtEl>
                                          <p:spTgt spid="6"/>
                                        </p:tgtEl>
                                        <p:attrNameLst>
                                          <p:attrName>style.visibility</p:attrName>
                                        </p:attrNameLst>
                                      </p:cBhvr>
                                      <p:to>
                                        <p:strVal val="visible"/>
                                      </p:to>
                                    </p:set>
                                    <p:anim calcmode="lin" valueType="num">
                                      <p:cBhvr>
                                        <p:cTn id="23" dur="600" fill="hold"/>
                                        <p:tgtEl>
                                          <p:spTgt spid="6"/>
                                        </p:tgtEl>
                                        <p:attrNameLst>
                                          <p:attrName>ppt_w</p:attrName>
                                        </p:attrNameLst>
                                      </p:cBhvr>
                                      <p:tavLst>
                                        <p:tav tm="0">
                                          <p:val>
                                            <p:strVal val="#ppt_w*2.5"/>
                                          </p:val>
                                        </p:tav>
                                        <p:tav tm="100000">
                                          <p:val>
                                            <p:strVal val="#ppt_w"/>
                                          </p:val>
                                        </p:tav>
                                      </p:tavLst>
                                    </p:anim>
                                    <p:anim calcmode="lin" valueType="num">
                                      <p:cBhvr>
                                        <p:cTn id="24" dur="600" fill="hold"/>
                                        <p:tgtEl>
                                          <p:spTgt spid="6"/>
                                        </p:tgtEl>
                                        <p:attrNameLst>
                                          <p:attrName>ppt_h</p:attrName>
                                        </p:attrNameLst>
                                      </p:cBhvr>
                                      <p:tavLst>
                                        <p:tav tm="0">
                                          <p:val>
                                            <p:strVal val="#ppt_h*0.01"/>
                                          </p:val>
                                        </p:tav>
                                        <p:tav tm="100000">
                                          <p:val>
                                            <p:strVal val="#ppt_h"/>
                                          </p:val>
                                        </p:tav>
                                      </p:tavLst>
                                    </p:anim>
                                    <p:anim calcmode="lin" valueType="num">
                                      <p:cBhvr>
                                        <p:cTn id="25" dur="600" fill="hold"/>
                                        <p:tgtEl>
                                          <p:spTgt spid="6"/>
                                        </p:tgtEl>
                                        <p:attrNameLst>
                                          <p:attrName>ppt_x</p:attrName>
                                        </p:attrNameLst>
                                      </p:cBhvr>
                                      <p:tavLst>
                                        <p:tav tm="0">
                                          <p:val>
                                            <p:strVal val="#ppt_x"/>
                                          </p:val>
                                        </p:tav>
                                        <p:tav tm="100000">
                                          <p:val>
                                            <p:strVal val="#ppt_x"/>
                                          </p:val>
                                        </p:tav>
                                      </p:tavLst>
                                    </p:anim>
                                    <p:anim calcmode="lin" valueType="num">
                                      <p:cBhvr>
                                        <p:cTn id="26" dur="600" fill="hold"/>
                                        <p:tgtEl>
                                          <p:spTgt spid="6"/>
                                        </p:tgtEl>
                                        <p:attrNameLst>
                                          <p:attrName>ppt_y</p:attrName>
                                        </p:attrNameLst>
                                      </p:cBhvr>
                                      <p:tavLst>
                                        <p:tav tm="0">
                                          <p:val>
                                            <p:strVal val="#ppt_h+1"/>
                                          </p:val>
                                        </p:tav>
                                        <p:tav tm="100000">
                                          <p:val>
                                            <p:strVal val="#ppt_y"/>
                                          </p:val>
                                        </p:tav>
                                      </p:tavLst>
                                    </p:anim>
                                    <p:animEffect transition="in" filter="fade">
                                      <p:cBhvr>
                                        <p:cTn id="27" dur="600"/>
                                        <p:tgtEl>
                                          <p:spTgt spid="6"/>
                                        </p:tgtEl>
                                      </p:cBhvr>
                                    </p:animEffect>
                                  </p:childTnLst>
                                </p:cTn>
                              </p:par>
                              <p:par>
                                <p:cTn id="28" presetID="10" presetClass="entr" presetSubtype="0" fill="hold" grpId="0" nodeType="withEffect">
                                  <p:stCondLst>
                                    <p:cond delay="380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standard is the component</a:t>
            </a:r>
          </a:p>
        </p:txBody>
      </p:sp>
      <p:pic>
        <p:nvPicPr>
          <p:cNvPr id="3" name="Clip 0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00"/>
    </mc:Choice>
    <mc:Fallback>
      <p:transition spd="slow" advTm="4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Three ways to get a Canvas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2F6FED"/>
                </a:solidFill>
                <a:latin typeface="Segoe UI"/>
              </a:rPr>
              <a:t>THREE ROUTES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Three ways to get a Canvas</a:t>
            </a:r>
          </a:p>
        </p:txBody>
      </p:sp>
      <p:pic>
        <p:nvPicPr>
          <p:cNvPr id="6" name="Canvas" descr="canvas-dark.png"/>
          <p:cNvPicPr>
            <a:picLocks noChangeAspect="1"/>
          </p:cNvPicPr>
          <p:nvPr/>
        </p:nvPicPr>
        <p:blipFill>
          <a:blip r:embed="rId4"/>
          <a:stretch>
            <a:fillRect/>
          </a:stretch>
        </p:blipFill>
        <p:spPr>
          <a:xfrm>
            <a:off x="635000" y="2540000"/>
            <a:ext cx="3746500" cy="1383863"/>
          </a:xfrm>
          <a:prstGeom prst="rect">
            <a:avLst/>
          </a:prstGeom>
        </p:spPr>
      </p:pic>
      <p:grpSp>
        <p:nvGrpSpPr>
          <p:cNvPr id="12" name="Route 1"/>
          <p:cNvGrpSpPr/>
          <p:nvPr/>
        </p:nvGrpSpPr>
        <p:grpSpPr>
          <a:xfrm>
            <a:off x="5207000" y="1587500"/>
            <a:ext cx="6223000" cy="1333500"/>
            <a:chOff x="5207000" y="1587500"/>
            <a:chExt cx="6223000" cy="1333500"/>
          </a:xfrm>
        </p:grpSpPr>
        <p:sp>
          <p:nvSpPr>
            <p:cNvPr id="7" name="Shape 5"/>
            <p:cNvSpPr/>
            <p:nvPr/>
          </p:nvSpPr>
          <p:spPr>
            <a:xfrm>
              <a:off x="5207000" y="1587500"/>
              <a:ext cx="6223000" cy="1333500"/>
            </a:xfrm>
            <a:prstGeom prst="roundRect">
              <a:avLst>
                <a:gd name="adj" fmla="val 11428"/>
              </a:avLst>
            </a:prstGeom>
            <a:solidFill>
              <a:srgbClr val="111A30"/>
            </a:solidFill>
            <a:ln w="19050">
              <a:solidFill>
                <a:srgbClr val="2F6FE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hape 6"/>
            <p:cNvSpPr txBox="1"/>
            <p:nvPr/>
          </p:nvSpPr>
          <p:spPr>
            <a:xfrm>
              <a:off x="5461000" y="1739900"/>
              <a:ext cx="508000" cy="381000"/>
            </a:xfrm>
            <a:prstGeom prst="rect">
              <a:avLst/>
            </a:prstGeom>
            <a:noFill/>
          </p:spPr>
          <p:txBody>
            <a:bodyPr wrap="square" lIns="0" tIns="0" rIns="0" bIns="0" anchor="t">
              <a:spAutoFit/>
            </a:bodyPr>
            <a:lstStyle/>
            <a:p>
              <a:pPr algn="l">
                <a:lnSpc>
                  <a:spcPct val="115000"/>
                </a:lnSpc>
              </a:pPr>
              <a:r>
                <a:rPr sz="2200" b="1">
                  <a:solidFill>
                    <a:srgbClr val="2F6FED"/>
                  </a:solidFill>
                  <a:latin typeface="Segoe UI"/>
                </a:rPr>
                <a:t>1</a:t>
              </a:r>
            </a:p>
          </p:txBody>
        </p:sp>
        <p:pic>
          <p:nvPicPr>
            <p:cNvPr id="9" name="Shape 7" descr="icon-cloud-2f6fed.png"/>
            <p:cNvPicPr>
              <a:picLocks noChangeAspect="1"/>
            </p:cNvPicPr>
            <p:nvPr/>
          </p:nvPicPr>
          <p:blipFill>
            <a:blip r:embed="rId5"/>
            <a:stretch>
              <a:fillRect/>
            </a:stretch>
          </p:blipFill>
          <p:spPr>
            <a:xfrm>
              <a:off x="10795000" y="1752600"/>
              <a:ext cx="406400" cy="406400"/>
            </a:xfrm>
            <a:prstGeom prst="rect">
              <a:avLst/>
            </a:prstGeom>
          </p:spPr>
        </p:pic>
        <p:sp>
          <p:nvSpPr>
            <p:cNvPr id="10" name="Shape 8"/>
            <p:cNvSpPr txBox="1"/>
            <p:nvPr/>
          </p:nvSpPr>
          <p:spPr>
            <a:xfrm>
              <a:off x="5905500" y="1752600"/>
              <a:ext cx="4826000" cy="3810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Public cloud offerings</a:t>
              </a:r>
            </a:p>
          </p:txBody>
        </p:sp>
        <p:sp>
          <p:nvSpPr>
            <p:cNvPr id="11" name="Shape 9"/>
            <p:cNvSpPr txBox="1"/>
            <p:nvPr/>
          </p:nvSpPr>
          <p:spPr>
            <a:xfrm>
              <a:off x="5905500" y="2108200"/>
              <a:ext cx="5207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A managed Canvas on the provider's Kubernetes services</a:t>
              </a:r>
            </a:p>
          </p:txBody>
        </p:sp>
      </p:grpSp>
      <p:cxnSp>
        <p:nvCxnSpPr>
          <p:cNvPr id="13" name="Arrow 1"/>
          <p:cNvCxnSpPr/>
          <p:nvPr/>
        </p:nvCxnSpPr>
        <p:spPr>
          <a:xfrm flipV="1">
            <a:off x="4445000" y="2254250"/>
            <a:ext cx="698500" cy="1301750"/>
          </a:xfrm>
          <a:prstGeom prst="line">
            <a:avLst/>
          </a:prstGeom>
          <a:ln w="25400">
            <a:solidFill>
              <a:srgbClr val="2F6FED"/>
            </a:solidFill>
            <a:tailEnd type="triangle" w="med"/>
          </a:ln>
        </p:spPr>
        <p:style>
          <a:lnRef idx="2">
            <a:schemeClr val="accent1"/>
          </a:lnRef>
          <a:fillRef idx="0">
            <a:schemeClr val="accent1"/>
          </a:fillRef>
          <a:effectRef idx="1">
            <a:schemeClr val="accent1"/>
          </a:effectRef>
          <a:fontRef idx="minor">
            <a:schemeClr val="tx1"/>
          </a:fontRef>
        </p:style>
      </p:cxnSp>
      <p:sp>
        <p:nvSpPr>
          <p:cNvPr id="14" name="PoC label"/>
          <p:cNvSpPr txBox="1"/>
          <p:nvPr/>
        </p:nvSpPr>
        <p:spPr>
          <a:xfrm>
            <a:off x="5905500" y="2413000"/>
            <a:ext cx="1841500" cy="254000"/>
          </a:xfrm>
          <a:prstGeom prst="rect">
            <a:avLst/>
          </a:prstGeom>
          <a:noFill/>
        </p:spPr>
        <p:txBody>
          <a:bodyPr wrap="square" lIns="0" tIns="0" rIns="0" bIns="0" anchor="t">
            <a:spAutoFit/>
          </a:bodyPr>
          <a:lstStyle/>
          <a:p>
            <a:pPr algn="l">
              <a:lnSpc>
                <a:spcPct val="115000"/>
              </a:lnSpc>
            </a:pPr>
            <a:r>
              <a:rPr sz="1000" b="1">
                <a:solidFill>
                  <a:srgbClr val="8F9BB8"/>
                </a:solidFill>
                <a:latin typeface="Segoe UI"/>
              </a:rPr>
              <a:t>PoCs at DTW Copenhagen</a:t>
            </a:r>
          </a:p>
        </p:txBody>
      </p:sp>
      <p:sp>
        <p:nvSpPr>
          <p:cNvPr id="15" name="Cloud 1"/>
          <p:cNvSpPr/>
          <p:nvPr/>
        </p:nvSpPr>
        <p:spPr>
          <a:xfrm>
            <a:off x="7778750" y="2362200"/>
            <a:ext cx="488950" cy="2222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000" b="1">
                <a:solidFill>
                  <a:srgbClr val="F2F5FB"/>
                </a:solidFill>
                <a:latin typeface="Segoe UI"/>
              </a:rPr>
              <a:t>AWS</a:t>
            </a:r>
          </a:p>
        </p:txBody>
      </p:sp>
      <p:sp>
        <p:nvSpPr>
          <p:cNvPr id="16" name="Cloud 2"/>
          <p:cNvSpPr/>
          <p:nvPr/>
        </p:nvSpPr>
        <p:spPr>
          <a:xfrm>
            <a:off x="8343900" y="2362200"/>
            <a:ext cx="1346200" cy="2222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000" b="1">
                <a:solidFill>
                  <a:srgbClr val="F2F5FB"/>
                </a:solidFill>
                <a:latin typeface="Segoe UI"/>
              </a:rPr>
              <a:t>Microsoft Azure</a:t>
            </a:r>
          </a:p>
        </p:txBody>
      </p:sp>
      <p:sp>
        <p:nvSpPr>
          <p:cNvPr id="17" name="Cloud 3"/>
          <p:cNvSpPr/>
          <p:nvPr/>
        </p:nvSpPr>
        <p:spPr>
          <a:xfrm>
            <a:off x="9766300" y="2362200"/>
            <a:ext cx="1130300" cy="2222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000" b="1">
                <a:solidFill>
                  <a:srgbClr val="F2F5FB"/>
                </a:solidFill>
                <a:latin typeface="Segoe UI"/>
              </a:rPr>
              <a:t>China Mobile</a:t>
            </a:r>
          </a:p>
        </p:txBody>
      </p:sp>
      <p:sp>
        <p:nvSpPr>
          <p:cNvPr id="18" name="Cloud 4"/>
          <p:cNvSpPr/>
          <p:nvPr/>
        </p:nvSpPr>
        <p:spPr>
          <a:xfrm>
            <a:off x="7778750" y="2641600"/>
            <a:ext cx="1130300" cy="2222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000" b="1">
                <a:solidFill>
                  <a:srgbClr val="F2F5FB"/>
                </a:solidFill>
                <a:latin typeface="Segoe UI"/>
              </a:rPr>
              <a:t>Google Cloud</a:t>
            </a:r>
          </a:p>
        </p:txBody>
      </p:sp>
      <p:sp>
        <p:nvSpPr>
          <p:cNvPr id="19" name="Cloud 5"/>
          <p:cNvSpPr/>
          <p:nvPr/>
        </p:nvSpPr>
        <p:spPr>
          <a:xfrm>
            <a:off x="8985250" y="2641600"/>
            <a:ext cx="1130300" cy="2222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000" b="1">
                <a:solidFill>
                  <a:srgbClr val="F2F5FB"/>
                </a:solidFill>
                <a:latin typeface="Segoe UI"/>
              </a:rPr>
              <a:t>Oracle Cloud</a:t>
            </a:r>
          </a:p>
        </p:txBody>
      </p:sp>
      <p:grpSp>
        <p:nvGrpSpPr>
          <p:cNvPr id="25" name="Route 2"/>
          <p:cNvGrpSpPr/>
          <p:nvPr/>
        </p:nvGrpSpPr>
        <p:grpSpPr>
          <a:xfrm>
            <a:off x="5207000" y="3175000"/>
            <a:ext cx="6223000" cy="1333500"/>
            <a:chOff x="5207000" y="3175000"/>
            <a:chExt cx="6223000" cy="1333500"/>
          </a:xfrm>
        </p:grpSpPr>
        <p:sp>
          <p:nvSpPr>
            <p:cNvPr id="20" name="Shape 18"/>
            <p:cNvSpPr/>
            <p:nvPr/>
          </p:nvSpPr>
          <p:spPr>
            <a:xfrm>
              <a:off x="5207000" y="3175000"/>
              <a:ext cx="6223000" cy="1333500"/>
            </a:xfrm>
            <a:prstGeom prst="roundRect">
              <a:avLst>
                <a:gd name="adj" fmla="val 11428"/>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Shape 19"/>
            <p:cNvSpPr txBox="1"/>
            <p:nvPr/>
          </p:nvSpPr>
          <p:spPr>
            <a:xfrm>
              <a:off x="5461000" y="3327400"/>
              <a:ext cx="508000" cy="381000"/>
            </a:xfrm>
            <a:prstGeom prst="rect">
              <a:avLst/>
            </a:prstGeom>
            <a:noFill/>
          </p:spPr>
          <p:txBody>
            <a:bodyPr wrap="square" lIns="0" tIns="0" rIns="0" bIns="0" anchor="t">
              <a:spAutoFit/>
            </a:bodyPr>
            <a:lstStyle/>
            <a:p>
              <a:pPr algn="l">
                <a:lnSpc>
                  <a:spcPct val="115000"/>
                </a:lnSpc>
              </a:pPr>
              <a:r>
                <a:rPr sz="2200" b="1">
                  <a:solidFill>
                    <a:srgbClr val="1FC7A8"/>
                  </a:solidFill>
                  <a:latin typeface="Segoe UI"/>
                </a:rPr>
                <a:t>2</a:t>
              </a:r>
            </a:p>
          </p:txBody>
        </p:sp>
        <p:pic>
          <p:nvPicPr>
            <p:cNvPr id="22" name="Shape 20" descr="icon-layers-1fc7a8.png"/>
            <p:cNvPicPr>
              <a:picLocks noChangeAspect="1"/>
            </p:cNvPicPr>
            <p:nvPr/>
          </p:nvPicPr>
          <p:blipFill>
            <a:blip r:embed="rId6"/>
            <a:stretch>
              <a:fillRect/>
            </a:stretch>
          </p:blipFill>
          <p:spPr>
            <a:xfrm>
              <a:off x="10795000" y="3340100"/>
              <a:ext cx="406400" cy="406400"/>
            </a:xfrm>
            <a:prstGeom prst="rect">
              <a:avLst/>
            </a:prstGeom>
          </p:spPr>
        </p:pic>
        <p:sp>
          <p:nvSpPr>
            <p:cNvPr id="23" name="Shape 21"/>
            <p:cNvSpPr txBox="1"/>
            <p:nvPr/>
          </p:nvSpPr>
          <p:spPr>
            <a:xfrm>
              <a:off x="5905500" y="3340100"/>
              <a:ext cx="4826000" cy="3810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Roll your own</a:t>
              </a:r>
            </a:p>
          </p:txBody>
        </p:sp>
        <p:sp>
          <p:nvSpPr>
            <p:cNvPr id="24" name="Shape 22"/>
            <p:cNvSpPr txBox="1"/>
            <p:nvPr/>
          </p:nvSpPr>
          <p:spPr>
            <a:xfrm>
              <a:off x="5905500" y="3695700"/>
              <a:ext cx="5207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The reference implementation · Apache 2.0 · extensible</a:t>
              </a:r>
            </a:p>
          </p:txBody>
        </p:sp>
      </p:grpSp>
      <p:cxnSp>
        <p:nvCxnSpPr>
          <p:cNvPr id="26" name="Arrow 2"/>
          <p:cNvCxnSpPr/>
          <p:nvPr/>
        </p:nvCxnSpPr>
        <p:spPr>
          <a:xfrm>
            <a:off x="4445000" y="3556000"/>
            <a:ext cx="698500" cy="285750"/>
          </a:xfrm>
          <a:prstGeom prst="line">
            <a:avLst/>
          </a:prstGeom>
          <a:ln w="25400">
            <a:solidFill>
              <a:srgbClr val="1FC7A8"/>
            </a:solidFill>
            <a:tailEnd type="triangle" w="med"/>
          </a:ln>
        </p:spPr>
        <p:style>
          <a:lnRef idx="2">
            <a:schemeClr val="accent1"/>
          </a:lnRef>
          <a:fillRef idx="0">
            <a:schemeClr val="accent1"/>
          </a:fillRef>
          <a:effectRef idx="1">
            <a:schemeClr val="accent1"/>
          </a:effectRef>
          <a:fontRef idx="minor">
            <a:schemeClr val="tx1"/>
          </a:fontRef>
        </p:style>
      </p:cxnSp>
      <p:sp>
        <p:nvSpPr>
          <p:cNvPr id="27" name="Repo">
            <a:hlinkClick r:id="rId7"/>
          </p:cNvPr>
          <p:cNvSpPr/>
          <p:nvPr/>
        </p:nvSpPr>
        <p:spPr>
          <a:xfrm>
            <a:off x="5905500" y="4000500"/>
            <a:ext cx="2857500" cy="241300"/>
          </a:xfrm>
          <a:prstGeom prst="roundRect">
            <a:avLst>
              <a:gd name="adj" fmla="val 50000"/>
            </a:avLst>
          </a:prstGeom>
          <a:solidFill>
            <a:srgbClr val="1FC7A8">
              <a:alpha val="15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100" b="1">
                <a:solidFill>
                  <a:srgbClr val="F2F5FB"/>
                </a:solidFill>
                <a:latin typeface="Segoe UI"/>
              </a:rPr>
              <a:t>github.com/tmforum-oda/oda-canvas</a:t>
            </a:r>
          </a:p>
        </p:txBody>
      </p:sp>
      <p:grpSp>
        <p:nvGrpSpPr>
          <p:cNvPr id="33" name="Route 3"/>
          <p:cNvGrpSpPr/>
          <p:nvPr/>
        </p:nvGrpSpPr>
        <p:grpSpPr>
          <a:xfrm>
            <a:off x="5207000" y="4762500"/>
            <a:ext cx="6223000" cy="1333500"/>
            <a:chOff x="5207000" y="4762500"/>
            <a:chExt cx="6223000" cy="1333500"/>
          </a:xfrm>
        </p:grpSpPr>
        <p:sp>
          <p:nvSpPr>
            <p:cNvPr id="28" name="Shape 26"/>
            <p:cNvSpPr/>
            <p:nvPr/>
          </p:nvSpPr>
          <p:spPr>
            <a:xfrm>
              <a:off x="5207000" y="4762500"/>
              <a:ext cx="6223000" cy="1333500"/>
            </a:xfrm>
            <a:prstGeom prst="roundRect">
              <a:avLst>
                <a:gd name="adj" fmla="val 11428"/>
              </a:avLst>
            </a:prstGeom>
            <a:solidFill>
              <a:srgbClr val="111A30"/>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Shape 27"/>
            <p:cNvSpPr txBox="1"/>
            <p:nvPr/>
          </p:nvSpPr>
          <p:spPr>
            <a:xfrm>
              <a:off x="5461000" y="4914900"/>
              <a:ext cx="508000" cy="381000"/>
            </a:xfrm>
            <a:prstGeom prst="rect">
              <a:avLst/>
            </a:prstGeom>
            <a:noFill/>
          </p:spPr>
          <p:txBody>
            <a:bodyPr wrap="square" lIns="0" tIns="0" rIns="0" bIns="0" anchor="t">
              <a:spAutoFit/>
            </a:bodyPr>
            <a:lstStyle/>
            <a:p>
              <a:pPr algn="l">
                <a:lnSpc>
                  <a:spcPct val="115000"/>
                </a:lnSpc>
              </a:pPr>
              <a:r>
                <a:rPr sz="2200" b="1">
                  <a:solidFill>
                    <a:srgbClr val="F5A623"/>
                  </a:solidFill>
                  <a:latin typeface="Segoe UI"/>
                </a:rPr>
                <a:t>3</a:t>
              </a:r>
            </a:p>
          </p:txBody>
        </p:sp>
        <p:pic>
          <p:nvPicPr>
            <p:cNvPr id="30" name="Shape 28" descr="icon-wrench-f5a623.png"/>
            <p:cNvPicPr>
              <a:picLocks noChangeAspect="1"/>
            </p:cNvPicPr>
            <p:nvPr/>
          </p:nvPicPr>
          <p:blipFill>
            <a:blip r:embed="rId8"/>
            <a:stretch>
              <a:fillRect/>
            </a:stretch>
          </p:blipFill>
          <p:spPr>
            <a:xfrm>
              <a:off x="10795000" y="4927600"/>
              <a:ext cx="406400" cy="406400"/>
            </a:xfrm>
            <a:prstGeom prst="rect">
              <a:avLst/>
            </a:prstGeom>
          </p:spPr>
        </p:pic>
        <p:sp>
          <p:nvSpPr>
            <p:cNvPr id="31" name="Shape 29"/>
            <p:cNvSpPr txBox="1"/>
            <p:nvPr/>
          </p:nvSpPr>
          <p:spPr>
            <a:xfrm>
              <a:off x="5905500" y="4927600"/>
              <a:ext cx="4826000" cy="3810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Vendor and open-source operators</a:t>
              </a:r>
            </a:p>
          </p:txBody>
        </p:sp>
        <p:sp>
          <p:nvSpPr>
            <p:cNvPr id="32" name="Shape 30"/>
            <p:cNvSpPr txBox="1"/>
            <p:nvPr/>
          </p:nvSpPr>
          <p:spPr>
            <a:xfrm>
              <a:off x="5905500" y="5283200"/>
              <a:ext cx="5207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Products that already manage themselves on Kubernetes</a:t>
              </a:r>
            </a:p>
          </p:txBody>
        </p:sp>
      </p:grpSp>
      <p:cxnSp>
        <p:nvCxnSpPr>
          <p:cNvPr id="34" name="Arrow 3"/>
          <p:cNvCxnSpPr/>
          <p:nvPr/>
        </p:nvCxnSpPr>
        <p:spPr>
          <a:xfrm>
            <a:off x="4445000" y="3556000"/>
            <a:ext cx="698500" cy="1873250"/>
          </a:xfrm>
          <a:prstGeom prst="line">
            <a:avLst/>
          </a:prstGeom>
          <a:ln w="25400">
            <a:solidFill>
              <a:srgbClr val="F5A623"/>
            </a:solidFill>
            <a:tailEnd type="triangle" w="med"/>
          </a:ln>
        </p:spPr>
        <p:style>
          <a:lnRef idx="2">
            <a:schemeClr val="accent1"/>
          </a:lnRef>
          <a:fillRef idx="0">
            <a:schemeClr val="accent1"/>
          </a:fillRef>
          <a:effectRef idx="1">
            <a:schemeClr val="accent1"/>
          </a:effectRef>
          <a:fontRef idx="minor">
            <a:schemeClr val="tx1"/>
          </a:fontRef>
        </p:style>
      </p:cxnSp>
      <p:sp>
        <p:nvSpPr>
          <p:cNvPr id="35" name="Vendor 1"/>
          <p:cNvSpPr/>
          <p:nvPr/>
        </p:nvSpPr>
        <p:spPr>
          <a:xfrm>
            <a:off x="5905500" y="5588000"/>
            <a:ext cx="666750" cy="241300"/>
          </a:xfrm>
          <a:prstGeom prst="roundRect">
            <a:avLst>
              <a:gd name="adj" fmla="val 50000"/>
            </a:avLst>
          </a:prstGeom>
          <a:solidFill>
            <a:srgbClr val="F5A623">
              <a:alpha val="15000"/>
            </a:srgbClr>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100" b="1">
                <a:solidFill>
                  <a:srgbClr val="F2F5FB"/>
                </a:solidFill>
                <a:latin typeface="Segoe UI"/>
              </a:rPr>
              <a:t>Istio</a:t>
            </a:r>
          </a:p>
        </p:txBody>
      </p:sp>
      <p:sp>
        <p:nvSpPr>
          <p:cNvPr id="36" name="Vendor 2"/>
          <p:cNvSpPr/>
          <p:nvPr/>
        </p:nvSpPr>
        <p:spPr>
          <a:xfrm>
            <a:off x="6648450" y="5588000"/>
            <a:ext cx="590550" cy="241300"/>
          </a:xfrm>
          <a:prstGeom prst="roundRect">
            <a:avLst>
              <a:gd name="adj" fmla="val 50000"/>
            </a:avLst>
          </a:prstGeom>
          <a:solidFill>
            <a:srgbClr val="F5A623">
              <a:alpha val="15000"/>
            </a:srgbClr>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100" b="1">
                <a:solidFill>
                  <a:srgbClr val="F2F5FB"/>
                </a:solidFill>
                <a:latin typeface="Segoe UI"/>
              </a:rPr>
              <a:t>Kong</a:t>
            </a:r>
          </a:p>
        </p:txBody>
      </p:sp>
      <p:sp>
        <p:nvSpPr>
          <p:cNvPr id="37" name="Vendor 3"/>
          <p:cNvSpPr/>
          <p:nvPr/>
        </p:nvSpPr>
        <p:spPr>
          <a:xfrm>
            <a:off x="7315200" y="5588000"/>
            <a:ext cx="2546350" cy="241300"/>
          </a:xfrm>
          <a:prstGeom prst="roundRect">
            <a:avLst>
              <a:gd name="adj" fmla="val 50000"/>
            </a:avLst>
          </a:prstGeom>
          <a:solidFill>
            <a:srgbClr val="F5A623">
              <a:alpha val="15000"/>
            </a:srgbClr>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100" b="1">
                <a:solidFill>
                  <a:srgbClr val="F2F5FB"/>
                </a:solidFill>
                <a:latin typeface="Segoe UI"/>
              </a:rPr>
              <a:t>or another product's operator</a:t>
            </a:r>
          </a:p>
        </p:txBody>
      </p:sp>
    </p:spTree>
  </p:cSld>
  <p:clrMapOvr>
    <a:masterClrMapping/>
  </p:clrMapOvr>
  <mc:AlternateContent xmlns:mc="http://schemas.openxmlformats.org/markup-compatibility/2006">
    <mc:Choice xmlns:p14="http://schemas.microsoft.com/office/powerpoint/2010/main" Requires="p14">
      <p:transition spd="slow" p14:dur="2000" advTm="33900"/>
    </mc:Choice>
    <mc:Fallback>
      <p:transition spd="slow" advTm="3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800"/>
                                        <p:tgtEl>
                                          <p:spTgt spid="6"/>
                                        </p:tgtEl>
                                      </p:cBhvr>
                                    </p:animEffect>
                                  </p:childTnLst>
                                </p:cTn>
                              </p:par>
                              <p:par>
                                <p:cTn id="14" presetID="10" presetClass="entr" presetSubtype="0" fill="hold" nodeType="withEffect">
                                  <p:stCondLst>
                                    <p:cond delay="30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2" presetClass="entr" presetSubtype="4" fill="hold" nodeType="withEffect">
                                  <p:stCondLst>
                                    <p:cond delay="32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600" fill="hold"/>
                                        <p:tgtEl>
                                          <p:spTgt spid="12"/>
                                        </p:tgtEl>
                                        <p:attrNameLst>
                                          <p:attrName>ppt_x</p:attrName>
                                        </p:attrNameLst>
                                      </p:cBhvr>
                                      <p:tavLst>
                                        <p:tav tm="0">
                                          <p:val>
                                            <p:strVal val="#ppt_x"/>
                                          </p:val>
                                        </p:tav>
                                        <p:tav tm="100000">
                                          <p:val>
                                            <p:strVal val="#ppt_x"/>
                                          </p:val>
                                        </p:tav>
                                      </p:tavLst>
                                    </p:anim>
                                    <p:anim calcmode="lin" valueType="num">
                                      <p:cBhvr additive="base">
                                        <p:cTn id="20" dur="600" fill="hold"/>
                                        <p:tgtEl>
                                          <p:spTgt spid="12"/>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68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600"/>
                                        <p:tgtEl>
                                          <p:spTgt spid="14"/>
                                        </p:tgtEl>
                                      </p:cBhvr>
                                    </p:animEffect>
                                  </p:childTnLst>
                                </p:cTn>
                              </p:par>
                              <p:par>
                                <p:cTn id="24" presetID="58" presetClass="entr" presetSubtype="0" accel="100000" fill="hold" grpId="0" nodeType="withEffect">
                                  <p:stCondLst>
                                    <p:cond delay="7400"/>
                                  </p:stCondLst>
                                  <p:childTnLst>
                                    <p:set>
                                      <p:cBhvr>
                                        <p:cTn id="25" dur="1" fill="hold">
                                          <p:stCondLst>
                                            <p:cond delay="0"/>
                                          </p:stCondLst>
                                        </p:cTn>
                                        <p:tgtEl>
                                          <p:spTgt spid="15"/>
                                        </p:tgtEl>
                                        <p:attrNameLst>
                                          <p:attrName>style.visibility</p:attrName>
                                        </p:attrNameLst>
                                      </p:cBhvr>
                                      <p:to>
                                        <p:strVal val="visible"/>
                                      </p:to>
                                    </p:set>
                                    <p:anim calcmode="lin" valueType="num">
                                      <p:cBhvr>
                                        <p:cTn id="26" dur="400" fill="hold"/>
                                        <p:tgtEl>
                                          <p:spTgt spid="15"/>
                                        </p:tgtEl>
                                        <p:attrNameLst>
                                          <p:attrName>ppt_w</p:attrName>
                                        </p:attrNameLst>
                                      </p:cBhvr>
                                      <p:tavLst>
                                        <p:tav tm="0">
                                          <p:val>
                                            <p:strVal val="#ppt_w*2.5"/>
                                          </p:val>
                                        </p:tav>
                                        <p:tav tm="100000">
                                          <p:val>
                                            <p:strVal val="#ppt_w"/>
                                          </p:val>
                                        </p:tav>
                                      </p:tavLst>
                                    </p:anim>
                                    <p:anim calcmode="lin" valueType="num">
                                      <p:cBhvr>
                                        <p:cTn id="27" dur="400" fill="hold"/>
                                        <p:tgtEl>
                                          <p:spTgt spid="15"/>
                                        </p:tgtEl>
                                        <p:attrNameLst>
                                          <p:attrName>ppt_h</p:attrName>
                                        </p:attrNameLst>
                                      </p:cBhvr>
                                      <p:tavLst>
                                        <p:tav tm="0">
                                          <p:val>
                                            <p:strVal val="#ppt_h*0.01"/>
                                          </p:val>
                                        </p:tav>
                                        <p:tav tm="100000">
                                          <p:val>
                                            <p:strVal val="#ppt_h"/>
                                          </p:val>
                                        </p:tav>
                                      </p:tavLst>
                                    </p:anim>
                                    <p:anim calcmode="lin" valueType="num">
                                      <p:cBhvr>
                                        <p:cTn id="28" dur="400" fill="hold"/>
                                        <p:tgtEl>
                                          <p:spTgt spid="15"/>
                                        </p:tgtEl>
                                        <p:attrNameLst>
                                          <p:attrName>ppt_x</p:attrName>
                                        </p:attrNameLst>
                                      </p:cBhvr>
                                      <p:tavLst>
                                        <p:tav tm="0">
                                          <p:val>
                                            <p:strVal val="#ppt_x"/>
                                          </p:val>
                                        </p:tav>
                                        <p:tav tm="100000">
                                          <p:val>
                                            <p:strVal val="#ppt_x"/>
                                          </p:val>
                                        </p:tav>
                                      </p:tavLst>
                                    </p:anim>
                                    <p:anim calcmode="lin" valueType="num">
                                      <p:cBhvr>
                                        <p:cTn id="29" dur="400" fill="hold"/>
                                        <p:tgtEl>
                                          <p:spTgt spid="15"/>
                                        </p:tgtEl>
                                        <p:attrNameLst>
                                          <p:attrName>ppt_y</p:attrName>
                                        </p:attrNameLst>
                                      </p:cBhvr>
                                      <p:tavLst>
                                        <p:tav tm="0">
                                          <p:val>
                                            <p:strVal val="#ppt_h+1"/>
                                          </p:val>
                                        </p:tav>
                                        <p:tav tm="100000">
                                          <p:val>
                                            <p:strVal val="#ppt_y"/>
                                          </p:val>
                                        </p:tav>
                                      </p:tavLst>
                                    </p:anim>
                                    <p:animEffect transition="in" filter="fade">
                                      <p:cBhvr>
                                        <p:cTn id="30" dur="400"/>
                                        <p:tgtEl>
                                          <p:spTgt spid="15"/>
                                        </p:tgtEl>
                                      </p:cBhvr>
                                    </p:animEffect>
                                  </p:childTnLst>
                                </p:cTn>
                              </p:par>
                              <p:par>
                                <p:cTn id="31" presetID="58" presetClass="entr" presetSubtype="0" accel="100000" fill="hold" grpId="0" nodeType="withEffect">
                                  <p:stCondLst>
                                    <p:cond delay="7900"/>
                                  </p:stCondLst>
                                  <p:childTnLst>
                                    <p:set>
                                      <p:cBhvr>
                                        <p:cTn id="32" dur="1" fill="hold">
                                          <p:stCondLst>
                                            <p:cond delay="0"/>
                                          </p:stCondLst>
                                        </p:cTn>
                                        <p:tgtEl>
                                          <p:spTgt spid="16"/>
                                        </p:tgtEl>
                                        <p:attrNameLst>
                                          <p:attrName>style.visibility</p:attrName>
                                        </p:attrNameLst>
                                      </p:cBhvr>
                                      <p:to>
                                        <p:strVal val="visible"/>
                                      </p:to>
                                    </p:set>
                                    <p:anim calcmode="lin" valueType="num">
                                      <p:cBhvr>
                                        <p:cTn id="33" dur="400" fill="hold"/>
                                        <p:tgtEl>
                                          <p:spTgt spid="16"/>
                                        </p:tgtEl>
                                        <p:attrNameLst>
                                          <p:attrName>ppt_w</p:attrName>
                                        </p:attrNameLst>
                                      </p:cBhvr>
                                      <p:tavLst>
                                        <p:tav tm="0">
                                          <p:val>
                                            <p:strVal val="#ppt_w*2.5"/>
                                          </p:val>
                                        </p:tav>
                                        <p:tav tm="100000">
                                          <p:val>
                                            <p:strVal val="#ppt_w"/>
                                          </p:val>
                                        </p:tav>
                                      </p:tavLst>
                                    </p:anim>
                                    <p:anim calcmode="lin" valueType="num">
                                      <p:cBhvr>
                                        <p:cTn id="34" dur="400" fill="hold"/>
                                        <p:tgtEl>
                                          <p:spTgt spid="16"/>
                                        </p:tgtEl>
                                        <p:attrNameLst>
                                          <p:attrName>ppt_h</p:attrName>
                                        </p:attrNameLst>
                                      </p:cBhvr>
                                      <p:tavLst>
                                        <p:tav tm="0">
                                          <p:val>
                                            <p:strVal val="#ppt_h*0.01"/>
                                          </p:val>
                                        </p:tav>
                                        <p:tav tm="100000">
                                          <p:val>
                                            <p:strVal val="#ppt_h"/>
                                          </p:val>
                                        </p:tav>
                                      </p:tavLst>
                                    </p:anim>
                                    <p:anim calcmode="lin" valueType="num">
                                      <p:cBhvr>
                                        <p:cTn id="35" dur="400" fill="hold"/>
                                        <p:tgtEl>
                                          <p:spTgt spid="16"/>
                                        </p:tgtEl>
                                        <p:attrNameLst>
                                          <p:attrName>ppt_x</p:attrName>
                                        </p:attrNameLst>
                                      </p:cBhvr>
                                      <p:tavLst>
                                        <p:tav tm="0">
                                          <p:val>
                                            <p:strVal val="#ppt_x"/>
                                          </p:val>
                                        </p:tav>
                                        <p:tav tm="100000">
                                          <p:val>
                                            <p:strVal val="#ppt_x"/>
                                          </p:val>
                                        </p:tav>
                                      </p:tavLst>
                                    </p:anim>
                                    <p:anim calcmode="lin" valueType="num">
                                      <p:cBhvr>
                                        <p:cTn id="36" dur="400" fill="hold"/>
                                        <p:tgtEl>
                                          <p:spTgt spid="16"/>
                                        </p:tgtEl>
                                        <p:attrNameLst>
                                          <p:attrName>ppt_y</p:attrName>
                                        </p:attrNameLst>
                                      </p:cBhvr>
                                      <p:tavLst>
                                        <p:tav tm="0">
                                          <p:val>
                                            <p:strVal val="#ppt_h+1"/>
                                          </p:val>
                                        </p:tav>
                                        <p:tav tm="100000">
                                          <p:val>
                                            <p:strVal val="#ppt_y"/>
                                          </p:val>
                                        </p:tav>
                                      </p:tavLst>
                                    </p:anim>
                                    <p:animEffect transition="in" filter="fade">
                                      <p:cBhvr>
                                        <p:cTn id="37" dur="400"/>
                                        <p:tgtEl>
                                          <p:spTgt spid="16"/>
                                        </p:tgtEl>
                                      </p:cBhvr>
                                    </p:animEffect>
                                  </p:childTnLst>
                                </p:cTn>
                              </p:par>
                              <p:par>
                                <p:cTn id="38" presetID="58" presetClass="entr" presetSubtype="0" accel="100000" fill="hold" grpId="0" nodeType="withEffect">
                                  <p:stCondLst>
                                    <p:cond delay="8400"/>
                                  </p:stCondLst>
                                  <p:childTnLst>
                                    <p:set>
                                      <p:cBhvr>
                                        <p:cTn id="39" dur="1" fill="hold">
                                          <p:stCondLst>
                                            <p:cond delay="0"/>
                                          </p:stCondLst>
                                        </p:cTn>
                                        <p:tgtEl>
                                          <p:spTgt spid="17"/>
                                        </p:tgtEl>
                                        <p:attrNameLst>
                                          <p:attrName>style.visibility</p:attrName>
                                        </p:attrNameLst>
                                      </p:cBhvr>
                                      <p:to>
                                        <p:strVal val="visible"/>
                                      </p:to>
                                    </p:set>
                                    <p:anim calcmode="lin" valueType="num">
                                      <p:cBhvr>
                                        <p:cTn id="40" dur="400" fill="hold"/>
                                        <p:tgtEl>
                                          <p:spTgt spid="17"/>
                                        </p:tgtEl>
                                        <p:attrNameLst>
                                          <p:attrName>ppt_w</p:attrName>
                                        </p:attrNameLst>
                                      </p:cBhvr>
                                      <p:tavLst>
                                        <p:tav tm="0">
                                          <p:val>
                                            <p:strVal val="#ppt_w*2.5"/>
                                          </p:val>
                                        </p:tav>
                                        <p:tav tm="100000">
                                          <p:val>
                                            <p:strVal val="#ppt_w"/>
                                          </p:val>
                                        </p:tav>
                                      </p:tavLst>
                                    </p:anim>
                                    <p:anim calcmode="lin" valueType="num">
                                      <p:cBhvr>
                                        <p:cTn id="41" dur="400" fill="hold"/>
                                        <p:tgtEl>
                                          <p:spTgt spid="17"/>
                                        </p:tgtEl>
                                        <p:attrNameLst>
                                          <p:attrName>ppt_h</p:attrName>
                                        </p:attrNameLst>
                                      </p:cBhvr>
                                      <p:tavLst>
                                        <p:tav tm="0">
                                          <p:val>
                                            <p:strVal val="#ppt_h*0.01"/>
                                          </p:val>
                                        </p:tav>
                                        <p:tav tm="100000">
                                          <p:val>
                                            <p:strVal val="#ppt_h"/>
                                          </p:val>
                                        </p:tav>
                                      </p:tavLst>
                                    </p:anim>
                                    <p:anim calcmode="lin" valueType="num">
                                      <p:cBhvr>
                                        <p:cTn id="42" dur="400" fill="hold"/>
                                        <p:tgtEl>
                                          <p:spTgt spid="17"/>
                                        </p:tgtEl>
                                        <p:attrNameLst>
                                          <p:attrName>ppt_x</p:attrName>
                                        </p:attrNameLst>
                                      </p:cBhvr>
                                      <p:tavLst>
                                        <p:tav tm="0">
                                          <p:val>
                                            <p:strVal val="#ppt_x"/>
                                          </p:val>
                                        </p:tav>
                                        <p:tav tm="100000">
                                          <p:val>
                                            <p:strVal val="#ppt_x"/>
                                          </p:val>
                                        </p:tav>
                                      </p:tavLst>
                                    </p:anim>
                                    <p:anim calcmode="lin" valueType="num">
                                      <p:cBhvr>
                                        <p:cTn id="43" dur="400" fill="hold"/>
                                        <p:tgtEl>
                                          <p:spTgt spid="17"/>
                                        </p:tgtEl>
                                        <p:attrNameLst>
                                          <p:attrName>ppt_y</p:attrName>
                                        </p:attrNameLst>
                                      </p:cBhvr>
                                      <p:tavLst>
                                        <p:tav tm="0">
                                          <p:val>
                                            <p:strVal val="#ppt_h+1"/>
                                          </p:val>
                                        </p:tav>
                                        <p:tav tm="100000">
                                          <p:val>
                                            <p:strVal val="#ppt_y"/>
                                          </p:val>
                                        </p:tav>
                                      </p:tavLst>
                                    </p:anim>
                                    <p:animEffect transition="in" filter="fade">
                                      <p:cBhvr>
                                        <p:cTn id="44" dur="400"/>
                                        <p:tgtEl>
                                          <p:spTgt spid="17"/>
                                        </p:tgtEl>
                                      </p:cBhvr>
                                    </p:animEffect>
                                  </p:childTnLst>
                                </p:cTn>
                              </p:par>
                              <p:par>
                                <p:cTn id="45" presetID="58" presetClass="entr" presetSubtype="0" accel="100000" fill="hold" grpId="0" nodeType="withEffect">
                                  <p:stCondLst>
                                    <p:cond delay="8900"/>
                                  </p:stCondLst>
                                  <p:childTnLst>
                                    <p:set>
                                      <p:cBhvr>
                                        <p:cTn id="46" dur="1" fill="hold">
                                          <p:stCondLst>
                                            <p:cond delay="0"/>
                                          </p:stCondLst>
                                        </p:cTn>
                                        <p:tgtEl>
                                          <p:spTgt spid="18"/>
                                        </p:tgtEl>
                                        <p:attrNameLst>
                                          <p:attrName>style.visibility</p:attrName>
                                        </p:attrNameLst>
                                      </p:cBhvr>
                                      <p:to>
                                        <p:strVal val="visible"/>
                                      </p:to>
                                    </p:set>
                                    <p:anim calcmode="lin" valueType="num">
                                      <p:cBhvr>
                                        <p:cTn id="47" dur="400" fill="hold"/>
                                        <p:tgtEl>
                                          <p:spTgt spid="18"/>
                                        </p:tgtEl>
                                        <p:attrNameLst>
                                          <p:attrName>ppt_w</p:attrName>
                                        </p:attrNameLst>
                                      </p:cBhvr>
                                      <p:tavLst>
                                        <p:tav tm="0">
                                          <p:val>
                                            <p:strVal val="#ppt_w*2.5"/>
                                          </p:val>
                                        </p:tav>
                                        <p:tav tm="100000">
                                          <p:val>
                                            <p:strVal val="#ppt_w"/>
                                          </p:val>
                                        </p:tav>
                                      </p:tavLst>
                                    </p:anim>
                                    <p:anim calcmode="lin" valueType="num">
                                      <p:cBhvr>
                                        <p:cTn id="48" dur="400" fill="hold"/>
                                        <p:tgtEl>
                                          <p:spTgt spid="18"/>
                                        </p:tgtEl>
                                        <p:attrNameLst>
                                          <p:attrName>ppt_h</p:attrName>
                                        </p:attrNameLst>
                                      </p:cBhvr>
                                      <p:tavLst>
                                        <p:tav tm="0">
                                          <p:val>
                                            <p:strVal val="#ppt_h*0.01"/>
                                          </p:val>
                                        </p:tav>
                                        <p:tav tm="100000">
                                          <p:val>
                                            <p:strVal val="#ppt_h"/>
                                          </p:val>
                                        </p:tav>
                                      </p:tavLst>
                                    </p:anim>
                                    <p:anim calcmode="lin" valueType="num">
                                      <p:cBhvr>
                                        <p:cTn id="49" dur="400" fill="hold"/>
                                        <p:tgtEl>
                                          <p:spTgt spid="18"/>
                                        </p:tgtEl>
                                        <p:attrNameLst>
                                          <p:attrName>ppt_x</p:attrName>
                                        </p:attrNameLst>
                                      </p:cBhvr>
                                      <p:tavLst>
                                        <p:tav tm="0">
                                          <p:val>
                                            <p:strVal val="#ppt_x"/>
                                          </p:val>
                                        </p:tav>
                                        <p:tav tm="100000">
                                          <p:val>
                                            <p:strVal val="#ppt_x"/>
                                          </p:val>
                                        </p:tav>
                                      </p:tavLst>
                                    </p:anim>
                                    <p:anim calcmode="lin" valueType="num">
                                      <p:cBhvr>
                                        <p:cTn id="50" dur="400" fill="hold"/>
                                        <p:tgtEl>
                                          <p:spTgt spid="18"/>
                                        </p:tgtEl>
                                        <p:attrNameLst>
                                          <p:attrName>ppt_y</p:attrName>
                                        </p:attrNameLst>
                                      </p:cBhvr>
                                      <p:tavLst>
                                        <p:tav tm="0">
                                          <p:val>
                                            <p:strVal val="#ppt_h+1"/>
                                          </p:val>
                                        </p:tav>
                                        <p:tav tm="100000">
                                          <p:val>
                                            <p:strVal val="#ppt_y"/>
                                          </p:val>
                                        </p:tav>
                                      </p:tavLst>
                                    </p:anim>
                                    <p:animEffect transition="in" filter="fade">
                                      <p:cBhvr>
                                        <p:cTn id="51" dur="400"/>
                                        <p:tgtEl>
                                          <p:spTgt spid="18"/>
                                        </p:tgtEl>
                                      </p:cBhvr>
                                    </p:animEffect>
                                  </p:childTnLst>
                                </p:cTn>
                              </p:par>
                              <p:par>
                                <p:cTn id="52" presetID="58" presetClass="entr" presetSubtype="0" accel="100000" fill="hold" grpId="0" nodeType="withEffect">
                                  <p:stCondLst>
                                    <p:cond delay="9400"/>
                                  </p:stCondLst>
                                  <p:childTnLst>
                                    <p:set>
                                      <p:cBhvr>
                                        <p:cTn id="53" dur="1" fill="hold">
                                          <p:stCondLst>
                                            <p:cond delay="0"/>
                                          </p:stCondLst>
                                        </p:cTn>
                                        <p:tgtEl>
                                          <p:spTgt spid="19"/>
                                        </p:tgtEl>
                                        <p:attrNameLst>
                                          <p:attrName>style.visibility</p:attrName>
                                        </p:attrNameLst>
                                      </p:cBhvr>
                                      <p:to>
                                        <p:strVal val="visible"/>
                                      </p:to>
                                    </p:set>
                                    <p:anim calcmode="lin" valueType="num">
                                      <p:cBhvr>
                                        <p:cTn id="54" dur="400" fill="hold"/>
                                        <p:tgtEl>
                                          <p:spTgt spid="19"/>
                                        </p:tgtEl>
                                        <p:attrNameLst>
                                          <p:attrName>ppt_w</p:attrName>
                                        </p:attrNameLst>
                                      </p:cBhvr>
                                      <p:tavLst>
                                        <p:tav tm="0">
                                          <p:val>
                                            <p:strVal val="#ppt_w*2.5"/>
                                          </p:val>
                                        </p:tav>
                                        <p:tav tm="100000">
                                          <p:val>
                                            <p:strVal val="#ppt_w"/>
                                          </p:val>
                                        </p:tav>
                                      </p:tavLst>
                                    </p:anim>
                                    <p:anim calcmode="lin" valueType="num">
                                      <p:cBhvr>
                                        <p:cTn id="55" dur="400" fill="hold"/>
                                        <p:tgtEl>
                                          <p:spTgt spid="19"/>
                                        </p:tgtEl>
                                        <p:attrNameLst>
                                          <p:attrName>ppt_h</p:attrName>
                                        </p:attrNameLst>
                                      </p:cBhvr>
                                      <p:tavLst>
                                        <p:tav tm="0">
                                          <p:val>
                                            <p:strVal val="#ppt_h*0.01"/>
                                          </p:val>
                                        </p:tav>
                                        <p:tav tm="100000">
                                          <p:val>
                                            <p:strVal val="#ppt_h"/>
                                          </p:val>
                                        </p:tav>
                                      </p:tavLst>
                                    </p:anim>
                                    <p:anim calcmode="lin" valueType="num">
                                      <p:cBhvr>
                                        <p:cTn id="56" dur="400" fill="hold"/>
                                        <p:tgtEl>
                                          <p:spTgt spid="19"/>
                                        </p:tgtEl>
                                        <p:attrNameLst>
                                          <p:attrName>ppt_x</p:attrName>
                                        </p:attrNameLst>
                                      </p:cBhvr>
                                      <p:tavLst>
                                        <p:tav tm="0">
                                          <p:val>
                                            <p:strVal val="#ppt_x"/>
                                          </p:val>
                                        </p:tav>
                                        <p:tav tm="100000">
                                          <p:val>
                                            <p:strVal val="#ppt_x"/>
                                          </p:val>
                                        </p:tav>
                                      </p:tavLst>
                                    </p:anim>
                                    <p:anim calcmode="lin" valueType="num">
                                      <p:cBhvr>
                                        <p:cTn id="57" dur="400" fill="hold"/>
                                        <p:tgtEl>
                                          <p:spTgt spid="19"/>
                                        </p:tgtEl>
                                        <p:attrNameLst>
                                          <p:attrName>ppt_y</p:attrName>
                                        </p:attrNameLst>
                                      </p:cBhvr>
                                      <p:tavLst>
                                        <p:tav tm="0">
                                          <p:val>
                                            <p:strVal val="#ppt_h+1"/>
                                          </p:val>
                                        </p:tav>
                                        <p:tav tm="100000">
                                          <p:val>
                                            <p:strVal val="#ppt_y"/>
                                          </p:val>
                                        </p:tav>
                                      </p:tavLst>
                                    </p:anim>
                                    <p:animEffect transition="in" filter="fade">
                                      <p:cBhvr>
                                        <p:cTn id="58" dur="400"/>
                                        <p:tgtEl>
                                          <p:spTgt spid="19"/>
                                        </p:tgtEl>
                                      </p:cBhvr>
                                    </p:animEffect>
                                  </p:childTnLst>
                                </p:cTn>
                              </p:par>
                              <p:par>
                                <p:cTn id="59" presetID="10" presetClass="entr" presetSubtype="0" fill="hold" nodeType="withEffect">
                                  <p:stCondLst>
                                    <p:cond delay="1780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2" presetClass="entr" presetSubtype="4" fill="hold" nodeType="withEffect">
                                  <p:stCondLst>
                                    <p:cond delay="1800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600" fill="hold"/>
                                        <p:tgtEl>
                                          <p:spTgt spid="25"/>
                                        </p:tgtEl>
                                        <p:attrNameLst>
                                          <p:attrName>ppt_x</p:attrName>
                                        </p:attrNameLst>
                                      </p:cBhvr>
                                      <p:tavLst>
                                        <p:tav tm="0">
                                          <p:val>
                                            <p:strVal val="#ppt_x"/>
                                          </p:val>
                                        </p:tav>
                                        <p:tav tm="100000">
                                          <p:val>
                                            <p:strVal val="#ppt_x"/>
                                          </p:val>
                                        </p:tav>
                                      </p:tavLst>
                                    </p:anim>
                                    <p:anim calcmode="lin" valueType="num">
                                      <p:cBhvr additive="base">
                                        <p:cTn id="65" dur="600" fill="hold"/>
                                        <p:tgtEl>
                                          <p:spTgt spid="25"/>
                                        </p:tgtEl>
                                        <p:attrNameLst>
                                          <p:attrName>ppt_y</p:attrName>
                                        </p:attrNameLst>
                                      </p:cBhvr>
                                      <p:tavLst>
                                        <p:tav tm="0">
                                          <p:val>
                                            <p:strVal val="1+#ppt_h/2"/>
                                          </p:val>
                                        </p:tav>
                                        <p:tav tm="100000">
                                          <p:val>
                                            <p:strVal val="#ppt_y"/>
                                          </p:val>
                                        </p:tav>
                                      </p:tavLst>
                                    </p:anim>
                                  </p:childTnLst>
                                </p:cTn>
                              </p:par>
                              <p:par>
                                <p:cTn id="66" presetID="10" presetClass="entr" presetSubtype="0" fill="hold" grpId="0" nodeType="withEffect">
                                  <p:stCondLst>
                                    <p:cond delay="1960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600"/>
                                        <p:tgtEl>
                                          <p:spTgt spid="27"/>
                                        </p:tgtEl>
                                      </p:cBhvr>
                                    </p:animEffect>
                                  </p:childTnLst>
                                </p:cTn>
                              </p:par>
                              <p:par>
                                <p:cTn id="69" presetID="10" presetClass="entr" presetSubtype="0" fill="hold" nodeType="withEffect">
                                  <p:stCondLst>
                                    <p:cond delay="2580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00"/>
                                        <p:tgtEl>
                                          <p:spTgt spid="34"/>
                                        </p:tgtEl>
                                      </p:cBhvr>
                                    </p:animEffect>
                                  </p:childTnLst>
                                </p:cTn>
                              </p:par>
                              <p:par>
                                <p:cTn id="72" presetID="2" presetClass="entr" presetSubtype="4" fill="hold" nodeType="withEffect">
                                  <p:stCondLst>
                                    <p:cond delay="26000"/>
                                  </p:stCondLst>
                                  <p:childTnLst>
                                    <p:set>
                                      <p:cBhvr>
                                        <p:cTn id="73" dur="1" fill="hold">
                                          <p:stCondLst>
                                            <p:cond delay="0"/>
                                          </p:stCondLst>
                                        </p:cTn>
                                        <p:tgtEl>
                                          <p:spTgt spid="33"/>
                                        </p:tgtEl>
                                        <p:attrNameLst>
                                          <p:attrName>style.visibility</p:attrName>
                                        </p:attrNameLst>
                                      </p:cBhvr>
                                      <p:to>
                                        <p:strVal val="visible"/>
                                      </p:to>
                                    </p:set>
                                    <p:anim calcmode="lin" valueType="num">
                                      <p:cBhvr additive="base">
                                        <p:cTn id="74" dur="600" fill="hold"/>
                                        <p:tgtEl>
                                          <p:spTgt spid="33"/>
                                        </p:tgtEl>
                                        <p:attrNameLst>
                                          <p:attrName>ppt_x</p:attrName>
                                        </p:attrNameLst>
                                      </p:cBhvr>
                                      <p:tavLst>
                                        <p:tav tm="0">
                                          <p:val>
                                            <p:strVal val="#ppt_x"/>
                                          </p:val>
                                        </p:tav>
                                        <p:tav tm="100000">
                                          <p:val>
                                            <p:strVal val="#ppt_x"/>
                                          </p:val>
                                        </p:tav>
                                      </p:tavLst>
                                    </p:anim>
                                    <p:anim calcmode="lin" valueType="num">
                                      <p:cBhvr additive="base">
                                        <p:cTn id="75" dur="600" fill="hold"/>
                                        <p:tgtEl>
                                          <p:spTgt spid="33"/>
                                        </p:tgtEl>
                                        <p:attrNameLst>
                                          <p:attrName>ppt_y</p:attrName>
                                        </p:attrNameLst>
                                      </p:cBhvr>
                                      <p:tavLst>
                                        <p:tav tm="0">
                                          <p:val>
                                            <p:strVal val="1+#ppt_h/2"/>
                                          </p:val>
                                        </p:tav>
                                        <p:tav tm="100000">
                                          <p:val>
                                            <p:strVal val="#ppt_y"/>
                                          </p:val>
                                        </p:tav>
                                      </p:tavLst>
                                    </p:anim>
                                  </p:childTnLst>
                                </p:cTn>
                              </p:par>
                              <p:par>
                                <p:cTn id="76" presetID="58" presetClass="entr" presetSubtype="0" accel="100000" fill="hold" grpId="0" nodeType="withEffect">
                                  <p:stCondLst>
                                    <p:cond delay="29000"/>
                                  </p:stCondLst>
                                  <p:childTnLst>
                                    <p:set>
                                      <p:cBhvr>
                                        <p:cTn id="77" dur="1" fill="hold">
                                          <p:stCondLst>
                                            <p:cond delay="0"/>
                                          </p:stCondLst>
                                        </p:cTn>
                                        <p:tgtEl>
                                          <p:spTgt spid="35"/>
                                        </p:tgtEl>
                                        <p:attrNameLst>
                                          <p:attrName>style.visibility</p:attrName>
                                        </p:attrNameLst>
                                      </p:cBhvr>
                                      <p:to>
                                        <p:strVal val="visible"/>
                                      </p:to>
                                    </p:set>
                                    <p:anim calcmode="lin" valueType="num">
                                      <p:cBhvr>
                                        <p:cTn id="78" dur="400" fill="hold"/>
                                        <p:tgtEl>
                                          <p:spTgt spid="35"/>
                                        </p:tgtEl>
                                        <p:attrNameLst>
                                          <p:attrName>ppt_w</p:attrName>
                                        </p:attrNameLst>
                                      </p:cBhvr>
                                      <p:tavLst>
                                        <p:tav tm="0">
                                          <p:val>
                                            <p:strVal val="#ppt_w*2.5"/>
                                          </p:val>
                                        </p:tav>
                                        <p:tav tm="100000">
                                          <p:val>
                                            <p:strVal val="#ppt_w"/>
                                          </p:val>
                                        </p:tav>
                                      </p:tavLst>
                                    </p:anim>
                                    <p:anim calcmode="lin" valueType="num">
                                      <p:cBhvr>
                                        <p:cTn id="79" dur="400" fill="hold"/>
                                        <p:tgtEl>
                                          <p:spTgt spid="35"/>
                                        </p:tgtEl>
                                        <p:attrNameLst>
                                          <p:attrName>ppt_h</p:attrName>
                                        </p:attrNameLst>
                                      </p:cBhvr>
                                      <p:tavLst>
                                        <p:tav tm="0">
                                          <p:val>
                                            <p:strVal val="#ppt_h*0.01"/>
                                          </p:val>
                                        </p:tav>
                                        <p:tav tm="100000">
                                          <p:val>
                                            <p:strVal val="#ppt_h"/>
                                          </p:val>
                                        </p:tav>
                                      </p:tavLst>
                                    </p:anim>
                                    <p:anim calcmode="lin" valueType="num">
                                      <p:cBhvr>
                                        <p:cTn id="80" dur="400" fill="hold"/>
                                        <p:tgtEl>
                                          <p:spTgt spid="35"/>
                                        </p:tgtEl>
                                        <p:attrNameLst>
                                          <p:attrName>ppt_x</p:attrName>
                                        </p:attrNameLst>
                                      </p:cBhvr>
                                      <p:tavLst>
                                        <p:tav tm="0">
                                          <p:val>
                                            <p:strVal val="#ppt_x"/>
                                          </p:val>
                                        </p:tav>
                                        <p:tav tm="100000">
                                          <p:val>
                                            <p:strVal val="#ppt_x"/>
                                          </p:val>
                                        </p:tav>
                                      </p:tavLst>
                                    </p:anim>
                                    <p:anim calcmode="lin" valueType="num">
                                      <p:cBhvr>
                                        <p:cTn id="81" dur="400" fill="hold"/>
                                        <p:tgtEl>
                                          <p:spTgt spid="35"/>
                                        </p:tgtEl>
                                        <p:attrNameLst>
                                          <p:attrName>ppt_y</p:attrName>
                                        </p:attrNameLst>
                                      </p:cBhvr>
                                      <p:tavLst>
                                        <p:tav tm="0">
                                          <p:val>
                                            <p:strVal val="#ppt_h+1"/>
                                          </p:val>
                                        </p:tav>
                                        <p:tav tm="100000">
                                          <p:val>
                                            <p:strVal val="#ppt_y"/>
                                          </p:val>
                                        </p:tav>
                                      </p:tavLst>
                                    </p:anim>
                                    <p:animEffect transition="in" filter="fade">
                                      <p:cBhvr>
                                        <p:cTn id="82" dur="400"/>
                                        <p:tgtEl>
                                          <p:spTgt spid="35"/>
                                        </p:tgtEl>
                                      </p:cBhvr>
                                    </p:animEffect>
                                  </p:childTnLst>
                                </p:cTn>
                              </p:par>
                              <p:par>
                                <p:cTn id="83" presetID="58" presetClass="entr" presetSubtype="0" accel="100000" fill="hold" grpId="0" nodeType="withEffect">
                                  <p:stCondLst>
                                    <p:cond delay="29400"/>
                                  </p:stCondLst>
                                  <p:childTnLst>
                                    <p:set>
                                      <p:cBhvr>
                                        <p:cTn id="84" dur="1" fill="hold">
                                          <p:stCondLst>
                                            <p:cond delay="0"/>
                                          </p:stCondLst>
                                        </p:cTn>
                                        <p:tgtEl>
                                          <p:spTgt spid="36"/>
                                        </p:tgtEl>
                                        <p:attrNameLst>
                                          <p:attrName>style.visibility</p:attrName>
                                        </p:attrNameLst>
                                      </p:cBhvr>
                                      <p:to>
                                        <p:strVal val="visible"/>
                                      </p:to>
                                    </p:set>
                                    <p:anim calcmode="lin" valueType="num">
                                      <p:cBhvr>
                                        <p:cTn id="85" dur="400" fill="hold"/>
                                        <p:tgtEl>
                                          <p:spTgt spid="36"/>
                                        </p:tgtEl>
                                        <p:attrNameLst>
                                          <p:attrName>ppt_w</p:attrName>
                                        </p:attrNameLst>
                                      </p:cBhvr>
                                      <p:tavLst>
                                        <p:tav tm="0">
                                          <p:val>
                                            <p:strVal val="#ppt_w*2.5"/>
                                          </p:val>
                                        </p:tav>
                                        <p:tav tm="100000">
                                          <p:val>
                                            <p:strVal val="#ppt_w"/>
                                          </p:val>
                                        </p:tav>
                                      </p:tavLst>
                                    </p:anim>
                                    <p:anim calcmode="lin" valueType="num">
                                      <p:cBhvr>
                                        <p:cTn id="86" dur="400" fill="hold"/>
                                        <p:tgtEl>
                                          <p:spTgt spid="36"/>
                                        </p:tgtEl>
                                        <p:attrNameLst>
                                          <p:attrName>ppt_h</p:attrName>
                                        </p:attrNameLst>
                                      </p:cBhvr>
                                      <p:tavLst>
                                        <p:tav tm="0">
                                          <p:val>
                                            <p:strVal val="#ppt_h*0.01"/>
                                          </p:val>
                                        </p:tav>
                                        <p:tav tm="100000">
                                          <p:val>
                                            <p:strVal val="#ppt_h"/>
                                          </p:val>
                                        </p:tav>
                                      </p:tavLst>
                                    </p:anim>
                                    <p:anim calcmode="lin" valueType="num">
                                      <p:cBhvr>
                                        <p:cTn id="87" dur="400" fill="hold"/>
                                        <p:tgtEl>
                                          <p:spTgt spid="36"/>
                                        </p:tgtEl>
                                        <p:attrNameLst>
                                          <p:attrName>ppt_x</p:attrName>
                                        </p:attrNameLst>
                                      </p:cBhvr>
                                      <p:tavLst>
                                        <p:tav tm="0">
                                          <p:val>
                                            <p:strVal val="#ppt_x"/>
                                          </p:val>
                                        </p:tav>
                                        <p:tav tm="100000">
                                          <p:val>
                                            <p:strVal val="#ppt_x"/>
                                          </p:val>
                                        </p:tav>
                                      </p:tavLst>
                                    </p:anim>
                                    <p:anim calcmode="lin" valueType="num">
                                      <p:cBhvr>
                                        <p:cTn id="88" dur="400" fill="hold"/>
                                        <p:tgtEl>
                                          <p:spTgt spid="36"/>
                                        </p:tgtEl>
                                        <p:attrNameLst>
                                          <p:attrName>ppt_y</p:attrName>
                                        </p:attrNameLst>
                                      </p:cBhvr>
                                      <p:tavLst>
                                        <p:tav tm="0">
                                          <p:val>
                                            <p:strVal val="#ppt_h+1"/>
                                          </p:val>
                                        </p:tav>
                                        <p:tav tm="100000">
                                          <p:val>
                                            <p:strVal val="#ppt_y"/>
                                          </p:val>
                                        </p:tav>
                                      </p:tavLst>
                                    </p:anim>
                                    <p:animEffect transition="in" filter="fade">
                                      <p:cBhvr>
                                        <p:cTn id="89" dur="400"/>
                                        <p:tgtEl>
                                          <p:spTgt spid="36"/>
                                        </p:tgtEl>
                                      </p:cBhvr>
                                    </p:animEffect>
                                  </p:childTnLst>
                                </p:cTn>
                              </p:par>
                              <p:par>
                                <p:cTn id="90" presetID="58" presetClass="entr" presetSubtype="0" accel="100000" fill="hold" grpId="0" nodeType="withEffect">
                                  <p:stCondLst>
                                    <p:cond delay="29800"/>
                                  </p:stCondLst>
                                  <p:childTnLst>
                                    <p:set>
                                      <p:cBhvr>
                                        <p:cTn id="91" dur="1" fill="hold">
                                          <p:stCondLst>
                                            <p:cond delay="0"/>
                                          </p:stCondLst>
                                        </p:cTn>
                                        <p:tgtEl>
                                          <p:spTgt spid="37"/>
                                        </p:tgtEl>
                                        <p:attrNameLst>
                                          <p:attrName>style.visibility</p:attrName>
                                        </p:attrNameLst>
                                      </p:cBhvr>
                                      <p:to>
                                        <p:strVal val="visible"/>
                                      </p:to>
                                    </p:set>
                                    <p:anim calcmode="lin" valueType="num">
                                      <p:cBhvr>
                                        <p:cTn id="92" dur="400" fill="hold"/>
                                        <p:tgtEl>
                                          <p:spTgt spid="37"/>
                                        </p:tgtEl>
                                        <p:attrNameLst>
                                          <p:attrName>ppt_w</p:attrName>
                                        </p:attrNameLst>
                                      </p:cBhvr>
                                      <p:tavLst>
                                        <p:tav tm="0">
                                          <p:val>
                                            <p:strVal val="#ppt_w*2.5"/>
                                          </p:val>
                                        </p:tav>
                                        <p:tav tm="100000">
                                          <p:val>
                                            <p:strVal val="#ppt_w"/>
                                          </p:val>
                                        </p:tav>
                                      </p:tavLst>
                                    </p:anim>
                                    <p:anim calcmode="lin" valueType="num">
                                      <p:cBhvr>
                                        <p:cTn id="93" dur="400" fill="hold"/>
                                        <p:tgtEl>
                                          <p:spTgt spid="37"/>
                                        </p:tgtEl>
                                        <p:attrNameLst>
                                          <p:attrName>ppt_h</p:attrName>
                                        </p:attrNameLst>
                                      </p:cBhvr>
                                      <p:tavLst>
                                        <p:tav tm="0">
                                          <p:val>
                                            <p:strVal val="#ppt_h*0.01"/>
                                          </p:val>
                                        </p:tav>
                                        <p:tav tm="100000">
                                          <p:val>
                                            <p:strVal val="#ppt_h"/>
                                          </p:val>
                                        </p:tav>
                                      </p:tavLst>
                                    </p:anim>
                                    <p:anim calcmode="lin" valueType="num">
                                      <p:cBhvr>
                                        <p:cTn id="94" dur="400" fill="hold"/>
                                        <p:tgtEl>
                                          <p:spTgt spid="37"/>
                                        </p:tgtEl>
                                        <p:attrNameLst>
                                          <p:attrName>ppt_x</p:attrName>
                                        </p:attrNameLst>
                                      </p:cBhvr>
                                      <p:tavLst>
                                        <p:tav tm="0">
                                          <p:val>
                                            <p:strVal val="#ppt_x"/>
                                          </p:val>
                                        </p:tav>
                                        <p:tav tm="100000">
                                          <p:val>
                                            <p:strVal val="#ppt_x"/>
                                          </p:val>
                                        </p:tav>
                                      </p:tavLst>
                                    </p:anim>
                                    <p:anim calcmode="lin" valueType="num">
                                      <p:cBhvr>
                                        <p:cTn id="95" dur="400" fill="hold"/>
                                        <p:tgtEl>
                                          <p:spTgt spid="37"/>
                                        </p:tgtEl>
                                        <p:attrNameLst>
                                          <p:attrName>ppt_y</p:attrName>
                                        </p:attrNameLst>
                                      </p:cBhvr>
                                      <p:tavLst>
                                        <p:tav tm="0">
                                          <p:val>
                                            <p:strVal val="#ppt_h+1"/>
                                          </p:val>
                                        </p:tav>
                                        <p:tav tm="100000">
                                          <p:val>
                                            <p:strVal val="#ppt_y"/>
                                          </p:val>
                                        </p:tav>
                                      </p:tavLst>
                                    </p:anim>
                                    <p:animEffect transition="in" filter="fade">
                                      <p:cBhvr>
                                        <p:cTn id="96"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4" grpId="0"/>
      <p:bldP spid="15" grpId="0" animBg="1"/>
      <p:bldP spid="16" grpId="0" animBg="1"/>
      <p:bldP spid="17" grpId="0" animBg="1"/>
      <p:bldP spid="18" grpId="0" animBg="1"/>
      <p:bldP spid="19" grpId="0" animBg="1"/>
      <p:bldP spid="27" grpId="0" animBg="1"/>
      <p:bldP spid="35" grpId="0" animBg="1"/>
      <p:bldP spid="36"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Mix and match</a:t>
            </a:r>
          </a:p>
        </p:txBody>
      </p:sp>
      <p:pic>
        <p:nvPicPr>
          <p:cNvPr id="3" name="Clip 0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500"/>
    </mc:Choice>
    <mc:Fallback>
      <p:transition spd="slow" advTm="2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How you know it's a Canvas</a:t>
            </a:r>
          </a:p>
        </p:txBody>
      </p:sp>
      <p:pic>
        <p:nvPicPr>
          <p:cNvPr id="3" name="Clip 0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300"/>
    </mc:Choice>
    <mc:Fallback>
      <p:transition spd="slow" advTm="2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the test kit in the Canvas Portal</a:t>
            </a:r>
          </a:p>
        </p:txBody>
      </p:sp>
      <p:pic>
        <p:nvPicPr>
          <p:cNvPr id="3" name="Clip 0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500"/>
    </mc:Choice>
    <mc:Fallback>
      <p:transition spd="slow" advTm="2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Operators are the modules</a:t>
            </a:r>
          </a:p>
        </p:txBody>
      </p:sp>
      <p:pic>
        <p:nvPicPr>
          <p:cNvPr id="3" name="Clip 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100"/>
    </mc:Choice>
    <mc:Fallback>
      <p:transition spd="slow" advTm="25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The operator catalogue</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1FC7A8"/>
                </a:solidFill>
                <a:latin typeface="Segoe UI"/>
              </a:rPr>
              <a:t>CANVAS OPERATORS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The operator catalogue</a:t>
            </a:r>
          </a:p>
        </p:txBody>
      </p:sp>
      <p:grpSp>
        <p:nvGrpSpPr>
          <p:cNvPr id="8" name="Available header"/>
          <p:cNvGrpSpPr/>
          <p:nvPr/>
        </p:nvGrpSpPr>
        <p:grpSpPr>
          <a:xfrm>
            <a:off x="762000" y="1485900"/>
            <a:ext cx="3403600" cy="317500"/>
            <a:chOff x="762000" y="1485900"/>
            <a:chExt cx="3403600" cy="317500"/>
          </a:xfrm>
        </p:grpSpPr>
        <p:pic>
          <p:nvPicPr>
            <p:cNvPr id="6" name="Shape 4" descr="icon-check-22c55e.png"/>
            <p:cNvPicPr>
              <a:picLocks noChangeAspect="1"/>
            </p:cNvPicPr>
            <p:nvPr/>
          </p:nvPicPr>
          <p:blipFill>
            <a:blip r:embed="rId4"/>
            <a:stretch>
              <a:fillRect/>
            </a:stretch>
          </p:blipFill>
          <p:spPr>
            <a:xfrm>
              <a:off x="762000" y="1498600"/>
              <a:ext cx="279400" cy="279400"/>
            </a:xfrm>
            <a:prstGeom prst="rect">
              <a:avLst/>
            </a:prstGeom>
          </p:spPr>
        </p:pic>
        <p:sp>
          <p:nvSpPr>
            <p:cNvPr id="7" name="Shape 5"/>
            <p:cNvSpPr txBox="1"/>
            <p:nvPr/>
          </p:nvSpPr>
          <p:spPr>
            <a:xfrm>
              <a:off x="1117600" y="1485900"/>
              <a:ext cx="3048000" cy="317500"/>
            </a:xfrm>
            <a:prstGeom prst="rect">
              <a:avLst/>
            </a:prstGeom>
            <a:noFill/>
          </p:spPr>
          <p:txBody>
            <a:bodyPr wrap="square" lIns="0" tIns="0" rIns="0" bIns="0" anchor="t">
              <a:spAutoFit/>
            </a:bodyPr>
            <a:lstStyle/>
            <a:p>
              <a:pPr algn="l">
                <a:lnSpc>
                  <a:spcPct val="115000"/>
                </a:lnSpc>
              </a:pPr>
              <a:r>
                <a:rPr sz="1700" b="1">
                  <a:solidFill>
                    <a:srgbClr val="22C55E"/>
                  </a:solidFill>
                  <a:latin typeface="Segoe UI"/>
                </a:rPr>
                <a:t>Available now</a:t>
              </a:r>
            </a:p>
          </p:txBody>
        </p:sp>
      </p:grpSp>
      <p:grpSp>
        <p:nvGrpSpPr>
          <p:cNvPr id="12" name="Available 1"/>
          <p:cNvGrpSpPr/>
          <p:nvPr/>
        </p:nvGrpSpPr>
        <p:grpSpPr>
          <a:xfrm>
            <a:off x="762000" y="1968500"/>
            <a:ext cx="3429000" cy="381000"/>
            <a:chOff x="762000" y="1968500"/>
            <a:chExt cx="3429000" cy="381000"/>
          </a:xfrm>
        </p:grpSpPr>
        <p:sp>
          <p:nvSpPr>
            <p:cNvPr id="9" name="Shape 7"/>
            <p:cNvSpPr/>
            <p:nvPr/>
          </p:nvSpPr>
          <p:spPr>
            <a:xfrm>
              <a:off x="762000" y="1968500"/>
              <a:ext cx="3429000" cy="381000"/>
            </a:xfrm>
            <a:prstGeom prst="roundRect">
              <a:avLst>
                <a:gd name="adj" fmla="val 20000"/>
              </a:avLst>
            </a:prstGeom>
            <a:solidFill>
              <a:srgbClr val="1FC7A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hape 8"/>
            <p:cNvSpPr/>
            <p:nvPr/>
          </p:nvSpPr>
          <p:spPr>
            <a:xfrm>
              <a:off x="762000" y="1968500"/>
              <a:ext cx="50800" cy="381000"/>
            </a:xfrm>
            <a:prstGeom prst="rect">
              <a:avLst/>
            </a:prstGeom>
            <a:solidFill>
              <a:srgbClr val="1FC7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p:cNvSpPr txBox="1"/>
            <p:nvPr/>
          </p:nvSpPr>
          <p:spPr>
            <a:xfrm>
              <a:off x="927100" y="19685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001 Component Management</a:t>
              </a:r>
            </a:p>
          </p:txBody>
        </p:sp>
      </p:grpSp>
      <p:grpSp>
        <p:nvGrpSpPr>
          <p:cNvPr id="16" name="Available 2"/>
          <p:cNvGrpSpPr/>
          <p:nvPr/>
        </p:nvGrpSpPr>
        <p:grpSpPr>
          <a:xfrm>
            <a:off x="762000" y="2425700"/>
            <a:ext cx="3429000" cy="381000"/>
            <a:chOff x="762000" y="2425700"/>
            <a:chExt cx="3429000" cy="381000"/>
          </a:xfrm>
        </p:grpSpPr>
        <p:sp>
          <p:nvSpPr>
            <p:cNvPr id="13" name="Shape 11"/>
            <p:cNvSpPr/>
            <p:nvPr/>
          </p:nvSpPr>
          <p:spPr>
            <a:xfrm>
              <a:off x="762000" y="2425700"/>
              <a:ext cx="3429000" cy="381000"/>
            </a:xfrm>
            <a:prstGeom prst="roundRect">
              <a:avLst>
                <a:gd name="adj" fmla="val 20000"/>
              </a:avLst>
            </a:prstGeom>
            <a:solidFill>
              <a:srgbClr val="8B6C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Shape 12"/>
            <p:cNvSpPr/>
            <p:nvPr/>
          </p:nvSpPr>
          <p:spPr>
            <a:xfrm>
              <a:off x="762000" y="2425700"/>
              <a:ext cx="50800" cy="381000"/>
            </a:xfrm>
            <a:prstGeom prst="rect">
              <a:avLst/>
            </a:prstGeom>
            <a:solidFill>
              <a:srgbClr val="8B6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Shape 13"/>
            <p:cNvSpPr txBox="1"/>
            <p:nvPr/>
          </p:nvSpPr>
          <p:spPr>
            <a:xfrm>
              <a:off x="927100" y="24257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002 API Management</a:t>
              </a:r>
            </a:p>
          </p:txBody>
        </p:sp>
      </p:grpSp>
      <p:grpSp>
        <p:nvGrpSpPr>
          <p:cNvPr id="20" name="Available 3"/>
          <p:cNvGrpSpPr/>
          <p:nvPr/>
        </p:nvGrpSpPr>
        <p:grpSpPr>
          <a:xfrm>
            <a:off x="762000" y="2882900"/>
            <a:ext cx="3429000" cy="381000"/>
            <a:chOff x="762000" y="2882900"/>
            <a:chExt cx="3429000" cy="381000"/>
          </a:xfrm>
        </p:grpSpPr>
        <p:sp>
          <p:nvSpPr>
            <p:cNvPr id="17" name="Shape 15"/>
            <p:cNvSpPr/>
            <p:nvPr/>
          </p:nvSpPr>
          <p:spPr>
            <a:xfrm>
              <a:off x="762000" y="2882900"/>
              <a:ext cx="3429000" cy="381000"/>
            </a:xfrm>
            <a:prstGeom prst="roundRect">
              <a:avLst>
                <a:gd name="adj" fmla="val 20000"/>
              </a:avLst>
            </a:prstGeom>
            <a:solidFill>
              <a:srgbClr val="FF6B6B">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hape 16"/>
            <p:cNvSpPr/>
            <p:nvPr/>
          </p:nvSpPr>
          <p:spPr>
            <a:xfrm>
              <a:off x="762000" y="2882900"/>
              <a:ext cx="50800" cy="3810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p:cNvSpPr txBox="1"/>
            <p:nvPr/>
          </p:nvSpPr>
          <p:spPr>
            <a:xfrm>
              <a:off x="927100" y="28829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003 Identity Config</a:t>
              </a:r>
            </a:p>
          </p:txBody>
        </p:sp>
      </p:grpSp>
      <p:grpSp>
        <p:nvGrpSpPr>
          <p:cNvPr id="24" name="Available 4"/>
          <p:cNvGrpSpPr/>
          <p:nvPr/>
        </p:nvGrpSpPr>
        <p:grpSpPr>
          <a:xfrm>
            <a:off x="762000" y="3340100"/>
            <a:ext cx="3429000" cy="381000"/>
            <a:chOff x="762000" y="3340100"/>
            <a:chExt cx="3429000" cy="381000"/>
          </a:xfrm>
        </p:grpSpPr>
        <p:sp>
          <p:nvSpPr>
            <p:cNvPr id="21" name="Shape 19"/>
            <p:cNvSpPr/>
            <p:nvPr/>
          </p:nvSpPr>
          <p:spPr>
            <a:xfrm>
              <a:off x="762000" y="3340100"/>
              <a:ext cx="3429000" cy="381000"/>
            </a:xfrm>
            <a:prstGeom prst="roundRect">
              <a:avLst>
                <a:gd name="adj" fmla="val 20000"/>
              </a:avLst>
            </a:prstGeom>
            <a:solidFill>
              <a:srgbClr val="FF6B6B">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hape 20"/>
            <p:cNvSpPr/>
            <p:nvPr/>
          </p:nvSpPr>
          <p:spPr>
            <a:xfrm>
              <a:off x="762000" y="3340100"/>
              <a:ext cx="50800" cy="3810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Shape 21"/>
            <p:cNvSpPr txBox="1"/>
            <p:nvPr/>
          </p:nvSpPr>
          <p:spPr>
            <a:xfrm>
              <a:off x="927100" y="33401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004 Credentials Management</a:t>
              </a:r>
            </a:p>
          </p:txBody>
        </p:sp>
      </p:grpSp>
      <p:grpSp>
        <p:nvGrpSpPr>
          <p:cNvPr id="28" name="Available 5"/>
          <p:cNvGrpSpPr/>
          <p:nvPr/>
        </p:nvGrpSpPr>
        <p:grpSpPr>
          <a:xfrm>
            <a:off x="762000" y="3797300"/>
            <a:ext cx="3429000" cy="381000"/>
            <a:chOff x="762000" y="3797300"/>
            <a:chExt cx="3429000" cy="381000"/>
          </a:xfrm>
        </p:grpSpPr>
        <p:sp>
          <p:nvSpPr>
            <p:cNvPr id="25" name="Shape 23"/>
            <p:cNvSpPr/>
            <p:nvPr/>
          </p:nvSpPr>
          <p:spPr>
            <a:xfrm>
              <a:off x="762000" y="3797300"/>
              <a:ext cx="3429000" cy="381000"/>
            </a:xfrm>
            <a:prstGeom prst="roundRect">
              <a:avLst>
                <a:gd name="adj" fmla="val 20000"/>
              </a:avLst>
            </a:prstGeom>
            <a:solidFill>
              <a:srgbClr val="8B6C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hape 24"/>
            <p:cNvSpPr/>
            <p:nvPr/>
          </p:nvSpPr>
          <p:spPr>
            <a:xfrm>
              <a:off x="762000" y="3797300"/>
              <a:ext cx="50800" cy="381000"/>
            </a:xfrm>
            <a:prstGeom prst="rect">
              <a:avLst/>
            </a:prstGeom>
            <a:solidFill>
              <a:srgbClr val="8B6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hape 25"/>
            <p:cNvSpPr txBox="1"/>
            <p:nvPr/>
          </p:nvSpPr>
          <p:spPr>
            <a:xfrm>
              <a:off x="927100" y="37973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005 Dependency Management</a:t>
              </a:r>
            </a:p>
          </p:txBody>
        </p:sp>
      </p:grpSp>
      <p:grpSp>
        <p:nvGrpSpPr>
          <p:cNvPr id="32" name="Available 6"/>
          <p:cNvGrpSpPr/>
          <p:nvPr/>
        </p:nvGrpSpPr>
        <p:grpSpPr>
          <a:xfrm>
            <a:off x="762000" y="4254500"/>
            <a:ext cx="3429000" cy="381000"/>
            <a:chOff x="762000" y="4254500"/>
            <a:chExt cx="3429000" cy="381000"/>
          </a:xfrm>
        </p:grpSpPr>
        <p:sp>
          <p:nvSpPr>
            <p:cNvPr id="29" name="Shape 27"/>
            <p:cNvSpPr/>
            <p:nvPr/>
          </p:nvSpPr>
          <p:spPr>
            <a:xfrm>
              <a:off x="762000" y="4254500"/>
              <a:ext cx="3429000" cy="381000"/>
            </a:xfrm>
            <a:prstGeom prst="roundRect">
              <a:avLst>
                <a:gd name="adj" fmla="val 20000"/>
              </a:avLst>
            </a:prstGeom>
            <a:solidFill>
              <a:srgbClr val="E9C46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Shape 28"/>
            <p:cNvSpPr/>
            <p:nvPr/>
          </p:nvSpPr>
          <p:spPr>
            <a:xfrm>
              <a:off x="762000" y="4254500"/>
              <a:ext cx="50800" cy="381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hape 29"/>
            <p:cNvSpPr txBox="1"/>
            <p:nvPr/>
          </p:nvSpPr>
          <p:spPr>
            <a:xfrm>
              <a:off x="927100" y="42545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007 Secrets Management</a:t>
              </a:r>
            </a:p>
          </p:txBody>
        </p:sp>
      </p:grpSp>
      <p:grpSp>
        <p:nvGrpSpPr>
          <p:cNvPr id="36" name="Available 7"/>
          <p:cNvGrpSpPr/>
          <p:nvPr/>
        </p:nvGrpSpPr>
        <p:grpSpPr>
          <a:xfrm>
            <a:off x="762000" y="4711700"/>
            <a:ext cx="3429000" cy="381000"/>
            <a:chOff x="762000" y="4711700"/>
            <a:chExt cx="3429000" cy="381000"/>
          </a:xfrm>
        </p:grpSpPr>
        <p:sp>
          <p:nvSpPr>
            <p:cNvPr id="33" name="Shape 31"/>
            <p:cNvSpPr/>
            <p:nvPr/>
          </p:nvSpPr>
          <p:spPr>
            <a:xfrm>
              <a:off x="762000" y="4711700"/>
              <a:ext cx="3429000" cy="381000"/>
            </a:xfrm>
            <a:prstGeom prst="roundRect">
              <a:avLst>
                <a:gd name="adj" fmla="val 20000"/>
              </a:avLst>
            </a:prstGeom>
            <a:solidFill>
              <a:srgbClr val="2F6FED">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Shape 32"/>
            <p:cNvSpPr/>
            <p:nvPr/>
          </p:nvSpPr>
          <p:spPr>
            <a:xfrm>
              <a:off x="762000" y="4711700"/>
              <a:ext cx="50800" cy="381000"/>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Shape 33"/>
            <p:cNvSpPr txBox="1"/>
            <p:nvPr/>
          </p:nvSpPr>
          <p:spPr>
            <a:xfrm>
              <a:off x="927100" y="47117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010 Disruption Budget</a:t>
              </a:r>
            </a:p>
          </p:txBody>
        </p:sp>
      </p:grpSp>
      <p:grpSp>
        <p:nvGrpSpPr>
          <p:cNvPr id="41" name="Available 8"/>
          <p:cNvGrpSpPr/>
          <p:nvPr/>
        </p:nvGrpSpPr>
        <p:grpSpPr>
          <a:xfrm>
            <a:off x="762000" y="5168900"/>
            <a:ext cx="3429000" cy="381000"/>
            <a:chOff x="762000" y="5168900"/>
            <a:chExt cx="3429000" cy="381000"/>
          </a:xfrm>
        </p:grpSpPr>
        <p:sp>
          <p:nvSpPr>
            <p:cNvPr id="37" name="Shape 35"/>
            <p:cNvSpPr/>
            <p:nvPr/>
          </p:nvSpPr>
          <p:spPr>
            <a:xfrm>
              <a:off x="762000" y="5168900"/>
              <a:ext cx="3429000" cy="381000"/>
            </a:xfrm>
            <a:prstGeom prst="roundRect">
              <a:avLst>
                <a:gd name="adj" fmla="val 20000"/>
              </a:avLst>
            </a:prstGeom>
            <a:solidFill>
              <a:srgbClr val="FF6B6B">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Shape 36"/>
            <p:cNvSpPr/>
            <p:nvPr/>
          </p:nvSpPr>
          <p:spPr>
            <a:xfrm>
              <a:off x="762000" y="5168900"/>
              <a:ext cx="50800" cy="3810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Shape 37"/>
            <p:cNvSpPr txBox="1"/>
            <p:nvPr/>
          </p:nvSpPr>
          <p:spPr>
            <a:xfrm>
              <a:off x="927100" y="5168900"/>
              <a:ext cx="2286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008 OAuth2 Config</a:t>
              </a:r>
            </a:p>
          </p:txBody>
        </p:sp>
        <p:sp>
          <p:nvSpPr>
            <p:cNvPr id="40" name="Shape 38"/>
            <p:cNvSpPr txBox="1"/>
            <p:nvPr/>
          </p:nvSpPr>
          <p:spPr>
            <a:xfrm>
              <a:off x="2857500" y="5168900"/>
              <a:ext cx="1219200" cy="381000"/>
            </a:xfrm>
            <a:prstGeom prst="rect">
              <a:avLst/>
            </a:prstGeom>
            <a:noFill/>
          </p:spPr>
          <p:txBody>
            <a:bodyPr wrap="square" lIns="0" tIns="0" rIns="0" bIns="0" anchor="ctr">
              <a:spAutoFit/>
            </a:bodyPr>
            <a:lstStyle/>
            <a:p>
              <a:pPr algn="r">
                <a:lnSpc>
                  <a:spcPct val="115000"/>
                </a:lnSpc>
              </a:pPr>
              <a:r>
                <a:rPr sz="1100" b="0">
                  <a:solidFill>
                    <a:srgbClr val="8F9BB8"/>
                  </a:solidFill>
                  <a:latin typeface="Segoe UI"/>
                </a:rPr>
                <a:t>prototype</a:t>
              </a:r>
            </a:p>
          </p:txBody>
        </p:sp>
      </p:grpSp>
      <p:grpSp>
        <p:nvGrpSpPr>
          <p:cNvPr id="44" name="Experimental header"/>
          <p:cNvGrpSpPr/>
          <p:nvPr/>
        </p:nvGrpSpPr>
        <p:grpSpPr>
          <a:xfrm>
            <a:off x="4381500" y="1485900"/>
            <a:ext cx="3403600" cy="317500"/>
            <a:chOff x="4381500" y="1485900"/>
            <a:chExt cx="3403600" cy="317500"/>
          </a:xfrm>
        </p:grpSpPr>
        <p:pic>
          <p:nvPicPr>
            <p:cNvPr id="42" name="Shape 40" descr="icon-flask-f472b6.png"/>
            <p:cNvPicPr>
              <a:picLocks noChangeAspect="1"/>
            </p:cNvPicPr>
            <p:nvPr/>
          </p:nvPicPr>
          <p:blipFill>
            <a:blip r:embed="rId5"/>
            <a:stretch>
              <a:fillRect/>
            </a:stretch>
          </p:blipFill>
          <p:spPr>
            <a:xfrm>
              <a:off x="4381500" y="1498600"/>
              <a:ext cx="279400" cy="279400"/>
            </a:xfrm>
            <a:prstGeom prst="rect">
              <a:avLst/>
            </a:prstGeom>
          </p:spPr>
        </p:pic>
        <p:sp>
          <p:nvSpPr>
            <p:cNvPr id="43" name="Shape 41"/>
            <p:cNvSpPr txBox="1"/>
            <p:nvPr/>
          </p:nvSpPr>
          <p:spPr>
            <a:xfrm>
              <a:off x="4737100" y="1485900"/>
              <a:ext cx="3048000" cy="317500"/>
            </a:xfrm>
            <a:prstGeom prst="rect">
              <a:avLst/>
            </a:prstGeom>
            <a:noFill/>
          </p:spPr>
          <p:txBody>
            <a:bodyPr wrap="square" lIns="0" tIns="0" rIns="0" bIns="0" anchor="t">
              <a:spAutoFit/>
            </a:bodyPr>
            <a:lstStyle/>
            <a:p>
              <a:pPr algn="l">
                <a:lnSpc>
                  <a:spcPct val="115000"/>
                </a:lnSpc>
              </a:pPr>
              <a:r>
                <a:rPr sz="1700" b="1">
                  <a:solidFill>
                    <a:srgbClr val="F472B6"/>
                  </a:solidFill>
                  <a:latin typeface="Segoe UI"/>
                </a:rPr>
                <a:t>Experimental</a:t>
              </a:r>
            </a:p>
          </p:txBody>
        </p:sp>
      </p:grpSp>
      <p:grpSp>
        <p:nvGrpSpPr>
          <p:cNvPr id="48" name="Experimental 1"/>
          <p:cNvGrpSpPr/>
          <p:nvPr/>
        </p:nvGrpSpPr>
        <p:grpSpPr>
          <a:xfrm>
            <a:off x="4381500" y="1968500"/>
            <a:ext cx="3429000" cy="381000"/>
            <a:chOff x="4381500" y="1968500"/>
            <a:chExt cx="3429000" cy="381000"/>
          </a:xfrm>
        </p:grpSpPr>
        <p:sp>
          <p:nvSpPr>
            <p:cNvPr id="45" name="Shape 43"/>
            <p:cNvSpPr/>
            <p:nvPr/>
          </p:nvSpPr>
          <p:spPr>
            <a:xfrm>
              <a:off x="4381500" y="1968500"/>
              <a:ext cx="3429000" cy="381000"/>
            </a:xfrm>
            <a:prstGeom prst="roundRect">
              <a:avLst>
                <a:gd name="adj" fmla="val 20000"/>
              </a:avLst>
            </a:prstGeom>
            <a:solidFill>
              <a:srgbClr val="F472B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Shape 44"/>
            <p:cNvSpPr/>
            <p:nvPr/>
          </p:nvSpPr>
          <p:spPr>
            <a:xfrm>
              <a:off x="4381500" y="1968500"/>
              <a:ext cx="50800" cy="3810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Shape 45"/>
            <p:cNvSpPr txBox="1"/>
            <p:nvPr/>
          </p:nvSpPr>
          <p:spPr>
            <a:xfrm>
              <a:off x="4546600" y="19685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009 Model-as-a-Service</a:t>
              </a:r>
            </a:p>
          </p:txBody>
        </p:sp>
      </p:grpSp>
      <p:grpSp>
        <p:nvGrpSpPr>
          <p:cNvPr id="52" name="Experimental 2"/>
          <p:cNvGrpSpPr/>
          <p:nvPr/>
        </p:nvGrpSpPr>
        <p:grpSpPr>
          <a:xfrm>
            <a:off x="4381500" y="2425700"/>
            <a:ext cx="3429000" cy="381000"/>
            <a:chOff x="4381500" y="2425700"/>
            <a:chExt cx="3429000" cy="381000"/>
          </a:xfrm>
        </p:grpSpPr>
        <p:sp>
          <p:nvSpPr>
            <p:cNvPr id="49" name="Shape 47"/>
            <p:cNvSpPr/>
            <p:nvPr/>
          </p:nvSpPr>
          <p:spPr>
            <a:xfrm>
              <a:off x="4381500" y="2425700"/>
              <a:ext cx="3429000" cy="381000"/>
            </a:xfrm>
            <a:prstGeom prst="roundRect">
              <a:avLst>
                <a:gd name="adj" fmla="val 20000"/>
              </a:avLst>
            </a:prstGeom>
            <a:solidFill>
              <a:srgbClr val="F472B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Shape 48"/>
            <p:cNvSpPr/>
            <p:nvPr/>
          </p:nvSpPr>
          <p:spPr>
            <a:xfrm>
              <a:off x="4381500" y="2425700"/>
              <a:ext cx="50800" cy="3810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Shape 49"/>
            <p:cNvSpPr txBox="1"/>
            <p:nvPr/>
          </p:nvSpPr>
          <p:spPr>
            <a:xfrm>
              <a:off x="4546600" y="24257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Data Product</a:t>
              </a:r>
            </a:p>
          </p:txBody>
        </p:sp>
      </p:grpSp>
      <p:grpSp>
        <p:nvGrpSpPr>
          <p:cNvPr id="56" name="Experimental 3"/>
          <p:cNvGrpSpPr/>
          <p:nvPr/>
        </p:nvGrpSpPr>
        <p:grpSpPr>
          <a:xfrm>
            <a:off x="4381500" y="2882900"/>
            <a:ext cx="3429000" cy="381000"/>
            <a:chOff x="4381500" y="2882900"/>
            <a:chExt cx="3429000" cy="381000"/>
          </a:xfrm>
        </p:grpSpPr>
        <p:sp>
          <p:nvSpPr>
            <p:cNvPr id="53" name="Shape 51"/>
            <p:cNvSpPr/>
            <p:nvPr/>
          </p:nvSpPr>
          <p:spPr>
            <a:xfrm>
              <a:off x="4381500" y="2882900"/>
              <a:ext cx="3429000" cy="381000"/>
            </a:xfrm>
            <a:prstGeom prst="roundRect">
              <a:avLst>
                <a:gd name="adj" fmla="val 20000"/>
              </a:avLst>
            </a:prstGeom>
            <a:solidFill>
              <a:srgbClr val="34D399">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Shape 52"/>
            <p:cNvSpPr/>
            <p:nvPr/>
          </p:nvSpPr>
          <p:spPr>
            <a:xfrm>
              <a:off x="4381500" y="2882900"/>
              <a:ext cx="50800" cy="381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Shape 53"/>
            <p:cNvSpPr txBox="1"/>
            <p:nvPr/>
          </p:nvSpPr>
          <p:spPr>
            <a:xfrm>
              <a:off x="4546600" y="28829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011 Carbon-aware</a:t>
              </a:r>
            </a:p>
          </p:txBody>
        </p:sp>
      </p:grpSp>
      <p:grpSp>
        <p:nvGrpSpPr>
          <p:cNvPr id="59" name="Planned header"/>
          <p:cNvGrpSpPr/>
          <p:nvPr/>
        </p:nvGrpSpPr>
        <p:grpSpPr>
          <a:xfrm>
            <a:off x="8001000" y="1485900"/>
            <a:ext cx="3403600" cy="317500"/>
            <a:chOff x="8001000" y="1485900"/>
            <a:chExt cx="3403600" cy="317500"/>
          </a:xfrm>
        </p:grpSpPr>
        <p:pic>
          <p:nvPicPr>
            <p:cNvPr id="57" name="Shape 55" descr="icon-rocket-8f9bb8.png"/>
            <p:cNvPicPr>
              <a:picLocks noChangeAspect="1"/>
            </p:cNvPicPr>
            <p:nvPr/>
          </p:nvPicPr>
          <p:blipFill>
            <a:blip r:embed="rId6"/>
            <a:stretch>
              <a:fillRect/>
            </a:stretch>
          </p:blipFill>
          <p:spPr>
            <a:xfrm>
              <a:off x="8001000" y="1498600"/>
              <a:ext cx="279400" cy="279400"/>
            </a:xfrm>
            <a:prstGeom prst="rect">
              <a:avLst/>
            </a:prstGeom>
          </p:spPr>
        </p:pic>
        <p:sp>
          <p:nvSpPr>
            <p:cNvPr id="58" name="Shape 56"/>
            <p:cNvSpPr txBox="1"/>
            <p:nvPr/>
          </p:nvSpPr>
          <p:spPr>
            <a:xfrm>
              <a:off x="8356600" y="1485900"/>
              <a:ext cx="3048000" cy="317500"/>
            </a:xfrm>
            <a:prstGeom prst="rect">
              <a:avLst/>
            </a:prstGeom>
            <a:noFill/>
          </p:spPr>
          <p:txBody>
            <a:bodyPr wrap="square" lIns="0" tIns="0" rIns="0" bIns="0" anchor="t">
              <a:spAutoFit/>
            </a:bodyPr>
            <a:lstStyle/>
            <a:p>
              <a:pPr algn="l">
                <a:lnSpc>
                  <a:spcPct val="115000"/>
                </a:lnSpc>
              </a:pPr>
              <a:r>
                <a:rPr sz="1700" b="1">
                  <a:solidFill>
                    <a:srgbClr val="8F9BB8"/>
                  </a:solidFill>
                  <a:latin typeface="Segoe UI"/>
                </a:rPr>
                <a:t>Planned</a:t>
              </a:r>
            </a:p>
          </p:txBody>
        </p:sp>
      </p:grpSp>
      <p:grpSp>
        <p:nvGrpSpPr>
          <p:cNvPr id="63" name="Planned 1"/>
          <p:cNvGrpSpPr/>
          <p:nvPr/>
        </p:nvGrpSpPr>
        <p:grpSpPr>
          <a:xfrm>
            <a:off x="8001000" y="1968500"/>
            <a:ext cx="3429000" cy="381000"/>
            <a:chOff x="8001000" y="1968500"/>
            <a:chExt cx="3429000" cy="381000"/>
          </a:xfrm>
        </p:grpSpPr>
        <p:sp>
          <p:nvSpPr>
            <p:cNvPr id="60" name="Shape 58"/>
            <p:cNvSpPr/>
            <p:nvPr/>
          </p:nvSpPr>
          <p:spPr>
            <a:xfrm>
              <a:off x="8001000" y="1968500"/>
              <a:ext cx="3429000" cy="381000"/>
            </a:xfrm>
            <a:prstGeom prst="roundRect">
              <a:avLst>
                <a:gd name="adj" fmla="val 20000"/>
              </a:avLst>
            </a:prstGeom>
            <a:solidFill>
              <a:srgbClr val="8F9BB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Shape 59"/>
            <p:cNvSpPr/>
            <p:nvPr/>
          </p:nvSpPr>
          <p:spPr>
            <a:xfrm>
              <a:off x="8001000" y="1968500"/>
              <a:ext cx="50800" cy="381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2" name="Shape 60"/>
            <p:cNvSpPr txBox="1"/>
            <p:nvPr/>
          </p:nvSpPr>
          <p:spPr>
            <a:xfrm>
              <a:off x="8166100" y="19685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006 Event Management</a:t>
              </a:r>
            </a:p>
          </p:txBody>
        </p:sp>
      </p:grpSp>
      <p:grpSp>
        <p:nvGrpSpPr>
          <p:cNvPr id="67" name="Planned 2"/>
          <p:cNvGrpSpPr/>
          <p:nvPr/>
        </p:nvGrpSpPr>
        <p:grpSpPr>
          <a:xfrm>
            <a:off x="8001000" y="2425700"/>
            <a:ext cx="3429000" cy="381000"/>
            <a:chOff x="8001000" y="2425700"/>
            <a:chExt cx="3429000" cy="381000"/>
          </a:xfrm>
        </p:grpSpPr>
        <p:sp>
          <p:nvSpPr>
            <p:cNvPr id="64" name="Shape 62"/>
            <p:cNvSpPr/>
            <p:nvPr/>
          </p:nvSpPr>
          <p:spPr>
            <a:xfrm>
              <a:off x="8001000" y="2425700"/>
              <a:ext cx="3429000" cy="381000"/>
            </a:xfrm>
            <a:prstGeom prst="roundRect">
              <a:avLst>
                <a:gd name="adj" fmla="val 20000"/>
              </a:avLst>
            </a:prstGeom>
            <a:solidFill>
              <a:srgbClr val="8F9BB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Shape 63"/>
            <p:cNvSpPr/>
            <p:nvPr/>
          </p:nvSpPr>
          <p:spPr>
            <a:xfrm>
              <a:off x="8001000" y="2425700"/>
              <a:ext cx="50800" cy="381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Shape 64"/>
            <p:cNvSpPr txBox="1"/>
            <p:nvPr/>
          </p:nvSpPr>
          <p:spPr>
            <a:xfrm>
              <a:off x="8166100" y="24257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Cost Control</a:t>
              </a:r>
            </a:p>
          </p:txBody>
        </p:sp>
      </p:grpSp>
      <p:grpSp>
        <p:nvGrpSpPr>
          <p:cNvPr id="71" name="Planned 3"/>
          <p:cNvGrpSpPr/>
          <p:nvPr/>
        </p:nvGrpSpPr>
        <p:grpSpPr>
          <a:xfrm>
            <a:off x="8001000" y="2882900"/>
            <a:ext cx="3429000" cy="381000"/>
            <a:chOff x="8001000" y="2882900"/>
            <a:chExt cx="3429000" cy="381000"/>
          </a:xfrm>
        </p:grpSpPr>
        <p:sp>
          <p:nvSpPr>
            <p:cNvPr id="68" name="Shape 66"/>
            <p:cNvSpPr/>
            <p:nvPr/>
          </p:nvSpPr>
          <p:spPr>
            <a:xfrm>
              <a:off x="8001000" y="2882900"/>
              <a:ext cx="3429000" cy="381000"/>
            </a:xfrm>
            <a:prstGeom prst="roundRect">
              <a:avLst>
                <a:gd name="adj" fmla="val 20000"/>
              </a:avLst>
            </a:prstGeom>
            <a:solidFill>
              <a:srgbClr val="8F9BB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9" name="Shape 67"/>
            <p:cNvSpPr/>
            <p:nvPr/>
          </p:nvSpPr>
          <p:spPr>
            <a:xfrm>
              <a:off x="8001000" y="2882900"/>
              <a:ext cx="50800" cy="381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0" name="Shape 68"/>
            <p:cNvSpPr txBox="1"/>
            <p:nvPr/>
          </p:nvSpPr>
          <p:spPr>
            <a:xfrm>
              <a:off x="8166100" y="2882900"/>
              <a:ext cx="3175000" cy="381000"/>
            </a:xfrm>
            <a:prstGeom prst="rect">
              <a:avLst/>
            </a:prstGeom>
            <a:noFill/>
          </p:spPr>
          <p:txBody>
            <a:bodyPr wrap="square" lIns="0" tIns="0" rIns="0" bIns="0" anchor="ctr">
              <a:spAutoFit/>
            </a:bodyPr>
            <a:lstStyle/>
            <a:p>
              <a:pPr algn="l">
                <a:lnSpc>
                  <a:spcPct val="115000"/>
                </a:lnSpc>
              </a:pPr>
              <a:r>
                <a:rPr sz="1300" b="1">
                  <a:solidFill>
                    <a:srgbClr val="F2F5FB"/>
                  </a:solidFill>
                  <a:latin typeface="Segoe UI"/>
                </a:rPr>
                <a:t>Database Management</a:t>
              </a:r>
            </a:p>
          </p:txBody>
        </p:sp>
      </p:grpSp>
      <p:grpSp>
        <p:nvGrpSpPr>
          <p:cNvPr id="75" name="Not fixed"/>
          <p:cNvGrpSpPr/>
          <p:nvPr/>
        </p:nvGrpSpPr>
        <p:grpSpPr>
          <a:xfrm>
            <a:off x="4381500" y="4318000"/>
            <a:ext cx="7048500" cy="825500"/>
            <a:chOff x="4381500" y="4318000"/>
            <a:chExt cx="7048500" cy="825500"/>
          </a:xfrm>
        </p:grpSpPr>
        <p:sp>
          <p:nvSpPr>
            <p:cNvPr id="72" name="Shape 70"/>
            <p:cNvSpPr/>
            <p:nvPr/>
          </p:nvSpPr>
          <p:spPr>
            <a:xfrm>
              <a:off x="4381500" y="4318000"/>
              <a:ext cx="7048500" cy="825500"/>
            </a:xfrm>
            <a:prstGeom prst="roundRect">
              <a:avLst>
                <a:gd name="adj" fmla="val 18461"/>
              </a:avLst>
            </a:prstGeom>
            <a:solidFill>
              <a:srgbClr val="1FC7A8">
                <a:alpha val="8000"/>
              </a:srgbClr>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3" name="Shape 71" descr="icon-gear-1fc7a8.png"/>
            <p:cNvPicPr>
              <a:picLocks noChangeAspect="1"/>
            </p:cNvPicPr>
            <p:nvPr/>
          </p:nvPicPr>
          <p:blipFill>
            <a:blip r:embed="rId7"/>
            <a:stretch>
              <a:fillRect/>
            </a:stretch>
          </p:blipFill>
          <p:spPr>
            <a:xfrm>
              <a:off x="4610100" y="4552950"/>
              <a:ext cx="355600" cy="355600"/>
            </a:xfrm>
            <a:prstGeom prst="rect">
              <a:avLst/>
            </a:prstGeom>
          </p:spPr>
        </p:pic>
        <p:sp>
          <p:nvSpPr>
            <p:cNvPr id="74" name="Shape 72"/>
            <p:cNvSpPr txBox="1"/>
            <p:nvPr/>
          </p:nvSpPr>
          <p:spPr>
            <a:xfrm>
              <a:off x="5080000" y="4445000"/>
              <a:ext cx="6223000" cy="5715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Not a fixed list. New operator types are added as the Canvas matures.</a:t>
              </a:r>
            </a:p>
          </p:txBody>
        </p:sp>
      </p:grpSp>
    </p:spTree>
  </p:cSld>
  <p:clrMapOvr>
    <a:masterClrMapping/>
  </p:clrMapOvr>
  <mc:AlternateContent xmlns:mc="http://schemas.openxmlformats.org/markup-compatibility/2006">
    <mc:Choice xmlns:p14="http://schemas.microsoft.com/office/powerpoint/2010/main" Requires="p14">
      <p:transition spd="slow" p14:dur="2000" advTm="29900"/>
    </mc:Choice>
    <mc:Fallback>
      <p:transition spd="slow" advTm="2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24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58" presetClass="entr" presetSubtype="0" accel="100000" fill="hold" nodeType="withEffect">
                                  <p:stCondLst>
                                    <p:cond delay="480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strVal val="#ppt_w*2.5"/>
                                          </p:val>
                                        </p:tav>
                                        <p:tav tm="100000">
                                          <p:val>
                                            <p:strVal val="#ppt_w"/>
                                          </p:val>
                                        </p:tav>
                                      </p:tavLst>
                                    </p:anim>
                                    <p:anim calcmode="lin" valueType="num">
                                      <p:cBhvr>
                                        <p:cTn id="17" dur="500" fill="hold"/>
                                        <p:tgtEl>
                                          <p:spTgt spid="12"/>
                                        </p:tgtEl>
                                        <p:attrNameLst>
                                          <p:attrName>ppt_h</p:attrName>
                                        </p:attrNameLst>
                                      </p:cBhvr>
                                      <p:tavLst>
                                        <p:tav tm="0">
                                          <p:val>
                                            <p:strVal val="#ppt_h*0.01"/>
                                          </p:val>
                                        </p:tav>
                                        <p:tav tm="100000">
                                          <p:val>
                                            <p:strVal val="#ppt_h"/>
                                          </p:val>
                                        </p:tav>
                                      </p:tavLst>
                                    </p:anim>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h+1"/>
                                          </p:val>
                                        </p:tav>
                                        <p:tav tm="100000">
                                          <p:val>
                                            <p:strVal val="#ppt_y"/>
                                          </p:val>
                                        </p:tav>
                                      </p:tavLst>
                                    </p:anim>
                                    <p:animEffect transition="in" filter="fade">
                                      <p:cBhvr>
                                        <p:cTn id="20" dur="500"/>
                                        <p:tgtEl>
                                          <p:spTgt spid="12"/>
                                        </p:tgtEl>
                                      </p:cBhvr>
                                    </p:animEffect>
                                  </p:childTnLst>
                                </p:cTn>
                              </p:par>
                              <p:par>
                                <p:cTn id="21" presetID="58" presetClass="entr" presetSubtype="0" accel="100000" fill="hold" nodeType="withEffect">
                                  <p:stCondLst>
                                    <p:cond delay="520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strVal val="#ppt_w*2.5"/>
                                          </p:val>
                                        </p:tav>
                                        <p:tav tm="100000">
                                          <p:val>
                                            <p:strVal val="#ppt_w"/>
                                          </p:val>
                                        </p:tav>
                                      </p:tavLst>
                                    </p:anim>
                                    <p:anim calcmode="lin" valueType="num">
                                      <p:cBhvr>
                                        <p:cTn id="24" dur="500" fill="hold"/>
                                        <p:tgtEl>
                                          <p:spTgt spid="16"/>
                                        </p:tgtEl>
                                        <p:attrNameLst>
                                          <p:attrName>ppt_h</p:attrName>
                                        </p:attrNameLst>
                                      </p:cBhvr>
                                      <p:tavLst>
                                        <p:tav tm="0">
                                          <p:val>
                                            <p:strVal val="#ppt_h*0.01"/>
                                          </p:val>
                                        </p:tav>
                                        <p:tav tm="100000">
                                          <p:val>
                                            <p:strVal val="#ppt_h"/>
                                          </p:val>
                                        </p:tav>
                                      </p:tavLst>
                                    </p:anim>
                                    <p:anim calcmode="lin" valueType="num">
                                      <p:cBhvr>
                                        <p:cTn id="25" dur="500" fill="hold"/>
                                        <p:tgtEl>
                                          <p:spTgt spid="16"/>
                                        </p:tgtEl>
                                        <p:attrNameLst>
                                          <p:attrName>ppt_x</p:attrName>
                                        </p:attrNameLst>
                                      </p:cBhvr>
                                      <p:tavLst>
                                        <p:tav tm="0">
                                          <p:val>
                                            <p:strVal val="#ppt_x"/>
                                          </p:val>
                                        </p:tav>
                                        <p:tav tm="100000">
                                          <p:val>
                                            <p:strVal val="#ppt_x"/>
                                          </p:val>
                                        </p:tav>
                                      </p:tavLst>
                                    </p:anim>
                                    <p:anim calcmode="lin" valueType="num">
                                      <p:cBhvr>
                                        <p:cTn id="26" dur="500" fill="hold"/>
                                        <p:tgtEl>
                                          <p:spTgt spid="16"/>
                                        </p:tgtEl>
                                        <p:attrNameLst>
                                          <p:attrName>ppt_y</p:attrName>
                                        </p:attrNameLst>
                                      </p:cBhvr>
                                      <p:tavLst>
                                        <p:tav tm="0">
                                          <p:val>
                                            <p:strVal val="#ppt_h+1"/>
                                          </p:val>
                                        </p:tav>
                                        <p:tav tm="100000">
                                          <p:val>
                                            <p:strVal val="#ppt_y"/>
                                          </p:val>
                                        </p:tav>
                                      </p:tavLst>
                                    </p:anim>
                                    <p:animEffect transition="in" filter="fade">
                                      <p:cBhvr>
                                        <p:cTn id="27" dur="500"/>
                                        <p:tgtEl>
                                          <p:spTgt spid="16"/>
                                        </p:tgtEl>
                                      </p:cBhvr>
                                    </p:animEffect>
                                  </p:childTnLst>
                                </p:cTn>
                              </p:par>
                              <p:par>
                                <p:cTn id="28" presetID="58" presetClass="entr" presetSubtype="0" accel="100000" fill="hold" nodeType="withEffect">
                                  <p:stCondLst>
                                    <p:cond delay="560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fill="hold"/>
                                        <p:tgtEl>
                                          <p:spTgt spid="20"/>
                                        </p:tgtEl>
                                        <p:attrNameLst>
                                          <p:attrName>ppt_w</p:attrName>
                                        </p:attrNameLst>
                                      </p:cBhvr>
                                      <p:tavLst>
                                        <p:tav tm="0">
                                          <p:val>
                                            <p:strVal val="#ppt_w*2.5"/>
                                          </p:val>
                                        </p:tav>
                                        <p:tav tm="100000">
                                          <p:val>
                                            <p:strVal val="#ppt_w"/>
                                          </p:val>
                                        </p:tav>
                                      </p:tavLst>
                                    </p:anim>
                                    <p:anim calcmode="lin" valueType="num">
                                      <p:cBhvr>
                                        <p:cTn id="31" dur="500" fill="hold"/>
                                        <p:tgtEl>
                                          <p:spTgt spid="20"/>
                                        </p:tgtEl>
                                        <p:attrNameLst>
                                          <p:attrName>ppt_h</p:attrName>
                                        </p:attrNameLst>
                                      </p:cBhvr>
                                      <p:tavLst>
                                        <p:tav tm="0">
                                          <p:val>
                                            <p:strVal val="#ppt_h*0.01"/>
                                          </p:val>
                                        </p:tav>
                                        <p:tav tm="100000">
                                          <p:val>
                                            <p:strVal val="#ppt_h"/>
                                          </p:val>
                                        </p:tav>
                                      </p:tavLst>
                                    </p:anim>
                                    <p:anim calcmode="lin" valueType="num">
                                      <p:cBhvr>
                                        <p:cTn id="32" dur="500" fill="hold"/>
                                        <p:tgtEl>
                                          <p:spTgt spid="20"/>
                                        </p:tgtEl>
                                        <p:attrNameLst>
                                          <p:attrName>ppt_x</p:attrName>
                                        </p:attrNameLst>
                                      </p:cBhvr>
                                      <p:tavLst>
                                        <p:tav tm="0">
                                          <p:val>
                                            <p:strVal val="#ppt_x"/>
                                          </p:val>
                                        </p:tav>
                                        <p:tav tm="100000">
                                          <p:val>
                                            <p:strVal val="#ppt_x"/>
                                          </p:val>
                                        </p:tav>
                                      </p:tavLst>
                                    </p:anim>
                                    <p:anim calcmode="lin" valueType="num">
                                      <p:cBhvr>
                                        <p:cTn id="33" dur="500" fill="hold"/>
                                        <p:tgtEl>
                                          <p:spTgt spid="20"/>
                                        </p:tgtEl>
                                        <p:attrNameLst>
                                          <p:attrName>ppt_y</p:attrName>
                                        </p:attrNameLst>
                                      </p:cBhvr>
                                      <p:tavLst>
                                        <p:tav tm="0">
                                          <p:val>
                                            <p:strVal val="#ppt_h+1"/>
                                          </p:val>
                                        </p:tav>
                                        <p:tav tm="100000">
                                          <p:val>
                                            <p:strVal val="#ppt_y"/>
                                          </p:val>
                                        </p:tav>
                                      </p:tavLst>
                                    </p:anim>
                                    <p:animEffect transition="in" filter="fade">
                                      <p:cBhvr>
                                        <p:cTn id="34" dur="500"/>
                                        <p:tgtEl>
                                          <p:spTgt spid="20"/>
                                        </p:tgtEl>
                                      </p:cBhvr>
                                    </p:animEffect>
                                  </p:childTnLst>
                                </p:cTn>
                              </p:par>
                              <p:par>
                                <p:cTn id="35" presetID="58" presetClass="entr" presetSubtype="0" accel="100000" fill="hold" nodeType="withEffect">
                                  <p:stCondLst>
                                    <p:cond delay="60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strVal val="#ppt_w*2.5"/>
                                          </p:val>
                                        </p:tav>
                                        <p:tav tm="100000">
                                          <p:val>
                                            <p:strVal val="#ppt_w"/>
                                          </p:val>
                                        </p:tav>
                                      </p:tavLst>
                                    </p:anim>
                                    <p:anim calcmode="lin" valueType="num">
                                      <p:cBhvr>
                                        <p:cTn id="38" dur="500" fill="hold"/>
                                        <p:tgtEl>
                                          <p:spTgt spid="24"/>
                                        </p:tgtEl>
                                        <p:attrNameLst>
                                          <p:attrName>ppt_h</p:attrName>
                                        </p:attrNameLst>
                                      </p:cBhvr>
                                      <p:tavLst>
                                        <p:tav tm="0">
                                          <p:val>
                                            <p:strVal val="#ppt_h*0.01"/>
                                          </p:val>
                                        </p:tav>
                                        <p:tav tm="100000">
                                          <p:val>
                                            <p:strVal val="#ppt_h"/>
                                          </p:val>
                                        </p:tav>
                                      </p:tavLst>
                                    </p:anim>
                                    <p:anim calcmode="lin" valueType="num">
                                      <p:cBhvr>
                                        <p:cTn id="39" dur="500" fill="hold"/>
                                        <p:tgtEl>
                                          <p:spTgt spid="24"/>
                                        </p:tgtEl>
                                        <p:attrNameLst>
                                          <p:attrName>ppt_x</p:attrName>
                                        </p:attrNameLst>
                                      </p:cBhvr>
                                      <p:tavLst>
                                        <p:tav tm="0">
                                          <p:val>
                                            <p:strVal val="#ppt_x"/>
                                          </p:val>
                                        </p:tav>
                                        <p:tav tm="100000">
                                          <p:val>
                                            <p:strVal val="#ppt_x"/>
                                          </p:val>
                                        </p:tav>
                                      </p:tavLst>
                                    </p:anim>
                                    <p:anim calcmode="lin" valueType="num">
                                      <p:cBhvr>
                                        <p:cTn id="40" dur="500" fill="hold"/>
                                        <p:tgtEl>
                                          <p:spTgt spid="24"/>
                                        </p:tgtEl>
                                        <p:attrNameLst>
                                          <p:attrName>ppt_y</p:attrName>
                                        </p:attrNameLst>
                                      </p:cBhvr>
                                      <p:tavLst>
                                        <p:tav tm="0">
                                          <p:val>
                                            <p:strVal val="#ppt_h+1"/>
                                          </p:val>
                                        </p:tav>
                                        <p:tav tm="100000">
                                          <p:val>
                                            <p:strVal val="#ppt_y"/>
                                          </p:val>
                                        </p:tav>
                                      </p:tavLst>
                                    </p:anim>
                                    <p:animEffect transition="in" filter="fade">
                                      <p:cBhvr>
                                        <p:cTn id="41" dur="500"/>
                                        <p:tgtEl>
                                          <p:spTgt spid="24"/>
                                        </p:tgtEl>
                                      </p:cBhvr>
                                    </p:animEffect>
                                  </p:childTnLst>
                                </p:cTn>
                              </p:par>
                              <p:par>
                                <p:cTn id="42" presetID="58" presetClass="entr" presetSubtype="0" accel="100000" fill="hold" nodeType="withEffect">
                                  <p:stCondLst>
                                    <p:cond delay="6400"/>
                                  </p:stCondLst>
                                  <p:childTnLst>
                                    <p:set>
                                      <p:cBhvr>
                                        <p:cTn id="43" dur="1" fill="hold">
                                          <p:stCondLst>
                                            <p:cond delay="0"/>
                                          </p:stCondLst>
                                        </p:cTn>
                                        <p:tgtEl>
                                          <p:spTgt spid="28"/>
                                        </p:tgtEl>
                                        <p:attrNameLst>
                                          <p:attrName>style.visibility</p:attrName>
                                        </p:attrNameLst>
                                      </p:cBhvr>
                                      <p:to>
                                        <p:strVal val="visible"/>
                                      </p:to>
                                    </p:set>
                                    <p:anim calcmode="lin" valueType="num">
                                      <p:cBhvr>
                                        <p:cTn id="44" dur="500" fill="hold"/>
                                        <p:tgtEl>
                                          <p:spTgt spid="28"/>
                                        </p:tgtEl>
                                        <p:attrNameLst>
                                          <p:attrName>ppt_w</p:attrName>
                                        </p:attrNameLst>
                                      </p:cBhvr>
                                      <p:tavLst>
                                        <p:tav tm="0">
                                          <p:val>
                                            <p:strVal val="#ppt_w*2.5"/>
                                          </p:val>
                                        </p:tav>
                                        <p:tav tm="100000">
                                          <p:val>
                                            <p:strVal val="#ppt_w"/>
                                          </p:val>
                                        </p:tav>
                                      </p:tavLst>
                                    </p:anim>
                                    <p:anim calcmode="lin" valueType="num">
                                      <p:cBhvr>
                                        <p:cTn id="45" dur="500" fill="hold"/>
                                        <p:tgtEl>
                                          <p:spTgt spid="28"/>
                                        </p:tgtEl>
                                        <p:attrNameLst>
                                          <p:attrName>ppt_h</p:attrName>
                                        </p:attrNameLst>
                                      </p:cBhvr>
                                      <p:tavLst>
                                        <p:tav tm="0">
                                          <p:val>
                                            <p:strVal val="#ppt_h*0.01"/>
                                          </p:val>
                                        </p:tav>
                                        <p:tav tm="100000">
                                          <p:val>
                                            <p:strVal val="#ppt_h"/>
                                          </p:val>
                                        </p:tav>
                                      </p:tavLst>
                                    </p:anim>
                                    <p:anim calcmode="lin" valueType="num">
                                      <p:cBhvr>
                                        <p:cTn id="46" dur="500" fill="hold"/>
                                        <p:tgtEl>
                                          <p:spTgt spid="28"/>
                                        </p:tgtEl>
                                        <p:attrNameLst>
                                          <p:attrName>ppt_x</p:attrName>
                                        </p:attrNameLst>
                                      </p:cBhvr>
                                      <p:tavLst>
                                        <p:tav tm="0">
                                          <p:val>
                                            <p:strVal val="#ppt_x"/>
                                          </p:val>
                                        </p:tav>
                                        <p:tav tm="100000">
                                          <p:val>
                                            <p:strVal val="#ppt_x"/>
                                          </p:val>
                                        </p:tav>
                                      </p:tavLst>
                                    </p:anim>
                                    <p:anim calcmode="lin" valueType="num">
                                      <p:cBhvr>
                                        <p:cTn id="47" dur="500" fill="hold"/>
                                        <p:tgtEl>
                                          <p:spTgt spid="28"/>
                                        </p:tgtEl>
                                        <p:attrNameLst>
                                          <p:attrName>ppt_y</p:attrName>
                                        </p:attrNameLst>
                                      </p:cBhvr>
                                      <p:tavLst>
                                        <p:tav tm="0">
                                          <p:val>
                                            <p:strVal val="#ppt_h+1"/>
                                          </p:val>
                                        </p:tav>
                                        <p:tav tm="100000">
                                          <p:val>
                                            <p:strVal val="#ppt_y"/>
                                          </p:val>
                                        </p:tav>
                                      </p:tavLst>
                                    </p:anim>
                                    <p:animEffect transition="in" filter="fade">
                                      <p:cBhvr>
                                        <p:cTn id="48" dur="500"/>
                                        <p:tgtEl>
                                          <p:spTgt spid="28"/>
                                        </p:tgtEl>
                                      </p:cBhvr>
                                    </p:animEffect>
                                  </p:childTnLst>
                                </p:cTn>
                              </p:par>
                              <p:par>
                                <p:cTn id="49" presetID="58" presetClass="entr" presetSubtype="0" accel="100000" fill="hold" nodeType="withEffect">
                                  <p:stCondLst>
                                    <p:cond delay="6800"/>
                                  </p:stCondLst>
                                  <p:childTnLst>
                                    <p:set>
                                      <p:cBhvr>
                                        <p:cTn id="50" dur="1" fill="hold">
                                          <p:stCondLst>
                                            <p:cond delay="0"/>
                                          </p:stCondLst>
                                        </p:cTn>
                                        <p:tgtEl>
                                          <p:spTgt spid="32"/>
                                        </p:tgtEl>
                                        <p:attrNameLst>
                                          <p:attrName>style.visibility</p:attrName>
                                        </p:attrNameLst>
                                      </p:cBhvr>
                                      <p:to>
                                        <p:strVal val="visible"/>
                                      </p:to>
                                    </p:set>
                                    <p:anim calcmode="lin" valueType="num">
                                      <p:cBhvr>
                                        <p:cTn id="51" dur="500" fill="hold"/>
                                        <p:tgtEl>
                                          <p:spTgt spid="32"/>
                                        </p:tgtEl>
                                        <p:attrNameLst>
                                          <p:attrName>ppt_w</p:attrName>
                                        </p:attrNameLst>
                                      </p:cBhvr>
                                      <p:tavLst>
                                        <p:tav tm="0">
                                          <p:val>
                                            <p:strVal val="#ppt_w*2.5"/>
                                          </p:val>
                                        </p:tav>
                                        <p:tav tm="100000">
                                          <p:val>
                                            <p:strVal val="#ppt_w"/>
                                          </p:val>
                                        </p:tav>
                                      </p:tavLst>
                                    </p:anim>
                                    <p:anim calcmode="lin" valueType="num">
                                      <p:cBhvr>
                                        <p:cTn id="52" dur="500" fill="hold"/>
                                        <p:tgtEl>
                                          <p:spTgt spid="32"/>
                                        </p:tgtEl>
                                        <p:attrNameLst>
                                          <p:attrName>ppt_h</p:attrName>
                                        </p:attrNameLst>
                                      </p:cBhvr>
                                      <p:tavLst>
                                        <p:tav tm="0">
                                          <p:val>
                                            <p:strVal val="#ppt_h*0.01"/>
                                          </p:val>
                                        </p:tav>
                                        <p:tav tm="100000">
                                          <p:val>
                                            <p:strVal val="#ppt_h"/>
                                          </p:val>
                                        </p:tav>
                                      </p:tavLst>
                                    </p:anim>
                                    <p:anim calcmode="lin" valueType="num">
                                      <p:cBhvr>
                                        <p:cTn id="53" dur="500" fill="hold"/>
                                        <p:tgtEl>
                                          <p:spTgt spid="32"/>
                                        </p:tgtEl>
                                        <p:attrNameLst>
                                          <p:attrName>ppt_x</p:attrName>
                                        </p:attrNameLst>
                                      </p:cBhvr>
                                      <p:tavLst>
                                        <p:tav tm="0">
                                          <p:val>
                                            <p:strVal val="#ppt_x"/>
                                          </p:val>
                                        </p:tav>
                                        <p:tav tm="100000">
                                          <p:val>
                                            <p:strVal val="#ppt_x"/>
                                          </p:val>
                                        </p:tav>
                                      </p:tavLst>
                                    </p:anim>
                                    <p:anim calcmode="lin" valueType="num">
                                      <p:cBhvr>
                                        <p:cTn id="54" dur="500" fill="hold"/>
                                        <p:tgtEl>
                                          <p:spTgt spid="32"/>
                                        </p:tgtEl>
                                        <p:attrNameLst>
                                          <p:attrName>ppt_y</p:attrName>
                                        </p:attrNameLst>
                                      </p:cBhvr>
                                      <p:tavLst>
                                        <p:tav tm="0">
                                          <p:val>
                                            <p:strVal val="#ppt_h+1"/>
                                          </p:val>
                                        </p:tav>
                                        <p:tav tm="100000">
                                          <p:val>
                                            <p:strVal val="#ppt_y"/>
                                          </p:val>
                                        </p:tav>
                                      </p:tavLst>
                                    </p:anim>
                                    <p:animEffect transition="in" filter="fade">
                                      <p:cBhvr>
                                        <p:cTn id="55" dur="500"/>
                                        <p:tgtEl>
                                          <p:spTgt spid="32"/>
                                        </p:tgtEl>
                                      </p:cBhvr>
                                    </p:animEffect>
                                  </p:childTnLst>
                                </p:cTn>
                              </p:par>
                              <p:par>
                                <p:cTn id="56" presetID="58" presetClass="entr" presetSubtype="0" accel="100000" fill="hold" nodeType="withEffect">
                                  <p:stCondLst>
                                    <p:cond delay="7600"/>
                                  </p:stCondLst>
                                  <p:childTnLst>
                                    <p:set>
                                      <p:cBhvr>
                                        <p:cTn id="57" dur="1" fill="hold">
                                          <p:stCondLst>
                                            <p:cond delay="0"/>
                                          </p:stCondLst>
                                        </p:cTn>
                                        <p:tgtEl>
                                          <p:spTgt spid="36"/>
                                        </p:tgtEl>
                                        <p:attrNameLst>
                                          <p:attrName>style.visibility</p:attrName>
                                        </p:attrNameLst>
                                      </p:cBhvr>
                                      <p:to>
                                        <p:strVal val="visible"/>
                                      </p:to>
                                    </p:set>
                                    <p:anim calcmode="lin" valueType="num">
                                      <p:cBhvr>
                                        <p:cTn id="58" dur="500" fill="hold"/>
                                        <p:tgtEl>
                                          <p:spTgt spid="36"/>
                                        </p:tgtEl>
                                        <p:attrNameLst>
                                          <p:attrName>ppt_w</p:attrName>
                                        </p:attrNameLst>
                                      </p:cBhvr>
                                      <p:tavLst>
                                        <p:tav tm="0">
                                          <p:val>
                                            <p:strVal val="#ppt_w*2.5"/>
                                          </p:val>
                                        </p:tav>
                                        <p:tav tm="100000">
                                          <p:val>
                                            <p:strVal val="#ppt_w"/>
                                          </p:val>
                                        </p:tav>
                                      </p:tavLst>
                                    </p:anim>
                                    <p:anim calcmode="lin" valueType="num">
                                      <p:cBhvr>
                                        <p:cTn id="59" dur="500" fill="hold"/>
                                        <p:tgtEl>
                                          <p:spTgt spid="36"/>
                                        </p:tgtEl>
                                        <p:attrNameLst>
                                          <p:attrName>ppt_h</p:attrName>
                                        </p:attrNameLst>
                                      </p:cBhvr>
                                      <p:tavLst>
                                        <p:tav tm="0">
                                          <p:val>
                                            <p:strVal val="#ppt_h*0.01"/>
                                          </p:val>
                                        </p:tav>
                                        <p:tav tm="100000">
                                          <p:val>
                                            <p:strVal val="#ppt_h"/>
                                          </p:val>
                                        </p:tav>
                                      </p:tavLst>
                                    </p:anim>
                                    <p:anim calcmode="lin" valueType="num">
                                      <p:cBhvr>
                                        <p:cTn id="60" dur="500" fill="hold"/>
                                        <p:tgtEl>
                                          <p:spTgt spid="36"/>
                                        </p:tgtEl>
                                        <p:attrNameLst>
                                          <p:attrName>ppt_x</p:attrName>
                                        </p:attrNameLst>
                                      </p:cBhvr>
                                      <p:tavLst>
                                        <p:tav tm="0">
                                          <p:val>
                                            <p:strVal val="#ppt_x"/>
                                          </p:val>
                                        </p:tav>
                                        <p:tav tm="100000">
                                          <p:val>
                                            <p:strVal val="#ppt_x"/>
                                          </p:val>
                                        </p:tav>
                                      </p:tavLst>
                                    </p:anim>
                                    <p:anim calcmode="lin" valueType="num">
                                      <p:cBhvr>
                                        <p:cTn id="61" dur="500" fill="hold"/>
                                        <p:tgtEl>
                                          <p:spTgt spid="36"/>
                                        </p:tgtEl>
                                        <p:attrNameLst>
                                          <p:attrName>ppt_y</p:attrName>
                                        </p:attrNameLst>
                                      </p:cBhvr>
                                      <p:tavLst>
                                        <p:tav tm="0">
                                          <p:val>
                                            <p:strVal val="#ppt_h+1"/>
                                          </p:val>
                                        </p:tav>
                                        <p:tav tm="100000">
                                          <p:val>
                                            <p:strVal val="#ppt_y"/>
                                          </p:val>
                                        </p:tav>
                                      </p:tavLst>
                                    </p:anim>
                                    <p:animEffect transition="in" filter="fade">
                                      <p:cBhvr>
                                        <p:cTn id="62" dur="500"/>
                                        <p:tgtEl>
                                          <p:spTgt spid="36"/>
                                        </p:tgtEl>
                                      </p:cBhvr>
                                    </p:animEffect>
                                  </p:childTnLst>
                                </p:cTn>
                              </p:par>
                              <p:par>
                                <p:cTn id="63" presetID="58" presetClass="entr" presetSubtype="0" accel="100000" fill="hold" nodeType="withEffect">
                                  <p:stCondLst>
                                    <p:cond delay="8800"/>
                                  </p:stCondLst>
                                  <p:childTnLst>
                                    <p:set>
                                      <p:cBhvr>
                                        <p:cTn id="64" dur="1" fill="hold">
                                          <p:stCondLst>
                                            <p:cond delay="0"/>
                                          </p:stCondLst>
                                        </p:cTn>
                                        <p:tgtEl>
                                          <p:spTgt spid="41"/>
                                        </p:tgtEl>
                                        <p:attrNameLst>
                                          <p:attrName>style.visibility</p:attrName>
                                        </p:attrNameLst>
                                      </p:cBhvr>
                                      <p:to>
                                        <p:strVal val="visible"/>
                                      </p:to>
                                    </p:set>
                                    <p:anim calcmode="lin" valueType="num">
                                      <p:cBhvr>
                                        <p:cTn id="65" dur="500" fill="hold"/>
                                        <p:tgtEl>
                                          <p:spTgt spid="41"/>
                                        </p:tgtEl>
                                        <p:attrNameLst>
                                          <p:attrName>ppt_w</p:attrName>
                                        </p:attrNameLst>
                                      </p:cBhvr>
                                      <p:tavLst>
                                        <p:tav tm="0">
                                          <p:val>
                                            <p:strVal val="#ppt_w*2.5"/>
                                          </p:val>
                                        </p:tav>
                                        <p:tav tm="100000">
                                          <p:val>
                                            <p:strVal val="#ppt_w"/>
                                          </p:val>
                                        </p:tav>
                                      </p:tavLst>
                                    </p:anim>
                                    <p:anim calcmode="lin" valueType="num">
                                      <p:cBhvr>
                                        <p:cTn id="66" dur="500" fill="hold"/>
                                        <p:tgtEl>
                                          <p:spTgt spid="41"/>
                                        </p:tgtEl>
                                        <p:attrNameLst>
                                          <p:attrName>ppt_h</p:attrName>
                                        </p:attrNameLst>
                                      </p:cBhvr>
                                      <p:tavLst>
                                        <p:tav tm="0">
                                          <p:val>
                                            <p:strVal val="#ppt_h*0.01"/>
                                          </p:val>
                                        </p:tav>
                                        <p:tav tm="100000">
                                          <p:val>
                                            <p:strVal val="#ppt_h"/>
                                          </p:val>
                                        </p:tav>
                                      </p:tavLst>
                                    </p:anim>
                                    <p:anim calcmode="lin" valueType="num">
                                      <p:cBhvr>
                                        <p:cTn id="67" dur="500" fill="hold"/>
                                        <p:tgtEl>
                                          <p:spTgt spid="41"/>
                                        </p:tgtEl>
                                        <p:attrNameLst>
                                          <p:attrName>ppt_x</p:attrName>
                                        </p:attrNameLst>
                                      </p:cBhvr>
                                      <p:tavLst>
                                        <p:tav tm="0">
                                          <p:val>
                                            <p:strVal val="#ppt_x"/>
                                          </p:val>
                                        </p:tav>
                                        <p:tav tm="100000">
                                          <p:val>
                                            <p:strVal val="#ppt_x"/>
                                          </p:val>
                                        </p:tav>
                                      </p:tavLst>
                                    </p:anim>
                                    <p:anim calcmode="lin" valueType="num">
                                      <p:cBhvr>
                                        <p:cTn id="68" dur="500" fill="hold"/>
                                        <p:tgtEl>
                                          <p:spTgt spid="41"/>
                                        </p:tgtEl>
                                        <p:attrNameLst>
                                          <p:attrName>ppt_y</p:attrName>
                                        </p:attrNameLst>
                                      </p:cBhvr>
                                      <p:tavLst>
                                        <p:tav tm="0">
                                          <p:val>
                                            <p:strVal val="#ppt_h+1"/>
                                          </p:val>
                                        </p:tav>
                                        <p:tav tm="100000">
                                          <p:val>
                                            <p:strVal val="#ppt_y"/>
                                          </p:val>
                                        </p:tav>
                                      </p:tavLst>
                                    </p:anim>
                                    <p:animEffect transition="in" filter="fade">
                                      <p:cBhvr>
                                        <p:cTn id="69" dur="500"/>
                                        <p:tgtEl>
                                          <p:spTgt spid="41"/>
                                        </p:tgtEl>
                                      </p:cBhvr>
                                    </p:animEffect>
                                  </p:childTnLst>
                                </p:cTn>
                              </p:par>
                              <p:par>
                                <p:cTn id="70" presetID="10" presetClass="entr" presetSubtype="0" fill="hold" nodeType="withEffect">
                                  <p:stCondLst>
                                    <p:cond delay="1120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600"/>
                                        <p:tgtEl>
                                          <p:spTgt spid="44"/>
                                        </p:tgtEl>
                                      </p:cBhvr>
                                    </p:animEffect>
                                  </p:childTnLst>
                                </p:cTn>
                              </p:par>
                              <p:par>
                                <p:cTn id="73" presetID="58" presetClass="entr" presetSubtype="0" accel="100000" fill="hold" nodeType="withEffect">
                                  <p:stCondLst>
                                    <p:cond delay="13600"/>
                                  </p:stCondLst>
                                  <p:childTnLst>
                                    <p:set>
                                      <p:cBhvr>
                                        <p:cTn id="74" dur="1" fill="hold">
                                          <p:stCondLst>
                                            <p:cond delay="0"/>
                                          </p:stCondLst>
                                        </p:cTn>
                                        <p:tgtEl>
                                          <p:spTgt spid="48"/>
                                        </p:tgtEl>
                                        <p:attrNameLst>
                                          <p:attrName>style.visibility</p:attrName>
                                        </p:attrNameLst>
                                      </p:cBhvr>
                                      <p:to>
                                        <p:strVal val="visible"/>
                                      </p:to>
                                    </p:set>
                                    <p:anim calcmode="lin" valueType="num">
                                      <p:cBhvr>
                                        <p:cTn id="75" dur="500" fill="hold"/>
                                        <p:tgtEl>
                                          <p:spTgt spid="48"/>
                                        </p:tgtEl>
                                        <p:attrNameLst>
                                          <p:attrName>ppt_w</p:attrName>
                                        </p:attrNameLst>
                                      </p:cBhvr>
                                      <p:tavLst>
                                        <p:tav tm="0">
                                          <p:val>
                                            <p:strVal val="#ppt_w*2.5"/>
                                          </p:val>
                                        </p:tav>
                                        <p:tav tm="100000">
                                          <p:val>
                                            <p:strVal val="#ppt_w"/>
                                          </p:val>
                                        </p:tav>
                                      </p:tavLst>
                                    </p:anim>
                                    <p:anim calcmode="lin" valueType="num">
                                      <p:cBhvr>
                                        <p:cTn id="76" dur="500" fill="hold"/>
                                        <p:tgtEl>
                                          <p:spTgt spid="48"/>
                                        </p:tgtEl>
                                        <p:attrNameLst>
                                          <p:attrName>ppt_h</p:attrName>
                                        </p:attrNameLst>
                                      </p:cBhvr>
                                      <p:tavLst>
                                        <p:tav tm="0">
                                          <p:val>
                                            <p:strVal val="#ppt_h*0.01"/>
                                          </p:val>
                                        </p:tav>
                                        <p:tav tm="100000">
                                          <p:val>
                                            <p:strVal val="#ppt_h"/>
                                          </p:val>
                                        </p:tav>
                                      </p:tavLst>
                                    </p:anim>
                                    <p:anim calcmode="lin" valueType="num">
                                      <p:cBhvr>
                                        <p:cTn id="77" dur="500" fill="hold"/>
                                        <p:tgtEl>
                                          <p:spTgt spid="48"/>
                                        </p:tgtEl>
                                        <p:attrNameLst>
                                          <p:attrName>ppt_x</p:attrName>
                                        </p:attrNameLst>
                                      </p:cBhvr>
                                      <p:tavLst>
                                        <p:tav tm="0">
                                          <p:val>
                                            <p:strVal val="#ppt_x"/>
                                          </p:val>
                                        </p:tav>
                                        <p:tav tm="100000">
                                          <p:val>
                                            <p:strVal val="#ppt_x"/>
                                          </p:val>
                                        </p:tav>
                                      </p:tavLst>
                                    </p:anim>
                                    <p:anim calcmode="lin" valueType="num">
                                      <p:cBhvr>
                                        <p:cTn id="78" dur="500" fill="hold"/>
                                        <p:tgtEl>
                                          <p:spTgt spid="48"/>
                                        </p:tgtEl>
                                        <p:attrNameLst>
                                          <p:attrName>ppt_y</p:attrName>
                                        </p:attrNameLst>
                                      </p:cBhvr>
                                      <p:tavLst>
                                        <p:tav tm="0">
                                          <p:val>
                                            <p:strVal val="#ppt_h+1"/>
                                          </p:val>
                                        </p:tav>
                                        <p:tav tm="100000">
                                          <p:val>
                                            <p:strVal val="#ppt_y"/>
                                          </p:val>
                                        </p:tav>
                                      </p:tavLst>
                                    </p:anim>
                                    <p:animEffect transition="in" filter="fade">
                                      <p:cBhvr>
                                        <p:cTn id="79" dur="500"/>
                                        <p:tgtEl>
                                          <p:spTgt spid="48"/>
                                        </p:tgtEl>
                                      </p:cBhvr>
                                    </p:animEffect>
                                  </p:childTnLst>
                                </p:cTn>
                              </p:par>
                              <p:par>
                                <p:cTn id="80" presetID="58" presetClass="entr" presetSubtype="0" accel="100000" fill="hold" nodeType="withEffect">
                                  <p:stCondLst>
                                    <p:cond delay="16000"/>
                                  </p:stCondLst>
                                  <p:childTnLst>
                                    <p:set>
                                      <p:cBhvr>
                                        <p:cTn id="81" dur="1" fill="hold">
                                          <p:stCondLst>
                                            <p:cond delay="0"/>
                                          </p:stCondLst>
                                        </p:cTn>
                                        <p:tgtEl>
                                          <p:spTgt spid="52"/>
                                        </p:tgtEl>
                                        <p:attrNameLst>
                                          <p:attrName>style.visibility</p:attrName>
                                        </p:attrNameLst>
                                      </p:cBhvr>
                                      <p:to>
                                        <p:strVal val="visible"/>
                                      </p:to>
                                    </p:set>
                                    <p:anim calcmode="lin" valueType="num">
                                      <p:cBhvr>
                                        <p:cTn id="82" dur="500" fill="hold"/>
                                        <p:tgtEl>
                                          <p:spTgt spid="52"/>
                                        </p:tgtEl>
                                        <p:attrNameLst>
                                          <p:attrName>ppt_w</p:attrName>
                                        </p:attrNameLst>
                                      </p:cBhvr>
                                      <p:tavLst>
                                        <p:tav tm="0">
                                          <p:val>
                                            <p:strVal val="#ppt_w*2.5"/>
                                          </p:val>
                                        </p:tav>
                                        <p:tav tm="100000">
                                          <p:val>
                                            <p:strVal val="#ppt_w"/>
                                          </p:val>
                                        </p:tav>
                                      </p:tavLst>
                                    </p:anim>
                                    <p:anim calcmode="lin" valueType="num">
                                      <p:cBhvr>
                                        <p:cTn id="83" dur="500" fill="hold"/>
                                        <p:tgtEl>
                                          <p:spTgt spid="52"/>
                                        </p:tgtEl>
                                        <p:attrNameLst>
                                          <p:attrName>ppt_h</p:attrName>
                                        </p:attrNameLst>
                                      </p:cBhvr>
                                      <p:tavLst>
                                        <p:tav tm="0">
                                          <p:val>
                                            <p:strVal val="#ppt_h*0.01"/>
                                          </p:val>
                                        </p:tav>
                                        <p:tav tm="100000">
                                          <p:val>
                                            <p:strVal val="#ppt_h"/>
                                          </p:val>
                                        </p:tav>
                                      </p:tavLst>
                                    </p:anim>
                                    <p:anim calcmode="lin" valueType="num">
                                      <p:cBhvr>
                                        <p:cTn id="84" dur="500" fill="hold"/>
                                        <p:tgtEl>
                                          <p:spTgt spid="52"/>
                                        </p:tgtEl>
                                        <p:attrNameLst>
                                          <p:attrName>ppt_x</p:attrName>
                                        </p:attrNameLst>
                                      </p:cBhvr>
                                      <p:tavLst>
                                        <p:tav tm="0">
                                          <p:val>
                                            <p:strVal val="#ppt_x"/>
                                          </p:val>
                                        </p:tav>
                                        <p:tav tm="100000">
                                          <p:val>
                                            <p:strVal val="#ppt_x"/>
                                          </p:val>
                                        </p:tav>
                                      </p:tavLst>
                                    </p:anim>
                                    <p:anim calcmode="lin" valueType="num">
                                      <p:cBhvr>
                                        <p:cTn id="85" dur="500" fill="hold"/>
                                        <p:tgtEl>
                                          <p:spTgt spid="52"/>
                                        </p:tgtEl>
                                        <p:attrNameLst>
                                          <p:attrName>ppt_y</p:attrName>
                                        </p:attrNameLst>
                                      </p:cBhvr>
                                      <p:tavLst>
                                        <p:tav tm="0">
                                          <p:val>
                                            <p:strVal val="#ppt_h+1"/>
                                          </p:val>
                                        </p:tav>
                                        <p:tav tm="100000">
                                          <p:val>
                                            <p:strVal val="#ppt_y"/>
                                          </p:val>
                                        </p:tav>
                                      </p:tavLst>
                                    </p:anim>
                                    <p:animEffect transition="in" filter="fade">
                                      <p:cBhvr>
                                        <p:cTn id="86" dur="500"/>
                                        <p:tgtEl>
                                          <p:spTgt spid="52"/>
                                        </p:tgtEl>
                                      </p:cBhvr>
                                    </p:animEffect>
                                  </p:childTnLst>
                                </p:cTn>
                              </p:par>
                              <p:par>
                                <p:cTn id="87" presetID="58" presetClass="entr" presetSubtype="0" accel="100000" fill="hold" nodeType="withEffect">
                                  <p:stCondLst>
                                    <p:cond delay="17600"/>
                                  </p:stCondLst>
                                  <p:childTnLst>
                                    <p:set>
                                      <p:cBhvr>
                                        <p:cTn id="88" dur="1" fill="hold">
                                          <p:stCondLst>
                                            <p:cond delay="0"/>
                                          </p:stCondLst>
                                        </p:cTn>
                                        <p:tgtEl>
                                          <p:spTgt spid="56"/>
                                        </p:tgtEl>
                                        <p:attrNameLst>
                                          <p:attrName>style.visibility</p:attrName>
                                        </p:attrNameLst>
                                      </p:cBhvr>
                                      <p:to>
                                        <p:strVal val="visible"/>
                                      </p:to>
                                    </p:set>
                                    <p:anim calcmode="lin" valueType="num">
                                      <p:cBhvr>
                                        <p:cTn id="89" dur="500" fill="hold"/>
                                        <p:tgtEl>
                                          <p:spTgt spid="56"/>
                                        </p:tgtEl>
                                        <p:attrNameLst>
                                          <p:attrName>ppt_w</p:attrName>
                                        </p:attrNameLst>
                                      </p:cBhvr>
                                      <p:tavLst>
                                        <p:tav tm="0">
                                          <p:val>
                                            <p:strVal val="#ppt_w*2.5"/>
                                          </p:val>
                                        </p:tav>
                                        <p:tav tm="100000">
                                          <p:val>
                                            <p:strVal val="#ppt_w"/>
                                          </p:val>
                                        </p:tav>
                                      </p:tavLst>
                                    </p:anim>
                                    <p:anim calcmode="lin" valueType="num">
                                      <p:cBhvr>
                                        <p:cTn id="90" dur="500" fill="hold"/>
                                        <p:tgtEl>
                                          <p:spTgt spid="56"/>
                                        </p:tgtEl>
                                        <p:attrNameLst>
                                          <p:attrName>ppt_h</p:attrName>
                                        </p:attrNameLst>
                                      </p:cBhvr>
                                      <p:tavLst>
                                        <p:tav tm="0">
                                          <p:val>
                                            <p:strVal val="#ppt_h*0.01"/>
                                          </p:val>
                                        </p:tav>
                                        <p:tav tm="100000">
                                          <p:val>
                                            <p:strVal val="#ppt_h"/>
                                          </p:val>
                                        </p:tav>
                                      </p:tavLst>
                                    </p:anim>
                                    <p:anim calcmode="lin" valueType="num">
                                      <p:cBhvr>
                                        <p:cTn id="91" dur="500" fill="hold"/>
                                        <p:tgtEl>
                                          <p:spTgt spid="56"/>
                                        </p:tgtEl>
                                        <p:attrNameLst>
                                          <p:attrName>ppt_x</p:attrName>
                                        </p:attrNameLst>
                                      </p:cBhvr>
                                      <p:tavLst>
                                        <p:tav tm="0">
                                          <p:val>
                                            <p:strVal val="#ppt_x"/>
                                          </p:val>
                                        </p:tav>
                                        <p:tav tm="100000">
                                          <p:val>
                                            <p:strVal val="#ppt_x"/>
                                          </p:val>
                                        </p:tav>
                                      </p:tavLst>
                                    </p:anim>
                                    <p:anim calcmode="lin" valueType="num">
                                      <p:cBhvr>
                                        <p:cTn id="92" dur="500" fill="hold"/>
                                        <p:tgtEl>
                                          <p:spTgt spid="56"/>
                                        </p:tgtEl>
                                        <p:attrNameLst>
                                          <p:attrName>ppt_y</p:attrName>
                                        </p:attrNameLst>
                                      </p:cBhvr>
                                      <p:tavLst>
                                        <p:tav tm="0">
                                          <p:val>
                                            <p:strVal val="#ppt_h+1"/>
                                          </p:val>
                                        </p:tav>
                                        <p:tav tm="100000">
                                          <p:val>
                                            <p:strVal val="#ppt_y"/>
                                          </p:val>
                                        </p:tav>
                                      </p:tavLst>
                                    </p:anim>
                                    <p:animEffect transition="in" filter="fade">
                                      <p:cBhvr>
                                        <p:cTn id="93" dur="500"/>
                                        <p:tgtEl>
                                          <p:spTgt spid="56"/>
                                        </p:tgtEl>
                                      </p:cBhvr>
                                    </p:animEffect>
                                  </p:childTnLst>
                                </p:cTn>
                              </p:par>
                              <p:par>
                                <p:cTn id="94" presetID="10" presetClass="entr" presetSubtype="0" fill="hold" nodeType="withEffect">
                                  <p:stCondLst>
                                    <p:cond delay="19600"/>
                                  </p:stCondLst>
                                  <p:childTnLst>
                                    <p:set>
                                      <p:cBhvr>
                                        <p:cTn id="95" dur="1" fill="hold">
                                          <p:stCondLst>
                                            <p:cond delay="0"/>
                                          </p:stCondLst>
                                        </p:cTn>
                                        <p:tgtEl>
                                          <p:spTgt spid="59"/>
                                        </p:tgtEl>
                                        <p:attrNameLst>
                                          <p:attrName>style.visibility</p:attrName>
                                        </p:attrNameLst>
                                      </p:cBhvr>
                                      <p:to>
                                        <p:strVal val="visible"/>
                                      </p:to>
                                    </p:set>
                                    <p:animEffect transition="in" filter="fade">
                                      <p:cBhvr>
                                        <p:cTn id="96" dur="600"/>
                                        <p:tgtEl>
                                          <p:spTgt spid="59"/>
                                        </p:tgtEl>
                                      </p:cBhvr>
                                    </p:animEffect>
                                  </p:childTnLst>
                                </p:cTn>
                              </p:par>
                              <p:par>
                                <p:cTn id="97" presetID="58" presetClass="entr" presetSubtype="0" accel="100000" fill="hold" nodeType="withEffect">
                                  <p:stCondLst>
                                    <p:cond delay="19600"/>
                                  </p:stCondLst>
                                  <p:childTnLst>
                                    <p:set>
                                      <p:cBhvr>
                                        <p:cTn id="98" dur="1" fill="hold">
                                          <p:stCondLst>
                                            <p:cond delay="0"/>
                                          </p:stCondLst>
                                        </p:cTn>
                                        <p:tgtEl>
                                          <p:spTgt spid="63"/>
                                        </p:tgtEl>
                                        <p:attrNameLst>
                                          <p:attrName>style.visibility</p:attrName>
                                        </p:attrNameLst>
                                      </p:cBhvr>
                                      <p:to>
                                        <p:strVal val="visible"/>
                                      </p:to>
                                    </p:set>
                                    <p:anim calcmode="lin" valueType="num">
                                      <p:cBhvr>
                                        <p:cTn id="99" dur="500" fill="hold"/>
                                        <p:tgtEl>
                                          <p:spTgt spid="63"/>
                                        </p:tgtEl>
                                        <p:attrNameLst>
                                          <p:attrName>ppt_w</p:attrName>
                                        </p:attrNameLst>
                                      </p:cBhvr>
                                      <p:tavLst>
                                        <p:tav tm="0">
                                          <p:val>
                                            <p:strVal val="#ppt_w*2.5"/>
                                          </p:val>
                                        </p:tav>
                                        <p:tav tm="100000">
                                          <p:val>
                                            <p:strVal val="#ppt_w"/>
                                          </p:val>
                                        </p:tav>
                                      </p:tavLst>
                                    </p:anim>
                                    <p:anim calcmode="lin" valueType="num">
                                      <p:cBhvr>
                                        <p:cTn id="100" dur="500" fill="hold"/>
                                        <p:tgtEl>
                                          <p:spTgt spid="63"/>
                                        </p:tgtEl>
                                        <p:attrNameLst>
                                          <p:attrName>ppt_h</p:attrName>
                                        </p:attrNameLst>
                                      </p:cBhvr>
                                      <p:tavLst>
                                        <p:tav tm="0">
                                          <p:val>
                                            <p:strVal val="#ppt_h*0.01"/>
                                          </p:val>
                                        </p:tav>
                                        <p:tav tm="100000">
                                          <p:val>
                                            <p:strVal val="#ppt_h"/>
                                          </p:val>
                                        </p:tav>
                                      </p:tavLst>
                                    </p:anim>
                                    <p:anim calcmode="lin" valueType="num">
                                      <p:cBhvr>
                                        <p:cTn id="101" dur="500" fill="hold"/>
                                        <p:tgtEl>
                                          <p:spTgt spid="63"/>
                                        </p:tgtEl>
                                        <p:attrNameLst>
                                          <p:attrName>ppt_x</p:attrName>
                                        </p:attrNameLst>
                                      </p:cBhvr>
                                      <p:tavLst>
                                        <p:tav tm="0">
                                          <p:val>
                                            <p:strVal val="#ppt_x"/>
                                          </p:val>
                                        </p:tav>
                                        <p:tav tm="100000">
                                          <p:val>
                                            <p:strVal val="#ppt_x"/>
                                          </p:val>
                                        </p:tav>
                                      </p:tavLst>
                                    </p:anim>
                                    <p:anim calcmode="lin" valueType="num">
                                      <p:cBhvr>
                                        <p:cTn id="102" dur="500" fill="hold"/>
                                        <p:tgtEl>
                                          <p:spTgt spid="63"/>
                                        </p:tgtEl>
                                        <p:attrNameLst>
                                          <p:attrName>ppt_y</p:attrName>
                                        </p:attrNameLst>
                                      </p:cBhvr>
                                      <p:tavLst>
                                        <p:tav tm="0">
                                          <p:val>
                                            <p:strVal val="#ppt_h+1"/>
                                          </p:val>
                                        </p:tav>
                                        <p:tav tm="100000">
                                          <p:val>
                                            <p:strVal val="#ppt_y"/>
                                          </p:val>
                                        </p:tav>
                                      </p:tavLst>
                                    </p:anim>
                                    <p:animEffect transition="in" filter="fade">
                                      <p:cBhvr>
                                        <p:cTn id="103" dur="500"/>
                                        <p:tgtEl>
                                          <p:spTgt spid="63"/>
                                        </p:tgtEl>
                                      </p:cBhvr>
                                    </p:animEffect>
                                  </p:childTnLst>
                                </p:cTn>
                              </p:par>
                              <p:par>
                                <p:cTn id="104" presetID="58" presetClass="entr" presetSubtype="0" accel="100000" fill="hold" nodeType="withEffect">
                                  <p:stCondLst>
                                    <p:cond delay="20400"/>
                                  </p:stCondLst>
                                  <p:childTnLst>
                                    <p:set>
                                      <p:cBhvr>
                                        <p:cTn id="105" dur="1" fill="hold">
                                          <p:stCondLst>
                                            <p:cond delay="0"/>
                                          </p:stCondLst>
                                        </p:cTn>
                                        <p:tgtEl>
                                          <p:spTgt spid="67"/>
                                        </p:tgtEl>
                                        <p:attrNameLst>
                                          <p:attrName>style.visibility</p:attrName>
                                        </p:attrNameLst>
                                      </p:cBhvr>
                                      <p:to>
                                        <p:strVal val="visible"/>
                                      </p:to>
                                    </p:set>
                                    <p:anim calcmode="lin" valueType="num">
                                      <p:cBhvr>
                                        <p:cTn id="106" dur="500" fill="hold"/>
                                        <p:tgtEl>
                                          <p:spTgt spid="67"/>
                                        </p:tgtEl>
                                        <p:attrNameLst>
                                          <p:attrName>ppt_w</p:attrName>
                                        </p:attrNameLst>
                                      </p:cBhvr>
                                      <p:tavLst>
                                        <p:tav tm="0">
                                          <p:val>
                                            <p:strVal val="#ppt_w*2.5"/>
                                          </p:val>
                                        </p:tav>
                                        <p:tav tm="100000">
                                          <p:val>
                                            <p:strVal val="#ppt_w"/>
                                          </p:val>
                                        </p:tav>
                                      </p:tavLst>
                                    </p:anim>
                                    <p:anim calcmode="lin" valueType="num">
                                      <p:cBhvr>
                                        <p:cTn id="107" dur="500" fill="hold"/>
                                        <p:tgtEl>
                                          <p:spTgt spid="67"/>
                                        </p:tgtEl>
                                        <p:attrNameLst>
                                          <p:attrName>ppt_h</p:attrName>
                                        </p:attrNameLst>
                                      </p:cBhvr>
                                      <p:tavLst>
                                        <p:tav tm="0">
                                          <p:val>
                                            <p:strVal val="#ppt_h*0.01"/>
                                          </p:val>
                                        </p:tav>
                                        <p:tav tm="100000">
                                          <p:val>
                                            <p:strVal val="#ppt_h"/>
                                          </p:val>
                                        </p:tav>
                                      </p:tavLst>
                                    </p:anim>
                                    <p:anim calcmode="lin" valueType="num">
                                      <p:cBhvr>
                                        <p:cTn id="108" dur="500" fill="hold"/>
                                        <p:tgtEl>
                                          <p:spTgt spid="67"/>
                                        </p:tgtEl>
                                        <p:attrNameLst>
                                          <p:attrName>ppt_x</p:attrName>
                                        </p:attrNameLst>
                                      </p:cBhvr>
                                      <p:tavLst>
                                        <p:tav tm="0">
                                          <p:val>
                                            <p:strVal val="#ppt_x"/>
                                          </p:val>
                                        </p:tav>
                                        <p:tav tm="100000">
                                          <p:val>
                                            <p:strVal val="#ppt_x"/>
                                          </p:val>
                                        </p:tav>
                                      </p:tavLst>
                                    </p:anim>
                                    <p:anim calcmode="lin" valueType="num">
                                      <p:cBhvr>
                                        <p:cTn id="109" dur="500" fill="hold"/>
                                        <p:tgtEl>
                                          <p:spTgt spid="67"/>
                                        </p:tgtEl>
                                        <p:attrNameLst>
                                          <p:attrName>ppt_y</p:attrName>
                                        </p:attrNameLst>
                                      </p:cBhvr>
                                      <p:tavLst>
                                        <p:tav tm="0">
                                          <p:val>
                                            <p:strVal val="#ppt_h+1"/>
                                          </p:val>
                                        </p:tav>
                                        <p:tav tm="100000">
                                          <p:val>
                                            <p:strVal val="#ppt_y"/>
                                          </p:val>
                                        </p:tav>
                                      </p:tavLst>
                                    </p:anim>
                                    <p:animEffect transition="in" filter="fade">
                                      <p:cBhvr>
                                        <p:cTn id="110" dur="500"/>
                                        <p:tgtEl>
                                          <p:spTgt spid="67"/>
                                        </p:tgtEl>
                                      </p:cBhvr>
                                    </p:animEffect>
                                  </p:childTnLst>
                                </p:cTn>
                              </p:par>
                              <p:par>
                                <p:cTn id="111" presetID="58" presetClass="entr" presetSubtype="0" accel="100000" fill="hold" nodeType="withEffect">
                                  <p:stCondLst>
                                    <p:cond delay="21600"/>
                                  </p:stCondLst>
                                  <p:childTnLst>
                                    <p:set>
                                      <p:cBhvr>
                                        <p:cTn id="112" dur="1" fill="hold">
                                          <p:stCondLst>
                                            <p:cond delay="0"/>
                                          </p:stCondLst>
                                        </p:cTn>
                                        <p:tgtEl>
                                          <p:spTgt spid="71"/>
                                        </p:tgtEl>
                                        <p:attrNameLst>
                                          <p:attrName>style.visibility</p:attrName>
                                        </p:attrNameLst>
                                      </p:cBhvr>
                                      <p:to>
                                        <p:strVal val="visible"/>
                                      </p:to>
                                    </p:set>
                                    <p:anim calcmode="lin" valueType="num">
                                      <p:cBhvr>
                                        <p:cTn id="113" dur="500" fill="hold"/>
                                        <p:tgtEl>
                                          <p:spTgt spid="71"/>
                                        </p:tgtEl>
                                        <p:attrNameLst>
                                          <p:attrName>ppt_w</p:attrName>
                                        </p:attrNameLst>
                                      </p:cBhvr>
                                      <p:tavLst>
                                        <p:tav tm="0">
                                          <p:val>
                                            <p:strVal val="#ppt_w*2.5"/>
                                          </p:val>
                                        </p:tav>
                                        <p:tav tm="100000">
                                          <p:val>
                                            <p:strVal val="#ppt_w"/>
                                          </p:val>
                                        </p:tav>
                                      </p:tavLst>
                                    </p:anim>
                                    <p:anim calcmode="lin" valueType="num">
                                      <p:cBhvr>
                                        <p:cTn id="114" dur="500" fill="hold"/>
                                        <p:tgtEl>
                                          <p:spTgt spid="71"/>
                                        </p:tgtEl>
                                        <p:attrNameLst>
                                          <p:attrName>ppt_h</p:attrName>
                                        </p:attrNameLst>
                                      </p:cBhvr>
                                      <p:tavLst>
                                        <p:tav tm="0">
                                          <p:val>
                                            <p:strVal val="#ppt_h*0.01"/>
                                          </p:val>
                                        </p:tav>
                                        <p:tav tm="100000">
                                          <p:val>
                                            <p:strVal val="#ppt_h"/>
                                          </p:val>
                                        </p:tav>
                                      </p:tavLst>
                                    </p:anim>
                                    <p:anim calcmode="lin" valueType="num">
                                      <p:cBhvr>
                                        <p:cTn id="115" dur="500" fill="hold"/>
                                        <p:tgtEl>
                                          <p:spTgt spid="71"/>
                                        </p:tgtEl>
                                        <p:attrNameLst>
                                          <p:attrName>ppt_x</p:attrName>
                                        </p:attrNameLst>
                                      </p:cBhvr>
                                      <p:tavLst>
                                        <p:tav tm="0">
                                          <p:val>
                                            <p:strVal val="#ppt_x"/>
                                          </p:val>
                                        </p:tav>
                                        <p:tav tm="100000">
                                          <p:val>
                                            <p:strVal val="#ppt_x"/>
                                          </p:val>
                                        </p:tav>
                                      </p:tavLst>
                                    </p:anim>
                                    <p:anim calcmode="lin" valueType="num">
                                      <p:cBhvr>
                                        <p:cTn id="116" dur="500" fill="hold"/>
                                        <p:tgtEl>
                                          <p:spTgt spid="71"/>
                                        </p:tgtEl>
                                        <p:attrNameLst>
                                          <p:attrName>ppt_y</p:attrName>
                                        </p:attrNameLst>
                                      </p:cBhvr>
                                      <p:tavLst>
                                        <p:tav tm="0">
                                          <p:val>
                                            <p:strVal val="#ppt_h+1"/>
                                          </p:val>
                                        </p:tav>
                                        <p:tav tm="100000">
                                          <p:val>
                                            <p:strVal val="#ppt_y"/>
                                          </p:val>
                                        </p:tav>
                                      </p:tavLst>
                                    </p:anim>
                                    <p:animEffect transition="in" filter="fade">
                                      <p:cBhvr>
                                        <p:cTn id="117" dur="500"/>
                                        <p:tgtEl>
                                          <p:spTgt spid="71"/>
                                        </p:tgtEl>
                                      </p:cBhvr>
                                    </p:animEffect>
                                  </p:childTnLst>
                                </p:cTn>
                              </p:par>
                              <p:par>
                                <p:cTn id="118" presetID="2" presetClass="entr" presetSubtype="4" fill="hold" nodeType="withEffect">
                                  <p:stCondLst>
                                    <p:cond delay="23600"/>
                                  </p:stCondLst>
                                  <p:childTnLst>
                                    <p:set>
                                      <p:cBhvr>
                                        <p:cTn id="119" dur="1" fill="hold">
                                          <p:stCondLst>
                                            <p:cond delay="0"/>
                                          </p:stCondLst>
                                        </p:cTn>
                                        <p:tgtEl>
                                          <p:spTgt spid="75"/>
                                        </p:tgtEl>
                                        <p:attrNameLst>
                                          <p:attrName>style.visibility</p:attrName>
                                        </p:attrNameLst>
                                      </p:cBhvr>
                                      <p:to>
                                        <p:strVal val="visible"/>
                                      </p:to>
                                    </p:set>
                                    <p:anim calcmode="lin" valueType="num">
                                      <p:cBhvr additive="base">
                                        <p:cTn id="120" dur="600" fill="hold"/>
                                        <p:tgtEl>
                                          <p:spTgt spid="75"/>
                                        </p:tgtEl>
                                        <p:attrNameLst>
                                          <p:attrName>ppt_x</p:attrName>
                                        </p:attrNameLst>
                                      </p:cBhvr>
                                      <p:tavLst>
                                        <p:tav tm="0">
                                          <p:val>
                                            <p:strVal val="#ppt_x"/>
                                          </p:val>
                                        </p:tav>
                                        <p:tav tm="100000">
                                          <p:val>
                                            <p:strVal val="#ppt_x"/>
                                          </p:val>
                                        </p:tav>
                                      </p:tavLst>
                                    </p:anim>
                                    <p:anim calcmode="lin" valueType="num">
                                      <p:cBhvr additive="base">
                                        <p:cTn id="121" dur="6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the operators in this Canvas</a:t>
            </a:r>
          </a:p>
        </p:txBody>
      </p:sp>
      <p:pic>
        <p:nvPicPr>
          <p:cNvPr id="3" name="Clip 0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300"/>
    </mc:Choice>
    <mc:Fallback>
      <p:transition spd="slow" advTm="2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choosing the modules</a:t>
            </a:r>
          </a:p>
        </p:txBody>
      </p:sp>
      <p:pic>
        <p:nvPicPr>
          <p:cNvPr id="3" name="Clip 1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100"/>
    </mc:Choice>
    <mc:Fallback>
      <p:transition spd="slow" advTm="2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Example 1, API management</a:t>
            </a:r>
          </a:p>
        </p:txBody>
      </p:sp>
      <p:pic>
        <p:nvPicPr>
          <p:cNvPr id="3" name="Clip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300"/>
    </mc:Choice>
    <mc:Fallback>
      <p:transition spd="slow" advTm="2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Example 2, observability</a:t>
            </a:r>
          </a:p>
        </p:txBody>
      </p:sp>
      <p:pic>
        <p:nvPicPr>
          <p:cNvPr id="3" name="Clip 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100"/>
    </mc:Choice>
    <mc:Fallback>
      <p:transition spd="slow" advTm="2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Example 3, identity</a:t>
            </a:r>
          </a:p>
        </p:txBody>
      </p:sp>
      <p:pic>
        <p:nvPicPr>
          <p:cNvPr id="3" name="Clip 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100"/>
    </mc:Choice>
    <mc:Fallback>
      <p:transition spd="slow" advTm="2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Example 4, secrets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9C46A"/>
                </a:solidFill>
                <a:latin typeface="Segoe UI"/>
              </a:rPr>
              <a:t>EXAMPLE 4 · TMFOP007</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Secrets</a:t>
            </a:r>
          </a:p>
        </p:txBody>
      </p:sp>
      <p:grpSp>
        <p:nvGrpSpPr>
          <p:cNvPr id="8" name="Component"/>
          <p:cNvGrpSpPr/>
          <p:nvPr/>
        </p:nvGrpSpPr>
        <p:grpSpPr>
          <a:xfrm>
            <a:off x="444500" y="1905000"/>
            <a:ext cx="2540000" cy="2222500"/>
            <a:chOff x="444500" y="1905000"/>
            <a:chExt cx="2540000" cy="2222500"/>
          </a:xfrm>
        </p:grpSpPr>
        <p:pic>
          <p:nvPicPr>
            <p:cNvPr id="6" name="Shape 4" descr="oda.png"/>
            <p:cNvPicPr>
              <a:picLocks noChangeAspect="1"/>
            </p:cNvPicPr>
            <p:nvPr/>
          </p:nvPicPr>
          <p:blipFill>
            <a:blip r:embed="rId4"/>
            <a:stretch>
              <a:fillRect/>
            </a:stretch>
          </p:blipFill>
          <p:spPr>
            <a:xfrm>
              <a:off x="762000" y="1905000"/>
              <a:ext cx="1905000" cy="1799167"/>
            </a:xfrm>
            <a:prstGeom prst="rect">
              <a:avLst/>
            </a:prstGeom>
          </p:spPr>
        </p:pic>
        <p:sp>
          <p:nvSpPr>
            <p:cNvPr id="7" name="Shape 5"/>
            <p:cNvSpPr txBox="1"/>
            <p:nvPr/>
          </p:nvSpPr>
          <p:spPr>
            <a:xfrm>
              <a:off x="444500" y="3810000"/>
              <a:ext cx="2540000" cy="3175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ODA Component</a:t>
              </a:r>
            </a:p>
          </p:txBody>
        </p:sp>
      </p:grpSp>
      <p:sp>
        <p:nvSpPr>
          <p:cNvPr id="9" name="Needs"/>
          <p:cNvSpPr/>
          <p:nvPr/>
        </p:nvSpPr>
        <p:spPr>
          <a:xfrm>
            <a:off x="603250" y="4254500"/>
            <a:ext cx="2413000" cy="266700"/>
          </a:xfrm>
          <a:prstGeom prst="roundRect">
            <a:avLst>
              <a:gd name="adj" fmla="val 50000"/>
            </a:avLst>
          </a:prstGeom>
          <a:solidFill>
            <a:srgbClr val="E9C46A">
              <a:alpha val="15000"/>
            </a:srgbClr>
          </a:solidFill>
          <a:ln w="12700">
            <a:solidFill>
              <a:srgbClr val="E9C46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declares: a secrets store</a:t>
            </a:r>
          </a:p>
        </p:txBody>
      </p:sp>
      <p:cxnSp>
        <p:nvCxnSpPr>
          <p:cNvPr id="10" name="Arrow 1"/>
          <p:cNvCxnSpPr/>
          <p:nvPr/>
        </p:nvCxnSpPr>
        <p:spPr>
          <a:xfrm>
            <a:off x="2984500" y="2794000"/>
            <a:ext cx="952500" cy="0"/>
          </a:xfrm>
          <a:prstGeom prst="line">
            <a:avLst/>
          </a:prstGeom>
          <a:ln w="31750">
            <a:solidFill>
              <a:srgbClr val="E9C46A"/>
            </a:solidFill>
            <a:tailEnd type="triangle" w="med"/>
          </a:ln>
        </p:spPr>
        <p:style>
          <a:lnRef idx="2">
            <a:schemeClr val="accent1"/>
          </a:lnRef>
          <a:fillRef idx="0">
            <a:schemeClr val="accent1"/>
          </a:fillRef>
          <a:effectRef idx="1">
            <a:schemeClr val="accent1"/>
          </a:effectRef>
          <a:fontRef idx="minor">
            <a:schemeClr val="tx1"/>
          </a:fontRef>
        </p:style>
      </p:cxnSp>
      <p:grpSp>
        <p:nvGrpSpPr>
          <p:cNvPr id="15" name="Operator"/>
          <p:cNvGrpSpPr/>
          <p:nvPr/>
        </p:nvGrpSpPr>
        <p:grpSpPr>
          <a:xfrm>
            <a:off x="4064000" y="2095500"/>
            <a:ext cx="3302000" cy="1397000"/>
            <a:chOff x="4064000" y="2095500"/>
            <a:chExt cx="3302000" cy="1397000"/>
          </a:xfrm>
        </p:grpSpPr>
        <p:sp>
          <p:nvSpPr>
            <p:cNvPr id="11" name="Shape 9"/>
            <p:cNvSpPr/>
            <p:nvPr/>
          </p:nvSpPr>
          <p:spPr>
            <a:xfrm>
              <a:off x="4064000" y="2095500"/>
              <a:ext cx="3302000" cy="1397000"/>
            </a:xfrm>
            <a:prstGeom prst="roundRect">
              <a:avLst>
                <a:gd name="adj" fmla="val 10909"/>
              </a:avLst>
            </a:prstGeom>
            <a:solidFill>
              <a:srgbClr val="111A30"/>
            </a:solidFill>
            <a:ln w="19050">
              <a:solidFill>
                <a:srgbClr val="E9C46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2" name="Shape 10" descr="icon-gear-1fc7a8.png"/>
            <p:cNvPicPr>
              <a:picLocks noChangeAspect="1"/>
            </p:cNvPicPr>
            <p:nvPr/>
          </p:nvPicPr>
          <p:blipFill>
            <a:blip r:embed="rId5"/>
            <a:stretch>
              <a:fillRect/>
            </a:stretch>
          </p:blipFill>
          <p:spPr>
            <a:xfrm>
              <a:off x="4254500" y="2286000"/>
              <a:ext cx="444500" cy="444500"/>
            </a:xfrm>
            <a:prstGeom prst="rect">
              <a:avLst/>
            </a:prstGeom>
          </p:spPr>
        </p:pic>
        <p:sp>
          <p:nvSpPr>
            <p:cNvPr id="13" name="Shape 11"/>
            <p:cNvSpPr txBox="1"/>
            <p:nvPr/>
          </p:nvSpPr>
          <p:spPr>
            <a:xfrm>
              <a:off x="4826000" y="2286000"/>
              <a:ext cx="2413000" cy="635000"/>
            </a:xfrm>
            <a:prstGeom prst="rect">
              <a:avLst/>
            </a:prstGeom>
            <a:noFill/>
          </p:spPr>
          <p:txBody>
            <a:bodyPr wrap="square" lIns="0" tIns="0" rIns="0" bIns="0" anchor="t">
              <a:spAutoFit/>
            </a:bodyPr>
            <a:lstStyle/>
            <a:p>
              <a:pPr algn="l">
                <a:lnSpc>
                  <a:spcPct val="115000"/>
                </a:lnSpc>
              </a:pPr>
              <a:r>
                <a:rPr sz="1600" b="1">
                  <a:solidFill>
                    <a:srgbClr val="F2F5FB"/>
                  </a:solidFill>
                  <a:latin typeface="Segoe UI"/>
                </a:rPr>
                <a:t>Secrets management operator</a:t>
              </a:r>
            </a:p>
          </p:txBody>
        </p:sp>
        <p:sp>
          <p:nvSpPr>
            <p:cNvPr id="14" name="Shape 12"/>
            <p:cNvSpPr txBox="1"/>
            <p:nvPr/>
          </p:nvSpPr>
          <p:spPr>
            <a:xfrm>
              <a:off x="4254500" y="2984500"/>
              <a:ext cx="2984500" cy="381000"/>
            </a:xfrm>
            <a:prstGeom prst="rect">
              <a:avLst/>
            </a:prstGeom>
            <a:noFill/>
          </p:spPr>
          <p:txBody>
            <a:bodyPr wrap="square" lIns="0" tIns="0" rIns="0" bIns="0" anchor="t">
              <a:spAutoFit/>
            </a:bodyPr>
            <a:lstStyle/>
            <a:p>
              <a:pPr algn="l">
                <a:lnSpc>
                  <a:spcPct val="115000"/>
                </a:lnSpc>
              </a:pPr>
              <a:r>
                <a:rPr sz="1200" b="0">
                  <a:solidFill>
                    <a:srgbClr val="8F9BB8"/>
                  </a:solidFill>
                  <a:latin typeface="Segoe UI"/>
                </a:rPr>
                <a:t>provides the store for the component</a:t>
              </a:r>
            </a:p>
          </p:txBody>
        </p:sp>
      </p:grpSp>
      <p:cxnSp>
        <p:nvCxnSpPr>
          <p:cNvPr id="16" name="Arrow 2"/>
          <p:cNvCxnSpPr/>
          <p:nvPr/>
        </p:nvCxnSpPr>
        <p:spPr>
          <a:xfrm>
            <a:off x="7429500" y="2794000"/>
            <a:ext cx="952500" cy="0"/>
          </a:xfrm>
          <a:prstGeom prst="line">
            <a:avLst/>
          </a:prstGeom>
          <a:ln w="31750">
            <a:solidFill>
              <a:srgbClr val="E9C46A"/>
            </a:solidFill>
            <a:tailEnd type="triangle" w="med"/>
          </a:ln>
        </p:spPr>
        <p:style>
          <a:lnRef idx="2">
            <a:schemeClr val="accent1"/>
          </a:lnRef>
          <a:fillRef idx="0">
            <a:schemeClr val="accent1"/>
          </a:fillRef>
          <a:effectRef idx="1">
            <a:schemeClr val="accent1"/>
          </a:effectRef>
          <a:fontRef idx="minor">
            <a:schemeClr val="tx1"/>
          </a:fontRef>
        </p:style>
      </p:cxnSp>
      <p:grpSp>
        <p:nvGrpSpPr>
          <p:cNvPr id="21" name="Vault"/>
          <p:cNvGrpSpPr/>
          <p:nvPr/>
        </p:nvGrpSpPr>
        <p:grpSpPr>
          <a:xfrm>
            <a:off x="8509000" y="2095500"/>
            <a:ext cx="2921000" cy="1397000"/>
            <a:chOff x="8509000" y="2095500"/>
            <a:chExt cx="2921000" cy="1397000"/>
          </a:xfrm>
        </p:grpSpPr>
        <p:sp>
          <p:nvSpPr>
            <p:cNvPr id="17" name="Shape 15"/>
            <p:cNvSpPr/>
            <p:nvPr/>
          </p:nvSpPr>
          <p:spPr>
            <a:xfrm>
              <a:off x="8509000" y="2095500"/>
              <a:ext cx="2921000" cy="1397000"/>
            </a:xfrm>
            <a:prstGeom prst="roundRect">
              <a:avLst>
                <a:gd name="adj" fmla="val 10909"/>
              </a:avLst>
            </a:prstGeom>
            <a:solidFill>
              <a:srgbClr val="E9C46A">
                <a:alpha val="12000"/>
              </a:srgbClr>
            </a:solidFill>
            <a:ln w="19050">
              <a:solidFill>
                <a:srgbClr val="E9C46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8" name="Shape 16" descr="icon-lock-e9c46a.png"/>
            <p:cNvPicPr>
              <a:picLocks noChangeAspect="1"/>
            </p:cNvPicPr>
            <p:nvPr/>
          </p:nvPicPr>
          <p:blipFill>
            <a:blip r:embed="rId6"/>
            <a:stretch>
              <a:fillRect/>
            </a:stretch>
          </p:blipFill>
          <p:spPr>
            <a:xfrm>
              <a:off x="8699500" y="2286000"/>
              <a:ext cx="444500" cy="444500"/>
            </a:xfrm>
            <a:prstGeom prst="rect">
              <a:avLst/>
            </a:prstGeom>
          </p:spPr>
        </p:pic>
        <p:sp>
          <p:nvSpPr>
            <p:cNvPr id="19" name="Shape 17"/>
            <p:cNvSpPr txBox="1"/>
            <p:nvPr/>
          </p:nvSpPr>
          <p:spPr>
            <a:xfrm>
              <a:off x="9271000" y="2286000"/>
              <a:ext cx="2032000" cy="381000"/>
            </a:xfrm>
            <a:prstGeom prst="rect">
              <a:avLst/>
            </a:prstGeom>
            <a:noFill/>
          </p:spPr>
          <p:txBody>
            <a:bodyPr wrap="square" lIns="0" tIns="0" rIns="0" bIns="0" anchor="t">
              <a:spAutoFit/>
            </a:bodyPr>
            <a:lstStyle/>
            <a:p>
              <a:pPr algn="l">
                <a:lnSpc>
                  <a:spcPct val="115000"/>
                </a:lnSpc>
              </a:pPr>
              <a:r>
                <a:rPr sz="1600" b="1">
                  <a:solidFill>
                    <a:srgbClr val="F2F5FB"/>
                  </a:solidFill>
                  <a:latin typeface="Segoe UI"/>
                </a:rPr>
                <a:t>HashiCorp Vault</a:t>
              </a:r>
            </a:p>
          </p:txBody>
        </p:sp>
        <p:sp>
          <p:nvSpPr>
            <p:cNvPr id="20" name="Shape 18"/>
            <p:cNvSpPr txBox="1"/>
            <p:nvPr/>
          </p:nvSpPr>
          <p:spPr>
            <a:xfrm>
              <a:off x="8699500" y="2857500"/>
              <a:ext cx="2603500" cy="508000"/>
            </a:xfrm>
            <a:prstGeom prst="rect">
              <a:avLst/>
            </a:prstGeom>
            <a:noFill/>
          </p:spPr>
          <p:txBody>
            <a:bodyPr wrap="square" lIns="0" tIns="0" rIns="0" bIns="0" anchor="t">
              <a:spAutoFit/>
            </a:bodyPr>
            <a:lstStyle/>
            <a:p>
              <a:pPr algn="l">
                <a:lnSpc>
                  <a:spcPct val="115000"/>
                </a:lnSpc>
              </a:pPr>
              <a:r>
                <a:rPr sz="1300" b="1">
                  <a:solidFill>
                    <a:srgbClr val="8F9BB8"/>
                  </a:solidFill>
                  <a:latin typeface="Segoe UI"/>
                </a:rPr>
                <a:t>or another secrets platform</a:t>
              </a:r>
            </a:p>
          </p:txBody>
        </p:sp>
      </p:grpSp>
      <p:grpSp>
        <p:nvGrpSpPr>
          <p:cNvPr id="25" name="Identity"/>
          <p:cNvGrpSpPr/>
          <p:nvPr/>
        </p:nvGrpSpPr>
        <p:grpSpPr>
          <a:xfrm>
            <a:off x="4064000" y="4318000"/>
            <a:ext cx="7366000" cy="889000"/>
            <a:chOff x="4064000" y="4318000"/>
            <a:chExt cx="7366000" cy="889000"/>
          </a:xfrm>
        </p:grpSpPr>
        <p:sp>
          <p:nvSpPr>
            <p:cNvPr id="22" name="Shape 20"/>
            <p:cNvSpPr/>
            <p:nvPr/>
          </p:nvSpPr>
          <p:spPr>
            <a:xfrm>
              <a:off x="4064000" y="4318000"/>
              <a:ext cx="7366000" cy="889000"/>
            </a:xfrm>
            <a:prstGeom prst="roundRect">
              <a:avLst>
                <a:gd name="adj" fmla="val 17142"/>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3" name="Shape 21" descr="icon-key-e9c46a.png"/>
            <p:cNvPicPr>
              <a:picLocks noChangeAspect="1"/>
            </p:cNvPicPr>
            <p:nvPr/>
          </p:nvPicPr>
          <p:blipFill>
            <a:blip r:embed="rId7"/>
            <a:stretch>
              <a:fillRect/>
            </a:stretch>
          </p:blipFill>
          <p:spPr>
            <a:xfrm>
              <a:off x="4292600" y="4572000"/>
              <a:ext cx="381000" cy="381000"/>
            </a:xfrm>
            <a:prstGeom prst="rect">
              <a:avLst/>
            </a:prstGeom>
          </p:spPr>
        </p:pic>
        <p:sp>
          <p:nvSpPr>
            <p:cNvPr id="24" name="Shape 22"/>
            <p:cNvSpPr txBox="1"/>
            <p:nvPr/>
          </p:nvSpPr>
          <p:spPr>
            <a:xfrm>
              <a:off x="4826000" y="4381500"/>
              <a:ext cx="6350000" cy="762000"/>
            </a:xfrm>
            <a:prstGeom prst="rect">
              <a:avLst/>
            </a:prstGeom>
            <a:noFill/>
          </p:spPr>
          <p:txBody>
            <a:bodyPr wrap="square" lIns="0" tIns="0" rIns="0" bIns="0" anchor="t">
              <a:spAutoFit/>
            </a:bodyPr>
            <a:lstStyle/>
            <a:p>
              <a:pPr algn="l">
                <a:lnSpc>
                  <a:spcPct val="115000"/>
                </a:lnSpc>
              </a:pPr>
              <a:r>
                <a:rPr sz="1600" b="1">
                  <a:solidFill>
                    <a:srgbClr val="F2F5FB"/>
                  </a:solidFill>
                  <a:latin typeface="Segoe UI"/>
                </a:rPr>
                <a:t>Signs in with its own Kubernetes identity</a:t>
              </a:r>
            </a:p>
            <a:p>
              <a:pPr algn="l">
                <a:lnSpc>
                  <a:spcPct val="115000"/>
                </a:lnSpc>
              </a:pPr>
              <a:r>
                <a:rPr sz="1300" b="0">
                  <a:solidFill>
                    <a:srgbClr val="8F9BB8"/>
                  </a:solidFill>
                  <a:latin typeface="Segoe UI"/>
                </a:rPr>
                <a:t>No bootstrap passwords · JWT/OIDC based (UC014)</a:t>
              </a:r>
            </a:p>
          </p:txBody>
        </p:sp>
      </p:grpSp>
    </p:spTree>
  </p:cSld>
  <p:clrMapOvr>
    <a:masterClrMapping/>
  </p:clrMapOvr>
  <mc:AlternateContent xmlns:mc="http://schemas.openxmlformats.org/markup-compatibility/2006">
    <mc:Choice xmlns:p14="http://schemas.microsoft.com/office/powerpoint/2010/main" Requires="p14">
      <p:transition spd="slow" p14:dur="2000" advTm="19900"/>
    </mc:Choice>
    <mc:Fallback>
      <p:transition spd="slow" advTm="1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800"/>
                                  </p:stCondLst>
                                  <p:childTnLst>
                                    <p:set>
                                      <p:cBhvr>
                                        <p:cTn id="12" dur="1" fill="hold">
                                          <p:stCondLst>
                                            <p:cond delay="0"/>
                                          </p:stCondLst>
                                        </p:cTn>
                                        <p:tgtEl>
                                          <p:spTgt spid="8"/>
                                        </p:tgtEl>
                                        <p:attrNameLst>
                                          <p:attrName>style.visibility</p:attrName>
                                        </p:attrNameLst>
                                      </p:cBhvr>
                                      <p:to>
                                        <p:strVal val="visible"/>
                                      </p:to>
                                    </p:set>
                                    <p:anim calcmode="lin" valueType="num">
                                      <p:cBhvr>
                                        <p:cTn id="13" dur="600" fill="hold"/>
                                        <p:tgtEl>
                                          <p:spTgt spid="8"/>
                                        </p:tgtEl>
                                        <p:attrNameLst>
                                          <p:attrName>ppt_w</p:attrName>
                                        </p:attrNameLst>
                                      </p:cBhvr>
                                      <p:tavLst>
                                        <p:tav tm="0">
                                          <p:val>
                                            <p:strVal val="#ppt_w*2.5"/>
                                          </p:val>
                                        </p:tav>
                                        <p:tav tm="100000">
                                          <p:val>
                                            <p:strVal val="#ppt_w"/>
                                          </p:val>
                                        </p:tav>
                                      </p:tavLst>
                                    </p:anim>
                                    <p:anim calcmode="lin" valueType="num">
                                      <p:cBhvr>
                                        <p:cTn id="14" dur="600" fill="hold"/>
                                        <p:tgtEl>
                                          <p:spTgt spid="8"/>
                                        </p:tgtEl>
                                        <p:attrNameLst>
                                          <p:attrName>ppt_h</p:attrName>
                                        </p:attrNameLst>
                                      </p:cBhvr>
                                      <p:tavLst>
                                        <p:tav tm="0">
                                          <p:val>
                                            <p:strVal val="#ppt_h*0.01"/>
                                          </p:val>
                                        </p:tav>
                                        <p:tav tm="100000">
                                          <p:val>
                                            <p:strVal val="#ppt_h"/>
                                          </p:val>
                                        </p:tav>
                                      </p:tavLst>
                                    </p:anim>
                                    <p:anim calcmode="lin" valueType="num">
                                      <p:cBhvr>
                                        <p:cTn id="15" dur="600" fill="hold"/>
                                        <p:tgtEl>
                                          <p:spTgt spid="8"/>
                                        </p:tgtEl>
                                        <p:attrNameLst>
                                          <p:attrName>ppt_x</p:attrName>
                                        </p:attrNameLst>
                                      </p:cBhvr>
                                      <p:tavLst>
                                        <p:tav tm="0">
                                          <p:val>
                                            <p:strVal val="#ppt_x"/>
                                          </p:val>
                                        </p:tav>
                                        <p:tav tm="100000">
                                          <p:val>
                                            <p:strVal val="#ppt_x"/>
                                          </p:val>
                                        </p:tav>
                                      </p:tavLst>
                                    </p:anim>
                                    <p:anim calcmode="lin" valueType="num">
                                      <p:cBhvr>
                                        <p:cTn id="16" dur="600" fill="hold"/>
                                        <p:tgtEl>
                                          <p:spTgt spid="8"/>
                                        </p:tgtEl>
                                        <p:attrNameLst>
                                          <p:attrName>ppt_y</p:attrName>
                                        </p:attrNameLst>
                                      </p:cBhvr>
                                      <p:tavLst>
                                        <p:tav tm="0">
                                          <p:val>
                                            <p:strVal val="#ppt_h+1"/>
                                          </p:val>
                                        </p:tav>
                                        <p:tav tm="100000">
                                          <p:val>
                                            <p:strVal val="#ppt_y"/>
                                          </p:val>
                                        </p:tav>
                                      </p:tavLst>
                                    </p:anim>
                                    <p:animEffect transition="in" filter="fade">
                                      <p:cBhvr>
                                        <p:cTn id="17" dur="600"/>
                                        <p:tgtEl>
                                          <p:spTgt spid="8"/>
                                        </p:tgtEl>
                                      </p:cBhvr>
                                    </p:animEffect>
                                  </p:childTnLst>
                                </p:cTn>
                              </p:par>
                              <p:par>
                                <p:cTn id="18" presetID="10" presetClass="entr" presetSubtype="0" fill="hold" grpId="0" nodeType="withEffect">
                                  <p:stCondLst>
                                    <p:cond delay="24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600"/>
                                        <p:tgtEl>
                                          <p:spTgt spid="9"/>
                                        </p:tgtEl>
                                      </p:cBhvr>
                                    </p:animEffect>
                                  </p:childTnLst>
                                </p:cTn>
                              </p:par>
                              <p:par>
                                <p:cTn id="21" presetID="10" presetClass="entr" presetSubtype="0" fill="hold" nodeType="withEffect">
                                  <p:stCondLst>
                                    <p:cond delay="34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600"/>
                                        <p:tgtEl>
                                          <p:spTgt spid="10"/>
                                        </p:tgtEl>
                                      </p:cBhvr>
                                    </p:animEffect>
                                  </p:childTnLst>
                                </p:cTn>
                              </p:par>
                              <p:par>
                                <p:cTn id="24" presetID="2" presetClass="entr" presetSubtype="4" fill="hold" nodeType="withEffect">
                                  <p:stCondLst>
                                    <p:cond delay="36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600" fill="hold"/>
                                        <p:tgtEl>
                                          <p:spTgt spid="15"/>
                                        </p:tgtEl>
                                        <p:attrNameLst>
                                          <p:attrName>ppt_x</p:attrName>
                                        </p:attrNameLst>
                                      </p:cBhvr>
                                      <p:tavLst>
                                        <p:tav tm="0">
                                          <p:val>
                                            <p:strVal val="#ppt_x"/>
                                          </p:val>
                                        </p:tav>
                                        <p:tav tm="100000">
                                          <p:val>
                                            <p:strVal val="#ppt_x"/>
                                          </p:val>
                                        </p:tav>
                                      </p:tavLst>
                                    </p:anim>
                                    <p:anim calcmode="lin" valueType="num">
                                      <p:cBhvr additive="base">
                                        <p:cTn id="27" dur="600" fill="hold"/>
                                        <p:tgtEl>
                                          <p:spTgt spid="15"/>
                                        </p:tgtEl>
                                        <p:attrNameLst>
                                          <p:attrName>ppt_y</p:attrName>
                                        </p:attrNameLst>
                                      </p:cBhvr>
                                      <p:tavLst>
                                        <p:tav tm="0">
                                          <p:val>
                                            <p:strVal val="1+#ppt_h/2"/>
                                          </p:val>
                                        </p:tav>
                                        <p:tav tm="100000">
                                          <p:val>
                                            <p:strVal val="#ppt_y"/>
                                          </p:val>
                                        </p:tav>
                                      </p:tavLst>
                                    </p:anim>
                                  </p:childTnLst>
                                </p:cTn>
                              </p:par>
                              <p:par>
                                <p:cTn id="28" presetID="10" presetClass="entr" presetSubtype="0" fill="hold" nodeType="withEffect">
                                  <p:stCondLst>
                                    <p:cond delay="70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600"/>
                                        <p:tgtEl>
                                          <p:spTgt spid="16"/>
                                        </p:tgtEl>
                                      </p:cBhvr>
                                    </p:animEffect>
                                  </p:childTnLst>
                                </p:cTn>
                              </p:par>
                              <p:par>
                                <p:cTn id="31" presetID="2" presetClass="entr" presetSubtype="4" fill="hold" nodeType="withEffect">
                                  <p:stCondLst>
                                    <p:cond delay="720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600" fill="hold"/>
                                        <p:tgtEl>
                                          <p:spTgt spid="21"/>
                                        </p:tgtEl>
                                        <p:attrNameLst>
                                          <p:attrName>ppt_x</p:attrName>
                                        </p:attrNameLst>
                                      </p:cBhvr>
                                      <p:tavLst>
                                        <p:tav tm="0">
                                          <p:val>
                                            <p:strVal val="#ppt_x"/>
                                          </p:val>
                                        </p:tav>
                                        <p:tav tm="100000">
                                          <p:val>
                                            <p:strVal val="#ppt_x"/>
                                          </p:val>
                                        </p:tav>
                                      </p:tavLst>
                                    </p:anim>
                                    <p:anim calcmode="lin" valueType="num">
                                      <p:cBhvr additive="base">
                                        <p:cTn id="34" dur="600" fill="hold"/>
                                        <p:tgtEl>
                                          <p:spTgt spid="21"/>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1240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600" fill="hold"/>
                                        <p:tgtEl>
                                          <p:spTgt spid="25"/>
                                        </p:tgtEl>
                                        <p:attrNameLst>
                                          <p:attrName>ppt_x</p:attrName>
                                        </p:attrNameLst>
                                      </p:cBhvr>
                                      <p:tavLst>
                                        <p:tav tm="0">
                                          <p:val>
                                            <p:strVal val="#ppt_x"/>
                                          </p:val>
                                        </p:tav>
                                        <p:tav tm="100000">
                                          <p:val>
                                            <p:strVal val="#ppt_x"/>
                                          </p:val>
                                        </p:tav>
                                      </p:tavLst>
                                    </p:anim>
                                    <p:anim calcmode="lin" valueType="num">
                                      <p:cBhvr additive="base">
                                        <p:cTn id="38" dur="6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Example 5, carbon-aware scaling</a:t>
            </a:r>
          </a:p>
        </p:txBody>
      </p:sp>
      <p:pic>
        <p:nvPicPr>
          <p:cNvPr id="3" name="Clip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500"/>
    </mc:Choice>
    <mc:Fallback>
      <p:transition spd="slow" advTm="2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Build your own operator</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1FC7A8"/>
                </a:solidFill>
                <a:latin typeface="Segoe UI"/>
              </a:rPr>
              <a:t>BUILDING YOUR OWN</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Build your own operator</a:t>
            </a:r>
          </a:p>
        </p:txBody>
      </p:sp>
      <p:grpSp>
        <p:nvGrpSpPr>
          <p:cNvPr id="10" name="Card 1"/>
          <p:cNvGrpSpPr/>
          <p:nvPr/>
        </p:nvGrpSpPr>
        <p:grpSpPr>
          <a:xfrm>
            <a:off x="762000" y="1778000"/>
            <a:ext cx="3429000" cy="3302000"/>
            <a:chOff x="762000" y="1778000"/>
            <a:chExt cx="3429000" cy="3302000"/>
          </a:xfrm>
        </p:grpSpPr>
        <p:sp>
          <p:nvSpPr>
            <p:cNvPr id="6" name="Shape 4"/>
            <p:cNvSpPr/>
            <p:nvPr/>
          </p:nvSpPr>
          <p:spPr>
            <a:xfrm>
              <a:off x="762000" y="1778000"/>
              <a:ext cx="3429000" cy="3302000"/>
            </a:xfrm>
            <a:prstGeom prst="roundRect">
              <a:avLst>
                <a:gd name="adj" fmla="val 500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wrench-1fc7a8.png"/>
            <p:cNvPicPr>
              <a:picLocks noChangeAspect="1"/>
            </p:cNvPicPr>
            <p:nvPr/>
          </p:nvPicPr>
          <p:blipFill>
            <a:blip r:embed="rId4"/>
            <a:stretch>
              <a:fillRect/>
            </a:stretch>
          </p:blipFill>
          <p:spPr>
            <a:xfrm>
              <a:off x="990600" y="2006600"/>
              <a:ext cx="533400" cy="533400"/>
            </a:xfrm>
            <a:prstGeom prst="rect">
              <a:avLst/>
            </a:prstGeom>
          </p:spPr>
        </p:pic>
        <p:sp>
          <p:nvSpPr>
            <p:cNvPr id="8" name="Shape 6"/>
            <p:cNvSpPr txBox="1"/>
            <p:nvPr/>
          </p:nvSpPr>
          <p:spPr>
            <a:xfrm>
              <a:off x="990600" y="2730500"/>
              <a:ext cx="2984500" cy="3810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Any language</a:t>
              </a:r>
            </a:p>
          </p:txBody>
        </p:sp>
        <p:sp>
          <p:nvSpPr>
            <p:cNvPr id="9" name="Shape 7"/>
            <p:cNvSpPr txBox="1"/>
            <p:nvPr/>
          </p:nvSpPr>
          <p:spPr>
            <a:xfrm>
              <a:off x="990600" y="3238500"/>
              <a:ext cx="2984500" cy="1651000"/>
            </a:xfrm>
            <a:prstGeom prst="rect">
              <a:avLst/>
            </a:prstGeom>
            <a:noFill/>
          </p:spPr>
          <p:txBody>
            <a:bodyPr wrap="square" lIns="0" tIns="0" rIns="0" bIns="0" anchor="t">
              <a:spAutoFit/>
            </a:bodyPr>
            <a:lstStyle/>
            <a:p>
              <a:pPr algn="l">
                <a:lnSpc>
                  <a:spcPct val="120000"/>
                </a:lnSpc>
              </a:pPr>
              <a:r>
                <a:rPr sz="1400" b="0">
                  <a:solidFill>
                    <a:srgbClr val="8F9BB8"/>
                  </a:solidFill>
                  <a:latin typeface="Segoe UI"/>
                </a:rPr>
                <a:t>Follows the Kubernetes operator pattern. The reference operators use Python with KOPF, and Go.</a:t>
              </a:r>
            </a:p>
          </p:txBody>
        </p:sp>
      </p:grpSp>
      <p:grpSp>
        <p:nvGrpSpPr>
          <p:cNvPr id="15" name="Card 2"/>
          <p:cNvGrpSpPr/>
          <p:nvPr/>
        </p:nvGrpSpPr>
        <p:grpSpPr>
          <a:xfrm>
            <a:off x="4381500" y="1778000"/>
            <a:ext cx="3429000" cy="3302000"/>
            <a:chOff x="4381500" y="1778000"/>
            <a:chExt cx="3429000" cy="3302000"/>
          </a:xfrm>
        </p:grpSpPr>
        <p:sp>
          <p:nvSpPr>
            <p:cNvPr id="11" name="Shape 9"/>
            <p:cNvSpPr/>
            <p:nvPr/>
          </p:nvSpPr>
          <p:spPr>
            <a:xfrm>
              <a:off x="4381500" y="1778000"/>
              <a:ext cx="3429000" cy="3302000"/>
            </a:xfrm>
            <a:prstGeom prst="roundRect">
              <a:avLst>
                <a:gd name="adj" fmla="val 500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2" name="Shape 10" descr="icon-doc-1fc7a8.png"/>
            <p:cNvPicPr>
              <a:picLocks noChangeAspect="1"/>
            </p:cNvPicPr>
            <p:nvPr/>
          </p:nvPicPr>
          <p:blipFill>
            <a:blip r:embed="rId5"/>
            <a:stretch>
              <a:fillRect/>
            </a:stretch>
          </p:blipFill>
          <p:spPr>
            <a:xfrm>
              <a:off x="4610100" y="2006600"/>
              <a:ext cx="533400" cy="533400"/>
            </a:xfrm>
            <a:prstGeom prst="rect">
              <a:avLst/>
            </a:prstGeom>
          </p:spPr>
        </p:pic>
        <p:sp>
          <p:nvSpPr>
            <p:cNvPr id="13" name="Shape 11"/>
            <p:cNvSpPr txBox="1"/>
            <p:nvPr/>
          </p:nvSpPr>
          <p:spPr>
            <a:xfrm>
              <a:off x="4610100" y="2730500"/>
              <a:ext cx="2984500" cy="3810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Same custom resources</a:t>
              </a:r>
            </a:p>
          </p:txBody>
        </p:sp>
        <p:sp>
          <p:nvSpPr>
            <p:cNvPr id="14" name="Shape 12"/>
            <p:cNvSpPr txBox="1"/>
            <p:nvPr/>
          </p:nvSpPr>
          <p:spPr>
            <a:xfrm>
              <a:off x="4610100" y="3238500"/>
              <a:ext cx="2984500" cy="1651000"/>
            </a:xfrm>
            <a:prstGeom prst="rect">
              <a:avLst/>
            </a:prstGeom>
            <a:noFill/>
          </p:spPr>
          <p:txBody>
            <a:bodyPr wrap="square" lIns="0" tIns="0" rIns="0" bIns="0" anchor="t">
              <a:spAutoFit/>
            </a:bodyPr>
            <a:lstStyle/>
            <a:p>
              <a:pPr algn="l">
                <a:lnSpc>
                  <a:spcPct val="120000"/>
                </a:lnSpc>
              </a:pPr>
              <a:r>
                <a:rPr sz="1400" b="0">
                  <a:solidFill>
                    <a:srgbClr val="8F9BB8"/>
                  </a:solidFill>
                  <a:latin typeface="Segoe UI"/>
                </a:rPr>
                <a:t>Component · ExposedAPI · DependentAPI · IdentityConfig · SecretsManagement</a:t>
              </a:r>
            </a:p>
          </p:txBody>
        </p:sp>
      </p:grpSp>
      <p:grpSp>
        <p:nvGrpSpPr>
          <p:cNvPr id="20" name="Card 3"/>
          <p:cNvGrpSpPr/>
          <p:nvPr/>
        </p:nvGrpSpPr>
        <p:grpSpPr>
          <a:xfrm>
            <a:off x="8001000" y="1778000"/>
            <a:ext cx="3429000" cy="3302000"/>
            <a:chOff x="8001000" y="1778000"/>
            <a:chExt cx="3429000" cy="3302000"/>
          </a:xfrm>
        </p:grpSpPr>
        <p:sp>
          <p:nvSpPr>
            <p:cNvPr id="16" name="Shape 14"/>
            <p:cNvSpPr/>
            <p:nvPr/>
          </p:nvSpPr>
          <p:spPr>
            <a:xfrm>
              <a:off x="8001000" y="1778000"/>
              <a:ext cx="3429000" cy="3302000"/>
            </a:xfrm>
            <a:prstGeom prst="roundRect">
              <a:avLst>
                <a:gd name="adj" fmla="val 500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7" name="Shape 15" descr="icon-spark-1fc7a8.png"/>
            <p:cNvPicPr>
              <a:picLocks noChangeAspect="1"/>
            </p:cNvPicPr>
            <p:nvPr/>
          </p:nvPicPr>
          <p:blipFill>
            <a:blip r:embed="rId6"/>
            <a:stretch>
              <a:fillRect/>
            </a:stretch>
          </p:blipFill>
          <p:spPr>
            <a:xfrm>
              <a:off x="8229600" y="2006600"/>
              <a:ext cx="533400" cy="533400"/>
            </a:xfrm>
            <a:prstGeom prst="rect">
              <a:avLst/>
            </a:prstGeom>
          </p:spPr>
        </p:pic>
        <p:sp>
          <p:nvSpPr>
            <p:cNvPr id="18" name="Shape 16"/>
            <p:cNvSpPr txBox="1"/>
            <p:nvPr/>
          </p:nvSpPr>
          <p:spPr>
            <a:xfrm>
              <a:off x="8229600" y="2730500"/>
              <a:ext cx="2984500" cy="3810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Help to start</a:t>
              </a:r>
            </a:p>
          </p:txBody>
        </p:sp>
        <p:sp>
          <p:nvSpPr>
            <p:cNvPr id="19" name="Shape 17"/>
            <p:cNvSpPr txBox="1"/>
            <p:nvPr/>
          </p:nvSpPr>
          <p:spPr>
            <a:xfrm>
              <a:off x="8229600" y="3238500"/>
              <a:ext cx="2984500" cy="1651000"/>
            </a:xfrm>
            <a:prstGeom prst="rect">
              <a:avLst/>
            </a:prstGeom>
            <a:noFill/>
          </p:spPr>
          <p:txBody>
            <a:bodyPr wrap="square" lIns="0" tIns="0" rIns="0" bIns="0" anchor="t">
              <a:spAutoFit/>
            </a:bodyPr>
            <a:lstStyle/>
            <a:p>
              <a:pPr algn="l">
                <a:lnSpc>
                  <a:spcPct val="120000"/>
                </a:lnSpc>
              </a:pPr>
              <a:r>
                <a:rPr sz="1400" b="0">
                  <a:solidFill>
                    <a:srgbClr val="8F9BB8"/>
                  </a:solidFill>
                  <a:latin typeface="Segoe UI"/>
                </a:rPr>
                <a:t>The create-oda-operator AI coding-assistant skill, and the BDD test kit to check it.</a:t>
              </a:r>
            </a:p>
          </p:txBody>
        </p:sp>
      </p:grpSp>
      <p:sp>
        <p:nvSpPr>
          <p:cNvPr id="21" name="Repo"/>
          <p:cNvSpPr txBox="1"/>
          <p:nvPr/>
        </p:nvSpPr>
        <p:spPr>
          <a:xfrm>
            <a:off x="762000" y="5461000"/>
            <a:ext cx="10668000" cy="317500"/>
          </a:xfrm>
          <a:prstGeom prst="rect">
            <a:avLst/>
          </a:prstGeom>
          <a:noFill/>
        </p:spPr>
        <p:txBody>
          <a:bodyPr wrap="square" lIns="0" tIns="0" rIns="0" bIns="0" anchor="t">
            <a:spAutoFit/>
          </a:bodyPr>
          <a:lstStyle/>
          <a:p>
            <a:pPr algn="l">
              <a:lnSpc>
                <a:spcPct val="115000"/>
              </a:lnSpc>
            </a:pPr>
            <a:r>
              <a:rPr sz="1400" b="1">
                <a:solidFill>
                  <a:srgbClr val="1FC7A8"/>
                </a:solidFill>
                <a:latin typeface="Segoe UI"/>
              </a:rPr>
              <a:t>github.com/tmforum-oda/oda-canvas › source/operators · skills/create-oda-operator</a:t>
            </a:r>
          </a:p>
        </p:txBody>
      </p:sp>
    </p:spTree>
  </p:cSld>
  <p:clrMapOvr>
    <a:masterClrMapping/>
  </p:clrMapOvr>
  <mc:AlternateContent xmlns:mc="http://schemas.openxmlformats.org/markup-compatibility/2006">
    <mc:Choice xmlns:p14="http://schemas.microsoft.com/office/powerpoint/2010/main" Requires="p14">
      <p:transition spd="slow" p14:dur="2000" advTm="27100"/>
    </mc:Choice>
    <mc:Fallback>
      <p:transition spd="slow" advTm="2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280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600" fill="hold"/>
                                        <p:tgtEl>
                                          <p:spTgt spid="10"/>
                                        </p:tgtEl>
                                        <p:attrNameLst>
                                          <p:attrName>ppt_x</p:attrName>
                                        </p:attrNameLst>
                                      </p:cBhvr>
                                      <p:tavLst>
                                        <p:tav tm="0">
                                          <p:val>
                                            <p:strVal val="#ppt_x"/>
                                          </p:val>
                                        </p:tav>
                                        <p:tav tm="100000">
                                          <p:val>
                                            <p:strVal val="#ppt_x"/>
                                          </p:val>
                                        </p:tav>
                                      </p:tavLst>
                                    </p:anim>
                                    <p:anim calcmode="lin" valueType="num">
                                      <p:cBhvr additive="base">
                                        <p:cTn id="14" dur="6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1240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600" fill="hold"/>
                                        <p:tgtEl>
                                          <p:spTgt spid="15"/>
                                        </p:tgtEl>
                                        <p:attrNameLst>
                                          <p:attrName>ppt_x</p:attrName>
                                        </p:attrNameLst>
                                      </p:cBhvr>
                                      <p:tavLst>
                                        <p:tav tm="0">
                                          <p:val>
                                            <p:strVal val="#ppt_x"/>
                                          </p:val>
                                        </p:tav>
                                        <p:tav tm="100000">
                                          <p:val>
                                            <p:strVal val="#ppt_x"/>
                                          </p:val>
                                        </p:tav>
                                      </p:tavLst>
                                    </p:anim>
                                    <p:anim calcmode="lin" valueType="num">
                                      <p:cBhvr additive="base">
                                        <p:cTn id="18" dur="6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1880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600" fill="hold"/>
                                        <p:tgtEl>
                                          <p:spTgt spid="20"/>
                                        </p:tgtEl>
                                        <p:attrNameLst>
                                          <p:attrName>ppt_x</p:attrName>
                                        </p:attrNameLst>
                                      </p:cBhvr>
                                      <p:tavLst>
                                        <p:tav tm="0">
                                          <p:val>
                                            <p:strVal val="#ppt_x"/>
                                          </p:val>
                                        </p:tav>
                                        <p:tav tm="100000">
                                          <p:val>
                                            <p:strVal val="#ppt_x"/>
                                          </p:val>
                                        </p:tav>
                                      </p:tavLst>
                                    </p:anim>
                                    <p:anim calcmode="lin" valueType="num">
                                      <p:cBhvr additive="base">
                                        <p:cTn id="22" dur="600" fill="hold"/>
                                        <p:tgtEl>
                                          <p:spTgt spid="20"/>
                                        </p:tgtEl>
                                        <p:attrNameLst>
                                          <p:attrName>ppt_y</p:attrName>
                                        </p:attrNameLst>
                                      </p:cBhvr>
                                      <p:tavLst>
                                        <p:tav tm="0">
                                          <p:val>
                                            <p:strVal val="1+#ppt_h/2"/>
                                          </p:val>
                                        </p:tav>
                                        <p:tav tm="100000">
                                          <p:val>
                                            <p:strVal val="#ppt_y"/>
                                          </p:val>
                                        </p:tav>
                                      </p:tavLst>
                                    </p:anim>
                                  </p:childTnLst>
                                </p:cTn>
                              </p:par>
                              <p:par>
                                <p:cTn id="23" presetID="10" presetClass="entr" presetSubtype="0" fill="hold" grpId="0" nodeType="withEffect">
                                  <p:stCondLst>
                                    <p:cond delay="2100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What's next</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LOOKING AHEAD</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What's next</a:t>
            </a:r>
          </a:p>
        </p:txBody>
      </p:sp>
      <p:grpSp>
        <p:nvGrpSpPr>
          <p:cNvPr id="9" name="AI"/>
          <p:cNvGrpSpPr/>
          <p:nvPr/>
        </p:nvGrpSpPr>
        <p:grpSpPr>
          <a:xfrm>
            <a:off x="762000" y="1651000"/>
            <a:ext cx="6350000" cy="3810000"/>
            <a:chOff x="762000" y="1651000"/>
            <a:chExt cx="6350000" cy="3810000"/>
          </a:xfrm>
        </p:grpSpPr>
        <p:sp>
          <p:nvSpPr>
            <p:cNvPr id="6" name="Shape 4"/>
            <p:cNvSpPr/>
            <p:nvPr/>
          </p:nvSpPr>
          <p:spPr>
            <a:xfrm>
              <a:off x="762000" y="1651000"/>
              <a:ext cx="6350000" cy="3810000"/>
            </a:xfrm>
            <a:prstGeom prst="roundRect">
              <a:avLst>
                <a:gd name="adj" fmla="val 4333"/>
              </a:avLst>
            </a:prstGeom>
            <a:solidFill>
              <a:srgbClr val="F472B6">
                <a:alpha val="8000"/>
              </a:srgbClr>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oda-agent.png"/>
            <p:cNvPicPr>
              <a:picLocks noChangeAspect="1"/>
            </p:cNvPicPr>
            <p:nvPr/>
          </p:nvPicPr>
          <p:blipFill>
            <a:blip r:embed="rId4"/>
            <a:stretch>
              <a:fillRect/>
            </a:stretch>
          </p:blipFill>
          <p:spPr>
            <a:xfrm>
              <a:off x="952500" y="1841500"/>
              <a:ext cx="762000" cy="719667"/>
            </a:xfrm>
            <a:prstGeom prst="rect">
              <a:avLst/>
            </a:prstGeom>
          </p:spPr>
        </p:pic>
        <p:sp>
          <p:nvSpPr>
            <p:cNvPr id="8" name="Shape 6"/>
            <p:cNvSpPr txBox="1"/>
            <p:nvPr/>
          </p:nvSpPr>
          <p:spPr>
            <a:xfrm>
              <a:off x="1905000" y="1905000"/>
              <a:ext cx="4953000" cy="444500"/>
            </a:xfrm>
            <a:prstGeom prst="rect">
              <a:avLst/>
            </a:prstGeom>
            <a:noFill/>
          </p:spPr>
          <p:txBody>
            <a:bodyPr wrap="square" lIns="0" tIns="0" rIns="0" bIns="0" anchor="t">
              <a:spAutoFit/>
            </a:bodyPr>
            <a:lstStyle/>
            <a:p>
              <a:pPr algn="l">
                <a:lnSpc>
                  <a:spcPct val="115000"/>
                </a:lnSpc>
              </a:pPr>
              <a:r>
                <a:rPr sz="2300" b="1">
                  <a:solidFill>
                    <a:srgbClr val="F2F5FB"/>
                  </a:solidFill>
                  <a:latin typeface="Segoe UI"/>
                </a:rPr>
                <a:t>The AI-Native Canvas</a:t>
              </a:r>
            </a:p>
          </p:txBody>
        </p:sp>
      </p:grpSp>
      <p:grpSp>
        <p:nvGrpSpPr>
          <p:cNvPr id="12" name="AI 1"/>
          <p:cNvGrpSpPr/>
          <p:nvPr/>
        </p:nvGrpSpPr>
        <p:grpSpPr>
          <a:xfrm>
            <a:off x="1016000" y="2857500"/>
            <a:ext cx="5905500" cy="317500"/>
            <a:chOff x="1016000" y="2857500"/>
            <a:chExt cx="5905500" cy="317500"/>
          </a:xfrm>
        </p:grpSpPr>
        <p:pic>
          <p:nvPicPr>
            <p:cNvPr id="10" name="Shape 8" descr="icon-spark-f472b6.png"/>
            <p:cNvPicPr>
              <a:picLocks noChangeAspect="1"/>
            </p:cNvPicPr>
            <p:nvPr/>
          </p:nvPicPr>
          <p:blipFill>
            <a:blip r:embed="rId5"/>
            <a:stretch>
              <a:fillRect/>
            </a:stretch>
          </p:blipFill>
          <p:spPr>
            <a:xfrm>
              <a:off x="1016000" y="2882900"/>
              <a:ext cx="279400" cy="279400"/>
            </a:xfrm>
            <a:prstGeom prst="rect">
              <a:avLst/>
            </a:prstGeom>
          </p:spPr>
        </p:pic>
        <p:sp>
          <p:nvSpPr>
            <p:cNvPr id="11" name="Shape 9"/>
            <p:cNvSpPr txBox="1"/>
            <p:nvPr/>
          </p:nvSpPr>
          <p:spPr>
            <a:xfrm>
              <a:off x="1460500" y="2857500"/>
              <a:ext cx="5461000" cy="317500"/>
            </a:xfrm>
            <a:prstGeom prst="rect">
              <a:avLst/>
            </a:prstGeom>
            <a:noFill/>
          </p:spPr>
          <p:txBody>
            <a:bodyPr wrap="square" lIns="0" tIns="0" rIns="0" bIns="0" anchor="t">
              <a:spAutoFit/>
            </a:bodyPr>
            <a:lstStyle/>
            <a:p>
              <a:pPr algn="l">
                <a:lnSpc>
                  <a:spcPct val="115000"/>
                </a:lnSpc>
              </a:pPr>
              <a:r>
                <a:rPr sz="1600" b="0">
                  <a:solidFill>
                    <a:srgbClr val="F2F5FB"/>
                  </a:solidFill>
                  <a:latin typeface="Segoe UI"/>
                </a:rPr>
                <a:t>Components declare the AI models they need</a:t>
              </a:r>
            </a:p>
          </p:txBody>
        </p:sp>
      </p:grpSp>
      <p:grpSp>
        <p:nvGrpSpPr>
          <p:cNvPr id="15" name="AI 2"/>
          <p:cNvGrpSpPr/>
          <p:nvPr/>
        </p:nvGrpSpPr>
        <p:grpSpPr>
          <a:xfrm>
            <a:off x="1016000" y="3460750"/>
            <a:ext cx="5905500" cy="317500"/>
            <a:chOff x="1016000" y="3460750"/>
            <a:chExt cx="5905500" cy="317500"/>
          </a:xfrm>
        </p:grpSpPr>
        <p:pic>
          <p:nvPicPr>
            <p:cNvPr id="13" name="Shape 11" descr="icon-spark-f472b6.png"/>
            <p:cNvPicPr>
              <a:picLocks noChangeAspect="1"/>
            </p:cNvPicPr>
            <p:nvPr/>
          </p:nvPicPr>
          <p:blipFill>
            <a:blip r:embed="rId5"/>
            <a:stretch>
              <a:fillRect/>
            </a:stretch>
          </p:blipFill>
          <p:spPr>
            <a:xfrm>
              <a:off x="1016000" y="3486150"/>
              <a:ext cx="279400" cy="279400"/>
            </a:xfrm>
            <a:prstGeom prst="rect">
              <a:avLst/>
            </a:prstGeom>
          </p:spPr>
        </p:pic>
        <p:sp>
          <p:nvSpPr>
            <p:cNvPr id="14" name="Shape 12"/>
            <p:cNvSpPr txBox="1"/>
            <p:nvPr/>
          </p:nvSpPr>
          <p:spPr>
            <a:xfrm>
              <a:off x="1460500" y="3460750"/>
              <a:ext cx="5461000" cy="317500"/>
            </a:xfrm>
            <a:prstGeom prst="rect">
              <a:avLst/>
            </a:prstGeom>
            <a:noFill/>
          </p:spPr>
          <p:txBody>
            <a:bodyPr wrap="square" lIns="0" tIns="0" rIns="0" bIns="0" anchor="t">
              <a:spAutoFit/>
            </a:bodyPr>
            <a:lstStyle/>
            <a:p>
              <a:pPr algn="l">
                <a:lnSpc>
                  <a:spcPct val="115000"/>
                </a:lnSpc>
              </a:pPr>
              <a:r>
                <a:rPr sz="1600" b="0">
                  <a:solidFill>
                    <a:srgbClr val="F2F5FB"/>
                  </a:solidFill>
                  <a:latin typeface="Segoe UI"/>
                </a:rPr>
                <a:t>Governed access through a model gateway</a:t>
              </a:r>
            </a:p>
          </p:txBody>
        </p:sp>
      </p:grpSp>
      <p:grpSp>
        <p:nvGrpSpPr>
          <p:cNvPr id="18" name="AI 3"/>
          <p:cNvGrpSpPr/>
          <p:nvPr/>
        </p:nvGrpSpPr>
        <p:grpSpPr>
          <a:xfrm>
            <a:off x="1016000" y="4381500"/>
            <a:ext cx="5905500" cy="317500"/>
            <a:chOff x="1016000" y="4381500"/>
            <a:chExt cx="5905500" cy="317500"/>
          </a:xfrm>
        </p:grpSpPr>
        <p:pic>
          <p:nvPicPr>
            <p:cNvPr id="16" name="Shape 14" descr="icon-spark-f472b6.png"/>
            <p:cNvPicPr>
              <a:picLocks noChangeAspect="1"/>
            </p:cNvPicPr>
            <p:nvPr/>
          </p:nvPicPr>
          <p:blipFill>
            <a:blip r:embed="rId5"/>
            <a:stretch>
              <a:fillRect/>
            </a:stretch>
          </p:blipFill>
          <p:spPr>
            <a:xfrm>
              <a:off x="1016000" y="4406900"/>
              <a:ext cx="279400" cy="279400"/>
            </a:xfrm>
            <a:prstGeom prst="rect">
              <a:avLst/>
            </a:prstGeom>
          </p:spPr>
        </p:pic>
        <p:sp>
          <p:nvSpPr>
            <p:cNvPr id="17" name="Shape 15"/>
            <p:cNvSpPr txBox="1"/>
            <p:nvPr/>
          </p:nvSpPr>
          <p:spPr>
            <a:xfrm>
              <a:off x="1460500" y="4381500"/>
              <a:ext cx="5461000" cy="317500"/>
            </a:xfrm>
            <a:prstGeom prst="rect">
              <a:avLst/>
            </a:prstGeom>
            <a:noFill/>
          </p:spPr>
          <p:txBody>
            <a:bodyPr wrap="square" lIns="0" tIns="0" rIns="0" bIns="0" anchor="t">
              <a:spAutoFit/>
            </a:bodyPr>
            <a:lstStyle/>
            <a:p>
              <a:pPr algn="l">
                <a:lnSpc>
                  <a:spcPct val="115000"/>
                </a:lnSpc>
              </a:pPr>
              <a:r>
                <a:rPr sz="1600" b="0">
                  <a:solidFill>
                    <a:srgbClr val="F2F5FB"/>
                  </a:solidFill>
                  <a:latin typeface="Segoe UI"/>
                </a:rPr>
                <a:t>Guardrails and usage records</a:t>
              </a:r>
            </a:p>
          </p:txBody>
        </p:sp>
      </p:grpSp>
      <p:grpSp>
        <p:nvGrpSpPr>
          <p:cNvPr id="21" name="AI 4"/>
          <p:cNvGrpSpPr/>
          <p:nvPr/>
        </p:nvGrpSpPr>
        <p:grpSpPr>
          <a:xfrm>
            <a:off x="1016000" y="4984750"/>
            <a:ext cx="5905500" cy="317500"/>
            <a:chOff x="1016000" y="4984750"/>
            <a:chExt cx="5905500" cy="317500"/>
          </a:xfrm>
        </p:grpSpPr>
        <p:pic>
          <p:nvPicPr>
            <p:cNvPr id="19" name="Shape 17" descr="icon-spark-f472b6.png"/>
            <p:cNvPicPr>
              <a:picLocks noChangeAspect="1"/>
            </p:cNvPicPr>
            <p:nvPr/>
          </p:nvPicPr>
          <p:blipFill>
            <a:blip r:embed="rId5"/>
            <a:stretch>
              <a:fillRect/>
            </a:stretch>
          </p:blipFill>
          <p:spPr>
            <a:xfrm>
              <a:off x="1016000" y="5010150"/>
              <a:ext cx="279400" cy="279400"/>
            </a:xfrm>
            <a:prstGeom prst="rect">
              <a:avLst/>
            </a:prstGeom>
          </p:spPr>
        </p:pic>
        <p:sp>
          <p:nvSpPr>
            <p:cNvPr id="20" name="Shape 18"/>
            <p:cNvSpPr txBox="1"/>
            <p:nvPr/>
          </p:nvSpPr>
          <p:spPr>
            <a:xfrm>
              <a:off x="1460500" y="4984750"/>
              <a:ext cx="5461000" cy="317500"/>
            </a:xfrm>
            <a:prstGeom prst="rect">
              <a:avLst/>
            </a:prstGeom>
            <a:noFill/>
          </p:spPr>
          <p:txBody>
            <a:bodyPr wrap="square" lIns="0" tIns="0" rIns="0" bIns="0" anchor="t">
              <a:spAutoFit/>
            </a:bodyPr>
            <a:lstStyle/>
            <a:p>
              <a:pPr algn="l">
                <a:lnSpc>
                  <a:spcPct val="115000"/>
                </a:lnSpc>
              </a:pPr>
              <a:r>
                <a:rPr sz="1600" b="0">
                  <a:solidFill>
                    <a:srgbClr val="F2F5FB"/>
                  </a:solidFill>
                  <a:latin typeface="Segoe UI"/>
                </a:rPr>
                <a:t>MCP tools and agentic components</a:t>
              </a:r>
            </a:p>
          </p:txBody>
        </p:sp>
      </p:grpSp>
      <p:sp>
        <p:nvSpPr>
          <p:cNvPr id="22" name="Experimental"/>
          <p:cNvSpPr/>
          <p:nvPr/>
        </p:nvSpPr>
        <p:spPr>
          <a:xfrm>
            <a:off x="1905000" y="2413000"/>
            <a:ext cx="266700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Experimental · its own video</a:t>
            </a:r>
          </a:p>
        </p:txBody>
      </p:sp>
      <p:sp>
        <p:nvSpPr>
          <p:cNvPr id="23" name="MaaS"/>
          <p:cNvSpPr/>
          <p:nvPr/>
        </p:nvSpPr>
        <p:spPr>
          <a:xfrm>
            <a:off x="1460500" y="3835400"/>
            <a:ext cx="4419600" cy="2413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100" b="1">
                <a:solidFill>
                  <a:srgbClr val="F2F5FB"/>
                </a:solidFill>
                <a:latin typeface="Segoe UI"/>
              </a:rPr>
              <a:t>Model-as-a-Service operator · TMFOP009 · experimental</a:t>
            </a:r>
          </a:p>
        </p:txBody>
      </p:sp>
      <p:sp>
        <p:nvSpPr>
          <p:cNvPr id="24" name="Planned"/>
          <p:cNvSpPr txBox="1"/>
          <p:nvPr/>
        </p:nvSpPr>
        <p:spPr>
          <a:xfrm>
            <a:off x="7620000" y="1651000"/>
            <a:ext cx="3810000" cy="381000"/>
          </a:xfrm>
          <a:prstGeom prst="rect">
            <a:avLst/>
          </a:prstGeom>
          <a:noFill/>
        </p:spPr>
        <p:txBody>
          <a:bodyPr wrap="square" lIns="0" tIns="0" rIns="0" bIns="0" anchor="t">
            <a:spAutoFit/>
          </a:bodyPr>
          <a:lstStyle/>
          <a:p>
            <a:pPr algn="l">
              <a:lnSpc>
                <a:spcPct val="115000"/>
              </a:lnSpc>
            </a:pPr>
            <a:r>
              <a:rPr sz="2000" b="1">
                <a:solidFill>
                  <a:srgbClr val="8F9BB8"/>
                </a:solidFill>
                <a:latin typeface="Segoe UI"/>
              </a:rPr>
              <a:t>Planned</a:t>
            </a:r>
          </a:p>
        </p:txBody>
      </p:sp>
      <p:grpSp>
        <p:nvGrpSpPr>
          <p:cNvPr id="28" name="Roadmap 1"/>
          <p:cNvGrpSpPr/>
          <p:nvPr/>
        </p:nvGrpSpPr>
        <p:grpSpPr>
          <a:xfrm>
            <a:off x="7620000" y="2159000"/>
            <a:ext cx="3810000" cy="508000"/>
            <a:chOff x="7620000" y="2159000"/>
            <a:chExt cx="3810000" cy="508000"/>
          </a:xfrm>
        </p:grpSpPr>
        <p:sp>
          <p:nvSpPr>
            <p:cNvPr id="25" name="Shape 23"/>
            <p:cNvSpPr/>
            <p:nvPr/>
          </p:nvSpPr>
          <p:spPr>
            <a:xfrm>
              <a:off x="7620000" y="2159000"/>
              <a:ext cx="3810000" cy="508000"/>
            </a:xfrm>
            <a:prstGeom prst="roundRect">
              <a:avLst>
                <a:gd name="adj" fmla="val 17500"/>
              </a:avLst>
            </a:prstGeom>
            <a:solidFill>
              <a:srgbClr val="8F9BB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hape 24"/>
            <p:cNvSpPr/>
            <p:nvPr/>
          </p:nvSpPr>
          <p:spPr>
            <a:xfrm>
              <a:off x="7620000" y="2159000"/>
              <a:ext cx="50800" cy="508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hape 25"/>
            <p:cNvSpPr txBox="1"/>
            <p:nvPr/>
          </p:nvSpPr>
          <p:spPr>
            <a:xfrm>
              <a:off x="7810500" y="2159000"/>
              <a:ext cx="3556000" cy="508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Event Management</a:t>
              </a:r>
            </a:p>
          </p:txBody>
        </p:sp>
      </p:grpSp>
      <p:grpSp>
        <p:nvGrpSpPr>
          <p:cNvPr id="32" name="Roadmap 2"/>
          <p:cNvGrpSpPr/>
          <p:nvPr/>
        </p:nvGrpSpPr>
        <p:grpSpPr>
          <a:xfrm>
            <a:off x="7620000" y="2794000"/>
            <a:ext cx="3810000" cy="508000"/>
            <a:chOff x="7620000" y="2794000"/>
            <a:chExt cx="3810000" cy="508000"/>
          </a:xfrm>
        </p:grpSpPr>
        <p:sp>
          <p:nvSpPr>
            <p:cNvPr id="29" name="Shape 27"/>
            <p:cNvSpPr/>
            <p:nvPr/>
          </p:nvSpPr>
          <p:spPr>
            <a:xfrm>
              <a:off x="7620000" y="2794000"/>
              <a:ext cx="3810000" cy="508000"/>
            </a:xfrm>
            <a:prstGeom prst="roundRect">
              <a:avLst>
                <a:gd name="adj" fmla="val 17500"/>
              </a:avLst>
            </a:prstGeom>
            <a:solidFill>
              <a:srgbClr val="8F9BB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Shape 28"/>
            <p:cNvSpPr/>
            <p:nvPr/>
          </p:nvSpPr>
          <p:spPr>
            <a:xfrm>
              <a:off x="7620000" y="2794000"/>
              <a:ext cx="50800" cy="508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hape 29"/>
            <p:cNvSpPr txBox="1"/>
            <p:nvPr/>
          </p:nvSpPr>
          <p:spPr>
            <a:xfrm>
              <a:off x="7810500" y="2794000"/>
              <a:ext cx="3556000" cy="508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Cost Control</a:t>
              </a:r>
            </a:p>
          </p:txBody>
        </p:sp>
      </p:grpSp>
      <p:grpSp>
        <p:nvGrpSpPr>
          <p:cNvPr id="36" name="Roadmap 3"/>
          <p:cNvGrpSpPr/>
          <p:nvPr/>
        </p:nvGrpSpPr>
        <p:grpSpPr>
          <a:xfrm>
            <a:off x="7620000" y="3429000"/>
            <a:ext cx="3810000" cy="508000"/>
            <a:chOff x="7620000" y="3429000"/>
            <a:chExt cx="3810000" cy="508000"/>
          </a:xfrm>
        </p:grpSpPr>
        <p:sp>
          <p:nvSpPr>
            <p:cNvPr id="33" name="Shape 31"/>
            <p:cNvSpPr/>
            <p:nvPr/>
          </p:nvSpPr>
          <p:spPr>
            <a:xfrm>
              <a:off x="7620000" y="3429000"/>
              <a:ext cx="3810000" cy="508000"/>
            </a:xfrm>
            <a:prstGeom prst="roundRect">
              <a:avLst>
                <a:gd name="adj" fmla="val 17500"/>
              </a:avLst>
            </a:prstGeom>
            <a:solidFill>
              <a:srgbClr val="8F9BB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Shape 32"/>
            <p:cNvSpPr/>
            <p:nvPr/>
          </p:nvSpPr>
          <p:spPr>
            <a:xfrm>
              <a:off x="7620000" y="3429000"/>
              <a:ext cx="50800" cy="508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Shape 33"/>
            <p:cNvSpPr txBox="1"/>
            <p:nvPr/>
          </p:nvSpPr>
          <p:spPr>
            <a:xfrm>
              <a:off x="7810500" y="3429000"/>
              <a:ext cx="3556000" cy="508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Database Management</a:t>
              </a:r>
            </a:p>
          </p:txBody>
        </p:sp>
      </p:grpSp>
    </p:spTree>
  </p:cSld>
  <p:clrMapOvr>
    <a:masterClrMapping/>
  </p:clrMapOvr>
  <mc:AlternateContent xmlns:mc="http://schemas.openxmlformats.org/markup-compatibility/2006">
    <mc:Choice xmlns:p14="http://schemas.microsoft.com/office/powerpoint/2010/main" Requires="p14">
      <p:transition spd="slow" p14:dur="2000" advTm="23900"/>
    </mc:Choice>
    <mc:Fallback>
      <p:transition spd="slow" advTm="2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40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600" fill="hold"/>
                                        <p:tgtEl>
                                          <p:spTgt spid="9"/>
                                        </p:tgtEl>
                                        <p:attrNameLst>
                                          <p:attrName>ppt_x</p:attrName>
                                        </p:attrNameLst>
                                      </p:cBhvr>
                                      <p:tavLst>
                                        <p:tav tm="0">
                                          <p:val>
                                            <p:strVal val="#ppt_x"/>
                                          </p:val>
                                        </p:tav>
                                        <p:tav tm="100000">
                                          <p:val>
                                            <p:strVal val="#ppt_x"/>
                                          </p:val>
                                        </p:tav>
                                      </p:tavLst>
                                    </p:anim>
                                    <p:anim calcmode="lin" valueType="num">
                                      <p:cBhvr additive="base">
                                        <p:cTn id="14" dur="600" fill="hold"/>
                                        <p:tgtEl>
                                          <p:spTgt spid="9"/>
                                        </p:tgtEl>
                                        <p:attrNameLst>
                                          <p:attrName>ppt_y</p:attrName>
                                        </p:attrNameLst>
                                      </p:cBhvr>
                                      <p:tavLst>
                                        <p:tav tm="0">
                                          <p:val>
                                            <p:strVal val="1+#ppt_h/2"/>
                                          </p:val>
                                        </p:tav>
                                        <p:tav tm="100000">
                                          <p:val>
                                            <p:strVal val="#ppt_y"/>
                                          </p:val>
                                        </p:tav>
                                      </p:tavLst>
                                    </p:anim>
                                  </p:childTnLst>
                                </p:cTn>
                              </p:par>
                              <p:par>
                                <p:cTn id="15" presetID="10" presetClass="entr" presetSubtype="0" fill="hold" nodeType="withEffect">
                                  <p:stCondLst>
                                    <p:cond delay="4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00"/>
                                        <p:tgtEl>
                                          <p:spTgt spid="12"/>
                                        </p:tgtEl>
                                      </p:cBhvr>
                                    </p:animEffect>
                                  </p:childTnLst>
                                </p:cTn>
                              </p:par>
                              <p:par>
                                <p:cTn id="18" presetID="10" presetClass="entr" presetSubtype="0" fill="hold" nodeType="withEffect">
                                  <p:stCondLst>
                                    <p:cond delay="720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600"/>
                                        <p:tgtEl>
                                          <p:spTgt spid="15"/>
                                        </p:tgtEl>
                                      </p:cBhvr>
                                    </p:animEffect>
                                  </p:childTnLst>
                                </p:cTn>
                              </p:par>
                              <p:par>
                                <p:cTn id="21" presetID="10" presetClass="entr" presetSubtype="0" fill="hold" grpId="0" nodeType="withEffect">
                                  <p:stCondLst>
                                    <p:cond delay="840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600"/>
                                        <p:tgtEl>
                                          <p:spTgt spid="23"/>
                                        </p:tgtEl>
                                      </p:cBhvr>
                                    </p:animEffect>
                                  </p:childTnLst>
                                </p:cTn>
                              </p:par>
                              <p:par>
                                <p:cTn id="24" presetID="10" presetClass="entr" presetSubtype="0" fill="hold" nodeType="withEffect">
                                  <p:stCondLst>
                                    <p:cond delay="1200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600"/>
                                        <p:tgtEl>
                                          <p:spTgt spid="18"/>
                                        </p:tgtEl>
                                      </p:cBhvr>
                                    </p:animEffect>
                                  </p:childTnLst>
                                </p:cTn>
                              </p:par>
                              <p:par>
                                <p:cTn id="27" presetID="10" presetClass="entr" presetSubtype="0" fill="hold" nodeType="withEffect">
                                  <p:stCondLst>
                                    <p:cond delay="1360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600"/>
                                        <p:tgtEl>
                                          <p:spTgt spid="21"/>
                                        </p:tgtEl>
                                      </p:cBhvr>
                                    </p:animEffect>
                                  </p:childTnLst>
                                </p:cTn>
                              </p:par>
                              <p:par>
                                <p:cTn id="30" presetID="58" presetClass="entr" presetSubtype="0" accel="100000" fill="hold" grpId="0" nodeType="withEffect">
                                  <p:stCondLst>
                                    <p:cond delay="1480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strVal val="#ppt_w*2.5"/>
                                          </p:val>
                                        </p:tav>
                                        <p:tav tm="100000">
                                          <p:val>
                                            <p:strVal val="#ppt_w"/>
                                          </p:val>
                                        </p:tav>
                                      </p:tavLst>
                                    </p:anim>
                                    <p:anim calcmode="lin" valueType="num">
                                      <p:cBhvr>
                                        <p:cTn id="33" dur="500" fill="hold"/>
                                        <p:tgtEl>
                                          <p:spTgt spid="22"/>
                                        </p:tgtEl>
                                        <p:attrNameLst>
                                          <p:attrName>ppt_h</p:attrName>
                                        </p:attrNameLst>
                                      </p:cBhvr>
                                      <p:tavLst>
                                        <p:tav tm="0">
                                          <p:val>
                                            <p:strVal val="#ppt_h*0.01"/>
                                          </p:val>
                                        </p:tav>
                                        <p:tav tm="100000">
                                          <p:val>
                                            <p:strVal val="#ppt_h"/>
                                          </p:val>
                                        </p:tav>
                                      </p:tavLst>
                                    </p:anim>
                                    <p:anim calcmode="lin" valueType="num">
                                      <p:cBhvr>
                                        <p:cTn id="34" dur="500" fill="hold"/>
                                        <p:tgtEl>
                                          <p:spTgt spid="22"/>
                                        </p:tgtEl>
                                        <p:attrNameLst>
                                          <p:attrName>ppt_x</p:attrName>
                                        </p:attrNameLst>
                                      </p:cBhvr>
                                      <p:tavLst>
                                        <p:tav tm="0">
                                          <p:val>
                                            <p:strVal val="#ppt_x"/>
                                          </p:val>
                                        </p:tav>
                                        <p:tav tm="100000">
                                          <p:val>
                                            <p:strVal val="#ppt_x"/>
                                          </p:val>
                                        </p:tav>
                                      </p:tavLst>
                                    </p:anim>
                                    <p:anim calcmode="lin" valueType="num">
                                      <p:cBhvr>
                                        <p:cTn id="35" dur="500" fill="hold"/>
                                        <p:tgtEl>
                                          <p:spTgt spid="22"/>
                                        </p:tgtEl>
                                        <p:attrNameLst>
                                          <p:attrName>ppt_y</p:attrName>
                                        </p:attrNameLst>
                                      </p:cBhvr>
                                      <p:tavLst>
                                        <p:tav tm="0">
                                          <p:val>
                                            <p:strVal val="#ppt_h+1"/>
                                          </p:val>
                                        </p:tav>
                                        <p:tav tm="100000">
                                          <p:val>
                                            <p:strVal val="#ppt_y"/>
                                          </p:val>
                                        </p:tav>
                                      </p:tavLst>
                                    </p:anim>
                                    <p:animEffect transition="in" filter="fade">
                                      <p:cBhvr>
                                        <p:cTn id="36" dur="500"/>
                                        <p:tgtEl>
                                          <p:spTgt spid="22"/>
                                        </p:tgtEl>
                                      </p:cBhvr>
                                    </p:animEffect>
                                  </p:childTnLst>
                                </p:cTn>
                              </p:par>
                              <p:par>
                                <p:cTn id="37" presetID="10" presetClass="entr" presetSubtype="0" fill="hold" grpId="0" nodeType="withEffect">
                                  <p:stCondLst>
                                    <p:cond delay="1760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600"/>
                                        <p:tgtEl>
                                          <p:spTgt spid="24"/>
                                        </p:tgtEl>
                                      </p:cBhvr>
                                    </p:animEffect>
                                  </p:childTnLst>
                                </p:cTn>
                              </p:par>
                              <p:par>
                                <p:cTn id="40" presetID="58" presetClass="entr" presetSubtype="0" accel="100000" fill="hold" nodeType="withEffect">
                                  <p:stCondLst>
                                    <p:cond delay="18800"/>
                                  </p:stCondLst>
                                  <p:childTnLst>
                                    <p:set>
                                      <p:cBhvr>
                                        <p:cTn id="41" dur="1" fill="hold">
                                          <p:stCondLst>
                                            <p:cond delay="0"/>
                                          </p:stCondLst>
                                        </p:cTn>
                                        <p:tgtEl>
                                          <p:spTgt spid="28"/>
                                        </p:tgtEl>
                                        <p:attrNameLst>
                                          <p:attrName>style.visibility</p:attrName>
                                        </p:attrNameLst>
                                      </p:cBhvr>
                                      <p:to>
                                        <p:strVal val="visible"/>
                                      </p:to>
                                    </p:set>
                                    <p:anim calcmode="lin" valueType="num">
                                      <p:cBhvr>
                                        <p:cTn id="42" dur="500" fill="hold"/>
                                        <p:tgtEl>
                                          <p:spTgt spid="28"/>
                                        </p:tgtEl>
                                        <p:attrNameLst>
                                          <p:attrName>ppt_w</p:attrName>
                                        </p:attrNameLst>
                                      </p:cBhvr>
                                      <p:tavLst>
                                        <p:tav tm="0">
                                          <p:val>
                                            <p:strVal val="#ppt_w*2.5"/>
                                          </p:val>
                                        </p:tav>
                                        <p:tav tm="100000">
                                          <p:val>
                                            <p:strVal val="#ppt_w"/>
                                          </p:val>
                                        </p:tav>
                                      </p:tavLst>
                                    </p:anim>
                                    <p:anim calcmode="lin" valueType="num">
                                      <p:cBhvr>
                                        <p:cTn id="43" dur="500" fill="hold"/>
                                        <p:tgtEl>
                                          <p:spTgt spid="28"/>
                                        </p:tgtEl>
                                        <p:attrNameLst>
                                          <p:attrName>ppt_h</p:attrName>
                                        </p:attrNameLst>
                                      </p:cBhvr>
                                      <p:tavLst>
                                        <p:tav tm="0">
                                          <p:val>
                                            <p:strVal val="#ppt_h*0.01"/>
                                          </p:val>
                                        </p:tav>
                                        <p:tav tm="100000">
                                          <p:val>
                                            <p:strVal val="#ppt_h"/>
                                          </p:val>
                                        </p:tav>
                                      </p:tavLst>
                                    </p:anim>
                                    <p:anim calcmode="lin" valueType="num">
                                      <p:cBhvr>
                                        <p:cTn id="44" dur="500" fill="hold"/>
                                        <p:tgtEl>
                                          <p:spTgt spid="28"/>
                                        </p:tgtEl>
                                        <p:attrNameLst>
                                          <p:attrName>ppt_x</p:attrName>
                                        </p:attrNameLst>
                                      </p:cBhvr>
                                      <p:tavLst>
                                        <p:tav tm="0">
                                          <p:val>
                                            <p:strVal val="#ppt_x"/>
                                          </p:val>
                                        </p:tav>
                                        <p:tav tm="100000">
                                          <p:val>
                                            <p:strVal val="#ppt_x"/>
                                          </p:val>
                                        </p:tav>
                                      </p:tavLst>
                                    </p:anim>
                                    <p:anim calcmode="lin" valueType="num">
                                      <p:cBhvr>
                                        <p:cTn id="45" dur="500" fill="hold"/>
                                        <p:tgtEl>
                                          <p:spTgt spid="28"/>
                                        </p:tgtEl>
                                        <p:attrNameLst>
                                          <p:attrName>ppt_y</p:attrName>
                                        </p:attrNameLst>
                                      </p:cBhvr>
                                      <p:tavLst>
                                        <p:tav tm="0">
                                          <p:val>
                                            <p:strVal val="#ppt_h+1"/>
                                          </p:val>
                                        </p:tav>
                                        <p:tav tm="100000">
                                          <p:val>
                                            <p:strVal val="#ppt_y"/>
                                          </p:val>
                                        </p:tav>
                                      </p:tavLst>
                                    </p:anim>
                                    <p:animEffect transition="in" filter="fade">
                                      <p:cBhvr>
                                        <p:cTn id="46" dur="500"/>
                                        <p:tgtEl>
                                          <p:spTgt spid="28"/>
                                        </p:tgtEl>
                                      </p:cBhvr>
                                    </p:animEffect>
                                  </p:childTnLst>
                                </p:cTn>
                              </p:par>
                              <p:par>
                                <p:cTn id="47" presetID="58" presetClass="entr" presetSubtype="0" accel="100000" fill="hold" nodeType="withEffect">
                                  <p:stCondLst>
                                    <p:cond delay="19600"/>
                                  </p:stCondLst>
                                  <p:childTnLst>
                                    <p:set>
                                      <p:cBhvr>
                                        <p:cTn id="48" dur="1" fill="hold">
                                          <p:stCondLst>
                                            <p:cond delay="0"/>
                                          </p:stCondLst>
                                        </p:cTn>
                                        <p:tgtEl>
                                          <p:spTgt spid="32"/>
                                        </p:tgtEl>
                                        <p:attrNameLst>
                                          <p:attrName>style.visibility</p:attrName>
                                        </p:attrNameLst>
                                      </p:cBhvr>
                                      <p:to>
                                        <p:strVal val="visible"/>
                                      </p:to>
                                    </p:set>
                                    <p:anim calcmode="lin" valueType="num">
                                      <p:cBhvr>
                                        <p:cTn id="49" dur="500" fill="hold"/>
                                        <p:tgtEl>
                                          <p:spTgt spid="32"/>
                                        </p:tgtEl>
                                        <p:attrNameLst>
                                          <p:attrName>ppt_w</p:attrName>
                                        </p:attrNameLst>
                                      </p:cBhvr>
                                      <p:tavLst>
                                        <p:tav tm="0">
                                          <p:val>
                                            <p:strVal val="#ppt_w*2.5"/>
                                          </p:val>
                                        </p:tav>
                                        <p:tav tm="100000">
                                          <p:val>
                                            <p:strVal val="#ppt_w"/>
                                          </p:val>
                                        </p:tav>
                                      </p:tavLst>
                                    </p:anim>
                                    <p:anim calcmode="lin" valueType="num">
                                      <p:cBhvr>
                                        <p:cTn id="50" dur="500" fill="hold"/>
                                        <p:tgtEl>
                                          <p:spTgt spid="32"/>
                                        </p:tgtEl>
                                        <p:attrNameLst>
                                          <p:attrName>ppt_h</p:attrName>
                                        </p:attrNameLst>
                                      </p:cBhvr>
                                      <p:tavLst>
                                        <p:tav tm="0">
                                          <p:val>
                                            <p:strVal val="#ppt_h*0.01"/>
                                          </p:val>
                                        </p:tav>
                                        <p:tav tm="100000">
                                          <p:val>
                                            <p:strVal val="#ppt_h"/>
                                          </p:val>
                                        </p:tav>
                                      </p:tavLst>
                                    </p:anim>
                                    <p:anim calcmode="lin" valueType="num">
                                      <p:cBhvr>
                                        <p:cTn id="51" dur="500" fill="hold"/>
                                        <p:tgtEl>
                                          <p:spTgt spid="32"/>
                                        </p:tgtEl>
                                        <p:attrNameLst>
                                          <p:attrName>ppt_x</p:attrName>
                                        </p:attrNameLst>
                                      </p:cBhvr>
                                      <p:tavLst>
                                        <p:tav tm="0">
                                          <p:val>
                                            <p:strVal val="#ppt_x"/>
                                          </p:val>
                                        </p:tav>
                                        <p:tav tm="100000">
                                          <p:val>
                                            <p:strVal val="#ppt_x"/>
                                          </p:val>
                                        </p:tav>
                                      </p:tavLst>
                                    </p:anim>
                                    <p:anim calcmode="lin" valueType="num">
                                      <p:cBhvr>
                                        <p:cTn id="52" dur="500" fill="hold"/>
                                        <p:tgtEl>
                                          <p:spTgt spid="32"/>
                                        </p:tgtEl>
                                        <p:attrNameLst>
                                          <p:attrName>ppt_y</p:attrName>
                                        </p:attrNameLst>
                                      </p:cBhvr>
                                      <p:tavLst>
                                        <p:tav tm="0">
                                          <p:val>
                                            <p:strVal val="#ppt_h+1"/>
                                          </p:val>
                                        </p:tav>
                                        <p:tav tm="100000">
                                          <p:val>
                                            <p:strVal val="#ppt_y"/>
                                          </p:val>
                                        </p:tav>
                                      </p:tavLst>
                                    </p:anim>
                                    <p:animEffect transition="in" filter="fade">
                                      <p:cBhvr>
                                        <p:cTn id="53" dur="500"/>
                                        <p:tgtEl>
                                          <p:spTgt spid="32"/>
                                        </p:tgtEl>
                                      </p:cBhvr>
                                    </p:animEffect>
                                  </p:childTnLst>
                                </p:cTn>
                              </p:par>
                              <p:par>
                                <p:cTn id="54" presetID="58" presetClass="entr" presetSubtype="0" accel="100000" fill="hold" nodeType="withEffect">
                                  <p:stCondLst>
                                    <p:cond delay="2040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strVal val="#ppt_w*2.5"/>
                                          </p:val>
                                        </p:tav>
                                        <p:tav tm="100000">
                                          <p:val>
                                            <p:strVal val="#ppt_w"/>
                                          </p:val>
                                        </p:tav>
                                      </p:tavLst>
                                    </p:anim>
                                    <p:anim calcmode="lin" valueType="num">
                                      <p:cBhvr>
                                        <p:cTn id="57" dur="500" fill="hold"/>
                                        <p:tgtEl>
                                          <p:spTgt spid="36"/>
                                        </p:tgtEl>
                                        <p:attrNameLst>
                                          <p:attrName>ppt_h</p:attrName>
                                        </p:attrNameLst>
                                      </p:cBhvr>
                                      <p:tavLst>
                                        <p:tav tm="0">
                                          <p:val>
                                            <p:strVal val="#ppt_h*0.01"/>
                                          </p:val>
                                        </p:tav>
                                        <p:tav tm="100000">
                                          <p:val>
                                            <p:strVal val="#ppt_h"/>
                                          </p:val>
                                        </p:tav>
                                      </p:tavLst>
                                    </p:anim>
                                    <p:anim calcmode="lin" valueType="num">
                                      <p:cBhvr>
                                        <p:cTn id="58" dur="500" fill="hold"/>
                                        <p:tgtEl>
                                          <p:spTgt spid="36"/>
                                        </p:tgtEl>
                                        <p:attrNameLst>
                                          <p:attrName>ppt_x</p:attrName>
                                        </p:attrNameLst>
                                      </p:cBhvr>
                                      <p:tavLst>
                                        <p:tav tm="0">
                                          <p:val>
                                            <p:strVal val="#ppt_x"/>
                                          </p:val>
                                        </p:tav>
                                        <p:tav tm="100000">
                                          <p:val>
                                            <p:strVal val="#ppt_x"/>
                                          </p:val>
                                        </p:tav>
                                      </p:tavLst>
                                    </p:anim>
                                    <p:anim calcmode="lin" valueType="num">
                                      <p:cBhvr>
                                        <p:cTn id="59" dur="500" fill="hold"/>
                                        <p:tgtEl>
                                          <p:spTgt spid="36"/>
                                        </p:tgtEl>
                                        <p:attrNameLst>
                                          <p:attrName>ppt_y</p:attrName>
                                        </p:attrNameLst>
                                      </p:cBhvr>
                                      <p:tavLst>
                                        <p:tav tm="0">
                                          <p:val>
                                            <p:strVal val="#ppt_h+1"/>
                                          </p:val>
                                        </p:tav>
                                        <p:tav tm="100000">
                                          <p:val>
                                            <p:strVal val="#ppt_y"/>
                                          </p:val>
                                        </p:tav>
                                      </p:tavLst>
                                    </p:anim>
                                    <p:animEffect transition="in" filter="fade">
                                      <p:cBhvr>
                                        <p:cTn id="6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2" grpId="0" animBg="1"/>
      <p:bldP spid="23"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Recap</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2F6FED"/>
                </a:solidFill>
                <a:latin typeface="Segoe UI"/>
              </a:rPr>
              <a:t>RECAP</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How do I buy or build an ODA Canvas?</a:t>
            </a:r>
          </a:p>
        </p:txBody>
      </p:sp>
      <p:grpSp>
        <p:nvGrpSpPr>
          <p:cNvPr id="9" name="Point 1"/>
          <p:cNvGrpSpPr/>
          <p:nvPr/>
        </p:nvGrpSpPr>
        <p:grpSpPr>
          <a:xfrm>
            <a:off x="762000" y="1905000"/>
            <a:ext cx="10668000" cy="1016000"/>
            <a:chOff x="762000" y="1905000"/>
            <a:chExt cx="10668000" cy="1016000"/>
          </a:xfrm>
        </p:grpSpPr>
        <p:sp>
          <p:nvSpPr>
            <p:cNvPr id="6" name="Shape 4"/>
            <p:cNvSpPr/>
            <p:nvPr/>
          </p:nvSpPr>
          <p:spPr>
            <a:xfrm>
              <a:off x="762000" y="1905000"/>
              <a:ext cx="10668000" cy="1016000"/>
            </a:xfrm>
            <a:prstGeom prst="roundRect">
              <a:avLst>
                <a:gd name="adj" fmla="val 15000"/>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layers-1fc7a8.png"/>
            <p:cNvPicPr>
              <a:picLocks noChangeAspect="1"/>
            </p:cNvPicPr>
            <p:nvPr/>
          </p:nvPicPr>
          <p:blipFill>
            <a:blip r:embed="rId4"/>
            <a:stretch>
              <a:fillRect/>
            </a:stretch>
          </p:blipFill>
          <p:spPr>
            <a:xfrm>
              <a:off x="1016000" y="2159000"/>
              <a:ext cx="508000" cy="508000"/>
            </a:xfrm>
            <a:prstGeom prst="rect">
              <a:avLst/>
            </a:prstGeom>
          </p:spPr>
        </p:pic>
        <p:sp>
          <p:nvSpPr>
            <p:cNvPr id="8" name="Shape 6"/>
            <p:cNvSpPr txBox="1"/>
            <p:nvPr/>
          </p:nvSpPr>
          <p:spPr>
            <a:xfrm>
              <a:off x="1778000" y="1905000"/>
              <a:ext cx="9398000" cy="1016000"/>
            </a:xfrm>
            <a:prstGeom prst="rect">
              <a:avLst/>
            </a:prstGeom>
            <a:noFill/>
          </p:spPr>
          <p:txBody>
            <a:bodyPr wrap="square" lIns="0" tIns="0" rIns="0" bIns="0" anchor="ctr">
              <a:spAutoFit/>
            </a:bodyPr>
            <a:lstStyle/>
            <a:p>
              <a:pPr algn="l">
                <a:lnSpc>
                  <a:spcPct val="115000"/>
                </a:lnSpc>
              </a:pPr>
              <a:r>
                <a:rPr sz="2300" b="1">
                  <a:solidFill>
                    <a:srgbClr val="F2F5FB"/>
                  </a:solidFill>
                  <a:latin typeface="Segoe UI"/>
                </a:rPr>
                <a:t>Buy, build, or mix and match</a:t>
              </a:r>
            </a:p>
          </p:txBody>
        </p:sp>
      </p:grpSp>
      <p:grpSp>
        <p:nvGrpSpPr>
          <p:cNvPr id="13" name="Point 2"/>
          <p:cNvGrpSpPr/>
          <p:nvPr/>
        </p:nvGrpSpPr>
        <p:grpSpPr>
          <a:xfrm>
            <a:off x="762000" y="3111500"/>
            <a:ext cx="10668000" cy="1016000"/>
            <a:chOff x="762000" y="3111500"/>
            <a:chExt cx="10668000" cy="1016000"/>
          </a:xfrm>
        </p:grpSpPr>
        <p:sp>
          <p:nvSpPr>
            <p:cNvPr id="10" name="Shape 8"/>
            <p:cNvSpPr/>
            <p:nvPr/>
          </p:nvSpPr>
          <p:spPr>
            <a:xfrm>
              <a:off x="762000" y="3111500"/>
              <a:ext cx="10668000" cy="1016000"/>
            </a:xfrm>
            <a:prstGeom prst="roundRect">
              <a:avLst>
                <a:gd name="adj" fmla="val 15000"/>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1" name="Shape 9" descr="icon-gear-1fc7a8.png"/>
            <p:cNvPicPr>
              <a:picLocks noChangeAspect="1"/>
            </p:cNvPicPr>
            <p:nvPr/>
          </p:nvPicPr>
          <p:blipFill>
            <a:blip r:embed="rId5"/>
            <a:stretch>
              <a:fillRect/>
            </a:stretch>
          </p:blipFill>
          <p:spPr>
            <a:xfrm>
              <a:off x="1016000" y="3365500"/>
              <a:ext cx="508000" cy="508000"/>
            </a:xfrm>
            <a:prstGeom prst="rect">
              <a:avLst/>
            </a:prstGeom>
          </p:spPr>
        </p:pic>
        <p:sp>
          <p:nvSpPr>
            <p:cNvPr id="12" name="Shape 10"/>
            <p:cNvSpPr txBox="1"/>
            <p:nvPr/>
          </p:nvSpPr>
          <p:spPr>
            <a:xfrm>
              <a:off x="1778000" y="3111500"/>
              <a:ext cx="9398000" cy="1016000"/>
            </a:xfrm>
            <a:prstGeom prst="rect">
              <a:avLst/>
            </a:prstGeom>
            <a:noFill/>
          </p:spPr>
          <p:txBody>
            <a:bodyPr wrap="square" lIns="0" tIns="0" rIns="0" bIns="0" anchor="ctr">
              <a:spAutoFit/>
            </a:bodyPr>
            <a:lstStyle/>
            <a:p>
              <a:pPr algn="l">
                <a:lnSpc>
                  <a:spcPct val="115000"/>
                </a:lnSpc>
              </a:pPr>
              <a:r>
                <a:rPr sz="2300" b="1">
                  <a:solidFill>
                    <a:srgbClr val="F2F5FB"/>
                  </a:solidFill>
                  <a:latin typeface="Segoe UI"/>
                </a:rPr>
                <a:t>Operators are the modules, chosen by configuration</a:t>
              </a:r>
            </a:p>
          </p:txBody>
        </p:sp>
      </p:grpSp>
      <p:grpSp>
        <p:nvGrpSpPr>
          <p:cNvPr id="17" name="Point 3"/>
          <p:cNvGrpSpPr/>
          <p:nvPr/>
        </p:nvGrpSpPr>
        <p:grpSpPr>
          <a:xfrm>
            <a:off x="762000" y="4318000"/>
            <a:ext cx="10668000" cy="1016000"/>
            <a:chOff x="762000" y="4318000"/>
            <a:chExt cx="10668000" cy="1016000"/>
          </a:xfrm>
        </p:grpSpPr>
        <p:sp>
          <p:nvSpPr>
            <p:cNvPr id="14" name="Shape 12"/>
            <p:cNvSpPr/>
            <p:nvPr/>
          </p:nvSpPr>
          <p:spPr>
            <a:xfrm>
              <a:off x="762000" y="4318000"/>
              <a:ext cx="10668000" cy="1016000"/>
            </a:xfrm>
            <a:prstGeom prst="roundRect">
              <a:avLst>
                <a:gd name="adj" fmla="val 15000"/>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5" name="Shape 13" descr="icon-check-22c55e.png"/>
            <p:cNvPicPr>
              <a:picLocks noChangeAspect="1"/>
            </p:cNvPicPr>
            <p:nvPr/>
          </p:nvPicPr>
          <p:blipFill>
            <a:blip r:embed="rId6"/>
            <a:stretch>
              <a:fillRect/>
            </a:stretch>
          </p:blipFill>
          <p:spPr>
            <a:xfrm>
              <a:off x="1016000" y="4572000"/>
              <a:ext cx="508000" cy="508000"/>
            </a:xfrm>
            <a:prstGeom prst="rect">
              <a:avLst/>
            </a:prstGeom>
          </p:spPr>
        </p:pic>
        <p:sp>
          <p:nvSpPr>
            <p:cNvPr id="16" name="Shape 14"/>
            <p:cNvSpPr txBox="1"/>
            <p:nvPr/>
          </p:nvSpPr>
          <p:spPr>
            <a:xfrm>
              <a:off x="1778000" y="4318000"/>
              <a:ext cx="9398000" cy="1016000"/>
            </a:xfrm>
            <a:prstGeom prst="rect">
              <a:avLst/>
            </a:prstGeom>
            <a:noFill/>
          </p:spPr>
          <p:txBody>
            <a:bodyPr wrap="square" lIns="0" tIns="0" rIns="0" bIns="0" anchor="ctr">
              <a:spAutoFit/>
            </a:bodyPr>
            <a:lstStyle/>
            <a:p>
              <a:pPr algn="l">
                <a:lnSpc>
                  <a:spcPct val="115000"/>
                </a:lnSpc>
              </a:pPr>
              <a:r>
                <a:rPr sz="2300" b="1">
                  <a:solidFill>
                    <a:srgbClr val="F2F5FB"/>
                  </a:solidFill>
                  <a:latin typeface="Segoe UI"/>
                </a:rPr>
                <a:t>The test kit checks any Canvas</a:t>
              </a:r>
            </a:p>
          </p:txBody>
        </p:sp>
      </p:grpSp>
    </p:spTree>
  </p:cSld>
  <p:clrMapOvr>
    <a:masterClrMapping/>
  </p:clrMapOvr>
  <mc:AlternateContent xmlns:mc="http://schemas.openxmlformats.org/markup-compatibility/2006">
    <mc:Choice xmlns:p14="http://schemas.microsoft.com/office/powerpoint/2010/main" Requires="p14">
      <p:transition spd="slow" p14:dur="2000" advTm="15900"/>
    </mc:Choice>
    <mc:Fallback>
      <p:transition spd="slow" advTm="1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80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600" fill="hold"/>
                                        <p:tgtEl>
                                          <p:spTgt spid="9"/>
                                        </p:tgtEl>
                                        <p:attrNameLst>
                                          <p:attrName>ppt_x</p:attrName>
                                        </p:attrNameLst>
                                      </p:cBhvr>
                                      <p:tavLst>
                                        <p:tav tm="0">
                                          <p:val>
                                            <p:strVal val="#ppt_x"/>
                                          </p:val>
                                        </p:tav>
                                        <p:tav tm="100000">
                                          <p:val>
                                            <p:strVal val="#ppt_x"/>
                                          </p:val>
                                        </p:tav>
                                      </p:tavLst>
                                    </p:anim>
                                    <p:anim calcmode="lin" valueType="num">
                                      <p:cBhvr additive="base">
                                        <p:cTn id="14" dur="6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520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600" fill="hold"/>
                                        <p:tgtEl>
                                          <p:spTgt spid="13"/>
                                        </p:tgtEl>
                                        <p:attrNameLst>
                                          <p:attrName>ppt_x</p:attrName>
                                        </p:attrNameLst>
                                      </p:cBhvr>
                                      <p:tavLst>
                                        <p:tav tm="0">
                                          <p:val>
                                            <p:strVal val="#ppt_x"/>
                                          </p:val>
                                        </p:tav>
                                        <p:tav tm="100000">
                                          <p:val>
                                            <p:strVal val="#ppt_x"/>
                                          </p:val>
                                        </p:tav>
                                      </p:tavLst>
                                    </p:anim>
                                    <p:anim calcmode="lin" valueType="num">
                                      <p:cBhvr additive="base">
                                        <p:cTn id="18" dur="6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92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600" fill="hold"/>
                                        <p:tgtEl>
                                          <p:spTgt spid="17"/>
                                        </p:tgtEl>
                                        <p:attrNameLst>
                                          <p:attrName>ppt_x</p:attrName>
                                        </p:attrNameLst>
                                      </p:cBhvr>
                                      <p:tavLst>
                                        <p:tav tm="0">
                                          <p:val>
                                            <p:strVal val="#ppt_x"/>
                                          </p:val>
                                        </p:tav>
                                        <p:tav tm="100000">
                                          <p:val>
                                            <p:strVal val="#ppt_x"/>
                                          </p:val>
                                        </p:tav>
                                      </p:tavLst>
                                    </p:anim>
                                    <p:anim calcmode="lin" valueType="num">
                                      <p:cBhvr additive="base">
                                        <p:cTn id="22" dur="6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Find out more</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2F6FED"/>
                </a:solidFill>
                <a:latin typeface="Segoe UI"/>
              </a:rPr>
              <a:t>FIND OUT MORE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Docs, components and code</a:t>
            </a:r>
          </a:p>
        </p:txBody>
      </p:sp>
      <p:grpSp>
        <p:nvGrpSpPr>
          <p:cNvPr id="9" name="Link 1"/>
          <p:cNvGrpSpPr/>
          <p:nvPr/>
        </p:nvGrpSpPr>
        <p:grpSpPr>
          <a:xfrm>
            <a:off x="762000" y="1714500"/>
            <a:ext cx="10668000" cy="800100"/>
            <a:chOff x="762000" y="1714500"/>
            <a:chExt cx="10668000" cy="800100"/>
          </a:xfrm>
        </p:grpSpPr>
        <p:sp>
          <p:nvSpPr>
            <p:cNvPr id="6" name="Shape 4">
              <a:hlinkClick r:id="rId4"/>
            </p:cNvPr>
            <p:cNvSpPr/>
            <p:nvPr/>
          </p:nvSpPr>
          <p:spPr>
            <a:xfrm>
              <a:off x="762000" y="1714500"/>
              <a:ext cx="10668000" cy="800100"/>
            </a:xfrm>
            <a:prstGeom prst="roundRect">
              <a:avLst>
                <a:gd name="adj" fmla="val 17460"/>
              </a:avLst>
            </a:prstGeom>
            <a:solidFill>
              <a:srgbClr val="111A30"/>
            </a:solidFill>
            <a:ln w="19050">
              <a:solidFill>
                <a:srgbClr val="E6007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a:hlinkClick r:id="rId4"/>
            </p:cNvPr>
            <p:cNvSpPr txBox="1"/>
            <p:nvPr/>
          </p:nvSpPr>
          <p:spPr>
            <a:xfrm>
              <a:off x="1016000" y="18288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Open Digital Architecture</a:t>
              </a:r>
            </a:p>
          </p:txBody>
        </p:sp>
        <p:sp>
          <p:nvSpPr>
            <p:cNvPr id="8" name="Shape 6">
              <a:hlinkClick r:id="rId4"/>
            </p:cNvPr>
            <p:cNvSpPr txBox="1"/>
            <p:nvPr/>
          </p:nvSpPr>
          <p:spPr>
            <a:xfrm>
              <a:off x="1016000" y="21717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tmforum.org/oda</a:t>
              </a:r>
            </a:p>
          </p:txBody>
        </p:sp>
      </p:grpSp>
      <p:grpSp>
        <p:nvGrpSpPr>
          <p:cNvPr id="13" name="Link 2"/>
          <p:cNvGrpSpPr/>
          <p:nvPr/>
        </p:nvGrpSpPr>
        <p:grpSpPr>
          <a:xfrm>
            <a:off x="762000" y="2667000"/>
            <a:ext cx="10668000" cy="800100"/>
            <a:chOff x="762000" y="2667000"/>
            <a:chExt cx="10668000" cy="800100"/>
          </a:xfrm>
        </p:grpSpPr>
        <p:sp>
          <p:nvSpPr>
            <p:cNvPr id="10" name="Shape 8">
              <a:hlinkClick r:id="rId5"/>
            </p:cNvPr>
            <p:cNvSpPr/>
            <p:nvPr/>
          </p:nvSpPr>
          <p:spPr>
            <a:xfrm>
              <a:off x="762000" y="2667000"/>
              <a:ext cx="10668000" cy="800100"/>
            </a:xfrm>
            <a:prstGeom prst="roundRect">
              <a:avLst>
                <a:gd name="adj" fmla="val 17460"/>
              </a:avLst>
            </a:prstGeom>
            <a:solidFill>
              <a:srgbClr val="111A30"/>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a:hlinkClick r:id="rId5"/>
            </p:cNvPr>
            <p:cNvSpPr txBox="1"/>
            <p:nvPr/>
          </p:nvSpPr>
          <p:spPr>
            <a:xfrm>
              <a:off x="1016000" y="27813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ODA Component Directory</a:t>
              </a:r>
            </a:p>
          </p:txBody>
        </p:sp>
        <p:sp>
          <p:nvSpPr>
            <p:cNvPr id="12" name="Shape 10">
              <a:hlinkClick r:id="rId5"/>
            </p:cNvPr>
            <p:cNvSpPr txBox="1"/>
            <p:nvPr/>
          </p:nvSpPr>
          <p:spPr>
            <a:xfrm>
              <a:off x="1016000" y="31242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tmforum.org/oda/directory</a:t>
              </a:r>
            </a:p>
          </p:txBody>
        </p:sp>
      </p:grpSp>
      <p:grpSp>
        <p:nvGrpSpPr>
          <p:cNvPr id="17" name="Link 3"/>
          <p:cNvGrpSpPr/>
          <p:nvPr/>
        </p:nvGrpSpPr>
        <p:grpSpPr>
          <a:xfrm>
            <a:off x="762000" y="3619500"/>
            <a:ext cx="10668000" cy="800100"/>
            <a:chOff x="762000" y="3619500"/>
            <a:chExt cx="10668000" cy="800100"/>
          </a:xfrm>
        </p:grpSpPr>
        <p:sp>
          <p:nvSpPr>
            <p:cNvPr id="14" name="Shape 12">
              <a:hlinkClick r:id="rId6"/>
            </p:cNvPr>
            <p:cNvSpPr/>
            <p:nvPr/>
          </p:nvSpPr>
          <p:spPr>
            <a:xfrm>
              <a:off x="762000" y="3619500"/>
              <a:ext cx="10668000" cy="800100"/>
            </a:xfrm>
            <a:prstGeom prst="roundRect">
              <a:avLst>
                <a:gd name="adj" fmla="val 1746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Shape 13">
              <a:hlinkClick r:id="rId6"/>
            </p:cNvPr>
            <p:cNvSpPr txBox="1"/>
            <p:nvPr/>
          </p:nvSpPr>
          <p:spPr>
            <a:xfrm>
              <a:off x="1016000" y="37338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ODA Canvas reference implementation</a:t>
              </a:r>
            </a:p>
          </p:txBody>
        </p:sp>
        <p:sp>
          <p:nvSpPr>
            <p:cNvPr id="16" name="Shape 14">
              <a:hlinkClick r:id="rId6"/>
            </p:cNvPr>
            <p:cNvSpPr txBox="1"/>
            <p:nvPr/>
          </p:nvSpPr>
          <p:spPr>
            <a:xfrm>
              <a:off x="1016000" y="40767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github.com/tmforum-oda/oda-canvas › Canvas-design.md · source/operators</a:t>
              </a:r>
            </a:p>
          </p:txBody>
        </p:sp>
      </p:grpSp>
    </p:spTree>
  </p:cSld>
  <p:clrMapOvr>
    <a:masterClrMapping/>
  </p:clrMapOvr>
  <mc:AlternateContent xmlns:mc="http://schemas.openxmlformats.org/markup-compatibility/2006">
    <mc:Choice xmlns:p14="http://schemas.microsoft.com/office/powerpoint/2010/main" Requires="p14">
      <p:transition spd="slow" p14:dur="2000" advTm="15500"/>
    </mc:Choice>
    <mc:Fallback>
      <p:transition spd="slow" advTm="1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60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600" fill="hold"/>
                                        <p:tgtEl>
                                          <p:spTgt spid="9"/>
                                        </p:tgtEl>
                                        <p:attrNameLst>
                                          <p:attrName>ppt_x</p:attrName>
                                        </p:attrNameLst>
                                      </p:cBhvr>
                                      <p:tavLst>
                                        <p:tav tm="0">
                                          <p:val>
                                            <p:strVal val="#ppt_x"/>
                                          </p:val>
                                        </p:tav>
                                        <p:tav tm="100000">
                                          <p:val>
                                            <p:strVal val="#ppt_x"/>
                                          </p:val>
                                        </p:tav>
                                      </p:tavLst>
                                    </p:anim>
                                    <p:anim calcmode="lin" valueType="num">
                                      <p:cBhvr additive="base">
                                        <p:cTn id="14" dur="6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600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600" fill="hold"/>
                                        <p:tgtEl>
                                          <p:spTgt spid="13"/>
                                        </p:tgtEl>
                                        <p:attrNameLst>
                                          <p:attrName>ppt_x</p:attrName>
                                        </p:attrNameLst>
                                      </p:cBhvr>
                                      <p:tavLst>
                                        <p:tav tm="0">
                                          <p:val>
                                            <p:strVal val="#ppt_x"/>
                                          </p:val>
                                        </p:tav>
                                        <p:tav tm="100000">
                                          <p:val>
                                            <p:strVal val="#ppt_x"/>
                                          </p:val>
                                        </p:tav>
                                      </p:tavLst>
                                    </p:anim>
                                    <p:anim calcmode="lin" valueType="num">
                                      <p:cBhvr additive="base">
                                        <p:cTn id="18" dur="6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80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600" fill="hold"/>
                                        <p:tgtEl>
                                          <p:spTgt spid="17"/>
                                        </p:tgtEl>
                                        <p:attrNameLst>
                                          <p:attrName>ppt_x</p:attrName>
                                        </p:attrNameLst>
                                      </p:cBhvr>
                                      <p:tavLst>
                                        <p:tav tm="0">
                                          <p:val>
                                            <p:strVal val="#ppt_x"/>
                                          </p:val>
                                        </p:tav>
                                        <p:tav tm="100000">
                                          <p:val>
                                            <p:strVal val="#ppt_x"/>
                                          </p:val>
                                        </p:tav>
                                      </p:tavLst>
                                    </p:anim>
                                    <p:anim calcmode="lin" valueType="num">
                                      <p:cBhvr additive="base">
                                        <p:cTn id="22" dur="6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1867</Words>
  <Application>Microsoft Office PowerPoint</Application>
  <PresentationFormat>Widescreen</PresentationFormat>
  <Paragraphs>137</Paragraphs>
  <Slides>19</Slides>
  <Notes>19</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vt:lpstr>
      <vt:lpstr>Office Theme</vt:lpstr>
      <vt:lpstr>How do I buy or build an ODA Canvas? (presenter introduction)</vt:lpstr>
      <vt:lpstr>The standard is the component</vt:lpstr>
      <vt:lpstr>Three ways to get a Canvas</vt:lpstr>
      <vt:lpstr>Mix and match</vt:lpstr>
      <vt:lpstr>How you know it's a Canvas</vt:lpstr>
      <vt:lpstr>Live, the test kit in the Canvas Portal</vt:lpstr>
      <vt:lpstr>Operators are the modules</vt:lpstr>
      <vt:lpstr>The operator catalogue</vt:lpstr>
      <vt:lpstr>Live, the operators in this Canvas</vt:lpstr>
      <vt:lpstr>Live, choosing the modules</vt:lpstr>
      <vt:lpstr>Example 1, API management</vt:lpstr>
      <vt:lpstr>Example 2, observability</vt:lpstr>
      <vt:lpstr>Example 3, identity</vt:lpstr>
      <vt:lpstr>Example 4, secrets</vt:lpstr>
      <vt:lpstr>Example 5, carbon-aware scaling</vt:lpstr>
      <vt:lpstr>Build your own operator</vt:lpstr>
      <vt:lpstr>What's next</vt:lpstr>
      <vt:lpstr>Recap</vt:lpstr>
      <vt:lpstr>Find out more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I buy or build an ODA Canvas?</dc:title>
  <dc:subject/>
  <dc:creator/>
  <cp:keywords/>
  <dc:description>generated using python-pptx</dc:description>
  <cp:lastModifiedBy>Lester Thomas</cp:lastModifiedBy>
  <cp:revision>2</cp:revision>
  <dcterms:created xsi:type="dcterms:W3CDTF">2013-01-27T09:14:16Z</dcterms:created>
  <dcterms:modified xsi:type="dcterms:W3CDTF">2026-10-19T09:08:29Z</dcterms:modified>
  <cp:category/>
</cp:coreProperties>
</file>