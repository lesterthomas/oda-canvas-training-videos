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first video in a series about the Open Digital Architecture Canvas, the execution platform for ODA Components, and its open-source reference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video is for two groups. First, architects and software engineers who build functional software components, and want to know what it means to meet the ODA standards and run on the Canvas. Second, architects, engineers and site reliability engineers who build or operate a Canvas platform, whether that is a communication service provider running its own, or a cloud provider offering a managed Canvas to others.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start with a short history of how we got here. Then we'll explain what an ODA Component is and what the Canvas provides. After that we'll cover the business benefits, take a quick tour of the Canvas, including the Canvas Portal, and finish with where the work is heading. Later videos in the series go deeper into each area.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more than twenty-five years, TM Forum has been a hub for collaboration on telecom IT. The early frameworks gave the industry a common language for processes, information and functions. They were valuable, but they were human-readable documents, open to interpretation. Each operator built its own variant, and the industry ended up with many slightly different versions of the same standards.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big step was TM Forum's Open API programme. It began with experiments and hackathons around 2013 and launched formally in January 2017. Open APIs are detailed, prescriptive, machine-readable specifications for standard services. Adoption has been huge: the APIs have been downloaded more than a million times by tens of thousands of developers, and today most telecom IT capabilities start with the question, "Which standard APIs do we need?"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APIs didn't solve everything. Telecom IT estates are still diverse and complex, and upgrading them is hard. Often several systems have to be upgraded together in one large transformation project. Standardising the interfaces wasn't enough. The industry also needed a standard way to package, deploy and operate the software behind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where ODA Components come in. An ODA Component is an independently deployable unit of functionality. Alongside its business function, it declares its non-functional needs, such as the APIs it exposes and depends on, the events it publishes, its security roles and its observability. Components are interoperable, designed around end-to-end use cases, and portable: they can run on any Canvas that follows the standard.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ODA Canvas is the cloud-native execution environment for those components. It reads each component's declared requirements and provides the shared operational services it needs, including API management, identity, observability and secrets. Component developers can focus on business functionality while the Canvas takes care of security, monitoring and scaling.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two together and you get composable IT. Use cases are assembled from standard components. Components are deployed onto a Canvas. Canvas operators configure the underlying platform services, such as API gateways, service meshes, identity and observability, whether those are open-source reference modules or commercial cloud services. When a new business need appears, you assemble existing building blocks instead of starting a new integration project.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model now extends to AI. In the AI-Native Canvas, AI agents can be packaged as agentic components that follow the same component standard. Standard components can expose their APIs as tools for agents using the Model Context Protocol. Agents can describe themselves to other agents through agent-to-agent standards. The Canvas adds AI and data services, such as an AI gateway in front of the approved language models, so that agents from many vendors can be governed, observed and cost-managed in one consistent way.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is a good example of why this matters. Traditionally, each application ships with its own identity management, which operations teams then have to integrate. In the ODA model, a component only declares the roles it supports. The Canvas configures those roles in one shared identity platform, such as Keycloak or Microsoft Entra ID. Identities are managed once, consistently, across every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Secrets work the same way. A component declares that it needs a secrets store, and the Canvas sets up a private vault for it. In the reference implementation that's HashiCorp Vault. The component authenticates with its own Kubernetes workload identity, so it never needs a bootstrap password just to reach the vault.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 this? The benefits are shared by service providers, software vendors, integrators and cloud providers. Seamless integration supports zero-touch, zero-wait and zero-trouble customer experiences. Operations get simpler, moving from hundreds of teams running vertically integrated applications towards a single site reliability team running a Canvas. Agility drives innovation, including faster adoption of AI-native capabilities. Integration becomes automated instead of a manual project. Security is built in, with a zero-trust architecture and security as code. And modular contracts let every component be upgraded continuously, reducing technical debt.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ambition isn't an incremental gain. The goal is a step change, aiming for an order-of-magnitude improvement in efficiency and agility, and a faster transformation to an AI-native telco.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component standard has two layers. The lower layer is a set of design patterns for self-describing, modular software, with security and management defined as code. The upper layer is a set of standard golden components that represent industry best practice for breaking telecom IT into building blocks. You can browse them in the TM Forum ODA Component Directory.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component carries a YAML definition. Think of it as a Swagger file for a whole component. It describes the component's metadata and functional scope, and then, in its core, management and security functions, the APIs it exposes and depends on, the events it uses, and the roles it needs. The specification reached version one, its generally available release, at the end of 2024.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Canvas itself is modular. It is a set of software operators, following the Kubernetes operator pattern. The component management operator takes the component definition and breaks it into sub-resources, such as exposed APIs, dependent APIs, identity configuration and secrets management. Each sub-resource is handled by its own specialised operator. Each operator is a piece of software that holds the operational knowledge a human administrator would otherwise apply by hand.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exposure shows the pattern. The component declares which APIs it wants to expose, and optionally policies such as rate limiting, API-key checks, cross-origin rules or request validation. An API operator reads that declaration and automatically configures whichever gateway or service mesh the Canvas uses. There are six options in the reference implementation: the Istio service mesh, which is the default, the Kong and Apache APISIX gateways, and operators for Azure API Management, Google Apigee and Whale Cloud. The component stays the same, and only the operator changes.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this is visible in the Canvas Portal. Here is the component inventory. It lists standard components grouped by business domain and shows which ones are installed on this Canvas.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Components are packaged as Helm charts. Deploying one is just a matter of choosing the chart and giving the release a name. From there, the operators take over: they expose its APIs, register its roles and configure its monitoring. Later videos follow that process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follows the same pattern. A component declares its roles, either statically in its YAML or dynamically through a standard roles-and-permissions API. An identity config operator registers them in Keycloak or Microsoft Entra ID. Companion operators then create the component's client credentials and connect its API dependencies once access has been granted.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observability, components publish metrics using OpenMetrics and traces using OpenTelemetry, rather than shipping their own monitoring tools. When the API operator exposes a component's metrics endpoint, it also sets up scraping. In the reference implementation that means Prometheus, Grafana, Jaeger and an OpenTelemetry collector. The same declaration can target managed Prometheus services or Datadog instead. Metrics can be business metrics as well as technical ones, for example a new product being added to a catalog.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where things stand. Available in the reference implementation today are operators for component management, API management, identity, credentials, dependencies, secrets, availability during maintenance, and carbon-aware scaling. An OAuth2 configuration operator for authentication between components is available as a prototype. The AI-Native capabilities are experimental. Event management, a model-as-a-service operator, cost control and database services are planned. The Canvas is generally available, with regular releases, and every change is checked by an automated behaviour-driven test suite that runs against a real Kubernetes cluster.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you measure adoption? The outcome that matters is automated component deployment and lifecycle management. A service provider can turn on each light in turn as it automates API exposure, observability, identity, secrets and, increasingly, responsible AI, cost and carbon management.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Canvas is the result of collaboration between communication service providers, cloud providers, software vendors and systems integrators, delivering what the ODA Manifesto set out: a standard execution environment for ODA Components. That shared foundation is what lets the industry adopt new capabilities, including AI, faster together than any one company could alone.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video was an overview. The next videos in the series go deeper into how to buy or build a Canvas, authentication and authorization, the AI-Native Canvas and carbon-aware software. The reference implementation, its documentation and its use-case library are all on GitHub at tmforum-oda slash oda-canvas, and contributions are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6.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7.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8.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1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1.mp4"/><Relationship Id="rId3" Type="http://schemas.openxmlformats.org/officeDocument/2006/relationships/video" Target="../media/media11.mp4"/><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2.mp4"/><Relationship Id="rId3" Type="http://schemas.openxmlformats.org/officeDocument/2006/relationships/video" Target="../media/media12.mp4"/><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3.mp4"/><Relationship Id="rId3" Type="http://schemas.openxmlformats.org/officeDocument/2006/relationships/video" Target="../media/media13.mp4"/><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4.mp4"/><Relationship Id="rId3" Type="http://schemas.openxmlformats.org/officeDocument/2006/relationships/video" Target="../media/media14.mp4"/><Relationship Id="rId4" Type="http://schemas.openxmlformats.org/officeDocument/2006/relationships/image" Target="../media/image1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5.mp4"/><Relationship Id="rId3" Type="http://schemas.openxmlformats.org/officeDocument/2006/relationships/video" Target="../media/media15.mp4"/><Relationship Id="rId4" Type="http://schemas.openxmlformats.org/officeDocument/2006/relationships/image" Target="../media/image15.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6.mp4"/><Relationship Id="rId3" Type="http://schemas.openxmlformats.org/officeDocument/2006/relationships/video" Target="../media/media16.mp4"/><Relationship Id="rId4" Type="http://schemas.openxmlformats.org/officeDocument/2006/relationships/image" Target="../media/image16.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7.mp4"/><Relationship Id="rId3" Type="http://schemas.openxmlformats.org/officeDocument/2006/relationships/video" Target="../media/media17.mp4"/><Relationship Id="rId4" Type="http://schemas.openxmlformats.org/officeDocument/2006/relationships/image" Target="../media/image1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8.mp4"/><Relationship Id="rId3" Type="http://schemas.openxmlformats.org/officeDocument/2006/relationships/video" Target="../media/media18.mp4"/><Relationship Id="rId4" Type="http://schemas.openxmlformats.org/officeDocument/2006/relationships/image" Target="../media/image18.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9.mp4"/><Relationship Id="rId3" Type="http://schemas.openxmlformats.org/officeDocument/2006/relationships/video" Target="../media/media19.mp4"/><Relationship Id="rId4" Type="http://schemas.openxmlformats.org/officeDocument/2006/relationships/image" Target="../media/image19.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20.mp4"/><Relationship Id="rId3" Type="http://schemas.openxmlformats.org/officeDocument/2006/relationships/video" Target="../media/media20.mp4"/><Relationship Id="rId4" Type="http://schemas.openxmlformats.org/officeDocument/2006/relationships/image" Target="../media/image2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21.mp4"/><Relationship Id="rId3" Type="http://schemas.openxmlformats.org/officeDocument/2006/relationships/video" Target="../media/media21.mp4"/><Relationship Id="rId4" Type="http://schemas.openxmlformats.org/officeDocument/2006/relationships/image" Target="../media/image21.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22.mp4"/><Relationship Id="rId3" Type="http://schemas.openxmlformats.org/officeDocument/2006/relationships/video" Target="../media/media22.mp4"/><Relationship Id="rId4" Type="http://schemas.openxmlformats.org/officeDocument/2006/relationships/image" Target="../media/image22.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23.mp4"/><Relationship Id="rId3" Type="http://schemas.openxmlformats.org/officeDocument/2006/relationships/video" Target="../media/media23.mp4"/><Relationship Id="rId4" Type="http://schemas.openxmlformats.org/officeDocument/2006/relationships/image" Target="../media/image2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24.mp4"/><Relationship Id="rId3" Type="http://schemas.openxmlformats.org/officeDocument/2006/relationships/video" Target="../media/media24.mp4"/><Relationship Id="rId4" Type="http://schemas.openxmlformats.org/officeDocument/2006/relationships/image" Target="../media/image24.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25.mp4"/><Relationship Id="rId3" Type="http://schemas.openxmlformats.org/officeDocument/2006/relationships/video" Target="../media/media25.mp4"/><Relationship Id="rId4" Type="http://schemas.openxmlformats.org/officeDocument/2006/relationships/image" Target="../media/image25.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26.mp4"/><Relationship Id="rId3" Type="http://schemas.openxmlformats.org/officeDocument/2006/relationships/video" Target="../media/media26.mp4"/><Relationship Id="rId4" Type="http://schemas.openxmlformats.org/officeDocument/2006/relationships/image" Target="../media/image26.png"/><Relationship Id="rId5"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Title card</a:t>
            </a:r>
          </a:p>
        </p:txBody>
      </p:sp>
      <p:pic>
        <p:nvPicPr>
          <p:cNvPr id="3" name="Clip 01">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Who this is for</a:t>
            </a:r>
          </a:p>
        </p:txBody>
      </p:sp>
      <p:pic>
        <p:nvPicPr>
          <p:cNvPr id="3" name="Clip 02">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8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Roadmap</a:t>
            </a:r>
          </a:p>
        </p:txBody>
      </p:sp>
      <p:pic>
        <p:nvPicPr>
          <p:cNvPr id="3" name="Clip 0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Frameworks and the problem of interpretation</a:t>
            </a:r>
          </a:p>
        </p:txBody>
      </p:sp>
      <p:pic>
        <p:nvPicPr>
          <p:cNvPr id="3" name="Clip 0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The Open API programme</a:t>
            </a:r>
          </a:p>
        </p:txBody>
      </p:sp>
      <p:pic>
        <p:nvPicPr>
          <p:cNvPr id="3" name="Clip 05">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The remaining gap</a:t>
            </a:r>
          </a:p>
        </p:txBody>
      </p:sp>
      <p:pic>
        <p:nvPicPr>
          <p:cNvPr id="3" name="Clip 06">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What is an ODA Component?</a:t>
            </a:r>
          </a:p>
        </p:txBody>
      </p:sp>
      <p:pic>
        <p:nvPicPr>
          <p:cNvPr id="3" name="Clip 07">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What is the ODA Canvas?</a:t>
            </a:r>
          </a:p>
        </p:txBody>
      </p:sp>
      <p:pic>
        <p:nvPicPr>
          <p:cNvPr id="3" name="Clip 08">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Composable IT with ODA</a:t>
            </a:r>
          </a:p>
        </p:txBody>
      </p:sp>
      <p:pic>
        <p:nvPicPr>
          <p:cNvPr id="3" name="Clip 09">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Composable AI with Agentic ODA</a:t>
            </a:r>
          </a:p>
        </p:txBody>
      </p:sp>
      <p:pic>
        <p:nvPicPr>
          <p:cNvPr id="3" name="Clip 10">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Example: identity is declared, not implemented</a:t>
            </a:r>
          </a:p>
        </p:txBody>
      </p:sp>
      <p:pic>
        <p:nvPicPr>
          <p:cNvPr id="3" name="Clip 11">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Example: secrets without bootstrap credentials</a:t>
            </a:r>
          </a:p>
        </p:txBody>
      </p:sp>
      <p:pic>
        <p:nvPicPr>
          <p:cNvPr id="3" name="Clip 12">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Six benefits</a:t>
            </a:r>
          </a:p>
        </p:txBody>
      </p:sp>
      <p:pic>
        <p:nvPicPr>
          <p:cNvPr id="3" name="Clip 1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An order-of-magnitude goal</a:t>
            </a:r>
          </a:p>
        </p:txBody>
      </p:sp>
      <p:pic>
        <p:nvPicPr>
          <p:cNvPr id="3" name="Clip 1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The component standard in two layers</a:t>
            </a:r>
          </a:p>
        </p:txBody>
      </p:sp>
      <p:pic>
        <p:nvPicPr>
          <p:cNvPr id="3" name="Clip 15">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The component YAML</a:t>
            </a:r>
          </a:p>
        </p:txBody>
      </p:sp>
      <p:pic>
        <p:nvPicPr>
          <p:cNvPr id="3" name="Clip 16">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The Canvas as a set of operators</a:t>
            </a:r>
          </a:p>
        </p:txBody>
      </p:sp>
      <p:pic>
        <p:nvPicPr>
          <p:cNvPr id="3" name="Clip 17">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Worked example: API exposure</a:t>
            </a:r>
          </a:p>
        </p:txBody>
      </p:sp>
      <p:pic>
        <p:nvPicPr>
          <p:cNvPr id="3" name="Clip 18">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Live demo: the component inventory</a:t>
            </a:r>
          </a:p>
        </p:txBody>
      </p:sp>
      <p:pic>
        <p:nvPicPr>
          <p:cNvPr id="3" name="Clip 19">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4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Live demo: deploying a component</a:t>
            </a:r>
          </a:p>
        </p:txBody>
      </p:sp>
      <p:pic>
        <p:nvPicPr>
          <p:cNvPr id="3" name="Clip 20">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0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Identity configuration</a:t>
            </a:r>
          </a:p>
        </p:txBody>
      </p:sp>
      <p:pic>
        <p:nvPicPr>
          <p:cNvPr id="3" name="Clip 21">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Observability</a:t>
            </a:r>
          </a:p>
        </p:txBody>
      </p:sp>
      <p:pic>
        <p:nvPicPr>
          <p:cNvPr id="3" name="Clip 22">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Available today, experimental, planned</a:t>
            </a:r>
          </a:p>
        </p:txBody>
      </p:sp>
      <p:pic>
        <p:nvPicPr>
          <p:cNvPr id="3" name="Clip 2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4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Measuring Canvas adoption</a:t>
            </a:r>
          </a:p>
        </p:txBody>
      </p:sp>
      <p:pic>
        <p:nvPicPr>
          <p:cNvPr id="3" name="Clip 2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Built together</a:t>
            </a:r>
          </a:p>
        </p:txBody>
      </p:sp>
      <p:pic>
        <p:nvPicPr>
          <p:cNvPr id="3" name="Clip 25">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Title 1"/>
          <p:cNvSpPr>
            <a:spLocks noGrp="1"/>
          </p:cNvSpPr>
          <p:nvPr>
            <p:ph type="title"/>
          </p:nvPr>
        </p:nvSpPr>
        <p:spPr>
          <a:xfrm>
            <a:off x="12648895" y="0"/>
            <a:ext cx="5486400" cy="914400"/>
          </a:xfrm>
        </p:spPr>
        <p:txBody>
          <a:bodyPr/>
          <a:lstStyle/>
          <a:p>
            <a:r>
              <a:t>What's next</a:t>
            </a:r>
          </a:p>
        </p:txBody>
      </p:sp>
      <p:pic>
        <p:nvPicPr>
          <p:cNvPr id="3" name="Clip 26">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the ODA Canvas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