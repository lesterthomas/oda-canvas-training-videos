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41917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first video in a series about the Open Digital Architecture Canvas, the execution platform for ODA Components, and its open-source reference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is for two groups. First, architects and software engineers who build functional software components, and want to know what it means to meet the ODA standards and run on the Canvas. Second, architects, engineers and site reliability engineers who build or operate a Canvas platform, whether that is a communication service provider running its own, or a cloud provider offering a managed Canvas to others.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start with a short history of how we got here. Then we'll explain what an ODA Component is and what the Canvas provides. After that we'll cover the business benefits, take a quick tour of the Canvas, including the Canvas Portal, and finish with where the work is heading. Later videos in the series go deeper into each area.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more than twenty-five years, TM Forum has been a hub for collaboration on telecom IT. The early frameworks gave the industry a common language for processes, information and functions. They were valuable, but they were human-readable documents, open to interpretation. Each operator built its own variant, and the industry ended up with many slightly different versions of the same standards.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next big step was TM Forum's Open API programme. It began with experiments and hackathons around 2013 and launched formally in January 2017. Open APIs are detailed, prescriptive, machine-readable specifications for standard services. Adoption has been huge: the APIs have been downloaded more than a million times by tens of thousands of developers, and today most telecom IT capabilities start with the question, "Which standard APIs do we need?"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where ODA Components come in. An ODA Component is an independently deployable unit of functionality. Alongside its business function, it declares its non-functional needs, such as the APIs it exposes and depends on, the events it publishes, its security roles and its observability. Components are interoperable, designed around end-to-end use cases, and portable: they can run on any Canvas that follows the standard.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Canvas is the cloud-native execution environment for those components. It reads each component's declared requirements and provides the shared operational services it needs,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whether those are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so that agents from many vendors can be governed, observed and cost-managed in one consistent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is a good example of why this matters. Traditionally, each application ships with its own identity management, which operations teams then have to integrate. In the ODA model, a component only declares the roles it supports. The Canvas configures those roles in one shared identity platform, such as Keycloak or Microsoft Entra ID. Identities are managed once, consistently, across every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Secrets work the same way. A component declares that it needs a secrets store, and the Canvas sets up a private vault for it. In the reference implementation that's HashiCorp Vault. The component authenticates with its own Kubernetes workload identity, so it never needs a bootstrap password just to reach the vault.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 this? The benefits are shared by service providers, software vendors, integrators and cloud providers. Seamless integration supports zero-touch, zero-wait and zero-trouble customer experiences. Operations get simpler, moving from hundreds of teams running vertically integrated applications towards a single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component standard has two layers. The lower layer is a set of design patterns for self-describing, modular software, with security and management defined as code. The upper layer is a set of standard golden components that represent industry best practice for breaking telecom IT into building blocks. You can browse them in the TM Forum ODA Component Directory.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components are published in the ODA Component Directory on the TM Forum website. Its components map groups them by business domain, alongside the Canvas operators. Opening Product Catalog Management shows its specification: the version and status, its YAML definition, conformance profile, test kit and reference implementation, the Open APIs it must expose and those it may depend on, and the products certified against it. Every standard component, such as Product Inventory, follows the same structure.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component carries a YAML definition. Think of it as a Swagger file for a whole component. It describes the component's metadata and functional scope, and then, in its core, management and security functions, the APIs it exposes and depends on, the events it uses, and the roles it needs. The specification reached version one, its generally available release, at the end of 2024.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itself is modular. It is a set of software operators, following the Kubernetes operator pattern. The component management operator takes the component definition and breaks it into sub-resources, such as exposed APIs, dependent APIs, identity configuration and secrets management. Each sub-resource is handled by its own specialised operator. Each operator is a piece of software that holds the operational knowledge a human administrator would otherwise apply by hand.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There are six options in the reference implementation: the Istio service mesh, which is the default, the Kong and Apache APISIX gateways, and operators for Azure API Management, Google Apigee and Whale Cloud. The component stays the same, and only the operator changes.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follows the same pattern. A component declares its roles, either statically in its YAML or dynamically through a standard roles-and-permissions API. An identity config operator registers them in Keycloak or Microsoft Entra ID. Companion operators then create the component's client credentials and connect its API dependencies once access has been granted.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or Datadog instead. Metrics can be business metrics as well as technical ones, for example a new product being added to a catalog.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Available in the reference implementation today are operators for component management, API management, identity, credentials, dependencies, secrets, availability during maintenance, and carbon-aware scaling. An OAuth2 configuration operator for authentication between components is available as a prototype. The AI-Native capabilities are experimental. Event management, a model-as-a-service operator, cost control and database services are planned. The Canvas is generally available, with regular releases, and every change is checked by an automated behaviour-driven test suite that runs against a real Kubernetes cluster.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is the result of collaboration between communication service providers, cloud providers, software vendors and systems integrators, delivering what the ODA Manifesto set out: a standard execution environment for ODA Components. That shared foundation is what lets the industry adopt new capabilities, including AI, faster together than any one company could alone.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was an overview. The next videos in the series go deeper into how to buy or build a Canvas, authentication and authorization, the AI-Native Canvas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www.tmforum.org/oda/directory/components-map" TargetMode="Externa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0.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3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3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7.mp4"/><Relationship Id="rId1" Type="http://schemas.microsoft.com/office/2007/relationships/media" Target="../media/media17.mp4"/><Relationship Id="rId5" Type="http://schemas.openxmlformats.org/officeDocument/2006/relationships/image" Target="../media/image3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image" Target="../media/image42.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43.png"/></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tmforum-oda/oda-canvas" TargetMode="External"/><Relationship Id="rId3" Type="http://schemas.openxmlformats.org/officeDocument/2006/relationships/image" Target="../media/image1.png"/><Relationship Id="rId7"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4.png"/><Relationship Id="rId4" Type="http://schemas.openxmlformats.org/officeDocument/2006/relationships/image" Target="../media/image44.png"/><Relationship Id="rId9" Type="http://schemas.openxmlformats.org/officeDocument/2006/relationships/hyperlink" Target="https://www.tmforum.org/oda/directory/components-ma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Title card</a:t>
            </a:r>
          </a:p>
        </p:txBody>
      </p:sp>
      <p:sp>
        <p:nvSpPr>
          <p:cNvPr id="4" name="Plate"/>
          <p:cNvSpPr/>
          <p:nvPr/>
        </p:nvSpPr>
        <p:spPr>
          <a:xfrm>
            <a:off x="6731000" y="4064000"/>
            <a:ext cx="4445000" cy="622300"/>
          </a:xfrm>
          <a:prstGeom prst="roundRect">
            <a:avLst>
              <a:gd name="adj" fmla="val 16326"/>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50" b="1" spc="100">
                <a:solidFill>
                  <a:srgbClr val="F2F5FB"/>
                </a:solidFill>
                <a:latin typeface="Segoe UI"/>
              </a:rPr>
              <a:t>ODA Canvas</a:t>
            </a:r>
          </a:p>
        </p:txBody>
      </p:sp>
      <p:pic>
        <p:nvPicPr>
          <p:cNvPr id="5" name="Component" descr="oda.png"/>
          <p:cNvPicPr>
            <a:picLocks noChangeAspect="1"/>
          </p:cNvPicPr>
          <p:nvPr/>
        </p:nvPicPr>
        <p:blipFill>
          <a:blip r:embed="rId4"/>
          <a:stretch>
            <a:fillRect/>
          </a:stretch>
        </p:blipFill>
        <p:spPr>
          <a:xfrm>
            <a:off x="7747000" y="2171700"/>
            <a:ext cx="2413000" cy="2278944"/>
          </a:xfrm>
          <a:prstGeom prst="rect">
            <a:avLst/>
          </a:prstGeom>
        </p:spPr>
      </p:pic>
      <p:sp>
        <p:nvSpPr>
          <p:cNvPr id="6" name="Intro"/>
          <p:cNvSpPr txBox="1"/>
          <p:nvPr/>
        </p:nvSpPr>
        <p:spPr>
          <a:xfrm>
            <a:off x="762000" y="2095500"/>
            <a:ext cx="5715000" cy="381000"/>
          </a:xfrm>
          <a:prstGeom prst="rect">
            <a:avLst/>
          </a:prstGeom>
          <a:noFill/>
        </p:spPr>
        <p:txBody>
          <a:bodyPr wrap="square" lIns="0" tIns="0" rIns="0" bIns="0" anchor="t">
            <a:spAutoFit/>
          </a:bodyPr>
          <a:lstStyle/>
          <a:p>
            <a:pPr algn="l">
              <a:lnSpc>
                <a:spcPct val="115000"/>
              </a:lnSpc>
            </a:pPr>
            <a:r>
              <a:rPr sz="2200" b="1">
                <a:solidFill>
                  <a:srgbClr val="8F9BB8"/>
                </a:solidFill>
                <a:latin typeface="Segoe UI"/>
              </a:rPr>
              <a:t>Introduction to the</a:t>
            </a:r>
          </a:p>
        </p:txBody>
      </p:sp>
      <p:sp>
        <p:nvSpPr>
          <p:cNvPr id="7" name="Name"/>
          <p:cNvSpPr txBox="1"/>
          <p:nvPr/>
        </p:nvSpPr>
        <p:spPr>
          <a:xfrm>
            <a:off x="762000" y="2413000"/>
            <a:ext cx="6350000" cy="1016000"/>
          </a:xfrm>
          <a:prstGeom prst="rect">
            <a:avLst/>
          </a:prstGeom>
          <a:noFill/>
        </p:spPr>
        <p:txBody>
          <a:bodyPr wrap="square" lIns="0" tIns="0" rIns="0" bIns="0" anchor="t">
            <a:spAutoFit/>
          </a:bodyPr>
          <a:lstStyle/>
          <a:p>
            <a:pPr algn="l">
              <a:lnSpc>
                <a:spcPct val="115000"/>
              </a:lnSpc>
            </a:pPr>
            <a:r>
              <a:rPr sz="6600" b="1">
                <a:solidFill>
                  <a:srgbClr val="F2F5FB"/>
                </a:solidFill>
                <a:latin typeface="Segoe UI"/>
              </a:rPr>
              <a:t>ODA </a:t>
            </a:r>
            <a:r>
              <a:rPr sz="6600" b="1">
                <a:solidFill>
                  <a:srgbClr val="E6007E"/>
                </a:solidFill>
                <a:latin typeface="Segoe UI"/>
              </a:rPr>
              <a:t>Canvas</a:t>
            </a:r>
          </a:p>
        </p:txBody>
      </p:sp>
      <p:sp>
        <p:nvSpPr>
          <p:cNvPr id="8" name="Subtitle"/>
          <p:cNvSpPr txBox="1"/>
          <p:nvPr/>
        </p:nvSpPr>
        <p:spPr>
          <a:xfrm>
            <a:off x="787400" y="3556000"/>
            <a:ext cx="5715000" cy="317500"/>
          </a:xfrm>
          <a:prstGeom prst="rect">
            <a:avLst/>
          </a:prstGeom>
          <a:noFill/>
        </p:spPr>
        <p:txBody>
          <a:bodyPr wrap="square" lIns="0" tIns="0" rIns="0" bIns="0" anchor="t">
            <a:spAutoFit/>
          </a:bodyPr>
          <a:lstStyle/>
          <a:p>
            <a:pPr algn="l">
              <a:lnSpc>
                <a:spcPct val="115000"/>
              </a:lnSpc>
            </a:pPr>
            <a:r>
              <a:rPr sz="1800" b="0">
                <a:solidFill>
                  <a:srgbClr val="8F9BB8"/>
                </a:solidFill>
                <a:latin typeface="Segoe UI"/>
              </a:rPr>
              <a:t>Open Digital Architecture · TM Forum</a:t>
            </a:r>
          </a:p>
        </p:txBody>
      </p:sp>
      <p:sp>
        <p:nvSpPr>
          <p:cNvPr id="9" name="Series"/>
          <p:cNvSpPr/>
          <p:nvPr/>
        </p:nvSpPr>
        <p:spPr>
          <a:xfrm>
            <a:off x="787400" y="4191000"/>
            <a:ext cx="2495550" cy="2857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Training series · Part 1</a:t>
            </a:r>
          </a:p>
        </p:txBody>
      </p:sp>
    </p:spTree>
  </p:cSld>
  <p:clrMapOvr>
    <a:masterClrMapping/>
  </p:clrMapOvr>
  <mc:AlternateContent xmlns:mc="http://schemas.openxmlformats.org/markup-compatibility/2006">
    <mc:Choice xmlns:p14="http://schemas.microsoft.com/office/powerpoint/2010/main" Requires="p14">
      <p:transition spd="slow" p14:dur="2000" advTm="11500"/>
    </mc:Choice>
    <mc:Fallback>
      <p:transition spd="slow" advTm="1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800"/>
                                        <p:tgtEl>
                                          <p:spTgt spid="6"/>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800"/>
                                        <p:tgtEl>
                                          <p:spTgt spid="7"/>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800"/>
                                        <p:tgtEl>
                                          <p:spTgt spid="8"/>
                                        </p:tgtEl>
                                      </p:cBhvr>
                                    </p:animEffect>
                                  </p:childTnLst>
                                </p:cTn>
                              </p:par>
                              <p:par>
                                <p:cTn id="14" presetID="58" presetClass="entr" presetSubtype="0" accel="100000" fill="hold" nodeType="withEffect">
                                  <p:stCondLst>
                                    <p:cond delay="900"/>
                                  </p:stCondLst>
                                  <p:childTnLst>
                                    <p:set>
                                      <p:cBhvr>
                                        <p:cTn id="15" dur="1" fill="hold">
                                          <p:stCondLst>
                                            <p:cond delay="0"/>
                                          </p:stCondLst>
                                        </p:cTn>
                                        <p:tgtEl>
                                          <p:spTgt spid="5"/>
                                        </p:tgtEl>
                                        <p:attrNameLst>
                                          <p:attrName>style.visibility</p:attrName>
                                        </p:attrNameLst>
                                      </p:cBhvr>
                                      <p:to>
                                        <p:strVal val="visible"/>
                                      </p:to>
                                    </p:set>
                                    <p:anim calcmode="lin" valueType="num">
                                      <p:cBhvr>
                                        <p:cTn id="16" dur="800" fill="hold"/>
                                        <p:tgtEl>
                                          <p:spTgt spid="5"/>
                                        </p:tgtEl>
                                        <p:attrNameLst>
                                          <p:attrName>ppt_w</p:attrName>
                                        </p:attrNameLst>
                                      </p:cBhvr>
                                      <p:tavLst>
                                        <p:tav tm="0">
                                          <p:val>
                                            <p:strVal val="#ppt_w*2.5"/>
                                          </p:val>
                                        </p:tav>
                                        <p:tav tm="100000">
                                          <p:val>
                                            <p:strVal val="#ppt_w"/>
                                          </p:val>
                                        </p:tav>
                                      </p:tavLst>
                                    </p:anim>
                                    <p:anim calcmode="lin" valueType="num">
                                      <p:cBhvr>
                                        <p:cTn id="17" dur="800" fill="hold"/>
                                        <p:tgtEl>
                                          <p:spTgt spid="5"/>
                                        </p:tgtEl>
                                        <p:attrNameLst>
                                          <p:attrName>ppt_h</p:attrName>
                                        </p:attrNameLst>
                                      </p:cBhvr>
                                      <p:tavLst>
                                        <p:tav tm="0">
                                          <p:val>
                                            <p:strVal val="#ppt_h*0.01"/>
                                          </p:val>
                                        </p:tav>
                                        <p:tav tm="100000">
                                          <p:val>
                                            <p:strVal val="#ppt_h"/>
                                          </p:val>
                                        </p:tav>
                                      </p:tavLst>
                                    </p:anim>
                                    <p:anim calcmode="lin" valueType="num">
                                      <p:cBhvr>
                                        <p:cTn id="18" dur="800" fill="hold"/>
                                        <p:tgtEl>
                                          <p:spTgt spid="5"/>
                                        </p:tgtEl>
                                        <p:attrNameLst>
                                          <p:attrName>ppt_x</p:attrName>
                                        </p:attrNameLst>
                                      </p:cBhvr>
                                      <p:tavLst>
                                        <p:tav tm="0">
                                          <p:val>
                                            <p:strVal val="#ppt_x"/>
                                          </p:val>
                                        </p:tav>
                                        <p:tav tm="100000">
                                          <p:val>
                                            <p:strVal val="#ppt_x"/>
                                          </p:val>
                                        </p:tav>
                                      </p:tavLst>
                                    </p:anim>
                                    <p:anim calcmode="lin" valueType="num">
                                      <p:cBhvr>
                                        <p:cTn id="19" dur="800" fill="hold"/>
                                        <p:tgtEl>
                                          <p:spTgt spid="5"/>
                                        </p:tgtEl>
                                        <p:attrNameLst>
                                          <p:attrName>ppt_y</p:attrName>
                                        </p:attrNameLst>
                                      </p:cBhvr>
                                      <p:tavLst>
                                        <p:tav tm="0">
                                          <p:val>
                                            <p:strVal val="#ppt_h+1"/>
                                          </p:val>
                                        </p:tav>
                                        <p:tav tm="100000">
                                          <p:val>
                                            <p:strVal val="#ppt_y"/>
                                          </p:val>
                                        </p:tav>
                                      </p:tavLst>
                                    </p:anim>
                                    <p:animEffect transition="in" filter="fade">
                                      <p:cBhvr>
                                        <p:cTn id="20" dur="800"/>
                                        <p:tgtEl>
                                          <p:spTgt spid="5"/>
                                        </p:tgtEl>
                                      </p:cBhvr>
                                    </p:animEffect>
                                  </p:childTnLst>
                                </p:cTn>
                              </p:par>
                              <p:par>
                                <p:cTn id="21" presetID="10" presetClass="entr" presetSubtype="0" fill="hold" grpId="0" nodeType="withEffect">
                                  <p:stCondLst>
                                    <p:cond delay="120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800"/>
                                        <p:tgtEl>
                                          <p:spTgt spid="4"/>
                                        </p:tgtEl>
                                      </p:cBhvr>
                                    </p:animEffect>
                                  </p:childTnLst>
                                </p:cTn>
                              </p:par>
                              <p:par>
                                <p:cTn id="24" presetID="10" presetClass="entr" presetSubtype="0" fill="hold" grpId="0" nodeType="withEffect">
                                  <p:stCondLst>
                                    <p:cond delay="16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Who this is for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WHO THIS IS FOR</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Two audiences, one platform</a:t>
            </a:r>
          </a:p>
        </p:txBody>
      </p:sp>
      <p:cxnSp>
        <p:nvCxnSpPr>
          <p:cNvPr id="6" name="Divider"/>
          <p:cNvCxnSpPr/>
          <p:nvPr/>
        </p:nvCxnSpPr>
        <p:spPr>
          <a:xfrm>
            <a:off x="6096000" y="1651000"/>
            <a:ext cx="0" cy="3937000"/>
          </a:xfrm>
          <a:prstGeom prst="line">
            <a:avLst/>
          </a:prstGeom>
          <a:ln w="25400">
            <a:solidFill>
              <a:srgbClr val="24314F"/>
            </a:solidFill>
          </a:ln>
        </p:spPr>
        <p:style>
          <a:lnRef idx="2">
            <a:schemeClr val="accent1"/>
          </a:lnRef>
          <a:fillRef idx="0">
            <a:schemeClr val="accent1"/>
          </a:fillRef>
          <a:effectRef idx="1">
            <a:schemeClr val="accent1"/>
          </a:effectRef>
          <a:fontRef idx="minor">
            <a:schemeClr val="tx1"/>
          </a:fontRef>
        </p:style>
      </p:cxnSp>
      <p:grpSp>
        <p:nvGrpSpPr>
          <p:cNvPr id="12" name="Component builders"/>
          <p:cNvGrpSpPr/>
          <p:nvPr/>
        </p:nvGrpSpPr>
        <p:grpSpPr>
          <a:xfrm>
            <a:off x="889000" y="1587500"/>
            <a:ext cx="4826000" cy="4064000"/>
            <a:chOff x="889000" y="1587500"/>
            <a:chExt cx="4826000" cy="4064000"/>
          </a:xfrm>
        </p:grpSpPr>
        <p:sp>
          <p:nvSpPr>
            <p:cNvPr id="7" name="Shape 5"/>
            <p:cNvSpPr/>
            <p:nvPr/>
          </p:nvSpPr>
          <p:spPr>
            <a:xfrm>
              <a:off x="889000" y="1587500"/>
              <a:ext cx="4826000" cy="4064000"/>
            </a:xfrm>
            <a:prstGeom prst="roundRect">
              <a:avLst>
                <a:gd name="adj" fmla="val 4375"/>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8" name="Shape 6" descr="icon-person-f5a623.png"/>
            <p:cNvPicPr>
              <a:picLocks noChangeAspect="1"/>
            </p:cNvPicPr>
            <p:nvPr/>
          </p:nvPicPr>
          <p:blipFill>
            <a:blip r:embed="rId4"/>
            <a:stretch>
              <a:fillRect/>
            </a:stretch>
          </p:blipFill>
          <p:spPr>
            <a:xfrm>
              <a:off x="1936750" y="1905000"/>
              <a:ext cx="1206500" cy="1206500"/>
            </a:xfrm>
            <a:prstGeom prst="rect">
              <a:avLst/>
            </a:prstGeom>
          </p:spPr>
        </p:pic>
        <p:pic>
          <p:nvPicPr>
            <p:cNvPr id="9" name="Shape 7" descr="oda.png"/>
            <p:cNvPicPr>
              <a:picLocks noChangeAspect="1"/>
            </p:cNvPicPr>
            <p:nvPr/>
          </p:nvPicPr>
          <p:blipFill>
            <a:blip r:embed="rId5"/>
            <a:stretch>
              <a:fillRect/>
            </a:stretch>
          </p:blipFill>
          <p:spPr>
            <a:xfrm>
              <a:off x="3333750" y="1905000"/>
              <a:ext cx="1333500" cy="1259417"/>
            </a:xfrm>
            <a:prstGeom prst="rect">
              <a:avLst/>
            </a:prstGeom>
          </p:spPr>
        </p:pic>
        <p:sp>
          <p:nvSpPr>
            <p:cNvPr id="10" name="Shape 8"/>
            <p:cNvSpPr txBox="1"/>
            <p:nvPr/>
          </p:nvSpPr>
          <p:spPr>
            <a:xfrm>
              <a:off x="889000" y="3429000"/>
              <a:ext cx="4826000" cy="4445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Component builders</a:t>
              </a:r>
            </a:p>
          </p:txBody>
        </p:sp>
        <p:sp>
          <p:nvSpPr>
            <p:cNvPr id="11" name="Shape 9"/>
            <p:cNvSpPr txBox="1"/>
            <p:nvPr/>
          </p:nvSpPr>
          <p:spPr>
            <a:xfrm>
              <a:off x="1206500" y="4000500"/>
              <a:ext cx="4191000" cy="1397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and software engineers building software components that meet the ODA standards</a:t>
              </a:r>
            </a:p>
          </p:txBody>
        </p:sp>
      </p:grpSp>
      <p:grpSp>
        <p:nvGrpSpPr>
          <p:cNvPr id="18" name="Canvas builders"/>
          <p:cNvGrpSpPr/>
          <p:nvPr/>
        </p:nvGrpSpPr>
        <p:grpSpPr>
          <a:xfrm>
            <a:off x="6477000" y="1587500"/>
            <a:ext cx="4826000" cy="4064000"/>
            <a:chOff x="6477000" y="1587500"/>
            <a:chExt cx="4826000" cy="4064000"/>
          </a:xfrm>
        </p:grpSpPr>
        <p:sp>
          <p:nvSpPr>
            <p:cNvPr id="13" name="Shape 11"/>
            <p:cNvSpPr/>
            <p:nvPr/>
          </p:nvSpPr>
          <p:spPr>
            <a:xfrm>
              <a:off x="6477000" y="1587500"/>
              <a:ext cx="4826000" cy="4064000"/>
            </a:xfrm>
            <a:prstGeom prst="roundRect">
              <a:avLst>
                <a:gd name="adj" fmla="val 437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person-2f6fed.png"/>
            <p:cNvPicPr>
              <a:picLocks noChangeAspect="1"/>
            </p:cNvPicPr>
            <p:nvPr/>
          </p:nvPicPr>
          <p:blipFill>
            <a:blip r:embed="rId6"/>
            <a:stretch>
              <a:fillRect/>
            </a:stretch>
          </p:blipFill>
          <p:spPr>
            <a:xfrm>
              <a:off x="7524750" y="1905000"/>
              <a:ext cx="1206500" cy="1206500"/>
            </a:xfrm>
            <a:prstGeom prst="rect">
              <a:avLst/>
            </a:prstGeom>
          </p:spPr>
        </p:pic>
        <p:sp>
          <p:nvSpPr>
            <p:cNvPr id="15" name="Shape 13"/>
            <p:cNvSpPr/>
            <p:nvPr/>
          </p:nvSpPr>
          <p:spPr>
            <a:xfrm>
              <a:off x="8921750" y="2730500"/>
              <a:ext cx="1460500" cy="292100"/>
            </a:xfrm>
            <a:prstGeom prst="roundRect">
              <a:avLst>
                <a:gd name="adj" fmla="val 21739"/>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Shape 14"/>
            <p:cNvSpPr txBox="1"/>
            <p:nvPr/>
          </p:nvSpPr>
          <p:spPr>
            <a:xfrm>
              <a:off x="6477000" y="3302000"/>
              <a:ext cx="4826000" cy="8890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Canvas builders &amp; operators</a:t>
              </a:r>
            </a:p>
          </p:txBody>
        </p:sp>
        <p:sp>
          <p:nvSpPr>
            <p:cNvPr id="17" name="Shape 15"/>
            <p:cNvSpPr txBox="1"/>
            <p:nvPr/>
          </p:nvSpPr>
          <p:spPr>
            <a:xfrm>
              <a:off x="6731000" y="4318000"/>
              <a:ext cx="4318000" cy="1016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engineers and SREs building or operating a Canvas platform</a:t>
              </a:r>
            </a:p>
          </p:txBody>
        </p:sp>
      </p:grpSp>
      <p:grpSp>
        <p:nvGrpSpPr>
          <p:cNvPr id="21" name="Canvas options"/>
          <p:cNvGrpSpPr/>
          <p:nvPr/>
        </p:nvGrpSpPr>
        <p:grpSpPr>
          <a:xfrm>
            <a:off x="6858000" y="5842000"/>
            <a:ext cx="4857750" cy="285750"/>
            <a:chOff x="6858000" y="5842000"/>
            <a:chExt cx="4857750" cy="285750"/>
          </a:xfrm>
        </p:grpSpPr>
        <p:sp>
          <p:nvSpPr>
            <p:cNvPr id="19" name="Shape 17"/>
            <p:cNvSpPr/>
            <p:nvPr/>
          </p:nvSpPr>
          <p:spPr>
            <a:xfrm>
              <a:off x="6858000" y="5842000"/>
              <a:ext cx="15684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CSP-run Canvas</a:t>
              </a:r>
            </a:p>
          </p:txBody>
        </p:sp>
        <p:sp>
          <p:nvSpPr>
            <p:cNvPr id="20" name="Shape 18"/>
            <p:cNvSpPr/>
            <p:nvPr/>
          </p:nvSpPr>
          <p:spPr>
            <a:xfrm>
              <a:off x="8572500" y="5842000"/>
              <a:ext cx="31432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Managed Canvas (cloud provider)</a:t>
              </a:r>
            </a:p>
          </p:txBody>
        </p:sp>
      </p:grpSp>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2" presetClass="entr" presetSubtype="1" fill="hold" nodeType="withEffect">
                                  <p:stCondLst>
                                    <p:cond delay="1000"/>
                                  </p:stCondLst>
                                  <p:childTnLst>
                                    <p:set>
                                      <p:cBhvr>
                                        <p:cTn id="13" dur="1" fill="hold">
                                          <p:stCondLst>
                                            <p:cond delay="0"/>
                                          </p:stCondLst>
                                        </p:cTn>
                                        <p:tgtEl>
                                          <p:spTgt spid="6"/>
                                        </p:tgtEl>
                                        <p:attrNameLst>
                                          <p:attrName>style.visibility</p:attrName>
                                        </p:attrNameLst>
                                      </p:cBhvr>
                                      <p:to>
                                        <p:strVal val="visible"/>
                                      </p:to>
                                    </p:set>
                                    <p:animEffect transition="in" filter="wipe(up)">
                                      <p:cBhvr>
                                        <p:cTn id="14" dur="1200"/>
                                        <p:tgtEl>
                                          <p:spTgt spid="6"/>
                                        </p:tgtEl>
                                      </p:cBhvr>
                                    </p:animEffect>
                                  </p:childTnLst>
                                </p:cTn>
                              </p:par>
                              <p:par>
                                <p:cTn id="15" presetID="2" presetClass="entr" presetSubtype="4" fill="hold" nodeType="withEffect">
                                  <p:stCondLst>
                                    <p:cond delay="1400"/>
                                  </p:stCondLst>
                                  <p:childTnLst>
                                    <p:set>
                                      <p:cBhvr>
                                        <p:cTn id="16" dur="1" fill="hold">
                                          <p:stCondLst>
                                            <p:cond delay="0"/>
                                          </p:stCondLst>
                                        </p:cTn>
                                        <p:tgtEl>
                                          <p:spTgt spid="12"/>
                                        </p:tgtEl>
                                        <p:attrNameLst>
                                          <p:attrName>style.visibility</p:attrName>
                                        </p:attrNameLst>
                                      </p:cBhvr>
                                      <p:to>
                                        <p:strVal val="visible"/>
                                      </p:to>
                                    </p:set>
                                    <p:anim calcmode="lin" valueType="num">
                                      <p:cBhvr additive="base">
                                        <p:cTn id="17" dur="800" fill="hold"/>
                                        <p:tgtEl>
                                          <p:spTgt spid="12"/>
                                        </p:tgtEl>
                                        <p:attrNameLst>
                                          <p:attrName>ppt_x</p:attrName>
                                        </p:attrNameLst>
                                      </p:cBhvr>
                                      <p:tavLst>
                                        <p:tav tm="0">
                                          <p:val>
                                            <p:strVal val="#ppt_x"/>
                                          </p:val>
                                        </p:tav>
                                        <p:tav tm="100000">
                                          <p:val>
                                            <p:strVal val="#ppt_x"/>
                                          </p:val>
                                        </p:tav>
                                      </p:tavLst>
                                    </p:anim>
                                    <p:anim calcmode="lin" valueType="num">
                                      <p:cBhvr additive="base">
                                        <p:cTn id="18" dur="800" fill="hold"/>
                                        <p:tgtEl>
                                          <p:spTgt spid="12"/>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12500"/>
                                  </p:stCondLst>
                                  <p:childTnLst>
                                    <p:set>
                                      <p:cBhvr>
                                        <p:cTn id="20" dur="1" fill="hold">
                                          <p:stCondLst>
                                            <p:cond delay="0"/>
                                          </p:stCondLst>
                                        </p:cTn>
                                        <p:tgtEl>
                                          <p:spTgt spid="18"/>
                                        </p:tgtEl>
                                        <p:attrNameLst>
                                          <p:attrName>style.visibility</p:attrName>
                                        </p:attrNameLst>
                                      </p:cBhvr>
                                      <p:to>
                                        <p:strVal val="visible"/>
                                      </p:to>
                                    </p:set>
                                    <p:anim calcmode="lin" valueType="num">
                                      <p:cBhvr additive="base">
                                        <p:cTn id="21" dur="800" fill="hold"/>
                                        <p:tgtEl>
                                          <p:spTgt spid="18"/>
                                        </p:tgtEl>
                                        <p:attrNameLst>
                                          <p:attrName>ppt_x</p:attrName>
                                        </p:attrNameLst>
                                      </p:cBhvr>
                                      <p:tavLst>
                                        <p:tav tm="0">
                                          <p:val>
                                            <p:strVal val="#ppt_x"/>
                                          </p:val>
                                        </p:tav>
                                        <p:tav tm="100000">
                                          <p:val>
                                            <p:strVal val="#ppt_x"/>
                                          </p:val>
                                        </p:tav>
                                      </p:tavLst>
                                    </p:anim>
                                    <p:anim calcmode="lin" valueType="num">
                                      <p:cBhvr additive="base">
                                        <p:cTn id="22" dur="800" fill="hold"/>
                                        <p:tgtEl>
                                          <p:spTgt spid="18"/>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1900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600" fill="hold"/>
                                        <p:tgtEl>
                                          <p:spTgt spid="21"/>
                                        </p:tgtEl>
                                        <p:attrNameLst>
                                          <p:attrName>ppt_x</p:attrName>
                                        </p:attrNameLst>
                                      </p:cBhvr>
                                      <p:tavLst>
                                        <p:tav tm="0">
                                          <p:val>
                                            <p:strVal val="#ppt_x"/>
                                          </p:val>
                                        </p:tav>
                                        <p:tav tm="100000">
                                          <p:val>
                                            <p:strVal val="#ppt_x"/>
                                          </p:val>
                                        </p:tav>
                                      </p:tavLst>
                                    </p:anim>
                                    <p:anim calcmode="lin" valueType="num">
                                      <p:cBhvr additive="base">
                                        <p:cTn id="26"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Roadmap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Roadmap</a:t>
            </a:r>
          </a:p>
        </p:txBody>
      </p:sp>
      <p:sp>
        <p:nvSpPr>
          <p:cNvPr id="6" name="Track"/>
          <p:cNvSpPr/>
          <p:nvPr/>
        </p:nvSpPr>
        <p:spPr>
          <a:xfrm>
            <a:off x="1587500" y="1905000"/>
            <a:ext cx="38100" cy="3810000"/>
          </a:xfrm>
          <a:prstGeom prst="roundRect">
            <a:avLst>
              <a:gd name="adj" fmla="val 50000"/>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Progress"/>
          <p:cNvSpPr/>
          <p:nvPr/>
        </p:nvSpPr>
        <p:spPr>
          <a:xfrm>
            <a:off x="1587500" y="1905000"/>
            <a:ext cx="38100" cy="3810000"/>
          </a:xfrm>
          <a:prstGeom prst="roundRect">
            <a:avLst>
              <a:gd name="adj" fmla="val 5000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grpSp>
        <p:nvGrpSpPr>
          <p:cNvPr id="11" name="Agenda 1"/>
          <p:cNvGrpSpPr/>
          <p:nvPr/>
        </p:nvGrpSpPr>
        <p:grpSpPr>
          <a:xfrm>
            <a:off x="1358900" y="1714500"/>
            <a:ext cx="9740900" cy="495300"/>
            <a:chOff x="1358900" y="1714500"/>
            <a:chExt cx="9740900" cy="495300"/>
          </a:xfrm>
        </p:grpSpPr>
        <p:sp>
          <p:nvSpPr>
            <p:cNvPr id="8" name="Shape 6"/>
            <p:cNvSpPr/>
            <p:nvPr/>
          </p:nvSpPr>
          <p:spPr>
            <a:xfrm>
              <a:off x="1358900" y="1714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1</a:t>
              </a:r>
            </a:p>
          </p:txBody>
        </p:sp>
        <p:pic>
          <p:nvPicPr>
            <p:cNvPr id="9" name="Shape 7" descr="icon-doc-e6007e.png"/>
            <p:cNvPicPr>
              <a:picLocks noChangeAspect="1"/>
            </p:cNvPicPr>
            <p:nvPr/>
          </p:nvPicPr>
          <p:blipFill>
            <a:blip r:embed="rId4"/>
            <a:stretch>
              <a:fillRect/>
            </a:stretch>
          </p:blipFill>
          <p:spPr>
            <a:xfrm>
              <a:off x="2209800" y="1771650"/>
              <a:ext cx="381000" cy="381000"/>
            </a:xfrm>
            <a:prstGeom prst="rect">
              <a:avLst/>
            </a:prstGeom>
          </p:spPr>
        </p:pic>
        <p:sp>
          <p:nvSpPr>
            <p:cNvPr id="10" name="Shape 8"/>
            <p:cNvSpPr txBox="1"/>
            <p:nvPr/>
          </p:nvSpPr>
          <p:spPr>
            <a:xfrm>
              <a:off x="2844800" y="1739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History</a:t>
              </a:r>
            </a:p>
          </p:txBody>
        </p:sp>
      </p:grpSp>
      <p:grpSp>
        <p:nvGrpSpPr>
          <p:cNvPr id="15" name="Agenda 2"/>
          <p:cNvGrpSpPr/>
          <p:nvPr/>
        </p:nvGrpSpPr>
        <p:grpSpPr>
          <a:xfrm>
            <a:off x="1358900" y="2603500"/>
            <a:ext cx="9740900" cy="495300"/>
            <a:chOff x="1358900" y="2603500"/>
            <a:chExt cx="9740900" cy="495300"/>
          </a:xfrm>
        </p:grpSpPr>
        <p:sp>
          <p:nvSpPr>
            <p:cNvPr id="12" name="Shape 10"/>
            <p:cNvSpPr/>
            <p:nvPr/>
          </p:nvSpPr>
          <p:spPr>
            <a:xfrm>
              <a:off x="1358900" y="2603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2</a:t>
              </a:r>
            </a:p>
          </p:txBody>
        </p:sp>
        <p:pic>
          <p:nvPicPr>
            <p:cNvPr id="13" name="Shape 11" descr="oda-icon.png"/>
            <p:cNvPicPr>
              <a:picLocks noChangeAspect="1"/>
            </p:cNvPicPr>
            <p:nvPr/>
          </p:nvPicPr>
          <p:blipFill>
            <a:blip r:embed="rId5"/>
            <a:stretch>
              <a:fillRect/>
            </a:stretch>
          </p:blipFill>
          <p:spPr>
            <a:xfrm>
              <a:off x="2235200" y="2660650"/>
              <a:ext cx="330200" cy="376728"/>
            </a:xfrm>
            <a:prstGeom prst="rect">
              <a:avLst/>
            </a:prstGeom>
          </p:spPr>
        </p:pic>
        <p:sp>
          <p:nvSpPr>
            <p:cNvPr id="14" name="Shape 12"/>
            <p:cNvSpPr txBox="1"/>
            <p:nvPr/>
          </p:nvSpPr>
          <p:spPr>
            <a:xfrm>
              <a:off x="2844800" y="2628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Components and Canvas</a:t>
              </a:r>
            </a:p>
          </p:txBody>
        </p:sp>
      </p:grpSp>
      <p:grpSp>
        <p:nvGrpSpPr>
          <p:cNvPr id="19" name="Agenda 3"/>
          <p:cNvGrpSpPr/>
          <p:nvPr/>
        </p:nvGrpSpPr>
        <p:grpSpPr>
          <a:xfrm>
            <a:off x="1358900" y="3492500"/>
            <a:ext cx="9740900" cy="495300"/>
            <a:chOff x="1358900" y="3492500"/>
            <a:chExt cx="9740900" cy="495300"/>
          </a:xfrm>
        </p:grpSpPr>
        <p:sp>
          <p:nvSpPr>
            <p:cNvPr id="16" name="Shape 14"/>
            <p:cNvSpPr/>
            <p:nvPr/>
          </p:nvSpPr>
          <p:spPr>
            <a:xfrm>
              <a:off x="1358900" y="3492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3</a:t>
              </a:r>
            </a:p>
          </p:txBody>
        </p:sp>
        <p:pic>
          <p:nvPicPr>
            <p:cNvPr id="17" name="Shape 15" descr="icon-rocket-e6007e.png"/>
            <p:cNvPicPr>
              <a:picLocks noChangeAspect="1"/>
            </p:cNvPicPr>
            <p:nvPr/>
          </p:nvPicPr>
          <p:blipFill>
            <a:blip r:embed="rId6"/>
            <a:stretch>
              <a:fillRect/>
            </a:stretch>
          </p:blipFill>
          <p:spPr>
            <a:xfrm>
              <a:off x="2209800" y="3549650"/>
              <a:ext cx="381000" cy="381000"/>
            </a:xfrm>
            <a:prstGeom prst="rect">
              <a:avLst/>
            </a:prstGeom>
          </p:spPr>
        </p:pic>
        <p:sp>
          <p:nvSpPr>
            <p:cNvPr id="18" name="Shape 16"/>
            <p:cNvSpPr txBox="1"/>
            <p:nvPr/>
          </p:nvSpPr>
          <p:spPr>
            <a:xfrm>
              <a:off x="2844800" y="3517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Business benefits</a:t>
              </a:r>
            </a:p>
          </p:txBody>
        </p:sp>
      </p:grpSp>
      <p:grpSp>
        <p:nvGrpSpPr>
          <p:cNvPr id="23" name="Agenda 4"/>
          <p:cNvGrpSpPr/>
          <p:nvPr/>
        </p:nvGrpSpPr>
        <p:grpSpPr>
          <a:xfrm>
            <a:off x="1358900" y="4381500"/>
            <a:ext cx="9740900" cy="495300"/>
            <a:chOff x="1358900" y="4381500"/>
            <a:chExt cx="9740900" cy="495300"/>
          </a:xfrm>
        </p:grpSpPr>
        <p:sp>
          <p:nvSpPr>
            <p:cNvPr id="20" name="Shape 18"/>
            <p:cNvSpPr/>
            <p:nvPr/>
          </p:nvSpPr>
          <p:spPr>
            <a:xfrm>
              <a:off x="1358900" y="4381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4</a:t>
              </a:r>
            </a:p>
          </p:txBody>
        </p:sp>
        <p:pic>
          <p:nvPicPr>
            <p:cNvPr id="21" name="Shape 19" descr="icon-layers-e6007e.png"/>
            <p:cNvPicPr>
              <a:picLocks noChangeAspect="1"/>
            </p:cNvPicPr>
            <p:nvPr/>
          </p:nvPicPr>
          <p:blipFill>
            <a:blip r:embed="rId7"/>
            <a:stretch>
              <a:fillRect/>
            </a:stretch>
          </p:blipFill>
          <p:spPr>
            <a:xfrm>
              <a:off x="2209800" y="4438650"/>
              <a:ext cx="381000" cy="381000"/>
            </a:xfrm>
            <a:prstGeom prst="rect">
              <a:avLst/>
            </a:prstGeom>
          </p:spPr>
        </p:pic>
        <p:sp>
          <p:nvSpPr>
            <p:cNvPr id="22" name="Shape 20"/>
            <p:cNvSpPr txBox="1"/>
            <p:nvPr/>
          </p:nvSpPr>
          <p:spPr>
            <a:xfrm>
              <a:off x="2844800" y="4406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A tour of the Canvas and its Portal</a:t>
              </a:r>
            </a:p>
          </p:txBody>
        </p:sp>
      </p:grpSp>
      <p:grpSp>
        <p:nvGrpSpPr>
          <p:cNvPr id="27" name="Agenda 5"/>
          <p:cNvGrpSpPr/>
          <p:nvPr/>
        </p:nvGrpSpPr>
        <p:grpSpPr>
          <a:xfrm>
            <a:off x="1358900" y="5270500"/>
            <a:ext cx="9740900" cy="495300"/>
            <a:chOff x="1358900" y="5270500"/>
            <a:chExt cx="9740900" cy="495300"/>
          </a:xfrm>
        </p:grpSpPr>
        <p:sp>
          <p:nvSpPr>
            <p:cNvPr id="24" name="Shape 22"/>
            <p:cNvSpPr/>
            <p:nvPr/>
          </p:nvSpPr>
          <p:spPr>
            <a:xfrm>
              <a:off x="1358900" y="5270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5</a:t>
              </a:r>
            </a:p>
          </p:txBody>
        </p:sp>
        <p:pic>
          <p:nvPicPr>
            <p:cNvPr id="25" name="Shape 23" descr="icon-spark-e6007e.png"/>
            <p:cNvPicPr>
              <a:picLocks noChangeAspect="1"/>
            </p:cNvPicPr>
            <p:nvPr/>
          </p:nvPicPr>
          <p:blipFill>
            <a:blip r:embed="rId8"/>
            <a:stretch>
              <a:fillRect/>
            </a:stretch>
          </p:blipFill>
          <p:spPr>
            <a:xfrm>
              <a:off x="2209800" y="5327650"/>
              <a:ext cx="381000" cy="381000"/>
            </a:xfrm>
            <a:prstGeom prst="rect">
              <a:avLst/>
            </a:prstGeom>
          </p:spPr>
        </p:pic>
        <p:sp>
          <p:nvSpPr>
            <p:cNvPr id="26" name="Shape 24"/>
            <p:cNvSpPr txBox="1"/>
            <p:nvPr/>
          </p:nvSpPr>
          <p:spPr>
            <a:xfrm>
              <a:off x="2844800" y="5295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What's next</a:t>
              </a:r>
            </a:p>
          </p:txBody>
        </p:sp>
      </p:grpSp>
      <p:sp>
        <p:nvSpPr>
          <p:cNvPr id="28" name="Deep dives"/>
          <p:cNvSpPr/>
          <p:nvPr/>
        </p:nvSpPr>
        <p:spPr>
          <a:xfrm>
            <a:off x="6604000" y="5588000"/>
            <a:ext cx="452755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Deep dives on each area follow in later videos</a:t>
            </a:r>
          </a:p>
        </p:txBody>
      </p:sp>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2" presetClass="entr" presetSubtype="1" fill="hold" grpId="0" nodeType="withEffect">
                                  <p:stCondLst>
                                    <p:cond delay="800"/>
                                  </p:stCondLst>
                                  <p:childTnLst>
                                    <p:set>
                                      <p:cBhvr>
                                        <p:cTn id="13" dur="1" fill="hold">
                                          <p:stCondLst>
                                            <p:cond delay="0"/>
                                          </p:stCondLst>
                                        </p:cTn>
                                        <p:tgtEl>
                                          <p:spTgt spid="7"/>
                                        </p:tgtEl>
                                        <p:attrNameLst>
                                          <p:attrName>style.visibility</p:attrName>
                                        </p:attrNameLst>
                                      </p:cBhvr>
                                      <p:to>
                                        <p:strVal val="visible"/>
                                      </p:to>
                                    </p:set>
                                    <p:animEffect transition="in" filter="wipe(up)">
                                      <p:cBhvr>
                                        <p:cTn id="14" dur="15500"/>
                                        <p:tgtEl>
                                          <p:spTgt spid="7"/>
                                        </p:tgtEl>
                                      </p:cBhvr>
                                    </p:animEffect>
                                  </p:childTnLst>
                                </p:cTn>
                              </p:par>
                              <p:par>
                                <p:cTn id="15" presetID="2" presetClass="entr" presetSubtype="4" fill="hold" nodeType="withEffect">
                                  <p:stCondLst>
                                    <p:cond delay="120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600" fill="hold"/>
                                        <p:tgtEl>
                                          <p:spTgt spid="11"/>
                                        </p:tgtEl>
                                        <p:attrNameLst>
                                          <p:attrName>ppt_x</p:attrName>
                                        </p:attrNameLst>
                                      </p:cBhvr>
                                      <p:tavLst>
                                        <p:tav tm="0">
                                          <p:val>
                                            <p:strVal val="#ppt_x"/>
                                          </p:val>
                                        </p:tav>
                                        <p:tav tm="100000">
                                          <p:val>
                                            <p:strVal val="#ppt_x"/>
                                          </p:val>
                                        </p:tav>
                                      </p:tavLst>
                                    </p:anim>
                                    <p:anim calcmode="lin" valueType="num">
                                      <p:cBhvr additive="base">
                                        <p:cTn id="18" dur="600" fill="hold"/>
                                        <p:tgtEl>
                                          <p:spTgt spid="11"/>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4200"/>
                                  </p:stCondLst>
                                  <p:childTnLst>
                                    <p:set>
                                      <p:cBhvr>
                                        <p:cTn id="20" dur="1" fill="hold">
                                          <p:stCondLst>
                                            <p:cond delay="0"/>
                                          </p:stCondLst>
                                        </p:cTn>
                                        <p:tgtEl>
                                          <p:spTgt spid="15"/>
                                        </p:tgtEl>
                                        <p:attrNameLst>
                                          <p:attrName>style.visibility</p:attrName>
                                        </p:attrNameLst>
                                      </p:cBhvr>
                                      <p:to>
                                        <p:strVal val="visible"/>
                                      </p:to>
                                    </p:set>
                                    <p:anim calcmode="lin" valueType="num">
                                      <p:cBhvr additive="base">
                                        <p:cTn id="21" dur="600" fill="hold"/>
                                        <p:tgtEl>
                                          <p:spTgt spid="15"/>
                                        </p:tgtEl>
                                        <p:attrNameLst>
                                          <p:attrName>ppt_x</p:attrName>
                                        </p:attrNameLst>
                                      </p:cBhvr>
                                      <p:tavLst>
                                        <p:tav tm="0">
                                          <p:val>
                                            <p:strVal val="#ppt_x"/>
                                          </p:val>
                                        </p:tav>
                                        <p:tav tm="100000">
                                          <p:val>
                                            <p:strVal val="#ppt_x"/>
                                          </p:val>
                                        </p:tav>
                                      </p:tavLst>
                                    </p:anim>
                                    <p:anim calcmode="lin" valueType="num">
                                      <p:cBhvr additive="base">
                                        <p:cTn id="22" dur="600" fill="hold"/>
                                        <p:tgtEl>
                                          <p:spTgt spid="15"/>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8600"/>
                                  </p:stCondLst>
                                  <p:childTnLst>
                                    <p:set>
                                      <p:cBhvr>
                                        <p:cTn id="24" dur="1" fill="hold">
                                          <p:stCondLst>
                                            <p:cond delay="0"/>
                                          </p:stCondLst>
                                        </p:cTn>
                                        <p:tgtEl>
                                          <p:spTgt spid="19"/>
                                        </p:tgtEl>
                                        <p:attrNameLst>
                                          <p:attrName>style.visibility</p:attrName>
                                        </p:attrNameLst>
                                      </p:cBhvr>
                                      <p:to>
                                        <p:strVal val="visible"/>
                                      </p:to>
                                    </p:set>
                                    <p:anim calcmode="lin" valueType="num">
                                      <p:cBhvr additive="base">
                                        <p:cTn id="25" dur="600" fill="hold"/>
                                        <p:tgtEl>
                                          <p:spTgt spid="19"/>
                                        </p:tgtEl>
                                        <p:attrNameLst>
                                          <p:attrName>ppt_x</p:attrName>
                                        </p:attrNameLst>
                                      </p:cBhvr>
                                      <p:tavLst>
                                        <p:tav tm="0">
                                          <p:val>
                                            <p:strVal val="#ppt_x"/>
                                          </p:val>
                                        </p:tav>
                                        <p:tav tm="100000">
                                          <p:val>
                                            <p:strVal val="#ppt_x"/>
                                          </p:val>
                                        </p:tav>
                                      </p:tavLst>
                                    </p:anim>
                                    <p:anim calcmode="lin" valueType="num">
                                      <p:cBhvr additive="base">
                                        <p:cTn id="26" dur="600" fill="hold"/>
                                        <p:tgtEl>
                                          <p:spTgt spid="19"/>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11000"/>
                                  </p:stCondLst>
                                  <p:childTnLst>
                                    <p:set>
                                      <p:cBhvr>
                                        <p:cTn id="28" dur="1" fill="hold">
                                          <p:stCondLst>
                                            <p:cond delay="0"/>
                                          </p:stCondLst>
                                        </p:cTn>
                                        <p:tgtEl>
                                          <p:spTgt spid="23"/>
                                        </p:tgtEl>
                                        <p:attrNameLst>
                                          <p:attrName>style.visibility</p:attrName>
                                        </p:attrNameLst>
                                      </p:cBhvr>
                                      <p:to>
                                        <p:strVal val="visible"/>
                                      </p:to>
                                    </p:set>
                                    <p:anim calcmode="lin" valueType="num">
                                      <p:cBhvr additive="base">
                                        <p:cTn id="29" dur="600" fill="hold"/>
                                        <p:tgtEl>
                                          <p:spTgt spid="23"/>
                                        </p:tgtEl>
                                        <p:attrNameLst>
                                          <p:attrName>ppt_x</p:attrName>
                                        </p:attrNameLst>
                                      </p:cBhvr>
                                      <p:tavLst>
                                        <p:tav tm="0">
                                          <p:val>
                                            <p:strVal val="#ppt_x"/>
                                          </p:val>
                                        </p:tav>
                                        <p:tav tm="100000">
                                          <p:val>
                                            <p:strVal val="#ppt_x"/>
                                          </p:val>
                                        </p:tav>
                                      </p:tavLst>
                                    </p:anim>
                                    <p:anim calcmode="lin" valueType="num">
                                      <p:cBhvr additive="base">
                                        <p:cTn id="30" dur="600" fill="hold"/>
                                        <p:tgtEl>
                                          <p:spTgt spid="23"/>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15600"/>
                                  </p:stCondLst>
                                  <p:childTnLst>
                                    <p:set>
                                      <p:cBhvr>
                                        <p:cTn id="32" dur="1" fill="hold">
                                          <p:stCondLst>
                                            <p:cond delay="0"/>
                                          </p:stCondLst>
                                        </p:cTn>
                                        <p:tgtEl>
                                          <p:spTgt spid="27"/>
                                        </p:tgtEl>
                                        <p:attrNameLst>
                                          <p:attrName>style.visibility</p:attrName>
                                        </p:attrNameLst>
                                      </p:cBhvr>
                                      <p:to>
                                        <p:strVal val="visible"/>
                                      </p:to>
                                    </p:set>
                                    <p:anim calcmode="lin" valueType="num">
                                      <p:cBhvr additive="base">
                                        <p:cTn id="33" dur="600" fill="hold"/>
                                        <p:tgtEl>
                                          <p:spTgt spid="27"/>
                                        </p:tgtEl>
                                        <p:attrNameLst>
                                          <p:attrName>ppt_x</p:attrName>
                                        </p:attrNameLst>
                                      </p:cBhvr>
                                      <p:tavLst>
                                        <p:tav tm="0">
                                          <p:val>
                                            <p:strVal val="#ppt_x"/>
                                          </p:val>
                                        </p:tav>
                                        <p:tav tm="100000">
                                          <p:val>
                                            <p:strVal val="#ppt_x"/>
                                          </p:val>
                                        </p:tav>
                                      </p:tavLst>
                                    </p:anim>
                                    <p:anim calcmode="lin" valueType="num">
                                      <p:cBhvr additive="base">
                                        <p:cTn id="34" dur="600" fill="hold"/>
                                        <p:tgtEl>
                                          <p:spTgt spid="27"/>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19000"/>
                                  </p:stCondLst>
                                  <p:childTnLst>
                                    <p:set>
                                      <p:cBhvr>
                                        <p:cTn id="36" dur="1" fill="hold">
                                          <p:stCondLst>
                                            <p:cond delay="0"/>
                                          </p:stCondLst>
                                        </p:cTn>
                                        <p:tgtEl>
                                          <p:spTgt spid="28"/>
                                        </p:tgtEl>
                                        <p:attrNameLst>
                                          <p:attrName>style.visibility</p:attrName>
                                        </p:attrNameLst>
                                      </p:cBhvr>
                                      <p:to>
                                        <p:strVal val="visible"/>
                                      </p:to>
                                    </p:set>
                                    <p:anim calcmode="lin" valueType="num">
                                      <p:cBhvr additive="base">
                                        <p:cTn id="37" dur="600" fill="hold"/>
                                        <p:tgtEl>
                                          <p:spTgt spid="28"/>
                                        </p:tgtEl>
                                        <p:attrNameLst>
                                          <p:attrName>ppt_x</p:attrName>
                                        </p:attrNameLst>
                                      </p:cBhvr>
                                      <p:tavLst>
                                        <p:tav tm="0">
                                          <p:val>
                                            <p:strVal val="#ppt_x"/>
                                          </p:val>
                                        </p:tav>
                                        <p:tav tm="100000">
                                          <p:val>
                                            <p:strVal val="#ppt_x"/>
                                          </p:val>
                                        </p:tav>
                                      </p:tavLst>
                                    </p:anim>
                                    <p:anim calcmode="lin" valueType="num">
                                      <p:cBhvr additive="base">
                                        <p:cTn id="38"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00"/>
    </mc:Choice>
    <mc:Fallback>
      <p:transition spd="slow" advTm="2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500"/>
    </mc:Choice>
    <mc:Fallback>
      <p:transition spd="slow" advTm="3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300"/>
    </mc:Choice>
    <mc:Fallback>
      <p:transition spd="slow" advTm="2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benefits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Components and Canvas?</a:t>
            </a:r>
          </a:p>
        </p:txBody>
      </p:sp>
      <p:grpSp>
        <p:nvGrpSpPr>
          <p:cNvPr id="10" name="Stakeholders"/>
          <p:cNvGrpSpPr/>
          <p:nvPr/>
        </p:nvGrpSpPr>
        <p:grpSpPr>
          <a:xfrm>
            <a:off x="762000" y="1555750"/>
            <a:ext cx="7600950" cy="285750"/>
            <a:chOff x="762000" y="1555750"/>
            <a:chExt cx="7600950" cy="285750"/>
          </a:xfrm>
        </p:grpSpPr>
        <p:sp>
          <p:nvSpPr>
            <p:cNvPr id="6" name="Shape 4"/>
            <p:cNvSpPr/>
            <p:nvPr/>
          </p:nvSpPr>
          <p:spPr>
            <a:xfrm>
              <a:off x="762000" y="1555750"/>
              <a:ext cx="184785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Service providers</a:t>
              </a:r>
            </a:p>
          </p:txBody>
        </p:sp>
        <p:sp>
          <p:nvSpPr>
            <p:cNvPr id="7" name="Shape 5"/>
            <p:cNvSpPr/>
            <p:nvPr/>
          </p:nvSpPr>
          <p:spPr>
            <a:xfrm>
              <a:off x="2711450" y="1555750"/>
              <a:ext cx="17526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Software vendors</a:t>
              </a:r>
            </a:p>
          </p:txBody>
        </p:sp>
        <p:sp>
          <p:nvSpPr>
            <p:cNvPr id="8" name="Shape 6"/>
            <p:cNvSpPr/>
            <p:nvPr/>
          </p:nvSpPr>
          <p:spPr>
            <a:xfrm>
              <a:off x="4565650" y="1555750"/>
              <a:ext cx="20320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Systems integrators</a:t>
              </a:r>
            </a:p>
          </p:txBody>
        </p:sp>
        <p:sp>
          <p:nvSpPr>
            <p:cNvPr id="9" name="Shape 7"/>
            <p:cNvSpPr/>
            <p:nvPr/>
          </p:nvSpPr>
          <p:spPr>
            <a:xfrm>
              <a:off x="6699250" y="1555750"/>
              <a:ext cx="16637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Cloud providers</a:t>
              </a:r>
            </a:p>
          </p:txBody>
        </p:sp>
      </p:grpSp>
      <p:grpSp>
        <p:nvGrpSpPr>
          <p:cNvPr id="16" name="Pillar 1"/>
          <p:cNvGrpSpPr/>
          <p:nvPr/>
        </p:nvGrpSpPr>
        <p:grpSpPr>
          <a:xfrm>
            <a:off x="698500" y="2159000"/>
            <a:ext cx="1727200" cy="3810000"/>
            <a:chOff x="698500" y="2159000"/>
            <a:chExt cx="1727200" cy="3810000"/>
          </a:xfrm>
        </p:grpSpPr>
        <p:sp>
          <p:nvSpPr>
            <p:cNvPr id="11" name="Shape 9"/>
            <p:cNvSpPr/>
            <p:nvPr/>
          </p:nvSpPr>
          <p:spPr>
            <a:xfrm>
              <a:off x="698500" y="2159000"/>
              <a:ext cx="1727200" cy="3810000"/>
            </a:xfrm>
            <a:prstGeom prst="roundRect">
              <a:avLst>
                <a:gd name="adj" fmla="val 8088"/>
              </a:avLst>
            </a:prstGeom>
            <a:solidFill>
              <a:srgbClr val="E6007E">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698500" y="2159000"/>
              <a:ext cx="1727200" cy="50800"/>
            </a:xfrm>
            <a:prstGeom prst="rect">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3" name="Shape 11" descr="icon-smile-e6007e.png"/>
            <p:cNvPicPr>
              <a:picLocks noChangeAspect="1"/>
            </p:cNvPicPr>
            <p:nvPr/>
          </p:nvPicPr>
          <p:blipFill>
            <a:blip r:embed="rId4"/>
            <a:stretch>
              <a:fillRect/>
            </a:stretch>
          </p:blipFill>
          <p:spPr>
            <a:xfrm>
              <a:off x="838200" y="2374900"/>
              <a:ext cx="508000" cy="508000"/>
            </a:xfrm>
            <a:prstGeom prst="rect">
              <a:avLst/>
            </a:prstGeom>
          </p:spPr>
        </p:pic>
        <p:sp>
          <p:nvSpPr>
            <p:cNvPr id="14" name="Shape 12"/>
            <p:cNvSpPr txBox="1"/>
            <p:nvPr/>
          </p:nvSpPr>
          <p:spPr>
            <a:xfrm>
              <a:off x="838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Customer experience</a:t>
              </a:r>
            </a:p>
          </p:txBody>
        </p:sp>
        <p:sp>
          <p:nvSpPr>
            <p:cNvPr id="15" name="Shape 13"/>
            <p:cNvSpPr txBox="1"/>
            <p:nvPr/>
          </p:nvSpPr>
          <p:spPr>
            <a:xfrm>
              <a:off x="838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touch, zero wait, zero trouble</a:t>
              </a:r>
            </a:p>
          </p:txBody>
        </p:sp>
      </p:grpSp>
      <p:grpSp>
        <p:nvGrpSpPr>
          <p:cNvPr id="22" name="Pillar 2"/>
          <p:cNvGrpSpPr/>
          <p:nvPr/>
        </p:nvGrpSpPr>
        <p:grpSpPr>
          <a:xfrm>
            <a:off x="2508250" y="2159000"/>
            <a:ext cx="1727200" cy="3810000"/>
            <a:chOff x="2508250" y="2159000"/>
            <a:chExt cx="1727200" cy="3810000"/>
          </a:xfrm>
        </p:grpSpPr>
        <p:sp>
          <p:nvSpPr>
            <p:cNvPr id="17" name="Shape 15"/>
            <p:cNvSpPr/>
            <p:nvPr/>
          </p:nvSpPr>
          <p:spPr>
            <a:xfrm>
              <a:off x="2508250" y="2159000"/>
              <a:ext cx="1727200" cy="3810000"/>
            </a:xfrm>
            <a:prstGeom prst="roundRect">
              <a:avLst>
                <a:gd name="adj" fmla="val 8088"/>
              </a:avLst>
            </a:prstGeom>
            <a:solidFill>
              <a:srgbClr val="2F6FED">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2508250" y="2159000"/>
              <a:ext cx="1727200" cy="508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people-2f6fed.png"/>
            <p:cNvPicPr>
              <a:picLocks noChangeAspect="1"/>
            </p:cNvPicPr>
            <p:nvPr/>
          </p:nvPicPr>
          <p:blipFill>
            <a:blip r:embed="rId5"/>
            <a:stretch>
              <a:fillRect/>
            </a:stretch>
          </p:blipFill>
          <p:spPr>
            <a:xfrm>
              <a:off x="2647950" y="2374900"/>
              <a:ext cx="508000" cy="508000"/>
            </a:xfrm>
            <a:prstGeom prst="rect">
              <a:avLst/>
            </a:prstGeom>
          </p:spPr>
        </p:pic>
        <p:sp>
          <p:nvSpPr>
            <p:cNvPr id="20" name="Shape 18"/>
            <p:cNvSpPr txBox="1"/>
            <p:nvPr/>
          </p:nvSpPr>
          <p:spPr>
            <a:xfrm>
              <a:off x="2647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Simplicity</a:t>
              </a:r>
            </a:p>
          </p:txBody>
        </p:sp>
        <p:sp>
          <p:nvSpPr>
            <p:cNvPr id="21" name="Shape 19"/>
            <p:cNvSpPr txBox="1"/>
            <p:nvPr/>
          </p:nvSpPr>
          <p:spPr>
            <a:xfrm>
              <a:off x="2647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Hundreds of ops teams → one SRE team</a:t>
              </a:r>
            </a:p>
          </p:txBody>
        </p:sp>
      </p:grpSp>
      <p:grpSp>
        <p:nvGrpSpPr>
          <p:cNvPr id="28" name="Pillar 3"/>
          <p:cNvGrpSpPr/>
          <p:nvPr/>
        </p:nvGrpSpPr>
        <p:grpSpPr>
          <a:xfrm>
            <a:off x="4318000" y="2159000"/>
            <a:ext cx="1727200" cy="3810000"/>
            <a:chOff x="4318000" y="2159000"/>
            <a:chExt cx="1727200" cy="3810000"/>
          </a:xfrm>
        </p:grpSpPr>
        <p:sp>
          <p:nvSpPr>
            <p:cNvPr id="23" name="Shape 21"/>
            <p:cNvSpPr/>
            <p:nvPr/>
          </p:nvSpPr>
          <p:spPr>
            <a:xfrm>
              <a:off x="4318000" y="2159000"/>
              <a:ext cx="1727200" cy="3810000"/>
            </a:xfrm>
            <a:prstGeom prst="roundRect">
              <a:avLst>
                <a:gd name="adj" fmla="val 8088"/>
              </a:avLst>
            </a:prstGeom>
            <a:solidFill>
              <a:srgbClr val="F472B6">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Shape 22"/>
            <p:cNvSpPr/>
            <p:nvPr/>
          </p:nvSpPr>
          <p:spPr>
            <a:xfrm>
              <a:off x="4318000" y="2159000"/>
              <a:ext cx="1727200" cy="508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spark-f472b6.png"/>
            <p:cNvPicPr>
              <a:picLocks noChangeAspect="1"/>
            </p:cNvPicPr>
            <p:nvPr/>
          </p:nvPicPr>
          <p:blipFill>
            <a:blip r:embed="rId6"/>
            <a:stretch>
              <a:fillRect/>
            </a:stretch>
          </p:blipFill>
          <p:spPr>
            <a:xfrm>
              <a:off x="4457700" y="2374900"/>
              <a:ext cx="508000" cy="508000"/>
            </a:xfrm>
            <a:prstGeom prst="rect">
              <a:avLst/>
            </a:prstGeom>
          </p:spPr>
        </p:pic>
        <p:sp>
          <p:nvSpPr>
            <p:cNvPr id="26" name="Shape 24"/>
            <p:cNvSpPr txBox="1"/>
            <p:nvPr/>
          </p:nvSpPr>
          <p:spPr>
            <a:xfrm>
              <a:off x="44577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Innovation</a:t>
              </a:r>
            </a:p>
          </p:txBody>
        </p:sp>
        <p:sp>
          <p:nvSpPr>
            <p:cNvPr id="27" name="Shape 25"/>
            <p:cNvSpPr txBox="1"/>
            <p:nvPr/>
          </p:nvSpPr>
          <p:spPr>
            <a:xfrm>
              <a:off x="44577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Agility, faster AI-native adoption</a:t>
              </a:r>
            </a:p>
          </p:txBody>
        </p:sp>
      </p:grpSp>
      <p:grpSp>
        <p:nvGrpSpPr>
          <p:cNvPr id="34" name="Pillar 4"/>
          <p:cNvGrpSpPr/>
          <p:nvPr/>
        </p:nvGrpSpPr>
        <p:grpSpPr>
          <a:xfrm>
            <a:off x="6127750" y="2159000"/>
            <a:ext cx="1727200" cy="3810000"/>
            <a:chOff x="6127750" y="2159000"/>
            <a:chExt cx="1727200" cy="3810000"/>
          </a:xfrm>
        </p:grpSpPr>
        <p:sp>
          <p:nvSpPr>
            <p:cNvPr id="29" name="Shape 27"/>
            <p:cNvSpPr/>
            <p:nvPr/>
          </p:nvSpPr>
          <p:spPr>
            <a:xfrm>
              <a:off x="6127750" y="2159000"/>
              <a:ext cx="1727200" cy="3810000"/>
            </a:xfrm>
            <a:prstGeom prst="roundRect">
              <a:avLst>
                <a:gd name="adj" fmla="val 8088"/>
              </a:avLst>
            </a:prstGeom>
            <a:solidFill>
              <a:srgbClr val="1FC7A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6127750" y="2159000"/>
              <a:ext cx="1727200" cy="508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bolt-1fc7a8.png"/>
            <p:cNvPicPr>
              <a:picLocks noChangeAspect="1"/>
            </p:cNvPicPr>
            <p:nvPr/>
          </p:nvPicPr>
          <p:blipFill>
            <a:blip r:embed="rId7"/>
            <a:stretch>
              <a:fillRect/>
            </a:stretch>
          </p:blipFill>
          <p:spPr>
            <a:xfrm>
              <a:off x="6267450" y="2374900"/>
              <a:ext cx="508000" cy="508000"/>
            </a:xfrm>
            <a:prstGeom prst="rect">
              <a:avLst/>
            </a:prstGeom>
          </p:spPr>
        </p:pic>
        <p:sp>
          <p:nvSpPr>
            <p:cNvPr id="32" name="Shape 30"/>
            <p:cNvSpPr txBox="1"/>
            <p:nvPr/>
          </p:nvSpPr>
          <p:spPr>
            <a:xfrm>
              <a:off x="62674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Operational efficiency</a:t>
              </a:r>
            </a:p>
          </p:txBody>
        </p:sp>
        <p:sp>
          <p:nvSpPr>
            <p:cNvPr id="33" name="Shape 31"/>
            <p:cNvSpPr txBox="1"/>
            <p:nvPr/>
          </p:nvSpPr>
          <p:spPr>
            <a:xfrm>
              <a:off x="62674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Integration fully automated</a:t>
              </a:r>
            </a:p>
          </p:txBody>
        </p:sp>
      </p:grpSp>
      <p:grpSp>
        <p:nvGrpSpPr>
          <p:cNvPr id="40" name="Pillar 5"/>
          <p:cNvGrpSpPr/>
          <p:nvPr/>
        </p:nvGrpSpPr>
        <p:grpSpPr>
          <a:xfrm>
            <a:off x="7937500" y="2159000"/>
            <a:ext cx="1727200" cy="3810000"/>
            <a:chOff x="7937500" y="2159000"/>
            <a:chExt cx="1727200" cy="3810000"/>
          </a:xfrm>
        </p:grpSpPr>
        <p:sp>
          <p:nvSpPr>
            <p:cNvPr id="35" name="Shape 33"/>
            <p:cNvSpPr/>
            <p:nvPr/>
          </p:nvSpPr>
          <p:spPr>
            <a:xfrm>
              <a:off x="7937500" y="2159000"/>
              <a:ext cx="1727200" cy="3810000"/>
            </a:xfrm>
            <a:prstGeom prst="roundRect">
              <a:avLst>
                <a:gd name="adj" fmla="val 8088"/>
              </a:avLst>
            </a:prstGeom>
            <a:solidFill>
              <a:srgbClr val="FF6B6B">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Shape 34"/>
            <p:cNvSpPr/>
            <p:nvPr/>
          </p:nvSpPr>
          <p:spPr>
            <a:xfrm>
              <a:off x="7937500" y="2159000"/>
              <a:ext cx="1727200" cy="508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7" name="Shape 35" descr="icon-shield-ff6b6b.png"/>
            <p:cNvPicPr>
              <a:picLocks noChangeAspect="1"/>
            </p:cNvPicPr>
            <p:nvPr/>
          </p:nvPicPr>
          <p:blipFill>
            <a:blip r:embed="rId8"/>
            <a:stretch>
              <a:fillRect/>
            </a:stretch>
          </p:blipFill>
          <p:spPr>
            <a:xfrm>
              <a:off x="8077200" y="2374900"/>
              <a:ext cx="508000" cy="508000"/>
            </a:xfrm>
            <a:prstGeom prst="rect">
              <a:avLst/>
            </a:prstGeom>
          </p:spPr>
        </p:pic>
        <p:sp>
          <p:nvSpPr>
            <p:cNvPr id="38" name="Shape 36"/>
            <p:cNvSpPr txBox="1"/>
            <p:nvPr/>
          </p:nvSpPr>
          <p:spPr>
            <a:xfrm>
              <a:off x="8077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Security</a:t>
              </a:r>
            </a:p>
          </p:txBody>
        </p:sp>
        <p:sp>
          <p:nvSpPr>
            <p:cNvPr id="39" name="Shape 37"/>
            <p:cNvSpPr txBox="1"/>
            <p:nvPr/>
          </p:nvSpPr>
          <p:spPr>
            <a:xfrm>
              <a:off x="8077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trust, security as code</a:t>
              </a:r>
            </a:p>
          </p:txBody>
        </p:sp>
      </p:grpSp>
      <p:grpSp>
        <p:nvGrpSpPr>
          <p:cNvPr id="46" name="Pillar 6"/>
          <p:cNvGrpSpPr/>
          <p:nvPr/>
        </p:nvGrpSpPr>
        <p:grpSpPr>
          <a:xfrm>
            <a:off x="9747250" y="2159000"/>
            <a:ext cx="1727200" cy="3810000"/>
            <a:chOff x="9747250" y="2159000"/>
            <a:chExt cx="1727200" cy="3810000"/>
          </a:xfrm>
        </p:grpSpPr>
        <p:sp>
          <p:nvSpPr>
            <p:cNvPr id="41" name="Shape 39"/>
            <p:cNvSpPr/>
            <p:nvPr/>
          </p:nvSpPr>
          <p:spPr>
            <a:xfrm>
              <a:off x="9747250" y="2159000"/>
              <a:ext cx="1727200" cy="3810000"/>
            </a:xfrm>
            <a:prstGeom prst="roundRect">
              <a:avLst>
                <a:gd name="adj" fmla="val 8088"/>
              </a:avLst>
            </a:prstGeom>
            <a:solidFill>
              <a:srgbClr val="F5A62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9747250" y="2159000"/>
              <a:ext cx="1727200" cy="508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3" name="Shape 41" descr="icon-wrench-f5a623.png"/>
            <p:cNvPicPr>
              <a:picLocks noChangeAspect="1"/>
            </p:cNvPicPr>
            <p:nvPr/>
          </p:nvPicPr>
          <p:blipFill>
            <a:blip r:embed="rId9"/>
            <a:stretch>
              <a:fillRect/>
            </a:stretch>
          </p:blipFill>
          <p:spPr>
            <a:xfrm>
              <a:off x="9886950" y="2374900"/>
              <a:ext cx="508000" cy="508000"/>
            </a:xfrm>
            <a:prstGeom prst="rect">
              <a:avLst/>
            </a:prstGeom>
          </p:spPr>
        </p:pic>
        <p:sp>
          <p:nvSpPr>
            <p:cNvPr id="44" name="Shape 42"/>
            <p:cNvSpPr txBox="1"/>
            <p:nvPr/>
          </p:nvSpPr>
          <p:spPr>
            <a:xfrm>
              <a:off x="9886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Technical debt</a:t>
              </a:r>
            </a:p>
          </p:txBody>
        </p:sp>
        <p:sp>
          <p:nvSpPr>
            <p:cNvPr id="45" name="Shape 43"/>
            <p:cNvSpPr txBox="1"/>
            <p:nvPr/>
          </p:nvSpPr>
          <p:spPr>
            <a:xfrm>
              <a:off x="9886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Continuous upgrade of every component</a:t>
              </a:r>
            </a:p>
          </p:txBody>
        </p:sp>
      </p:grpSp>
    </p:spTree>
  </p:cSld>
  <p:clrMapOvr>
    <a:masterClrMapping/>
  </p:clrMapOvr>
  <mc:AlternateContent xmlns:mc="http://schemas.openxmlformats.org/markup-compatibility/2006">
    <mc:Choice xmlns:p14="http://schemas.microsoft.com/office/powerpoint/2010/main" Requires="p14">
      <p:transition spd="slow" p14:dur="2000" advTm="36300"/>
    </mc:Choice>
    <mc:Fallback>
      <p:transition spd="slow" advTm="3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0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600"/>
                                        <p:tgtEl>
                                          <p:spTgt spid="10"/>
                                        </p:tgtEl>
                                      </p:cBhvr>
                                    </p:animEffect>
                                  </p:childTnLst>
                                </p:cTn>
                              </p:par>
                              <p:par>
                                <p:cTn id="14" presetID="22" presetClass="entr" presetSubtype="4" fill="hold" nodeType="withEffect">
                                  <p:stCondLst>
                                    <p:cond delay="700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1000"/>
                                        <p:tgtEl>
                                          <p:spTgt spid="16"/>
                                        </p:tgtEl>
                                      </p:cBhvr>
                                    </p:animEffect>
                                  </p:childTnLst>
                                </p:cTn>
                              </p:par>
                              <p:par>
                                <p:cTn id="17" presetID="22" presetClass="entr" presetSubtype="4" fill="hold" nodeType="withEffect">
                                  <p:stCondLst>
                                    <p:cond delay="112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1000"/>
                                        <p:tgtEl>
                                          <p:spTgt spid="22"/>
                                        </p:tgtEl>
                                      </p:cBhvr>
                                    </p:animEffect>
                                  </p:childTnLst>
                                </p:cTn>
                              </p:par>
                              <p:par>
                                <p:cTn id="20" presetID="22" presetClass="entr" presetSubtype="4" fill="hold" nodeType="withEffect">
                                  <p:stCondLst>
                                    <p:cond delay="18600"/>
                                  </p:stCondLst>
                                  <p:childTnLst>
                                    <p:set>
                                      <p:cBhvr>
                                        <p:cTn id="21" dur="1" fill="hold">
                                          <p:stCondLst>
                                            <p:cond delay="0"/>
                                          </p:stCondLst>
                                        </p:cTn>
                                        <p:tgtEl>
                                          <p:spTgt spid="28"/>
                                        </p:tgtEl>
                                        <p:attrNameLst>
                                          <p:attrName>style.visibility</p:attrName>
                                        </p:attrNameLst>
                                      </p:cBhvr>
                                      <p:to>
                                        <p:strVal val="visible"/>
                                      </p:to>
                                    </p:set>
                                    <p:animEffect transition="in" filter="wipe(down)">
                                      <p:cBhvr>
                                        <p:cTn id="22" dur="1000"/>
                                        <p:tgtEl>
                                          <p:spTgt spid="28"/>
                                        </p:tgtEl>
                                      </p:cBhvr>
                                    </p:animEffect>
                                  </p:childTnLst>
                                </p:cTn>
                              </p:par>
                              <p:par>
                                <p:cTn id="23" presetID="22" presetClass="entr" presetSubtype="4" fill="hold" nodeType="withEffect">
                                  <p:stCondLst>
                                    <p:cond delay="22600"/>
                                  </p:stCondLst>
                                  <p:childTnLst>
                                    <p:set>
                                      <p:cBhvr>
                                        <p:cTn id="24" dur="1" fill="hold">
                                          <p:stCondLst>
                                            <p:cond delay="0"/>
                                          </p:stCondLst>
                                        </p:cTn>
                                        <p:tgtEl>
                                          <p:spTgt spid="34"/>
                                        </p:tgtEl>
                                        <p:attrNameLst>
                                          <p:attrName>style.visibility</p:attrName>
                                        </p:attrNameLst>
                                      </p:cBhvr>
                                      <p:to>
                                        <p:strVal val="visible"/>
                                      </p:to>
                                    </p:set>
                                    <p:animEffect transition="in" filter="wipe(down)">
                                      <p:cBhvr>
                                        <p:cTn id="25" dur="1000"/>
                                        <p:tgtEl>
                                          <p:spTgt spid="34"/>
                                        </p:tgtEl>
                                      </p:cBhvr>
                                    </p:animEffect>
                                  </p:childTnLst>
                                </p:cTn>
                              </p:par>
                              <p:par>
                                <p:cTn id="26" presetID="22" presetClass="entr" presetSubtype="4" fill="hold" nodeType="withEffect">
                                  <p:stCondLst>
                                    <p:cond delay="25400"/>
                                  </p:stCondLst>
                                  <p:childTnLst>
                                    <p:set>
                                      <p:cBhvr>
                                        <p:cTn id="27" dur="1" fill="hold">
                                          <p:stCondLst>
                                            <p:cond delay="0"/>
                                          </p:stCondLst>
                                        </p:cTn>
                                        <p:tgtEl>
                                          <p:spTgt spid="40"/>
                                        </p:tgtEl>
                                        <p:attrNameLst>
                                          <p:attrName>style.visibility</p:attrName>
                                        </p:attrNameLst>
                                      </p:cBhvr>
                                      <p:to>
                                        <p:strVal val="visible"/>
                                      </p:to>
                                    </p:set>
                                    <p:animEffect transition="in" filter="wipe(down)">
                                      <p:cBhvr>
                                        <p:cTn id="28" dur="1000"/>
                                        <p:tgtEl>
                                          <p:spTgt spid="40"/>
                                        </p:tgtEl>
                                      </p:cBhvr>
                                    </p:animEffect>
                                  </p:childTnLst>
                                </p:cTn>
                              </p:par>
                              <p:par>
                                <p:cTn id="29" presetID="22" presetClass="entr" presetSubtype="4" fill="hold" nodeType="withEffect">
                                  <p:stCondLst>
                                    <p:cond delay="29600"/>
                                  </p:stCondLst>
                                  <p:childTnLst>
                                    <p:set>
                                      <p:cBhvr>
                                        <p:cTn id="30" dur="1" fill="hold">
                                          <p:stCondLst>
                                            <p:cond delay="0"/>
                                          </p:stCondLst>
                                        </p:cTn>
                                        <p:tgtEl>
                                          <p:spTgt spid="46"/>
                                        </p:tgtEl>
                                        <p:attrNameLst>
                                          <p:attrName>style.visibility</p:attrName>
                                        </p:attrNameLst>
                                      </p:cBhvr>
                                      <p:to>
                                        <p:strVal val="visible"/>
                                      </p:to>
                                    </p:set>
                                    <p:animEffect transition="in" filter="wipe(down)">
                                      <p:cBhvr>
                                        <p:cTn id="31" dur="1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 order-of-magnitude goal</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Not incremental — an order of magnitude</a:t>
            </a:r>
          </a:p>
        </p:txBody>
      </p:sp>
      <p:sp>
        <p:nvSpPr>
          <p:cNvPr id="6" name="Baseline"/>
          <p:cNvSpPr/>
          <p:nvPr/>
        </p:nvSpPr>
        <p:spPr>
          <a:xfrm>
            <a:off x="1651000" y="5969000"/>
            <a:ext cx="8890000" cy="25400"/>
          </a:xfrm>
          <a:prstGeom prst="rect">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mall bar"/>
          <p:cNvSpPr/>
          <p:nvPr/>
        </p:nvSpPr>
        <p:spPr>
          <a:xfrm>
            <a:off x="2921000" y="5340350"/>
            <a:ext cx="1905000" cy="628650"/>
          </a:xfrm>
          <a:prstGeom prst="roundRect">
            <a:avLst>
              <a:gd name="adj" fmla="val 12121"/>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mall label"/>
          <p:cNvSpPr txBox="1"/>
          <p:nvPr/>
        </p:nvSpPr>
        <p:spPr>
          <a:xfrm>
            <a:off x="2921000" y="4826000"/>
            <a:ext cx="1905000" cy="444500"/>
          </a:xfrm>
          <a:prstGeom prst="rect">
            <a:avLst/>
          </a:prstGeom>
          <a:noFill/>
        </p:spPr>
        <p:txBody>
          <a:bodyPr wrap="square" lIns="0" tIns="0" rIns="0" bIns="0" anchor="t">
            <a:spAutoFit/>
          </a:bodyPr>
          <a:lstStyle/>
          <a:p>
            <a:pPr algn="ctr">
              <a:lnSpc>
                <a:spcPct val="115000"/>
              </a:lnSpc>
            </a:pPr>
            <a:r>
              <a:rPr sz="2700" b="1">
                <a:solidFill>
                  <a:srgbClr val="8F9BB8"/>
                </a:solidFill>
                <a:latin typeface="Segoe UI"/>
              </a:rPr>
              <a:t>+30%</a:t>
            </a:r>
          </a:p>
        </p:txBody>
      </p:sp>
      <p:sp>
        <p:nvSpPr>
          <p:cNvPr id="9" name="Big bar"/>
          <p:cNvSpPr/>
          <p:nvPr/>
        </p:nvSpPr>
        <p:spPr>
          <a:xfrm>
            <a:off x="6731000" y="2203450"/>
            <a:ext cx="2413000" cy="3765550"/>
          </a:xfrm>
          <a:prstGeom prst="roundRect">
            <a:avLst>
              <a:gd name="adj" fmla="val 421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Big label"/>
          <p:cNvSpPr txBox="1"/>
          <p:nvPr/>
        </p:nvSpPr>
        <p:spPr>
          <a:xfrm>
            <a:off x="6731000" y="2413000"/>
            <a:ext cx="2413000" cy="1079500"/>
          </a:xfrm>
          <a:prstGeom prst="rect">
            <a:avLst/>
          </a:prstGeom>
          <a:noFill/>
        </p:spPr>
        <p:txBody>
          <a:bodyPr wrap="square" lIns="0" tIns="0" rIns="0" bIns="0" anchor="t">
            <a:spAutoFit/>
          </a:bodyPr>
          <a:lstStyle/>
          <a:p>
            <a:pPr algn="ctr">
              <a:lnSpc>
                <a:spcPct val="115000"/>
              </a:lnSpc>
            </a:pPr>
            <a:r>
              <a:rPr sz="7500" b="1">
                <a:solidFill>
                  <a:srgbClr val="F2F5FB"/>
                </a:solidFill>
                <a:latin typeface="Segoe UI"/>
              </a:rPr>
              <a:t>10×</a:t>
            </a:r>
          </a:p>
        </p:txBody>
      </p:sp>
      <p:sp>
        <p:nvSpPr>
          <p:cNvPr id="11" name="What"/>
          <p:cNvSpPr txBox="1"/>
          <p:nvPr/>
        </p:nvSpPr>
        <p:spPr>
          <a:xfrm>
            <a:off x="9398000" y="2667000"/>
            <a:ext cx="2413000" cy="698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efficiency</a:t>
            </a:r>
          </a:p>
          <a:p>
            <a:pPr algn="l">
              <a:lnSpc>
                <a:spcPct val="115000"/>
              </a:lnSpc>
            </a:pPr>
            <a:r>
              <a:rPr sz="1700" b="1">
                <a:solidFill>
                  <a:srgbClr val="F2F5FB"/>
                </a:solidFill>
                <a:latin typeface="Segoe UI"/>
              </a:rPr>
              <a:t>&amp; agility</a:t>
            </a:r>
          </a:p>
        </p:txBody>
      </p:sp>
      <p:sp>
        <p:nvSpPr>
          <p:cNvPr id="12" name="Telco"/>
          <p:cNvSpPr txBox="1"/>
          <p:nvPr/>
        </p:nvSpPr>
        <p:spPr>
          <a:xfrm>
            <a:off x="0" y="6096000"/>
            <a:ext cx="12192000" cy="381000"/>
          </a:xfrm>
          <a:prstGeom prst="rect">
            <a:avLst/>
          </a:prstGeom>
          <a:noFill/>
        </p:spPr>
        <p:txBody>
          <a:bodyPr wrap="square" lIns="0" tIns="0" rIns="0" bIns="0" anchor="t">
            <a:spAutoFit/>
          </a:bodyPr>
          <a:lstStyle/>
          <a:p>
            <a:pPr algn="ctr">
              <a:lnSpc>
                <a:spcPct val="115000"/>
              </a:lnSpc>
            </a:pPr>
            <a:r>
              <a:rPr sz="2000" b="1">
                <a:solidFill>
                  <a:srgbClr val="F472B6"/>
                </a:solidFill>
                <a:latin typeface="Segoe UI"/>
              </a:rPr>
              <a:t>… and a faster transformation to an AI-native telco</a:t>
            </a:r>
          </a:p>
        </p:txBody>
      </p:sp>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2" presetClass="entr" presetSubtype="4" fill="hold" grpId="0" nodeType="withEffect">
                                  <p:stCondLst>
                                    <p:cond delay="800"/>
                                  </p:stCondLst>
                                  <p:childTnLst>
                                    <p:set>
                                      <p:cBhvr>
                                        <p:cTn id="13" dur="1" fill="hold">
                                          <p:stCondLst>
                                            <p:cond delay="0"/>
                                          </p:stCondLst>
                                        </p:cTn>
                                        <p:tgtEl>
                                          <p:spTgt spid="7"/>
                                        </p:tgtEl>
                                        <p:attrNameLst>
                                          <p:attrName>style.visibility</p:attrName>
                                        </p:attrNameLst>
                                      </p:cBhvr>
                                      <p:to>
                                        <p:strVal val="visible"/>
                                      </p:to>
                                    </p:set>
                                    <p:animEffect transition="in" filter="wipe(down)">
                                      <p:cBhvr>
                                        <p:cTn id="14" dur="1400"/>
                                        <p:tgtEl>
                                          <p:spTgt spid="7"/>
                                        </p:tgtEl>
                                      </p:cBhvr>
                                    </p:animEffect>
                                  </p:childTnLst>
                                </p:cTn>
                              </p:par>
                              <p:par>
                                <p:cTn id="15" presetID="10" presetClass="entr" presetSubtype="0" fill="hold" grpId="0" nodeType="withEffect">
                                  <p:stCondLst>
                                    <p:cond delay="160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600"/>
                                        <p:tgtEl>
                                          <p:spTgt spid="8"/>
                                        </p:tgtEl>
                                      </p:cBhvr>
                                    </p:animEffect>
                                  </p:childTnLst>
                                </p:cTn>
                              </p:par>
                              <p:par>
                                <p:cTn id="18" presetID="22" presetClass="entr" presetSubtype="4" fill="hold" grpId="0" nodeType="withEffect">
                                  <p:stCondLst>
                                    <p:cond delay="3800"/>
                                  </p:stCondLst>
                                  <p:childTnLst>
                                    <p:set>
                                      <p:cBhvr>
                                        <p:cTn id="19" dur="1" fill="hold">
                                          <p:stCondLst>
                                            <p:cond delay="0"/>
                                          </p:stCondLst>
                                        </p:cTn>
                                        <p:tgtEl>
                                          <p:spTgt spid="9"/>
                                        </p:tgtEl>
                                        <p:attrNameLst>
                                          <p:attrName>style.visibility</p:attrName>
                                        </p:attrNameLst>
                                      </p:cBhvr>
                                      <p:to>
                                        <p:strVal val="visible"/>
                                      </p:to>
                                    </p:set>
                                    <p:animEffect transition="in" filter="wipe(down)">
                                      <p:cBhvr>
                                        <p:cTn id="20" dur="2600"/>
                                        <p:tgtEl>
                                          <p:spTgt spid="9"/>
                                        </p:tgtEl>
                                      </p:cBhvr>
                                    </p:animEffect>
                                  </p:childTnLst>
                                </p:cTn>
                              </p:par>
                              <p:par>
                                <p:cTn id="21" presetID="58" presetClass="entr" presetSubtype="0" accel="100000" fill="hold" grpId="0" nodeType="withEffect">
                                  <p:stCondLst>
                                    <p:cond delay="5600"/>
                                  </p:stCondLst>
                                  <p:childTnLst>
                                    <p:set>
                                      <p:cBhvr>
                                        <p:cTn id="22" dur="1" fill="hold">
                                          <p:stCondLst>
                                            <p:cond delay="0"/>
                                          </p:stCondLst>
                                        </p:cTn>
                                        <p:tgtEl>
                                          <p:spTgt spid="10"/>
                                        </p:tgtEl>
                                        <p:attrNameLst>
                                          <p:attrName>style.visibility</p:attrName>
                                        </p:attrNameLst>
                                      </p:cBhvr>
                                      <p:to>
                                        <p:strVal val="visible"/>
                                      </p:to>
                                    </p:set>
                                    <p:anim calcmode="lin" valueType="num">
                                      <p:cBhvr>
                                        <p:cTn id="23" dur="600" fill="hold"/>
                                        <p:tgtEl>
                                          <p:spTgt spid="10"/>
                                        </p:tgtEl>
                                        <p:attrNameLst>
                                          <p:attrName>ppt_w</p:attrName>
                                        </p:attrNameLst>
                                      </p:cBhvr>
                                      <p:tavLst>
                                        <p:tav tm="0">
                                          <p:val>
                                            <p:strVal val="#ppt_w*2.5"/>
                                          </p:val>
                                        </p:tav>
                                        <p:tav tm="100000">
                                          <p:val>
                                            <p:strVal val="#ppt_w"/>
                                          </p:val>
                                        </p:tav>
                                      </p:tavLst>
                                    </p:anim>
                                    <p:anim calcmode="lin" valueType="num">
                                      <p:cBhvr>
                                        <p:cTn id="24" dur="600" fill="hold"/>
                                        <p:tgtEl>
                                          <p:spTgt spid="10"/>
                                        </p:tgtEl>
                                        <p:attrNameLst>
                                          <p:attrName>ppt_h</p:attrName>
                                        </p:attrNameLst>
                                      </p:cBhvr>
                                      <p:tavLst>
                                        <p:tav tm="0">
                                          <p:val>
                                            <p:strVal val="#ppt_h*0.01"/>
                                          </p:val>
                                        </p:tav>
                                        <p:tav tm="100000">
                                          <p:val>
                                            <p:strVal val="#ppt_h"/>
                                          </p:val>
                                        </p:tav>
                                      </p:tavLst>
                                    </p:anim>
                                    <p:anim calcmode="lin" valueType="num">
                                      <p:cBhvr>
                                        <p:cTn id="25" dur="600" fill="hold"/>
                                        <p:tgtEl>
                                          <p:spTgt spid="10"/>
                                        </p:tgtEl>
                                        <p:attrNameLst>
                                          <p:attrName>ppt_x</p:attrName>
                                        </p:attrNameLst>
                                      </p:cBhvr>
                                      <p:tavLst>
                                        <p:tav tm="0">
                                          <p:val>
                                            <p:strVal val="#ppt_x"/>
                                          </p:val>
                                        </p:tav>
                                        <p:tav tm="100000">
                                          <p:val>
                                            <p:strVal val="#ppt_x"/>
                                          </p:val>
                                        </p:tav>
                                      </p:tavLst>
                                    </p:anim>
                                    <p:anim calcmode="lin" valueType="num">
                                      <p:cBhvr>
                                        <p:cTn id="26" dur="600" fill="hold"/>
                                        <p:tgtEl>
                                          <p:spTgt spid="10"/>
                                        </p:tgtEl>
                                        <p:attrNameLst>
                                          <p:attrName>ppt_y</p:attrName>
                                        </p:attrNameLst>
                                      </p:cBhvr>
                                      <p:tavLst>
                                        <p:tav tm="0">
                                          <p:val>
                                            <p:strVal val="#ppt_h+1"/>
                                          </p:val>
                                        </p:tav>
                                        <p:tav tm="100000">
                                          <p:val>
                                            <p:strVal val="#ppt_y"/>
                                          </p:val>
                                        </p:tav>
                                      </p:tavLst>
                                    </p:anim>
                                    <p:animEffect transition="in" filter="fade">
                                      <p:cBhvr>
                                        <p:cTn id="27" dur="600"/>
                                        <p:tgtEl>
                                          <p:spTgt spid="10"/>
                                        </p:tgtEl>
                                      </p:cBhvr>
                                    </p:animEffect>
                                  </p:childTnLst>
                                </p:cTn>
                              </p:par>
                              <p:par>
                                <p:cTn id="28" presetID="10" presetClass="entr" presetSubtype="0" fill="hold" grpId="0" nodeType="withEffect">
                                  <p:stCondLst>
                                    <p:cond delay="60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2" presetClass="entr" presetSubtype="4" fill="hold" grpId="0" nodeType="withEffect">
                                  <p:stCondLst>
                                    <p:cond delay="8600"/>
                                  </p:stCondLst>
                                  <p:childTnLst>
                                    <p:set>
                                      <p:cBhvr>
                                        <p:cTn id="32" dur="1" fill="hold">
                                          <p:stCondLst>
                                            <p:cond delay="0"/>
                                          </p:stCondLst>
                                        </p:cTn>
                                        <p:tgtEl>
                                          <p:spTgt spid="12"/>
                                        </p:tgtEl>
                                        <p:attrNameLst>
                                          <p:attrName>style.visibility</p:attrName>
                                        </p:attrNameLst>
                                      </p:cBhvr>
                                      <p:to>
                                        <p:strVal val="visible"/>
                                      </p:to>
                                    </p:set>
                                    <p:anim calcmode="lin" valueType="num">
                                      <p:cBhvr additive="base">
                                        <p:cTn id="33" dur="600" fill="hold"/>
                                        <p:tgtEl>
                                          <p:spTgt spid="12"/>
                                        </p:tgtEl>
                                        <p:attrNameLst>
                                          <p:attrName>ppt_x</p:attrName>
                                        </p:attrNameLst>
                                      </p:cBhvr>
                                      <p:tavLst>
                                        <p:tav tm="0">
                                          <p:val>
                                            <p:strVal val="#ppt_x"/>
                                          </p:val>
                                        </p:tav>
                                        <p:tav tm="100000">
                                          <p:val>
                                            <p:strVal val="#ppt_x"/>
                                          </p:val>
                                        </p:tav>
                                      </p:tavLst>
                                    </p:anim>
                                    <p:anim calcmode="lin" valueType="num">
                                      <p:cBhvr additive="base">
                                        <p:cTn id="34" dur="6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p:bldP spid="9" grpId="0" animBg="1"/>
      <p:bldP spid="10" grpId="0"/>
      <p:bldP spid="11" grpId="0"/>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component standard in two layers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5A623"/>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component standard: two layers</a:t>
            </a:r>
          </a:p>
        </p:txBody>
      </p:sp>
      <p:grpSp>
        <p:nvGrpSpPr>
          <p:cNvPr id="8" name="Layer 1"/>
          <p:cNvGrpSpPr/>
          <p:nvPr/>
        </p:nvGrpSpPr>
        <p:grpSpPr>
          <a:xfrm>
            <a:off x="1016000" y="4635500"/>
            <a:ext cx="10160000" cy="1333500"/>
            <a:chOff x="1016000" y="4635500"/>
            <a:chExt cx="10160000" cy="1333500"/>
          </a:xfrm>
        </p:grpSpPr>
        <p:sp>
          <p:nvSpPr>
            <p:cNvPr id="6" name="Shape 4"/>
            <p:cNvSpPr/>
            <p:nvPr/>
          </p:nvSpPr>
          <p:spPr>
            <a:xfrm>
              <a:off x="1016000" y="4635500"/>
              <a:ext cx="10160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1270000" y="4800600"/>
              <a:ext cx="9525000" cy="254000"/>
            </a:xfrm>
            <a:prstGeom prst="rect">
              <a:avLst/>
            </a:prstGeom>
            <a:noFill/>
          </p:spPr>
          <p:txBody>
            <a:bodyPr wrap="square" lIns="0" tIns="0" rIns="0" bIns="0" anchor="t">
              <a:spAutoFit/>
            </a:bodyPr>
            <a:lstStyle/>
            <a:p>
              <a:pPr algn="l">
                <a:lnSpc>
                  <a:spcPct val="115000"/>
                </a:lnSpc>
              </a:pPr>
              <a:r>
                <a:rPr sz="1500" b="1" spc="150">
                  <a:solidFill>
                    <a:srgbClr val="1FC7A8"/>
                  </a:solidFill>
                  <a:latin typeface="Segoe UI"/>
                </a:rPr>
                <a:t>LAYER 1 · DESIGN PATTERNS</a:t>
              </a:r>
            </a:p>
          </p:txBody>
        </p:sp>
      </p:grpSp>
      <p:sp>
        <p:nvSpPr>
          <p:cNvPr id="9" name="Pattern 1"/>
          <p:cNvSpPr/>
          <p:nvPr/>
        </p:nvSpPr>
        <p:spPr>
          <a:xfrm>
            <a:off x="1270000" y="5156200"/>
            <a:ext cx="4032250" cy="3556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Self-describing, modular software</a:t>
            </a:r>
          </a:p>
        </p:txBody>
      </p:sp>
      <p:sp>
        <p:nvSpPr>
          <p:cNvPr id="10" name="Pattern 2"/>
          <p:cNvSpPr/>
          <p:nvPr/>
        </p:nvSpPr>
        <p:spPr>
          <a:xfrm>
            <a:off x="5441950" y="5156200"/>
            <a:ext cx="2095500" cy="35560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Security as code</a:t>
            </a:r>
          </a:p>
        </p:txBody>
      </p:sp>
      <p:sp>
        <p:nvSpPr>
          <p:cNvPr id="11" name="Pattern 3"/>
          <p:cNvSpPr/>
          <p:nvPr/>
        </p:nvSpPr>
        <p:spPr>
          <a:xfrm>
            <a:off x="7677150" y="5156200"/>
            <a:ext cx="2324100" cy="355600"/>
          </a:xfrm>
          <a:prstGeom prst="roundRect">
            <a:avLst>
              <a:gd name="adj" fmla="val 50000"/>
            </a:avLst>
          </a:prstGeom>
          <a:solidFill>
            <a:srgbClr val="38BDF8">
              <a:alpha val="15000"/>
            </a:srgbClr>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Management as code</a:t>
            </a:r>
          </a:p>
        </p:txBody>
      </p:sp>
      <p:sp>
        <p:nvSpPr>
          <p:cNvPr id="12" name="Layer 2"/>
          <p:cNvSpPr txBox="1"/>
          <p:nvPr/>
        </p:nvSpPr>
        <p:spPr>
          <a:xfrm>
            <a:off x="1016000" y="1841500"/>
            <a:ext cx="10160000" cy="254000"/>
          </a:xfrm>
          <a:prstGeom prst="rect">
            <a:avLst/>
          </a:prstGeom>
          <a:noFill/>
        </p:spPr>
        <p:txBody>
          <a:bodyPr wrap="square" lIns="0" tIns="0" rIns="0" bIns="0" anchor="t">
            <a:spAutoFit/>
          </a:bodyPr>
          <a:lstStyle/>
          <a:p>
            <a:pPr algn="l">
              <a:lnSpc>
                <a:spcPct val="115000"/>
              </a:lnSpc>
            </a:pPr>
            <a:r>
              <a:rPr sz="1500" b="1" spc="150">
                <a:solidFill>
                  <a:srgbClr val="F5A623"/>
                </a:solidFill>
                <a:latin typeface="Segoe UI"/>
              </a:rPr>
              <a:t>LAYER 2 · STANDARD “GOLDEN” COMPONENTS</a:t>
            </a:r>
          </a:p>
        </p:txBody>
      </p:sp>
      <p:grpSp>
        <p:nvGrpSpPr>
          <p:cNvPr id="16" name="Golden 1"/>
          <p:cNvGrpSpPr/>
          <p:nvPr/>
        </p:nvGrpSpPr>
        <p:grpSpPr>
          <a:xfrm>
            <a:off x="1047750" y="2286000"/>
            <a:ext cx="1968500" cy="1911350"/>
            <a:chOff x="1047750" y="2286000"/>
            <a:chExt cx="1968500" cy="1911350"/>
          </a:xfrm>
        </p:grpSpPr>
        <p:pic>
          <p:nvPicPr>
            <p:cNvPr id="13" name="Shape 11" descr="oda.png"/>
            <p:cNvPicPr>
              <a:picLocks noChangeAspect="1"/>
            </p:cNvPicPr>
            <p:nvPr/>
          </p:nvPicPr>
          <p:blipFill>
            <a:blip r:embed="rId4"/>
            <a:stretch>
              <a:fillRect/>
            </a:stretch>
          </p:blipFill>
          <p:spPr>
            <a:xfrm>
              <a:off x="1301750" y="2286000"/>
              <a:ext cx="1460500" cy="1379361"/>
            </a:xfrm>
            <a:prstGeom prst="rect">
              <a:avLst/>
            </a:prstGeom>
          </p:spPr>
        </p:pic>
        <p:sp>
          <p:nvSpPr>
            <p:cNvPr id="14" name="Shape 12"/>
            <p:cNvSpPr txBox="1"/>
            <p:nvPr/>
          </p:nvSpPr>
          <p:spPr>
            <a:xfrm>
              <a:off x="10477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Catalog</a:t>
              </a:r>
            </a:p>
          </p:txBody>
        </p:sp>
        <p:sp>
          <p:nvSpPr>
            <p:cNvPr id="15" name="Shape 13"/>
            <p:cNvSpPr txBox="1"/>
            <p:nvPr/>
          </p:nvSpPr>
          <p:spPr>
            <a:xfrm>
              <a:off x="11112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TMFC001</a:t>
              </a:r>
            </a:p>
          </p:txBody>
        </p:sp>
      </p:grpSp>
      <p:grpSp>
        <p:nvGrpSpPr>
          <p:cNvPr id="20" name="Golden 2"/>
          <p:cNvGrpSpPr/>
          <p:nvPr/>
        </p:nvGrpSpPr>
        <p:grpSpPr>
          <a:xfrm>
            <a:off x="3092450" y="2286000"/>
            <a:ext cx="1968500" cy="1911350"/>
            <a:chOff x="3092450" y="2286000"/>
            <a:chExt cx="1968500" cy="1911350"/>
          </a:xfrm>
        </p:grpSpPr>
        <p:pic>
          <p:nvPicPr>
            <p:cNvPr id="17" name="Shape 15" descr="oda.png"/>
            <p:cNvPicPr>
              <a:picLocks noChangeAspect="1"/>
            </p:cNvPicPr>
            <p:nvPr/>
          </p:nvPicPr>
          <p:blipFill>
            <a:blip r:embed="rId4"/>
            <a:stretch>
              <a:fillRect/>
            </a:stretch>
          </p:blipFill>
          <p:spPr>
            <a:xfrm>
              <a:off x="3346450" y="2286000"/>
              <a:ext cx="1460500" cy="1379361"/>
            </a:xfrm>
            <a:prstGeom prst="rect">
              <a:avLst/>
            </a:prstGeom>
          </p:spPr>
        </p:pic>
        <p:sp>
          <p:nvSpPr>
            <p:cNvPr id="18" name="Shape 16"/>
            <p:cNvSpPr txBox="1"/>
            <p:nvPr/>
          </p:nvSpPr>
          <p:spPr>
            <a:xfrm>
              <a:off x="30924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Order</a:t>
              </a:r>
            </a:p>
          </p:txBody>
        </p:sp>
        <p:sp>
          <p:nvSpPr>
            <p:cNvPr id="19" name="Shape 17"/>
            <p:cNvSpPr txBox="1"/>
            <p:nvPr/>
          </p:nvSpPr>
          <p:spPr>
            <a:xfrm>
              <a:off x="31559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TMFC002</a:t>
              </a:r>
            </a:p>
          </p:txBody>
        </p:sp>
      </p:grpSp>
      <p:grpSp>
        <p:nvGrpSpPr>
          <p:cNvPr id="24" name="Golden 3"/>
          <p:cNvGrpSpPr/>
          <p:nvPr/>
        </p:nvGrpSpPr>
        <p:grpSpPr>
          <a:xfrm>
            <a:off x="5137150" y="2286000"/>
            <a:ext cx="1968500" cy="1911350"/>
            <a:chOff x="5137150" y="2286000"/>
            <a:chExt cx="1968500" cy="1911350"/>
          </a:xfrm>
        </p:grpSpPr>
        <p:pic>
          <p:nvPicPr>
            <p:cNvPr id="21" name="Shape 19" descr="oda.png"/>
            <p:cNvPicPr>
              <a:picLocks noChangeAspect="1"/>
            </p:cNvPicPr>
            <p:nvPr/>
          </p:nvPicPr>
          <p:blipFill>
            <a:blip r:embed="rId4"/>
            <a:stretch>
              <a:fillRect/>
            </a:stretch>
          </p:blipFill>
          <p:spPr>
            <a:xfrm>
              <a:off x="5391150" y="2286000"/>
              <a:ext cx="1460500" cy="1379361"/>
            </a:xfrm>
            <a:prstGeom prst="rect">
              <a:avLst/>
            </a:prstGeom>
          </p:spPr>
        </p:pic>
        <p:sp>
          <p:nvSpPr>
            <p:cNvPr id="22" name="Shape 20"/>
            <p:cNvSpPr txBox="1"/>
            <p:nvPr/>
          </p:nvSpPr>
          <p:spPr>
            <a:xfrm>
              <a:off x="51371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Inventory</a:t>
              </a:r>
            </a:p>
          </p:txBody>
        </p:sp>
        <p:sp>
          <p:nvSpPr>
            <p:cNvPr id="23" name="Shape 21"/>
            <p:cNvSpPr txBox="1"/>
            <p:nvPr/>
          </p:nvSpPr>
          <p:spPr>
            <a:xfrm>
              <a:off x="52006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TMFC005</a:t>
              </a:r>
            </a:p>
          </p:txBody>
        </p:sp>
      </p:grpSp>
      <p:grpSp>
        <p:nvGrpSpPr>
          <p:cNvPr id="28" name="Golden 4"/>
          <p:cNvGrpSpPr/>
          <p:nvPr/>
        </p:nvGrpSpPr>
        <p:grpSpPr>
          <a:xfrm>
            <a:off x="7181850" y="2286000"/>
            <a:ext cx="1968500" cy="1911350"/>
            <a:chOff x="7181850" y="2286000"/>
            <a:chExt cx="1968500" cy="1911350"/>
          </a:xfrm>
        </p:grpSpPr>
        <p:pic>
          <p:nvPicPr>
            <p:cNvPr id="25" name="Shape 23" descr="oda.png"/>
            <p:cNvPicPr>
              <a:picLocks noChangeAspect="1"/>
            </p:cNvPicPr>
            <p:nvPr/>
          </p:nvPicPr>
          <p:blipFill>
            <a:blip r:embed="rId4"/>
            <a:stretch>
              <a:fillRect/>
            </a:stretch>
          </p:blipFill>
          <p:spPr>
            <a:xfrm>
              <a:off x="7435850" y="2286000"/>
              <a:ext cx="1460500" cy="1379361"/>
            </a:xfrm>
            <a:prstGeom prst="rect">
              <a:avLst/>
            </a:prstGeom>
          </p:spPr>
        </p:pic>
        <p:sp>
          <p:nvSpPr>
            <p:cNvPr id="26" name="Shape 24"/>
            <p:cNvSpPr txBox="1"/>
            <p:nvPr/>
          </p:nvSpPr>
          <p:spPr>
            <a:xfrm>
              <a:off x="71818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Bill Calculation</a:t>
              </a:r>
            </a:p>
          </p:txBody>
        </p:sp>
        <p:sp>
          <p:nvSpPr>
            <p:cNvPr id="27" name="Shape 25"/>
            <p:cNvSpPr txBox="1"/>
            <p:nvPr/>
          </p:nvSpPr>
          <p:spPr>
            <a:xfrm>
              <a:off x="72453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TMFC031</a:t>
              </a:r>
            </a:p>
          </p:txBody>
        </p:sp>
      </p:grpSp>
      <p:grpSp>
        <p:nvGrpSpPr>
          <p:cNvPr id="32" name="Golden 5"/>
          <p:cNvGrpSpPr/>
          <p:nvPr/>
        </p:nvGrpSpPr>
        <p:grpSpPr>
          <a:xfrm>
            <a:off x="9226550" y="2286000"/>
            <a:ext cx="1968500" cy="1911350"/>
            <a:chOff x="9226550" y="2286000"/>
            <a:chExt cx="1968500" cy="1911350"/>
          </a:xfrm>
        </p:grpSpPr>
        <p:pic>
          <p:nvPicPr>
            <p:cNvPr id="29" name="Shape 27" descr="oda.png"/>
            <p:cNvPicPr>
              <a:picLocks noChangeAspect="1"/>
            </p:cNvPicPr>
            <p:nvPr/>
          </p:nvPicPr>
          <p:blipFill>
            <a:blip r:embed="rId4"/>
            <a:stretch>
              <a:fillRect/>
            </a:stretch>
          </p:blipFill>
          <p:spPr>
            <a:xfrm>
              <a:off x="9480550" y="2286000"/>
              <a:ext cx="1460500" cy="1379361"/>
            </a:xfrm>
            <a:prstGeom prst="rect">
              <a:avLst/>
            </a:prstGeom>
          </p:spPr>
        </p:pic>
        <p:sp>
          <p:nvSpPr>
            <p:cNvPr id="30" name="Shape 28"/>
            <p:cNvSpPr txBox="1"/>
            <p:nvPr/>
          </p:nvSpPr>
          <p:spPr>
            <a:xfrm>
              <a:off x="92265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Fault Management</a:t>
              </a:r>
            </a:p>
          </p:txBody>
        </p:sp>
        <p:sp>
          <p:nvSpPr>
            <p:cNvPr id="31" name="Shape 29"/>
            <p:cNvSpPr txBox="1"/>
            <p:nvPr/>
          </p:nvSpPr>
          <p:spPr>
            <a:xfrm>
              <a:off x="92900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TMFC043</a:t>
              </a:r>
            </a:p>
          </p:txBody>
        </p:sp>
      </p:grpSp>
      <p:sp>
        <p:nvSpPr>
          <p:cNvPr id="33" name="Directory">
            <a:hlinkClick r:id="rId5"/>
          </p:cNvPr>
          <p:cNvSpPr/>
          <p:nvPr/>
        </p:nvSpPr>
        <p:spPr>
          <a:xfrm>
            <a:off x="7493000" y="6210300"/>
            <a:ext cx="2946400" cy="33020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tmforum.org/oda/directory</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60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800" fill="hold"/>
                                        <p:tgtEl>
                                          <p:spTgt spid="8"/>
                                        </p:tgtEl>
                                        <p:attrNameLst>
                                          <p:attrName>ppt_x</p:attrName>
                                        </p:attrNameLst>
                                      </p:cBhvr>
                                      <p:tavLst>
                                        <p:tav tm="0">
                                          <p:val>
                                            <p:strVal val="#ppt_x"/>
                                          </p:val>
                                        </p:tav>
                                        <p:tav tm="100000">
                                          <p:val>
                                            <p:strVal val="#ppt_x"/>
                                          </p:val>
                                        </p:tav>
                                      </p:tavLst>
                                    </p:anim>
                                    <p:anim calcmode="lin" valueType="num">
                                      <p:cBhvr additive="base">
                                        <p:cTn id="14" dur="8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420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600" fill="hold"/>
                                        <p:tgtEl>
                                          <p:spTgt spid="9"/>
                                        </p:tgtEl>
                                        <p:attrNameLst>
                                          <p:attrName>ppt_x</p:attrName>
                                        </p:attrNameLst>
                                      </p:cBhvr>
                                      <p:tavLst>
                                        <p:tav tm="0">
                                          <p:val>
                                            <p:strVal val="#ppt_x"/>
                                          </p:val>
                                        </p:tav>
                                        <p:tav tm="100000">
                                          <p:val>
                                            <p:strVal val="#ppt_x"/>
                                          </p:val>
                                        </p:tav>
                                      </p:tavLst>
                                    </p:anim>
                                    <p:anim calcmode="lin" valueType="num">
                                      <p:cBhvr additive="base">
                                        <p:cTn id="18" dur="600" fill="hold"/>
                                        <p:tgtEl>
                                          <p:spTgt spid="9"/>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760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600" fill="hold"/>
                                        <p:tgtEl>
                                          <p:spTgt spid="10"/>
                                        </p:tgtEl>
                                        <p:attrNameLst>
                                          <p:attrName>ppt_x</p:attrName>
                                        </p:attrNameLst>
                                      </p:cBhvr>
                                      <p:tavLst>
                                        <p:tav tm="0">
                                          <p:val>
                                            <p:strVal val="#ppt_x"/>
                                          </p:val>
                                        </p:tav>
                                        <p:tav tm="100000">
                                          <p:val>
                                            <p:strVal val="#ppt_x"/>
                                          </p:val>
                                        </p:tav>
                                      </p:tavLst>
                                    </p:anim>
                                    <p:anim calcmode="lin" valueType="num">
                                      <p:cBhvr additive="base">
                                        <p:cTn id="22" dur="600" fill="hold"/>
                                        <p:tgtEl>
                                          <p:spTgt spid="1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900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600" fill="hold"/>
                                        <p:tgtEl>
                                          <p:spTgt spid="11"/>
                                        </p:tgtEl>
                                        <p:attrNameLst>
                                          <p:attrName>ppt_x</p:attrName>
                                        </p:attrNameLst>
                                      </p:cBhvr>
                                      <p:tavLst>
                                        <p:tav tm="0">
                                          <p:val>
                                            <p:strVal val="#ppt_x"/>
                                          </p:val>
                                        </p:tav>
                                        <p:tav tm="100000">
                                          <p:val>
                                            <p:strVal val="#ppt_x"/>
                                          </p:val>
                                        </p:tav>
                                      </p:tavLst>
                                    </p:anim>
                                    <p:anim calcmode="lin" valueType="num">
                                      <p:cBhvr additive="base">
                                        <p:cTn id="26" dur="600" fill="hold"/>
                                        <p:tgtEl>
                                          <p:spTgt spid="1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10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600"/>
                                        <p:tgtEl>
                                          <p:spTgt spid="12"/>
                                        </p:tgtEl>
                                      </p:cBhvr>
                                    </p:animEffect>
                                  </p:childTnLst>
                                </p:cTn>
                              </p:par>
                              <p:par>
                                <p:cTn id="30" presetID="2" presetClass="entr" presetSubtype="4" fill="hold" nodeType="withEffect">
                                  <p:stCondLst>
                                    <p:cond delay="12200"/>
                                  </p:stCondLst>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700" fill="hold"/>
                                        <p:tgtEl>
                                          <p:spTgt spid="16"/>
                                        </p:tgtEl>
                                        <p:attrNameLst>
                                          <p:attrName>ppt_x</p:attrName>
                                        </p:attrNameLst>
                                      </p:cBhvr>
                                      <p:tavLst>
                                        <p:tav tm="0">
                                          <p:val>
                                            <p:strVal val="#ppt_x"/>
                                          </p:val>
                                        </p:tav>
                                        <p:tav tm="100000">
                                          <p:val>
                                            <p:strVal val="#ppt_x"/>
                                          </p:val>
                                        </p:tav>
                                      </p:tavLst>
                                    </p:anim>
                                    <p:anim calcmode="lin" valueType="num">
                                      <p:cBhvr additive="base">
                                        <p:cTn id="33" dur="700" fill="hold"/>
                                        <p:tgtEl>
                                          <p:spTgt spid="16"/>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13100"/>
                                  </p:stCondLst>
                                  <p:childTnLst>
                                    <p:set>
                                      <p:cBhvr>
                                        <p:cTn id="35" dur="1" fill="hold">
                                          <p:stCondLst>
                                            <p:cond delay="0"/>
                                          </p:stCondLst>
                                        </p:cTn>
                                        <p:tgtEl>
                                          <p:spTgt spid="20"/>
                                        </p:tgtEl>
                                        <p:attrNameLst>
                                          <p:attrName>style.visibility</p:attrName>
                                        </p:attrNameLst>
                                      </p:cBhvr>
                                      <p:to>
                                        <p:strVal val="visible"/>
                                      </p:to>
                                    </p:set>
                                    <p:anim calcmode="lin" valueType="num">
                                      <p:cBhvr additive="base">
                                        <p:cTn id="36" dur="700" fill="hold"/>
                                        <p:tgtEl>
                                          <p:spTgt spid="20"/>
                                        </p:tgtEl>
                                        <p:attrNameLst>
                                          <p:attrName>ppt_x</p:attrName>
                                        </p:attrNameLst>
                                      </p:cBhvr>
                                      <p:tavLst>
                                        <p:tav tm="0">
                                          <p:val>
                                            <p:strVal val="#ppt_x"/>
                                          </p:val>
                                        </p:tav>
                                        <p:tav tm="100000">
                                          <p:val>
                                            <p:strVal val="#ppt_x"/>
                                          </p:val>
                                        </p:tav>
                                      </p:tavLst>
                                    </p:anim>
                                    <p:anim calcmode="lin" valueType="num">
                                      <p:cBhvr additive="base">
                                        <p:cTn id="37" dur="700" fill="hold"/>
                                        <p:tgtEl>
                                          <p:spTgt spid="20"/>
                                        </p:tgtEl>
                                        <p:attrNameLst>
                                          <p:attrName>ppt_y</p:attrName>
                                        </p:attrNameLst>
                                      </p:cBhvr>
                                      <p:tavLst>
                                        <p:tav tm="0">
                                          <p:val>
                                            <p:strVal val="1+#ppt_h/2"/>
                                          </p:val>
                                        </p:tav>
                                        <p:tav tm="100000">
                                          <p:val>
                                            <p:strVal val="#ppt_y"/>
                                          </p:val>
                                        </p:tav>
                                      </p:tavLst>
                                    </p:anim>
                                  </p:childTnLst>
                                </p:cTn>
                              </p:par>
                              <p:par>
                                <p:cTn id="38" presetID="2" presetClass="entr" presetSubtype="4" fill="hold" nodeType="withEffect">
                                  <p:stCondLst>
                                    <p:cond delay="14000"/>
                                  </p:stCondLst>
                                  <p:childTnLst>
                                    <p:set>
                                      <p:cBhvr>
                                        <p:cTn id="39" dur="1" fill="hold">
                                          <p:stCondLst>
                                            <p:cond delay="0"/>
                                          </p:stCondLst>
                                        </p:cTn>
                                        <p:tgtEl>
                                          <p:spTgt spid="24"/>
                                        </p:tgtEl>
                                        <p:attrNameLst>
                                          <p:attrName>style.visibility</p:attrName>
                                        </p:attrNameLst>
                                      </p:cBhvr>
                                      <p:to>
                                        <p:strVal val="visible"/>
                                      </p:to>
                                    </p:set>
                                    <p:anim calcmode="lin" valueType="num">
                                      <p:cBhvr additive="base">
                                        <p:cTn id="40" dur="700" fill="hold"/>
                                        <p:tgtEl>
                                          <p:spTgt spid="24"/>
                                        </p:tgtEl>
                                        <p:attrNameLst>
                                          <p:attrName>ppt_x</p:attrName>
                                        </p:attrNameLst>
                                      </p:cBhvr>
                                      <p:tavLst>
                                        <p:tav tm="0">
                                          <p:val>
                                            <p:strVal val="#ppt_x"/>
                                          </p:val>
                                        </p:tav>
                                        <p:tav tm="100000">
                                          <p:val>
                                            <p:strVal val="#ppt_x"/>
                                          </p:val>
                                        </p:tav>
                                      </p:tavLst>
                                    </p:anim>
                                    <p:anim calcmode="lin" valueType="num">
                                      <p:cBhvr additive="base">
                                        <p:cTn id="41" dur="700" fill="hold"/>
                                        <p:tgtEl>
                                          <p:spTgt spid="24"/>
                                        </p:tgtEl>
                                        <p:attrNameLst>
                                          <p:attrName>ppt_y</p:attrName>
                                        </p:attrNameLst>
                                      </p:cBhvr>
                                      <p:tavLst>
                                        <p:tav tm="0">
                                          <p:val>
                                            <p:strVal val="1+#ppt_h/2"/>
                                          </p:val>
                                        </p:tav>
                                        <p:tav tm="100000">
                                          <p:val>
                                            <p:strVal val="#ppt_y"/>
                                          </p:val>
                                        </p:tav>
                                      </p:tavLst>
                                    </p:anim>
                                  </p:childTnLst>
                                </p:cTn>
                              </p:par>
                              <p:par>
                                <p:cTn id="42" presetID="2" presetClass="entr" presetSubtype="4" fill="hold" nodeType="withEffect">
                                  <p:stCondLst>
                                    <p:cond delay="14900"/>
                                  </p:stCondLst>
                                  <p:childTnLst>
                                    <p:set>
                                      <p:cBhvr>
                                        <p:cTn id="43" dur="1" fill="hold">
                                          <p:stCondLst>
                                            <p:cond delay="0"/>
                                          </p:stCondLst>
                                        </p:cTn>
                                        <p:tgtEl>
                                          <p:spTgt spid="28"/>
                                        </p:tgtEl>
                                        <p:attrNameLst>
                                          <p:attrName>style.visibility</p:attrName>
                                        </p:attrNameLst>
                                      </p:cBhvr>
                                      <p:to>
                                        <p:strVal val="visible"/>
                                      </p:to>
                                    </p:set>
                                    <p:anim calcmode="lin" valueType="num">
                                      <p:cBhvr additive="base">
                                        <p:cTn id="44" dur="700" fill="hold"/>
                                        <p:tgtEl>
                                          <p:spTgt spid="28"/>
                                        </p:tgtEl>
                                        <p:attrNameLst>
                                          <p:attrName>ppt_x</p:attrName>
                                        </p:attrNameLst>
                                      </p:cBhvr>
                                      <p:tavLst>
                                        <p:tav tm="0">
                                          <p:val>
                                            <p:strVal val="#ppt_x"/>
                                          </p:val>
                                        </p:tav>
                                        <p:tav tm="100000">
                                          <p:val>
                                            <p:strVal val="#ppt_x"/>
                                          </p:val>
                                        </p:tav>
                                      </p:tavLst>
                                    </p:anim>
                                    <p:anim calcmode="lin" valueType="num">
                                      <p:cBhvr additive="base">
                                        <p:cTn id="45" dur="700" fill="hold"/>
                                        <p:tgtEl>
                                          <p:spTgt spid="28"/>
                                        </p:tgtEl>
                                        <p:attrNameLst>
                                          <p:attrName>ppt_y</p:attrName>
                                        </p:attrNameLst>
                                      </p:cBhvr>
                                      <p:tavLst>
                                        <p:tav tm="0">
                                          <p:val>
                                            <p:strVal val="1+#ppt_h/2"/>
                                          </p:val>
                                        </p:tav>
                                        <p:tav tm="100000">
                                          <p:val>
                                            <p:strVal val="#ppt_y"/>
                                          </p:val>
                                        </p:tav>
                                      </p:tavLst>
                                    </p:anim>
                                  </p:childTnLst>
                                </p:cTn>
                              </p:par>
                              <p:par>
                                <p:cTn id="46" presetID="2" presetClass="entr" presetSubtype="4" fill="hold" nodeType="withEffect">
                                  <p:stCondLst>
                                    <p:cond delay="15800"/>
                                  </p:stCondLst>
                                  <p:childTnLst>
                                    <p:set>
                                      <p:cBhvr>
                                        <p:cTn id="47" dur="1" fill="hold">
                                          <p:stCondLst>
                                            <p:cond delay="0"/>
                                          </p:stCondLst>
                                        </p:cTn>
                                        <p:tgtEl>
                                          <p:spTgt spid="32"/>
                                        </p:tgtEl>
                                        <p:attrNameLst>
                                          <p:attrName>style.visibility</p:attrName>
                                        </p:attrNameLst>
                                      </p:cBhvr>
                                      <p:to>
                                        <p:strVal val="visible"/>
                                      </p:to>
                                    </p:set>
                                    <p:anim calcmode="lin" valueType="num">
                                      <p:cBhvr additive="base">
                                        <p:cTn id="48" dur="700" fill="hold"/>
                                        <p:tgtEl>
                                          <p:spTgt spid="32"/>
                                        </p:tgtEl>
                                        <p:attrNameLst>
                                          <p:attrName>ppt_x</p:attrName>
                                        </p:attrNameLst>
                                      </p:cBhvr>
                                      <p:tavLst>
                                        <p:tav tm="0">
                                          <p:val>
                                            <p:strVal val="#ppt_x"/>
                                          </p:val>
                                        </p:tav>
                                        <p:tav tm="100000">
                                          <p:val>
                                            <p:strVal val="#ppt_x"/>
                                          </p:val>
                                        </p:tav>
                                      </p:tavLst>
                                    </p:anim>
                                    <p:anim calcmode="lin" valueType="num">
                                      <p:cBhvr additive="base">
                                        <p:cTn id="49" dur="700" fill="hold"/>
                                        <p:tgtEl>
                                          <p:spTgt spid="32"/>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19800"/>
                                  </p:stCondLst>
                                  <p:childTnLst>
                                    <p:set>
                                      <p:cBhvr>
                                        <p:cTn id="51" dur="1" fill="hold">
                                          <p:stCondLst>
                                            <p:cond delay="0"/>
                                          </p:stCondLst>
                                        </p:cTn>
                                        <p:tgtEl>
                                          <p:spTgt spid="33"/>
                                        </p:tgtEl>
                                        <p:attrNameLst>
                                          <p:attrName>style.visibility</p:attrName>
                                        </p:attrNameLst>
                                      </p:cBhvr>
                                      <p:to>
                                        <p:strVal val="visible"/>
                                      </p:to>
                                    </p:set>
                                    <p:anim calcmode="lin" valueType="num">
                                      <p:cBhvr additive="base">
                                        <p:cTn id="52" dur="600" fill="hold"/>
                                        <p:tgtEl>
                                          <p:spTgt spid="33"/>
                                        </p:tgtEl>
                                        <p:attrNameLst>
                                          <p:attrName>ppt_x</p:attrName>
                                        </p:attrNameLst>
                                      </p:cBhvr>
                                      <p:tavLst>
                                        <p:tav tm="0">
                                          <p:val>
                                            <p:strVal val="#ppt_x"/>
                                          </p:val>
                                        </p:tav>
                                        <p:tav tm="100000">
                                          <p:val>
                                            <p:strVal val="#ppt_x"/>
                                          </p:val>
                                        </p:tav>
                                      </p:tavLst>
                                    </p:anim>
                                    <p:anim calcmode="lin" valueType="num">
                                      <p:cBhvr additive="base">
                                        <p:cTn id="53" dur="6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P spid="10" grpId="0" animBg="1"/>
      <p:bldP spid="11" grpId="0" animBg="1"/>
      <p:bldP spid="12" grpId="0"/>
      <p:bldP spid="3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ODA Component Directory</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700"/>
    </mc:Choice>
    <mc:Fallback>
      <p:transition spd="slow" advTm="3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00"/>
    </mc:Choice>
    <mc:Fallback>
      <p:transition spd="slow" advTm="1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300"/>
    </mc:Choice>
    <mc:Fallback>
      <p:transition spd="slow" advTm="2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900"/>
    </mc:Choice>
    <mc:Fallback>
      <p:transition spd="slow" advTm="3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Available today, experimental, planned</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WHERE THINGS STAND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Available · experimental · planned</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today</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Disruption Budget</a:t>
              </a:r>
            </a:p>
          </p:txBody>
        </p:sp>
      </p:grpSp>
      <p:grpSp>
        <p:nvGrpSpPr>
          <p:cNvPr id="40"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Carbon Management</a:t>
              </a:r>
            </a:p>
          </p:txBody>
        </p:sp>
      </p:grpSp>
      <p:grpSp>
        <p:nvGrpSpPr>
          <p:cNvPr id="45" name="Available 9"/>
          <p:cNvGrpSpPr/>
          <p:nvPr/>
        </p:nvGrpSpPr>
        <p:grpSpPr>
          <a:xfrm>
            <a:off x="762000" y="5626100"/>
            <a:ext cx="3429000" cy="381000"/>
            <a:chOff x="762000" y="5626100"/>
            <a:chExt cx="3429000" cy="381000"/>
          </a:xfrm>
        </p:grpSpPr>
        <p:sp>
          <p:nvSpPr>
            <p:cNvPr id="41" name="Shape 39"/>
            <p:cNvSpPr/>
            <p:nvPr/>
          </p:nvSpPr>
          <p:spPr>
            <a:xfrm>
              <a:off x="762000" y="5626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762000" y="5626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3" name="Shape 41"/>
            <p:cNvSpPr txBox="1"/>
            <p:nvPr/>
          </p:nvSpPr>
          <p:spPr>
            <a:xfrm>
              <a:off x="927100" y="56261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OAuth2 Config</a:t>
              </a:r>
            </a:p>
          </p:txBody>
        </p:sp>
        <p:sp>
          <p:nvSpPr>
            <p:cNvPr id="44" name="Shape 42"/>
            <p:cNvSpPr txBox="1"/>
            <p:nvPr/>
          </p:nvSpPr>
          <p:spPr>
            <a:xfrm>
              <a:off x="2667000" y="56261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8" name="Experimental header"/>
          <p:cNvGrpSpPr/>
          <p:nvPr/>
        </p:nvGrpSpPr>
        <p:grpSpPr>
          <a:xfrm>
            <a:off x="4381500" y="1485900"/>
            <a:ext cx="3403600" cy="317500"/>
            <a:chOff x="4381500" y="1485900"/>
            <a:chExt cx="3403600" cy="317500"/>
          </a:xfrm>
        </p:grpSpPr>
        <p:pic>
          <p:nvPicPr>
            <p:cNvPr id="46" name="Shape 44"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7" name="Shape 45"/>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53" name="Experimental 1"/>
          <p:cNvGrpSpPr/>
          <p:nvPr/>
        </p:nvGrpSpPr>
        <p:grpSpPr>
          <a:xfrm>
            <a:off x="4381500" y="1968500"/>
            <a:ext cx="3429000" cy="381000"/>
            <a:chOff x="4381500" y="1968500"/>
            <a:chExt cx="3429000" cy="381000"/>
          </a:xfrm>
        </p:grpSpPr>
        <p:sp>
          <p:nvSpPr>
            <p:cNvPr id="49" name="Shape 47"/>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19685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AI-Native Canvas</a:t>
              </a:r>
            </a:p>
          </p:txBody>
        </p:sp>
        <p:sp>
          <p:nvSpPr>
            <p:cNvPr id="52" name="Shape 50"/>
            <p:cNvSpPr txBox="1"/>
            <p:nvPr/>
          </p:nvSpPr>
          <p:spPr>
            <a:xfrm>
              <a:off x="6286500" y="19685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Model Gateway · MCP</a:t>
              </a:r>
            </a:p>
          </p:txBody>
        </p:sp>
      </p:grpSp>
      <p:grpSp>
        <p:nvGrpSpPr>
          <p:cNvPr id="56" name="Planned header"/>
          <p:cNvGrpSpPr/>
          <p:nvPr/>
        </p:nvGrpSpPr>
        <p:grpSpPr>
          <a:xfrm>
            <a:off x="8001000" y="1485900"/>
            <a:ext cx="3403600" cy="317500"/>
            <a:chOff x="8001000" y="1485900"/>
            <a:chExt cx="3403600" cy="317500"/>
          </a:xfrm>
        </p:grpSpPr>
        <p:pic>
          <p:nvPicPr>
            <p:cNvPr id="54" name="Shape 52"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5" name="Shape 53"/>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0" name="Planned 1"/>
          <p:cNvGrpSpPr/>
          <p:nvPr/>
        </p:nvGrpSpPr>
        <p:grpSpPr>
          <a:xfrm>
            <a:off x="8001000" y="1968500"/>
            <a:ext cx="3429000" cy="381000"/>
            <a:chOff x="8001000" y="1968500"/>
            <a:chExt cx="3429000" cy="381000"/>
          </a:xfrm>
        </p:grpSpPr>
        <p:sp>
          <p:nvSpPr>
            <p:cNvPr id="57" name="Shape 55"/>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8" name="Shape 56"/>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9" name="Shape 57"/>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Event Management</a:t>
              </a:r>
            </a:p>
          </p:txBody>
        </p:sp>
      </p:grpSp>
      <p:grpSp>
        <p:nvGrpSpPr>
          <p:cNvPr id="64" name="Planned 2"/>
          <p:cNvGrpSpPr/>
          <p:nvPr/>
        </p:nvGrpSpPr>
        <p:grpSpPr>
          <a:xfrm>
            <a:off x="8001000" y="2425700"/>
            <a:ext cx="3429000" cy="381000"/>
            <a:chOff x="8001000" y="2425700"/>
            <a:chExt cx="3429000" cy="381000"/>
          </a:xfrm>
        </p:grpSpPr>
        <p:sp>
          <p:nvSpPr>
            <p:cNvPr id="61" name="Shape 59"/>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3" name="Shape 61"/>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Model-as-a-Service</a:t>
              </a:r>
            </a:p>
          </p:txBody>
        </p:sp>
      </p:grpSp>
      <p:grpSp>
        <p:nvGrpSpPr>
          <p:cNvPr id="68" name="Planned 3"/>
          <p:cNvGrpSpPr/>
          <p:nvPr/>
        </p:nvGrpSpPr>
        <p:grpSpPr>
          <a:xfrm>
            <a:off x="8001000" y="2882900"/>
            <a:ext cx="3429000" cy="381000"/>
            <a:chOff x="8001000" y="2882900"/>
            <a:chExt cx="3429000" cy="381000"/>
          </a:xfrm>
        </p:grpSpPr>
        <p:sp>
          <p:nvSpPr>
            <p:cNvPr id="65" name="Shape 63"/>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7" name="Shape 65"/>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Cost Control</a:t>
              </a:r>
            </a:p>
          </p:txBody>
        </p:sp>
      </p:grpSp>
      <p:grpSp>
        <p:nvGrpSpPr>
          <p:cNvPr id="72" name="Planned 4"/>
          <p:cNvGrpSpPr/>
          <p:nvPr/>
        </p:nvGrpSpPr>
        <p:grpSpPr>
          <a:xfrm>
            <a:off x="8001000" y="3340100"/>
            <a:ext cx="3429000" cy="381000"/>
            <a:chOff x="8001000" y="3340100"/>
            <a:chExt cx="3429000" cy="381000"/>
          </a:xfrm>
        </p:grpSpPr>
        <p:sp>
          <p:nvSpPr>
            <p:cNvPr id="69" name="Shape 67"/>
            <p:cNvSpPr/>
            <p:nvPr/>
          </p:nvSpPr>
          <p:spPr>
            <a:xfrm>
              <a:off x="8001000" y="33401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p:nvPr/>
          </p:nvSpPr>
          <p:spPr>
            <a:xfrm>
              <a:off x="8001000" y="33401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1" name="Shape 69"/>
            <p:cNvSpPr txBox="1"/>
            <p:nvPr/>
          </p:nvSpPr>
          <p:spPr>
            <a:xfrm>
              <a:off x="8166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Database Management</a:t>
              </a:r>
            </a:p>
          </p:txBody>
        </p:sp>
      </p:grpSp>
      <p:grpSp>
        <p:nvGrpSpPr>
          <p:cNvPr id="76" name="GA"/>
          <p:cNvGrpSpPr/>
          <p:nvPr/>
        </p:nvGrpSpPr>
        <p:grpSpPr>
          <a:xfrm>
            <a:off x="4381500" y="4318000"/>
            <a:ext cx="7048500" cy="1206500"/>
            <a:chOff x="4381500" y="4318000"/>
            <a:chExt cx="7048500" cy="1206500"/>
          </a:xfrm>
        </p:grpSpPr>
        <p:sp>
          <p:nvSpPr>
            <p:cNvPr id="73" name="Shape 71"/>
            <p:cNvSpPr/>
            <p:nvPr/>
          </p:nvSpPr>
          <p:spPr>
            <a:xfrm>
              <a:off x="4381500" y="4318000"/>
              <a:ext cx="7048500" cy="1206500"/>
            </a:xfrm>
            <a:prstGeom prst="roundRect">
              <a:avLst>
                <a:gd name="adj" fmla="val 12631"/>
              </a:avLst>
            </a:prstGeom>
            <a:solidFill>
              <a:srgbClr val="22C55E">
                <a:alpha val="8000"/>
              </a:srgbClr>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4" name="Shape 72" descr="icon-check-22c55e.png"/>
            <p:cNvPicPr>
              <a:picLocks noChangeAspect="1"/>
            </p:cNvPicPr>
            <p:nvPr/>
          </p:nvPicPr>
          <p:blipFill>
            <a:blip r:embed="rId4"/>
            <a:stretch>
              <a:fillRect/>
            </a:stretch>
          </p:blipFill>
          <p:spPr>
            <a:xfrm>
              <a:off x="4610100" y="4521200"/>
              <a:ext cx="279400" cy="279400"/>
            </a:xfrm>
            <a:prstGeom prst="rect">
              <a:avLst/>
            </a:prstGeom>
          </p:spPr>
        </p:pic>
        <p:sp>
          <p:nvSpPr>
            <p:cNvPr id="75" name="Shape 73"/>
            <p:cNvSpPr txBox="1"/>
            <p:nvPr/>
          </p:nvSpPr>
          <p:spPr>
            <a:xfrm>
              <a:off x="4978400" y="4495800"/>
              <a:ext cx="6223000" cy="317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Generally available · regular releases</a:t>
              </a:r>
            </a:p>
          </p:txBody>
        </p:sp>
      </p:grpSp>
      <p:grpSp>
        <p:nvGrpSpPr>
          <p:cNvPr id="79" name="BDD"/>
          <p:cNvGrpSpPr/>
          <p:nvPr/>
        </p:nvGrpSpPr>
        <p:grpSpPr>
          <a:xfrm>
            <a:off x="4610100" y="5003800"/>
            <a:ext cx="6654800" cy="317500"/>
            <a:chOff x="4610100" y="5003800"/>
            <a:chExt cx="6654800" cy="317500"/>
          </a:xfrm>
        </p:grpSpPr>
        <p:pic>
          <p:nvPicPr>
            <p:cNvPr id="77" name="Shape 75" descr="icon-flask-22c55e.png"/>
            <p:cNvPicPr>
              <a:picLocks noChangeAspect="1"/>
            </p:cNvPicPr>
            <p:nvPr/>
          </p:nvPicPr>
          <p:blipFill>
            <a:blip r:embed="rId7"/>
            <a:stretch>
              <a:fillRect/>
            </a:stretch>
          </p:blipFill>
          <p:spPr>
            <a:xfrm>
              <a:off x="4610100" y="5016500"/>
              <a:ext cx="254000" cy="254000"/>
            </a:xfrm>
            <a:prstGeom prst="rect">
              <a:avLst/>
            </a:prstGeom>
          </p:spPr>
        </p:pic>
        <p:sp>
          <p:nvSpPr>
            <p:cNvPr id="78" name="Shape 76"/>
            <p:cNvSpPr txBox="1"/>
            <p:nvPr/>
          </p:nvSpPr>
          <p:spPr>
            <a:xfrm>
              <a:off x="4978400" y="5003800"/>
              <a:ext cx="6286500" cy="3175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Every change tested by a BDD suite on a real Kubernetes cluster</a:t>
              </a:r>
            </a:p>
          </p:txBody>
        </p:sp>
      </p:grpSp>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10" presetClass="entr" presetSubtype="0" fill="hold" nodeType="withEffect">
                                  <p:stCondLst>
                                    <p:cond delay="220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600"/>
                                        <p:tgtEl>
                                          <p:spTgt spid="8"/>
                                        </p:tgtEl>
                                      </p:cBhvr>
                                    </p:animEffect>
                                  </p:childTnLst>
                                </p:cTn>
                              </p:par>
                              <p:par>
                                <p:cTn id="15" presetID="58" presetClass="entr" presetSubtype="0" accel="100000" fill="hold" nodeType="withEffect">
                                  <p:stCondLst>
                                    <p:cond delay="2600"/>
                                  </p:stCondLst>
                                  <p:childTnLst>
                                    <p:set>
                                      <p:cBhvr>
                                        <p:cTn id="16" dur="1" fill="hold">
                                          <p:stCondLst>
                                            <p:cond delay="0"/>
                                          </p:stCondLst>
                                        </p:cTn>
                                        <p:tgtEl>
                                          <p:spTgt spid="12"/>
                                        </p:tgtEl>
                                        <p:attrNameLst>
                                          <p:attrName>style.visibility</p:attrName>
                                        </p:attrNameLst>
                                      </p:cBhvr>
                                      <p:to>
                                        <p:strVal val="visible"/>
                                      </p:to>
                                    </p:set>
                                    <p:anim calcmode="lin" valueType="num">
                                      <p:cBhvr>
                                        <p:cTn id="17" dur="500" fill="hold"/>
                                        <p:tgtEl>
                                          <p:spTgt spid="12"/>
                                        </p:tgtEl>
                                        <p:attrNameLst>
                                          <p:attrName>ppt_w</p:attrName>
                                        </p:attrNameLst>
                                      </p:cBhvr>
                                      <p:tavLst>
                                        <p:tav tm="0">
                                          <p:val>
                                            <p:strVal val="#ppt_w*2.5"/>
                                          </p:val>
                                        </p:tav>
                                        <p:tav tm="100000">
                                          <p:val>
                                            <p:strVal val="#ppt_w"/>
                                          </p:val>
                                        </p:tav>
                                      </p:tavLst>
                                    </p:anim>
                                    <p:anim calcmode="lin" valueType="num">
                                      <p:cBhvr>
                                        <p:cTn id="18" dur="500" fill="hold"/>
                                        <p:tgtEl>
                                          <p:spTgt spid="12"/>
                                        </p:tgtEl>
                                        <p:attrNameLst>
                                          <p:attrName>ppt_h</p:attrName>
                                        </p:attrNameLst>
                                      </p:cBhvr>
                                      <p:tavLst>
                                        <p:tav tm="0">
                                          <p:val>
                                            <p:strVal val="#ppt_h*0.01"/>
                                          </p:val>
                                        </p:tav>
                                        <p:tav tm="100000">
                                          <p:val>
                                            <p:strVal val="#ppt_h"/>
                                          </p:val>
                                        </p:tav>
                                      </p:tavLst>
                                    </p:anim>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h+1"/>
                                          </p:val>
                                        </p:tav>
                                        <p:tav tm="100000">
                                          <p:val>
                                            <p:strVal val="#ppt_y"/>
                                          </p:val>
                                        </p:tav>
                                      </p:tavLst>
                                    </p:anim>
                                    <p:animEffect transition="in" filter="fade">
                                      <p:cBhvr>
                                        <p:cTn id="21" dur="500"/>
                                        <p:tgtEl>
                                          <p:spTgt spid="12"/>
                                        </p:tgtEl>
                                      </p:cBhvr>
                                    </p:animEffect>
                                  </p:childTnLst>
                                </p:cTn>
                              </p:par>
                              <p:par>
                                <p:cTn id="22" presetID="58" presetClass="entr" presetSubtype="0" accel="100000" fill="hold" nodeType="withEffect">
                                  <p:stCondLst>
                                    <p:cond delay="3400"/>
                                  </p:stCondLst>
                                  <p:childTnLst>
                                    <p:set>
                                      <p:cBhvr>
                                        <p:cTn id="23" dur="1" fill="hold">
                                          <p:stCondLst>
                                            <p:cond delay="0"/>
                                          </p:stCondLst>
                                        </p:cTn>
                                        <p:tgtEl>
                                          <p:spTgt spid="16"/>
                                        </p:tgtEl>
                                        <p:attrNameLst>
                                          <p:attrName>style.visibility</p:attrName>
                                        </p:attrNameLst>
                                      </p:cBhvr>
                                      <p:to>
                                        <p:strVal val="visible"/>
                                      </p:to>
                                    </p:set>
                                    <p:anim calcmode="lin" valueType="num">
                                      <p:cBhvr>
                                        <p:cTn id="24" dur="500" fill="hold"/>
                                        <p:tgtEl>
                                          <p:spTgt spid="16"/>
                                        </p:tgtEl>
                                        <p:attrNameLst>
                                          <p:attrName>ppt_w</p:attrName>
                                        </p:attrNameLst>
                                      </p:cBhvr>
                                      <p:tavLst>
                                        <p:tav tm="0">
                                          <p:val>
                                            <p:strVal val="#ppt_w*2.5"/>
                                          </p:val>
                                        </p:tav>
                                        <p:tav tm="100000">
                                          <p:val>
                                            <p:strVal val="#ppt_w"/>
                                          </p:val>
                                        </p:tav>
                                      </p:tavLst>
                                    </p:anim>
                                    <p:anim calcmode="lin" valueType="num">
                                      <p:cBhvr>
                                        <p:cTn id="25" dur="500" fill="hold"/>
                                        <p:tgtEl>
                                          <p:spTgt spid="16"/>
                                        </p:tgtEl>
                                        <p:attrNameLst>
                                          <p:attrName>ppt_h</p:attrName>
                                        </p:attrNameLst>
                                      </p:cBhvr>
                                      <p:tavLst>
                                        <p:tav tm="0">
                                          <p:val>
                                            <p:strVal val="#ppt_h*0.01"/>
                                          </p:val>
                                        </p:tav>
                                        <p:tav tm="100000">
                                          <p:val>
                                            <p:strVal val="#ppt_h"/>
                                          </p:val>
                                        </p:tav>
                                      </p:tavLst>
                                    </p:anim>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h+1"/>
                                          </p:val>
                                        </p:tav>
                                        <p:tav tm="100000">
                                          <p:val>
                                            <p:strVal val="#ppt_y"/>
                                          </p:val>
                                        </p:tav>
                                      </p:tavLst>
                                    </p:anim>
                                    <p:animEffect transition="in" filter="fade">
                                      <p:cBhvr>
                                        <p:cTn id="28" dur="500"/>
                                        <p:tgtEl>
                                          <p:spTgt spid="16"/>
                                        </p:tgtEl>
                                      </p:cBhvr>
                                    </p:animEffect>
                                  </p:childTnLst>
                                </p:cTn>
                              </p:par>
                              <p:par>
                                <p:cTn id="29" presetID="58" presetClass="entr" presetSubtype="0" accel="100000" fill="hold" nodeType="withEffect">
                                  <p:stCondLst>
                                    <p:cond delay="4000"/>
                                  </p:stCondLst>
                                  <p:childTnLst>
                                    <p:set>
                                      <p:cBhvr>
                                        <p:cTn id="30" dur="1" fill="hold">
                                          <p:stCondLst>
                                            <p:cond delay="0"/>
                                          </p:stCondLst>
                                        </p:cTn>
                                        <p:tgtEl>
                                          <p:spTgt spid="20"/>
                                        </p:tgtEl>
                                        <p:attrNameLst>
                                          <p:attrName>style.visibility</p:attrName>
                                        </p:attrNameLst>
                                      </p:cBhvr>
                                      <p:to>
                                        <p:strVal val="visible"/>
                                      </p:to>
                                    </p:set>
                                    <p:anim calcmode="lin" valueType="num">
                                      <p:cBhvr>
                                        <p:cTn id="31" dur="500" fill="hold"/>
                                        <p:tgtEl>
                                          <p:spTgt spid="20"/>
                                        </p:tgtEl>
                                        <p:attrNameLst>
                                          <p:attrName>ppt_w</p:attrName>
                                        </p:attrNameLst>
                                      </p:cBhvr>
                                      <p:tavLst>
                                        <p:tav tm="0">
                                          <p:val>
                                            <p:strVal val="#ppt_w*2.5"/>
                                          </p:val>
                                        </p:tav>
                                        <p:tav tm="100000">
                                          <p:val>
                                            <p:strVal val="#ppt_w"/>
                                          </p:val>
                                        </p:tav>
                                      </p:tavLst>
                                    </p:anim>
                                    <p:anim calcmode="lin" valueType="num">
                                      <p:cBhvr>
                                        <p:cTn id="32" dur="500" fill="hold"/>
                                        <p:tgtEl>
                                          <p:spTgt spid="20"/>
                                        </p:tgtEl>
                                        <p:attrNameLst>
                                          <p:attrName>ppt_h</p:attrName>
                                        </p:attrNameLst>
                                      </p:cBhvr>
                                      <p:tavLst>
                                        <p:tav tm="0">
                                          <p:val>
                                            <p:strVal val="#ppt_h*0.01"/>
                                          </p:val>
                                        </p:tav>
                                        <p:tav tm="100000">
                                          <p:val>
                                            <p:strVal val="#ppt_h"/>
                                          </p:val>
                                        </p:tav>
                                      </p:tavLst>
                                    </p:anim>
                                    <p:anim calcmode="lin" valueType="num">
                                      <p:cBhvr>
                                        <p:cTn id="33" dur="500" fill="hold"/>
                                        <p:tgtEl>
                                          <p:spTgt spid="20"/>
                                        </p:tgtEl>
                                        <p:attrNameLst>
                                          <p:attrName>ppt_x</p:attrName>
                                        </p:attrNameLst>
                                      </p:cBhvr>
                                      <p:tavLst>
                                        <p:tav tm="0">
                                          <p:val>
                                            <p:strVal val="#ppt_x"/>
                                          </p:val>
                                        </p:tav>
                                        <p:tav tm="100000">
                                          <p:val>
                                            <p:strVal val="#ppt_x"/>
                                          </p:val>
                                        </p:tav>
                                      </p:tavLst>
                                    </p:anim>
                                    <p:anim calcmode="lin" valueType="num">
                                      <p:cBhvr>
                                        <p:cTn id="34" dur="500" fill="hold"/>
                                        <p:tgtEl>
                                          <p:spTgt spid="20"/>
                                        </p:tgtEl>
                                        <p:attrNameLst>
                                          <p:attrName>ppt_y</p:attrName>
                                        </p:attrNameLst>
                                      </p:cBhvr>
                                      <p:tavLst>
                                        <p:tav tm="0">
                                          <p:val>
                                            <p:strVal val="#ppt_h+1"/>
                                          </p:val>
                                        </p:tav>
                                        <p:tav tm="100000">
                                          <p:val>
                                            <p:strVal val="#ppt_y"/>
                                          </p:val>
                                        </p:tav>
                                      </p:tavLst>
                                    </p:anim>
                                    <p:animEffect transition="in" filter="fade">
                                      <p:cBhvr>
                                        <p:cTn id="35" dur="500"/>
                                        <p:tgtEl>
                                          <p:spTgt spid="20"/>
                                        </p:tgtEl>
                                      </p:cBhvr>
                                    </p:animEffect>
                                  </p:childTnLst>
                                </p:cTn>
                              </p:par>
                              <p:par>
                                <p:cTn id="36" presetID="58" presetClass="entr" presetSubtype="0" accel="100000" fill="hold" nodeType="withEffect">
                                  <p:stCondLst>
                                    <p:cond delay="4600"/>
                                  </p:stCondLst>
                                  <p:childTnLst>
                                    <p:set>
                                      <p:cBhvr>
                                        <p:cTn id="37" dur="1" fill="hold">
                                          <p:stCondLst>
                                            <p:cond delay="0"/>
                                          </p:stCondLst>
                                        </p:cTn>
                                        <p:tgtEl>
                                          <p:spTgt spid="24"/>
                                        </p:tgtEl>
                                        <p:attrNameLst>
                                          <p:attrName>style.visibility</p:attrName>
                                        </p:attrNameLst>
                                      </p:cBhvr>
                                      <p:to>
                                        <p:strVal val="visible"/>
                                      </p:to>
                                    </p:set>
                                    <p:anim calcmode="lin" valueType="num">
                                      <p:cBhvr>
                                        <p:cTn id="38" dur="500" fill="hold"/>
                                        <p:tgtEl>
                                          <p:spTgt spid="24"/>
                                        </p:tgtEl>
                                        <p:attrNameLst>
                                          <p:attrName>ppt_w</p:attrName>
                                        </p:attrNameLst>
                                      </p:cBhvr>
                                      <p:tavLst>
                                        <p:tav tm="0">
                                          <p:val>
                                            <p:strVal val="#ppt_w*2.5"/>
                                          </p:val>
                                        </p:tav>
                                        <p:tav tm="100000">
                                          <p:val>
                                            <p:strVal val="#ppt_w"/>
                                          </p:val>
                                        </p:tav>
                                      </p:tavLst>
                                    </p:anim>
                                    <p:anim calcmode="lin" valueType="num">
                                      <p:cBhvr>
                                        <p:cTn id="39" dur="500" fill="hold"/>
                                        <p:tgtEl>
                                          <p:spTgt spid="24"/>
                                        </p:tgtEl>
                                        <p:attrNameLst>
                                          <p:attrName>ppt_h</p:attrName>
                                        </p:attrNameLst>
                                      </p:cBhvr>
                                      <p:tavLst>
                                        <p:tav tm="0">
                                          <p:val>
                                            <p:strVal val="#ppt_h*0.01"/>
                                          </p:val>
                                        </p:tav>
                                        <p:tav tm="100000">
                                          <p:val>
                                            <p:strVal val="#ppt_h"/>
                                          </p:val>
                                        </p:tav>
                                      </p:tavLst>
                                    </p:anim>
                                    <p:anim calcmode="lin" valueType="num">
                                      <p:cBhvr>
                                        <p:cTn id="40" dur="500" fill="hold"/>
                                        <p:tgtEl>
                                          <p:spTgt spid="24"/>
                                        </p:tgtEl>
                                        <p:attrNameLst>
                                          <p:attrName>ppt_x</p:attrName>
                                        </p:attrNameLst>
                                      </p:cBhvr>
                                      <p:tavLst>
                                        <p:tav tm="0">
                                          <p:val>
                                            <p:strVal val="#ppt_x"/>
                                          </p:val>
                                        </p:tav>
                                        <p:tav tm="100000">
                                          <p:val>
                                            <p:strVal val="#ppt_x"/>
                                          </p:val>
                                        </p:tav>
                                      </p:tavLst>
                                    </p:anim>
                                    <p:anim calcmode="lin" valueType="num">
                                      <p:cBhvr>
                                        <p:cTn id="41" dur="500" fill="hold"/>
                                        <p:tgtEl>
                                          <p:spTgt spid="24"/>
                                        </p:tgtEl>
                                        <p:attrNameLst>
                                          <p:attrName>ppt_y</p:attrName>
                                        </p:attrNameLst>
                                      </p:cBhvr>
                                      <p:tavLst>
                                        <p:tav tm="0">
                                          <p:val>
                                            <p:strVal val="#ppt_h+1"/>
                                          </p:val>
                                        </p:tav>
                                        <p:tav tm="100000">
                                          <p:val>
                                            <p:strVal val="#ppt_y"/>
                                          </p:val>
                                        </p:tav>
                                      </p:tavLst>
                                    </p:anim>
                                    <p:animEffect transition="in" filter="fade">
                                      <p:cBhvr>
                                        <p:cTn id="42" dur="500"/>
                                        <p:tgtEl>
                                          <p:spTgt spid="24"/>
                                        </p:tgtEl>
                                      </p:cBhvr>
                                    </p:animEffect>
                                  </p:childTnLst>
                                </p:cTn>
                              </p:par>
                              <p:par>
                                <p:cTn id="43" presetID="58" presetClass="entr" presetSubtype="0" accel="100000" fill="hold" nodeType="withEffect">
                                  <p:stCondLst>
                                    <p:cond delay="5200"/>
                                  </p:stCondLst>
                                  <p:childTnLst>
                                    <p:set>
                                      <p:cBhvr>
                                        <p:cTn id="44" dur="1" fill="hold">
                                          <p:stCondLst>
                                            <p:cond delay="0"/>
                                          </p:stCondLst>
                                        </p:cTn>
                                        <p:tgtEl>
                                          <p:spTgt spid="28"/>
                                        </p:tgtEl>
                                        <p:attrNameLst>
                                          <p:attrName>style.visibility</p:attrName>
                                        </p:attrNameLst>
                                      </p:cBhvr>
                                      <p:to>
                                        <p:strVal val="visible"/>
                                      </p:to>
                                    </p:set>
                                    <p:anim calcmode="lin" valueType="num">
                                      <p:cBhvr>
                                        <p:cTn id="45" dur="500" fill="hold"/>
                                        <p:tgtEl>
                                          <p:spTgt spid="28"/>
                                        </p:tgtEl>
                                        <p:attrNameLst>
                                          <p:attrName>ppt_w</p:attrName>
                                        </p:attrNameLst>
                                      </p:cBhvr>
                                      <p:tavLst>
                                        <p:tav tm="0">
                                          <p:val>
                                            <p:strVal val="#ppt_w*2.5"/>
                                          </p:val>
                                        </p:tav>
                                        <p:tav tm="100000">
                                          <p:val>
                                            <p:strVal val="#ppt_w"/>
                                          </p:val>
                                        </p:tav>
                                      </p:tavLst>
                                    </p:anim>
                                    <p:anim calcmode="lin" valueType="num">
                                      <p:cBhvr>
                                        <p:cTn id="46" dur="500" fill="hold"/>
                                        <p:tgtEl>
                                          <p:spTgt spid="28"/>
                                        </p:tgtEl>
                                        <p:attrNameLst>
                                          <p:attrName>ppt_h</p:attrName>
                                        </p:attrNameLst>
                                      </p:cBhvr>
                                      <p:tavLst>
                                        <p:tav tm="0">
                                          <p:val>
                                            <p:strVal val="#ppt_h*0.01"/>
                                          </p:val>
                                        </p:tav>
                                        <p:tav tm="100000">
                                          <p:val>
                                            <p:strVal val="#ppt_h"/>
                                          </p:val>
                                        </p:tav>
                                      </p:tavLst>
                                    </p:anim>
                                    <p:anim calcmode="lin" valueType="num">
                                      <p:cBhvr>
                                        <p:cTn id="47" dur="500" fill="hold"/>
                                        <p:tgtEl>
                                          <p:spTgt spid="28"/>
                                        </p:tgtEl>
                                        <p:attrNameLst>
                                          <p:attrName>ppt_x</p:attrName>
                                        </p:attrNameLst>
                                      </p:cBhvr>
                                      <p:tavLst>
                                        <p:tav tm="0">
                                          <p:val>
                                            <p:strVal val="#ppt_x"/>
                                          </p:val>
                                        </p:tav>
                                        <p:tav tm="100000">
                                          <p:val>
                                            <p:strVal val="#ppt_x"/>
                                          </p:val>
                                        </p:tav>
                                      </p:tavLst>
                                    </p:anim>
                                    <p:anim calcmode="lin" valueType="num">
                                      <p:cBhvr>
                                        <p:cTn id="48" dur="500" fill="hold"/>
                                        <p:tgtEl>
                                          <p:spTgt spid="28"/>
                                        </p:tgtEl>
                                        <p:attrNameLst>
                                          <p:attrName>ppt_y</p:attrName>
                                        </p:attrNameLst>
                                      </p:cBhvr>
                                      <p:tavLst>
                                        <p:tav tm="0">
                                          <p:val>
                                            <p:strVal val="#ppt_h+1"/>
                                          </p:val>
                                        </p:tav>
                                        <p:tav tm="100000">
                                          <p:val>
                                            <p:strVal val="#ppt_y"/>
                                          </p:val>
                                        </p:tav>
                                      </p:tavLst>
                                    </p:anim>
                                    <p:animEffect transition="in" filter="fade">
                                      <p:cBhvr>
                                        <p:cTn id="49" dur="500"/>
                                        <p:tgtEl>
                                          <p:spTgt spid="28"/>
                                        </p:tgtEl>
                                      </p:cBhvr>
                                    </p:animEffect>
                                  </p:childTnLst>
                                </p:cTn>
                              </p:par>
                              <p:par>
                                <p:cTn id="50" presetID="58" presetClass="entr" presetSubtype="0" accel="100000" fill="hold" nodeType="withEffect">
                                  <p:stCondLst>
                                    <p:cond delay="5800"/>
                                  </p:stCondLst>
                                  <p:childTnLst>
                                    <p:set>
                                      <p:cBhvr>
                                        <p:cTn id="51" dur="1" fill="hold">
                                          <p:stCondLst>
                                            <p:cond delay="0"/>
                                          </p:stCondLst>
                                        </p:cTn>
                                        <p:tgtEl>
                                          <p:spTgt spid="32"/>
                                        </p:tgtEl>
                                        <p:attrNameLst>
                                          <p:attrName>style.visibility</p:attrName>
                                        </p:attrNameLst>
                                      </p:cBhvr>
                                      <p:to>
                                        <p:strVal val="visible"/>
                                      </p:to>
                                    </p:set>
                                    <p:anim calcmode="lin" valueType="num">
                                      <p:cBhvr>
                                        <p:cTn id="52" dur="500" fill="hold"/>
                                        <p:tgtEl>
                                          <p:spTgt spid="32"/>
                                        </p:tgtEl>
                                        <p:attrNameLst>
                                          <p:attrName>ppt_w</p:attrName>
                                        </p:attrNameLst>
                                      </p:cBhvr>
                                      <p:tavLst>
                                        <p:tav tm="0">
                                          <p:val>
                                            <p:strVal val="#ppt_w*2.5"/>
                                          </p:val>
                                        </p:tav>
                                        <p:tav tm="100000">
                                          <p:val>
                                            <p:strVal val="#ppt_w"/>
                                          </p:val>
                                        </p:tav>
                                      </p:tavLst>
                                    </p:anim>
                                    <p:anim calcmode="lin" valueType="num">
                                      <p:cBhvr>
                                        <p:cTn id="53" dur="500" fill="hold"/>
                                        <p:tgtEl>
                                          <p:spTgt spid="32"/>
                                        </p:tgtEl>
                                        <p:attrNameLst>
                                          <p:attrName>ppt_h</p:attrName>
                                        </p:attrNameLst>
                                      </p:cBhvr>
                                      <p:tavLst>
                                        <p:tav tm="0">
                                          <p:val>
                                            <p:strVal val="#ppt_h*0.01"/>
                                          </p:val>
                                        </p:tav>
                                        <p:tav tm="100000">
                                          <p:val>
                                            <p:strVal val="#ppt_h"/>
                                          </p:val>
                                        </p:tav>
                                      </p:tavLst>
                                    </p:anim>
                                    <p:anim calcmode="lin" valueType="num">
                                      <p:cBhvr>
                                        <p:cTn id="54" dur="500" fill="hold"/>
                                        <p:tgtEl>
                                          <p:spTgt spid="32"/>
                                        </p:tgtEl>
                                        <p:attrNameLst>
                                          <p:attrName>ppt_x</p:attrName>
                                        </p:attrNameLst>
                                      </p:cBhvr>
                                      <p:tavLst>
                                        <p:tav tm="0">
                                          <p:val>
                                            <p:strVal val="#ppt_x"/>
                                          </p:val>
                                        </p:tav>
                                        <p:tav tm="100000">
                                          <p:val>
                                            <p:strVal val="#ppt_x"/>
                                          </p:val>
                                        </p:tav>
                                      </p:tavLst>
                                    </p:anim>
                                    <p:anim calcmode="lin" valueType="num">
                                      <p:cBhvr>
                                        <p:cTn id="55" dur="500" fill="hold"/>
                                        <p:tgtEl>
                                          <p:spTgt spid="32"/>
                                        </p:tgtEl>
                                        <p:attrNameLst>
                                          <p:attrName>ppt_y</p:attrName>
                                        </p:attrNameLst>
                                      </p:cBhvr>
                                      <p:tavLst>
                                        <p:tav tm="0">
                                          <p:val>
                                            <p:strVal val="#ppt_h+1"/>
                                          </p:val>
                                        </p:tav>
                                        <p:tav tm="100000">
                                          <p:val>
                                            <p:strVal val="#ppt_y"/>
                                          </p:val>
                                        </p:tav>
                                      </p:tavLst>
                                    </p:anim>
                                    <p:animEffect transition="in" filter="fade">
                                      <p:cBhvr>
                                        <p:cTn id="56" dur="500"/>
                                        <p:tgtEl>
                                          <p:spTgt spid="32"/>
                                        </p:tgtEl>
                                      </p:cBhvr>
                                    </p:animEffect>
                                  </p:childTnLst>
                                </p:cTn>
                              </p:par>
                              <p:par>
                                <p:cTn id="57" presetID="58" presetClass="entr" presetSubtype="0" accel="100000" fill="hold" nodeType="withEffect">
                                  <p:stCondLst>
                                    <p:cond delay="6800"/>
                                  </p:stCondLst>
                                  <p:childTnLst>
                                    <p:set>
                                      <p:cBhvr>
                                        <p:cTn id="58" dur="1" fill="hold">
                                          <p:stCondLst>
                                            <p:cond delay="0"/>
                                          </p:stCondLst>
                                        </p:cTn>
                                        <p:tgtEl>
                                          <p:spTgt spid="36"/>
                                        </p:tgtEl>
                                        <p:attrNameLst>
                                          <p:attrName>style.visibility</p:attrName>
                                        </p:attrNameLst>
                                      </p:cBhvr>
                                      <p:to>
                                        <p:strVal val="visible"/>
                                      </p:to>
                                    </p:set>
                                    <p:anim calcmode="lin" valueType="num">
                                      <p:cBhvr>
                                        <p:cTn id="59" dur="500" fill="hold"/>
                                        <p:tgtEl>
                                          <p:spTgt spid="36"/>
                                        </p:tgtEl>
                                        <p:attrNameLst>
                                          <p:attrName>ppt_w</p:attrName>
                                        </p:attrNameLst>
                                      </p:cBhvr>
                                      <p:tavLst>
                                        <p:tav tm="0">
                                          <p:val>
                                            <p:strVal val="#ppt_w*2.5"/>
                                          </p:val>
                                        </p:tav>
                                        <p:tav tm="100000">
                                          <p:val>
                                            <p:strVal val="#ppt_w"/>
                                          </p:val>
                                        </p:tav>
                                      </p:tavLst>
                                    </p:anim>
                                    <p:anim calcmode="lin" valueType="num">
                                      <p:cBhvr>
                                        <p:cTn id="60" dur="500" fill="hold"/>
                                        <p:tgtEl>
                                          <p:spTgt spid="36"/>
                                        </p:tgtEl>
                                        <p:attrNameLst>
                                          <p:attrName>ppt_h</p:attrName>
                                        </p:attrNameLst>
                                      </p:cBhvr>
                                      <p:tavLst>
                                        <p:tav tm="0">
                                          <p:val>
                                            <p:strVal val="#ppt_h*0.01"/>
                                          </p:val>
                                        </p:tav>
                                        <p:tav tm="100000">
                                          <p:val>
                                            <p:strVal val="#ppt_h"/>
                                          </p:val>
                                        </p:tav>
                                      </p:tavLst>
                                    </p:anim>
                                    <p:anim calcmode="lin" valueType="num">
                                      <p:cBhvr>
                                        <p:cTn id="61" dur="500" fill="hold"/>
                                        <p:tgtEl>
                                          <p:spTgt spid="36"/>
                                        </p:tgtEl>
                                        <p:attrNameLst>
                                          <p:attrName>ppt_x</p:attrName>
                                        </p:attrNameLst>
                                      </p:cBhvr>
                                      <p:tavLst>
                                        <p:tav tm="0">
                                          <p:val>
                                            <p:strVal val="#ppt_x"/>
                                          </p:val>
                                        </p:tav>
                                        <p:tav tm="100000">
                                          <p:val>
                                            <p:strVal val="#ppt_x"/>
                                          </p:val>
                                        </p:tav>
                                      </p:tavLst>
                                    </p:anim>
                                    <p:anim calcmode="lin" valueType="num">
                                      <p:cBhvr>
                                        <p:cTn id="62" dur="500" fill="hold"/>
                                        <p:tgtEl>
                                          <p:spTgt spid="36"/>
                                        </p:tgtEl>
                                        <p:attrNameLst>
                                          <p:attrName>ppt_y</p:attrName>
                                        </p:attrNameLst>
                                      </p:cBhvr>
                                      <p:tavLst>
                                        <p:tav tm="0">
                                          <p:val>
                                            <p:strVal val="#ppt_h+1"/>
                                          </p:val>
                                        </p:tav>
                                        <p:tav tm="100000">
                                          <p:val>
                                            <p:strVal val="#ppt_y"/>
                                          </p:val>
                                        </p:tav>
                                      </p:tavLst>
                                    </p:anim>
                                    <p:animEffect transition="in" filter="fade">
                                      <p:cBhvr>
                                        <p:cTn id="63" dur="500"/>
                                        <p:tgtEl>
                                          <p:spTgt spid="36"/>
                                        </p:tgtEl>
                                      </p:cBhvr>
                                    </p:animEffect>
                                  </p:childTnLst>
                                </p:cTn>
                              </p:par>
                              <p:par>
                                <p:cTn id="64" presetID="58" presetClass="entr" presetSubtype="0" accel="100000" fill="hold" nodeType="withEffect">
                                  <p:stCondLst>
                                    <p:cond delay="8200"/>
                                  </p:stCondLst>
                                  <p:childTnLst>
                                    <p:set>
                                      <p:cBhvr>
                                        <p:cTn id="65" dur="1" fill="hold">
                                          <p:stCondLst>
                                            <p:cond delay="0"/>
                                          </p:stCondLst>
                                        </p:cTn>
                                        <p:tgtEl>
                                          <p:spTgt spid="40"/>
                                        </p:tgtEl>
                                        <p:attrNameLst>
                                          <p:attrName>style.visibility</p:attrName>
                                        </p:attrNameLst>
                                      </p:cBhvr>
                                      <p:to>
                                        <p:strVal val="visible"/>
                                      </p:to>
                                    </p:set>
                                    <p:anim calcmode="lin" valueType="num">
                                      <p:cBhvr>
                                        <p:cTn id="66" dur="500" fill="hold"/>
                                        <p:tgtEl>
                                          <p:spTgt spid="40"/>
                                        </p:tgtEl>
                                        <p:attrNameLst>
                                          <p:attrName>ppt_w</p:attrName>
                                        </p:attrNameLst>
                                      </p:cBhvr>
                                      <p:tavLst>
                                        <p:tav tm="0">
                                          <p:val>
                                            <p:strVal val="#ppt_w*2.5"/>
                                          </p:val>
                                        </p:tav>
                                        <p:tav tm="100000">
                                          <p:val>
                                            <p:strVal val="#ppt_w"/>
                                          </p:val>
                                        </p:tav>
                                      </p:tavLst>
                                    </p:anim>
                                    <p:anim calcmode="lin" valueType="num">
                                      <p:cBhvr>
                                        <p:cTn id="67" dur="500" fill="hold"/>
                                        <p:tgtEl>
                                          <p:spTgt spid="40"/>
                                        </p:tgtEl>
                                        <p:attrNameLst>
                                          <p:attrName>ppt_h</p:attrName>
                                        </p:attrNameLst>
                                      </p:cBhvr>
                                      <p:tavLst>
                                        <p:tav tm="0">
                                          <p:val>
                                            <p:strVal val="#ppt_h*0.01"/>
                                          </p:val>
                                        </p:tav>
                                        <p:tav tm="100000">
                                          <p:val>
                                            <p:strVal val="#ppt_h"/>
                                          </p:val>
                                        </p:tav>
                                      </p:tavLst>
                                    </p:anim>
                                    <p:anim calcmode="lin" valueType="num">
                                      <p:cBhvr>
                                        <p:cTn id="68" dur="500" fill="hold"/>
                                        <p:tgtEl>
                                          <p:spTgt spid="40"/>
                                        </p:tgtEl>
                                        <p:attrNameLst>
                                          <p:attrName>ppt_x</p:attrName>
                                        </p:attrNameLst>
                                      </p:cBhvr>
                                      <p:tavLst>
                                        <p:tav tm="0">
                                          <p:val>
                                            <p:strVal val="#ppt_x"/>
                                          </p:val>
                                        </p:tav>
                                        <p:tav tm="100000">
                                          <p:val>
                                            <p:strVal val="#ppt_x"/>
                                          </p:val>
                                        </p:tav>
                                      </p:tavLst>
                                    </p:anim>
                                    <p:anim calcmode="lin" valueType="num">
                                      <p:cBhvr>
                                        <p:cTn id="69" dur="500" fill="hold"/>
                                        <p:tgtEl>
                                          <p:spTgt spid="40"/>
                                        </p:tgtEl>
                                        <p:attrNameLst>
                                          <p:attrName>ppt_y</p:attrName>
                                        </p:attrNameLst>
                                      </p:cBhvr>
                                      <p:tavLst>
                                        <p:tav tm="0">
                                          <p:val>
                                            <p:strVal val="#ppt_h+1"/>
                                          </p:val>
                                        </p:tav>
                                        <p:tav tm="100000">
                                          <p:val>
                                            <p:strVal val="#ppt_y"/>
                                          </p:val>
                                        </p:tav>
                                      </p:tavLst>
                                    </p:anim>
                                    <p:animEffect transition="in" filter="fade">
                                      <p:cBhvr>
                                        <p:cTn id="70" dur="500"/>
                                        <p:tgtEl>
                                          <p:spTgt spid="40"/>
                                        </p:tgtEl>
                                      </p:cBhvr>
                                    </p:animEffect>
                                  </p:childTnLst>
                                </p:cTn>
                              </p:par>
                              <p:par>
                                <p:cTn id="71" presetID="58" presetClass="entr" presetSubtype="0" accel="100000" fill="hold" nodeType="withEffect">
                                  <p:stCondLst>
                                    <p:cond delay="10400"/>
                                  </p:stCondLst>
                                  <p:childTnLst>
                                    <p:set>
                                      <p:cBhvr>
                                        <p:cTn id="72" dur="1" fill="hold">
                                          <p:stCondLst>
                                            <p:cond delay="0"/>
                                          </p:stCondLst>
                                        </p:cTn>
                                        <p:tgtEl>
                                          <p:spTgt spid="45"/>
                                        </p:tgtEl>
                                        <p:attrNameLst>
                                          <p:attrName>style.visibility</p:attrName>
                                        </p:attrNameLst>
                                      </p:cBhvr>
                                      <p:to>
                                        <p:strVal val="visible"/>
                                      </p:to>
                                    </p:set>
                                    <p:anim calcmode="lin" valueType="num">
                                      <p:cBhvr>
                                        <p:cTn id="73" dur="500" fill="hold"/>
                                        <p:tgtEl>
                                          <p:spTgt spid="45"/>
                                        </p:tgtEl>
                                        <p:attrNameLst>
                                          <p:attrName>ppt_w</p:attrName>
                                        </p:attrNameLst>
                                      </p:cBhvr>
                                      <p:tavLst>
                                        <p:tav tm="0">
                                          <p:val>
                                            <p:strVal val="#ppt_w*2.5"/>
                                          </p:val>
                                        </p:tav>
                                        <p:tav tm="100000">
                                          <p:val>
                                            <p:strVal val="#ppt_w"/>
                                          </p:val>
                                        </p:tav>
                                      </p:tavLst>
                                    </p:anim>
                                    <p:anim calcmode="lin" valueType="num">
                                      <p:cBhvr>
                                        <p:cTn id="74" dur="500" fill="hold"/>
                                        <p:tgtEl>
                                          <p:spTgt spid="45"/>
                                        </p:tgtEl>
                                        <p:attrNameLst>
                                          <p:attrName>ppt_h</p:attrName>
                                        </p:attrNameLst>
                                      </p:cBhvr>
                                      <p:tavLst>
                                        <p:tav tm="0">
                                          <p:val>
                                            <p:strVal val="#ppt_h*0.01"/>
                                          </p:val>
                                        </p:tav>
                                        <p:tav tm="100000">
                                          <p:val>
                                            <p:strVal val="#ppt_h"/>
                                          </p:val>
                                        </p:tav>
                                      </p:tavLst>
                                    </p:anim>
                                    <p:anim calcmode="lin" valueType="num">
                                      <p:cBhvr>
                                        <p:cTn id="75" dur="500" fill="hold"/>
                                        <p:tgtEl>
                                          <p:spTgt spid="45"/>
                                        </p:tgtEl>
                                        <p:attrNameLst>
                                          <p:attrName>ppt_x</p:attrName>
                                        </p:attrNameLst>
                                      </p:cBhvr>
                                      <p:tavLst>
                                        <p:tav tm="0">
                                          <p:val>
                                            <p:strVal val="#ppt_x"/>
                                          </p:val>
                                        </p:tav>
                                        <p:tav tm="100000">
                                          <p:val>
                                            <p:strVal val="#ppt_x"/>
                                          </p:val>
                                        </p:tav>
                                      </p:tavLst>
                                    </p:anim>
                                    <p:anim calcmode="lin" valueType="num">
                                      <p:cBhvr>
                                        <p:cTn id="76" dur="500" fill="hold"/>
                                        <p:tgtEl>
                                          <p:spTgt spid="45"/>
                                        </p:tgtEl>
                                        <p:attrNameLst>
                                          <p:attrName>ppt_y</p:attrName>
                                        </p:attrNameLst>
                                      </p:cBhvr>
                                      <p:tavLst>
                                        <p:tav tm="0">
                                          <p:val>
                                            <p:strVal val="#ppt_h+1"/>
                                          </p:val>
                                        </p:tav>
                                        <p:tav tm="100000">
                                          <p:val>
                                            <p:strVal val="#ppt_y"/>
                                          </p:val>
                                        </p:tav>
                                      </p:tavLst>
                                    </p:anim>
                                    <p:animEffect transition="in" filter="fade">
                                      <p:cBhvr>
                                        <p:cTn id="77" dur="500"/>
                                        <p:tgtEl>
                                          <p:spTgt spid="45"/>
                                        </p:tgtEl>
                                      </p:cBhvr>
                                    </p:animEffect>
                                  </p:childTnLst>
                                </p:cTn>
                              </p:par>
                              <p:par>
                                <p:cTn id="78" presetID="10" presetClass="entr" presetSubtype="0" fill="hold" nodeType="withEffect">
                                  <p:stCondLst>
                                    <p:cond delay="13200"/>
                                  </p:stCondLst>
                                  <p:childTnLst>
                                    <p:set>
                                      <p:cBhvr>
                                        <p:cTn id="79" dur="1" fill="hold">
                                          <p:stCondLst>
                                            <p:cond delay="0"/>
                                          </p:stCondLst>
                                        </p:cTn>
                                        <p:tgtEl>
                                          <p:spTgt spid="48"/>
                                        </p:tgtEl>
                                        <p:attrNameLst>
                                          <p:attrName>style.visibility</p:attrName>
                                        </p:attrNameLst>
                                      </p:cBhvr>
                                      <p:to>
                                        <p:strVal val="visible"/>
                                      </p:to>
                                    </p:set>
                                    <p:animEffect transition="in" filter="fade">
                                      <p:cBhvr>
                                        <p:cTn id="80" dur="600"/>
                                        <p:tgtEl>
                                          <p:spTgt spid="48"/>
                                        </p:tgtEl>
                                      </p:cBhvr>
                                    </p:animEffect>
                                  </p:childTnLst>
                                </p:cTn>
                              </p:par>
                              <p:par>
                                <p:cTn id="81" presetID="58" presetClass="entr" presetSubtype="0" accel="100000" fill="hold" nodeType="withEffect">
                                  <p:stCondLst>
                                    <p:cond delay="13600"/>
                                  </p:stCondLst>
                                  <p:childTnLst>
                                    <p:set>
                                      <p:cBhvr>
                                        <p:cTn id="82" dur="1" fill="hold">
                                          <p:stCondLst>
                                            <p:cond delay="0"/>
                                          </p:stCondLst>
                                        </p:cTn>
                                        <p:tgtEl>
                                          <p:spTgt spid="53"/>
                                        </p:tgtEl>
                                        <p:attrNameLst>
                                          <p:attrName>style.visibility</p:attrName>
                                        </p:attrNameLst>
                                      </p:cBhvr>
                                      <p:to>
                                        <p:strVal val="visible"/>
                                      </p:to>
                                    </p:set>
                                    <p:anim calcmode="lin" valueType="num">
                                      <p:cBhvr>
                                        <p:cTn id="83" dur="500" fill="hold"/>
                                        <p:tgtEl>
                                          <p:spTgt spid="53"/>
                                        </p:tgtEl>
                                        <p:attrNameLst>
                                          <p:attrName>ppt_w</p:attrName>
                                        </p:attrNameLst>
                                      </p:cBhvr>
                                      <p:tavLst>
                                        <p:tav tm="0">
                                          <p:val>
                                            <p:strVal val="#ppt_w*2.5"/>
                                          </p:val>
                                        </p:tav>
                                        <p:tav tm="100000">
                                          <p:val>
                                            <p:strVal val="#ppt_w"/>
                                          </p:val>
                                        </p:tav>
                                      </p:tavLst>
                                    </p:anim>
                                    <p:anim calcmode="lin" valueType="num">
                                      <p:cBhvr>
                                        <p:cTn id="84" dur="500" fill="hold"/>
                                        <p:tgtEl>
                                          <p:spTgt spid="53"/>
                                        </p:tgtEl>
                                        <p:attrNameLst>
                                          <p:attrName>ppt_h</p:attrName>
                                        </p:attrNameLst>
                                      </p:cBhvr>
                                      <p:tavLst>
                                        <p:tav tm="0">
                                          <p:val>
                                            <p:strVal val="#ppt_h*0.01"/>
                                          </p:val>
                                        </p:tav>
                                        <p:tav tm="100000">
                                          <p:val>
                                            <p:strVal val="#ppt_h"/>
                                          </p:val>
                                        </p:tav>
                                      </p:tavLst>
                                    </p:anim>
                                    <p:anim calcmode="lin" valueType="num">
                                      <p:cBhvr>
                                        <p:cTn id="85" dur="500" fill="hold"/>
                                        <p:tgtEl>
                                          <p:spTgt spid="53"/>
                                        </p:tgtEl>
                                        <p:attrNameLst>
                                          <p:attrName>ppt_x</p:attrName>
                                        </p:attrNameLst>
                                      </p:cBhvr>
                                      <p:tavLst>
                                        <p:tav tm="0">
                                          <p:val>
                                            <p:strVal val="#ppt_x"/>
                                          </p:val>
                                        </p:tav>
                                        <p:tav tm="100000">
                                          <p:val>
                                            <p:strVal val="#ppt_x"/>
                                          </p:val>
                                        </p:tav>
                                      </p:tavLst>
                                    </p:anim>
                                    <p:anim calcmode="lin" valueType="num">
                                      <p:cBhvr>
                                        <p:cTn id="86" dur="500" fill="hold"/>
                                        <p:tgtEl>
                                          <p:spTgt spid="53"/>
                                        </p:tgtEl>
                                        <p:attrNameLst>
                                          <p:attrName>ppt_y</p:attrName>
                                        </p:attrNameLst>
                                      </p:cBhvr>
                                      <p:tavLst>
                                        <p:tav tm="0">
                                          <p:val>
                                            <p:strVal val="#ppt_h+1"/>
                                          </p:val>
                                        </p:tav>
                                        <p:tav tm="100000">
                                          <p:val>
                                            <p:strVal val="#ppt_y"/>
                                          </p:val>
                                        </p:tav>
                                      </p:tavLst>
                                    </p:anim>
                                    <p:animEffect transition="in" filter="fade">
                                      <p:cBhvr>
                                        <p:cTn id="87" dur="500"/>
                                        <p:tgtEl>
                                          <p:spTgt spid="53"/>
                                        </p:tgtEl>
                                      </p:cBhvr>
                                    </p:animEffect>
                                  </p:childTnLst>
                                </p:cTn>
                              </p:par>
                              <p:par>
                                <p:cTn id="88" presetID="10" presetClass="entr" presetSubtype="0" fill="hold" nodeType="withEffect">
                                  <p:stCondLst>
                                    <p:cond delay="1580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600"/>
                                        <p:tgtEl>
                                          <p:spTgt spid="56"/>
                                        </p:tgtEl>
                                      </p:cBhvr>
                                    </p:animEffect>
                                  </p:childTnLst>
                                </p:cTn>
                              </p:par>
                              <p:par>
                                <p:cTn id="91" presetID="58" presetClass="entr" presetSubtype="0" accel="100000" fill="hold" nodeType="withEffect">
                                  <p:stCondLst>
                                    <p:cond delay="16200"/>
                                  </p:stCondLst>
                                  <p:childTnLst>
                                    <p:set>
                                      <p:cBhvr>
                                        <p:cTn id="92" dur="1" fill="hold">
                                          <p:stCondLst>
                                            <p:cond delay="0"/>
                                          </p:stCondLst>
                                        </p:cTn>
                                        <p:tgtEl>
                                          <p:spTgt spid="60"/>
                                        </p:tgtEl>
                                        <p:attrNameLst>
                                          <p:attrName>style.visibility</p:attrName>
                                        </p:attrNameLst>
                                      </p:cBhvr>
                                      <p:to>
                                        <p:strVal val="visible"/>
                                      </p:to>
                                    </p:set>
                                    <p:anim calcmode="lin" valueType="num">
                                      <p:cBhvr>
                                        <p:cTn id="93" dur="500" fill="hold"/>
                                        <p:tgtEl>
                                          <p:spTgt spid="60"/>
                                        </p:tgtEl>
                                        <p:attrNameLst>
                                          <p:attrName>ppt_w</p:attrName>
                                        </p:attrNameLst>
                                      </p:cBhvr>
                                      <p:tavLst>
                                        <p:tav tm="0">
                                          <p:val>
                                            <p:strVal val="#ppt_w*2.5"/>
                                          </p:val>
                                        </p:tav>
                                        <p:tav tm="100000">
                                          <p:val>
                                            <p:strVal val="#ppt_w"/>
                                          </p:val>
                                        </p:tav>
                                      </p:tavLst>
                                    </p:anim>
                                    <p:anim calcmode="lin" valueType="num">
                                      <p:cBhvr>
                                        <p:cTn id="94" dur="500" fill="hold"/>
                                        <p:tgtEl>
                                          <p:spTgt spid="60"/>
                                        </p:tgtEl>
                                        <p:attrNameLst>
                                          <p:attrName>ppt_h</p:attrName>
                                        </p:attrNameLst>
                                      </p:cBhvr>
                                      <p:tavLst>
                                        <p:tav tm="0">
                                          <p:val>
                                            <p:strVal val="#ppt_h*0.01"/>
                                          </p:val>
                                        </p:tav>
                                        <p:tav tm="100000">
                                          <p:val>
                                            <p:strVal val="#ppt_h"/>
                                          </p:val>
                                        </p:tav>
                                      </p:tavLst>
                                    </p:anim>
                                    <p:anim calcmode="lin" valueType="num">
                                      <p:cBhvr>
                                        <p:cTn id="95" dur="500" fill="hold"/>
                                        <p:tgtEl>
                                          <p:spTgt spid="60"/>
                                        </p:tgtEl>
                                        <p:attrNameLst>
                                          <p:attrName>ppt_x</p:attrName>
                                        </p:attrNameLst>
                                      </p:cBhvr>
                                      <p:tavLst>
                                        <p:tav tm="0">
                                          <p:val>
                                            <p:strVal val="#ppt_x"/>
                                          </p:val>
                                        </p:tav>
                                        <p:tav tm="100000">
                                          <p:val>
                                            <p:strVal val="#ppt_x"/>
                                          </p:val>
                                        </p:tav>
                                      </p:tavLst>
                                    </p:anim>
                                    <p:anim calcmode="lin" valueType="num">
                                      <p:cBhvr>
                                        <p:cTn id="96" dur="500" fill="hold"/>
                                        <p:tgtEl>
                                          <p:spTgt spid="60"/>
                                        </p:tgtEl>
                                        <p:attrNameLst>
                                          <p:attrName>ppt_y</p:attrName>
                                        </p:attrNameLst>
                                      </p:cBhvr>
                                      <p:tavLst>
                                        <p:tav tm="0">
                                          <p:val>
                                            <p:strVal val="#ppt_h+1"/>
                                          </p:val>
                                        </p:tav>
                                        <p:tav tm="100000">
                                          <p:val>
                                            <p:strVal val="#ppt_y"/>
                                          </p:val>
                                        </p:tav>
                                      </p:tavLst>
                                    </p:anim>
                                    <p:animEffect transition="in" filter="fade">
                                      <p:cBhvr>
                                        <p:cTn id="97" dur="500"/>
                                        <p:tgtEl>
                                          <p:spTgt spid="60"/>
                                        </p:tgtEl>
                                      </p:cBhvr>
                                    </p:animEffect>
                                  </p:childTnLst>
                                </p:cTn>
                              </p:par>
                              <p:par>
                                <p:cTn id="98" presetID="58" presetClass="entr" presetSubtype="0" accel="100000" fill="hold" nodeType="withEffect">
                                  <p:stCondLst>
                                    <p:cond delay="17000"/>
                                  </p:stCondLst>
                                  <p:childTnLst>
                                    <p:set>
                                      <p:cBhvr>
                                        <p:cTn id="99" dur="1" fill="hold">
                                          <p:stCondLst>
                                            <p:cond delay="0"/>
                                          </p:stCondLst>
                                        </p:cTn>
                                        <p:tgtEl>
                                          <p:spTgt spid="64"/>
                                        </p:tgtEl>
                                        <p:attrNameLst>
                                          <p:attrName>style.visibility</p:attrName>
                                        </p:attrNameLst>
                                      </p:cBhvr>
                                      <p:to>
                                        <p:strVal val="visible"/>
                                      </p:to>
                                    </p:set>
                                    <p:anim calcmode="lin" valueType="num">
                                      <p:cBhvr>
                                        <p:cTn id="100" dur="500" fill="hold"/>
                                        <p:tgtEl>
                                          <p:spTgt spid="64"/>
                                        </p:tgtEl>
                                        <p:attrNameLst>
                                          <p:attrName>ppt_w</p:attrName>
                                        </p:attrNameLst>
                                      </p:cBhvr>
                                      <p:tavLst>
                                        <p:tav tm="0">
                                          <p:val>
                                            <p:strVal val="#ppt_w*2.5"/>
                                          </p:val>
                                        </p:tav>
                                        <p:tav tm="100000">
                                          <p:val>
                                            <p:strVal val="#ppt_w"/>
                                          </p:val>
                                        </p:tav>
                                      </p:tavLst>
                                    </p:anim>
                                    <p:anim calcmode="lin" valueType="num">
                                      <p:cBhvr>
                                        <p:cTn id="101" dur="500" fill="hold"/>
                                        <p:tgtEl>
                                          <p:spTgt spid="64"/>
                                        </p:tgtEl>
                                        <p:attrNameLst>
                                          <p:attrName>ppt_h</p:attrName>
                                        </p:attrNameLst>
                                      </p:cBhvr>
                                      <p:tavLst>
                                        <p:tav tm="0">
                                          <p:val>
                                            <p:strVal val="#ppt_h*0.01"/>
                                          </p:val>
                                        </p:tav>
                                        <p:tav tm="100000">
                                          <p:val>
                                            <p:strVal val="#ppt_h"/>
                                          </p:val>
                                        </p:tav>
                                      </p:tavLst>
                                    </p:anim>
                                    <p:anim calcmode="lin" valueType="num">
                                      <p:cBhvr>
                                        <p:cTn id="102" dur="500" fill="hold"/>
                                        <p:tgtEl>
                                          <p:spTgt spid="64"/>
                                        </p:tgtEl>
                                        <p:attrNameLst>
                                          <p:attrName>ppt_x</p:attrName>
                                        </p:attrNameLst>
                                      </p:cBhvr>
                                      <p:tavLst>
                                        <p:tav tm="0">
                                          <p:val>
                                            <p:strVal val="#ppt_x"/>
                                          </p:val>
                                        </p:tav>
                                        <p:tav tm="100000">
                                          <p:val>
                                            <p:strVal val="#ppt_x"/>
                                          </p:val>
                                        </p:tav>
                                      </p:tavLst>
                                    </p:anim>
                                    <p:anim calcmode="lin" valueType="num">
                                      <p:cBhvr>
                                        <p:cTn id="103" dur="500" fill="hold"/>
                                        <p:tgtEl>
                                          <p:spTgt spid="64"/>
                                        </p:tgtEl>
                                        <p:attrNameLst>
                                          <p:attrName>ppt_y</p:attrName>
                                        </p:attrNameLst>
                                      </p:cBhvr>
                                      <p:tavLst>
                                        <p:tav tm="0">
                                          <p:val>
                                            <p:strVal val="#ppt_h+1"/>
                                          </p:val>
                                        </p:tav>
                                        <p:tav tm="100000">
                                          <p:val>
                                            <p:strVal val="#ppt_y"/>
                                          </p:val>
                                        </p:tav>
                                      </p:tavLst>
                                    </p:anim>
                                    <p:animEffect transition="in" filter="fade">
                                      <p:cBhvr>
                                        <p:cTn id="104" dur="500"/>
                                        <p:tgtEl>
                                          <p:spTgt spid="64"/>
                                        </p:tgtEl>
                                      </p:cBhvr>
                                    </p:animEffect>
                                  </p:childTnLst>
                                </p:cTn>
                              </p:par>
                              <p:par>
                                <p:cTn id="105" presetID="58" presetClass="entr" presetSubtype="0" accel="100000" fill="hold" nodeType="withEffect">
                                  <p:stCondLst>
                                    <p:cond delay="18000"/>
                                  </p:stCondLst>
                                  <p:childTnLst>
                                    <p:set>
                                      <p:cBhvr>
                                        <p:cTn id="106" dur="1" fill="hold">
                                          <p:stCondLst>
                                            <p:cond delay="0"/>
                                          </p:stCondLst>
                                        </p:cTn>
                                        <p:tgtEl>
                                          <p:spTgt spid="68"/>
                                        </p:tgtEl>
                                        <p:attrNameLst>
                                          <p:attrName>style.visibility</p:attrName>
                                        </p:attrNameLst>
                                      </p:cBhvr>
                                      <p:to>
                                        <p:strVal val="visible"/>
                                      </p:to>
                                    </p:set>
                                    <p:anim calcmode="lin" valueType="num">
                                      <p:cBhvr>
                                        <p:cTn id="107" dur="500" fill="hold"/>
                                        <p:tgtEl>
                                          <p:spTgt spid="68"/>
                                        </p:tgtEl>
                                        <p:attrNameLst>
                                          <p:attrName>ppt_w</p:attrName>
                                        </p:attrNameLst>
                                      </p:cBhvr>
                                      <p:tavLst>
                                        <p:tav tm="0">
                                          <p:val>
                                            <p:strVal val="#ppt_w*2.5"/>
                                          </p:val>
                                        </p:tav>
                                        <p:tav tm="100000">
                                          <p:val>
                                            <p:strVal val="#ppt_w"/>
                                          </p:val>
                                        </p:tav>
                                      </p:tavLst>
                                    </p:anim>
                                    <p:anim calcmode="lin" valueType="num">
                                      <p:cBhvr>
                                        <p:cTn id="108" dur="500" fill="hold"/>
                                        <p:tgtEl>
                                          <p:spTgt spid="68"/>
                                        </p:tgtEl>
                                        <p:attrNameLst>
                                          <p:attrName>ppt_h</p:attrName>
                                        </p:attrNameLst>
                                      </p:cBhvr>
                                      <p:tavLst>
                                        <p:tav tm="0">
                                          <p:val>
                                            <p:strVal val="#ppt_h*0.01"/>
                                          </p:val>
                                        </p:tav>
                                        <p:tav tm="100000">
                                          <p:val>
                                            <p:strVal val="#ppt_h"/>
                                          </p:val>
                                        </p:tav>
                                      </p:tavLst>
                                    </p:anim>
                                    <p:anim calcmode="lin" valueType="num">
                                      <p:cBhvr>
                                        <p:cTn id="109" dur="500" fill="hold"/>
                                        <p:tgtEl>
                                          <p:spTgt spid="68"/>
                                        </p:tgtEl>
                                        <p:attrNameLst>
                                          <p:attrName>ppt_x</p:attrName>
                                        </p:attrNameLst>
                                      </p:cBhvr>
                                      <p:tavLst>
                                        <p:tav tm="0">
                                          <p:val>
                                            <p:strVal val="#ppt_x"/>
                                          </p:val>
                                        </p:tav>
                                        <p:tav tm="100000">
                                          <p:val>
                                            <p:strVal val="#ppt_x"/>
                                          </p:val>
                                        </p:tav>
                                      </p:tavLst>
                                    </p:anim>
                                    <p:anim calcmode="lin" valueType="num">
                                      <p:cBhvr>
                                        <p:cTn id="110" dur="500" fill="hold"/>
                                        <p:tgtEl>
                                          <p:spTgt spid="68"/>
                                        </p:tgtEl>
                                        <p:attrNameLst>
                                          <p:attrName>ppt_y</p:attrName>
                                        </p:attrNameLst>
                                      </p:cBhvr>
                                      <p:tavLst>
                                        <p:tav tm="0">
                                          <p:val>
                                            <p:strVal val="#ppt_h+1"/>
                                          </p:val>
                                        </p:tav>
                                        <p:tav tm="100000">
                                          <p:val>
                                            <p:strVal val="#ppt_y"/>
                                          </p:val>
                                        </p:tav>
                                      </p:tavLst>
                                    </p:anim>
                                    <p:animEffect transition="in" filter="fade">
                                      <p:cBhvr>
                                        <p:cTn id="111" dur="500"/>
                                        <p:tgtEl>
                                          <p:spTgt spid="68"/>
                                        </p:tgtEl>
                                      </p:cBhvr>
                                    </p:animEffect>
                                  </p:childTnLst>
                                </p:cTn>
                              </p:par>
                              <p:par>
                                <p:cTn id="112" presetID="58" presetClass="entr" presetSubtype="0" accel="100000" fill="hold" nodeType="withEffect">
                                  <p:stCondLst>
                                    <p:cond delay="18800"/>
                                  </p:stCondLst>
                                  <p:childTnLst>
                                    <p:set>
                                      <p:cBhvr>
                                        <p:cTn id="113" dur="1" fill="hold">
                                          <p:stCondLst>
                                            <p:cond delay="0"/>
                                          </p:stCondLst>
                                        </p:cTn>
                                        <p:tgtEl>
                                          <p:spTgt spid="72"/>
                                        </p:tgtEl>
                                        <p:attrNameLst>
                                          <p:attrName>style.visibility</p:attrName>
                                        </p:attrNameLst>
                                      </p:cBhvr>
                                      <p:to>
                                        <p:strVal val="visible"/>
                                      </p:to>
                                    </p:set>
                                    <p:anim calcmode="lin" valueType="num">
                                      <p:cBhvr>
                                        <p:cTn id="114" dur="500" fill="hold"/>
                                        <p:tgtEl>
                                          <p:spTgt spid="72"/>
                                        </p:tgtEl>
                                        <p:attrNameLst>
                                          <p:attrName>ppt_w</p:attrName>
                                        </p:attrNameLst>
                                      </p:cBhvr>
                                      <p:tavLst>
                                        <p:tav tm="0">
                                          <p:val>
                                            <p:strVal val="#ppt_w*2.5"/>
                                          </p:val>
                                        </p:tav>
                                        <p:tav tm="100000">
                                          <p:val>
                                            <p:strVal val="#ppt_w"/>
                                          </p:val>
                                        </p:tav>
                                      </p:tavLst>
                                    </p:anim>
                                    <p:anim calcmode="lin" valueType="num">
                                      <p:cBhvr>
                                        <p:cTn id="115" dur="500" fill="hold"/>
                                        <p:tgtEl>
                                          <p:spTgt spid="72"/>
                                        </p:tgtEl>
                                        <p:attrNameLst>
                                          <p:attrName>ppt_h</p:attrName>
                                        </p:attrNameLst>
                                      </p:cBhvr>
                                      <p:tavLst>
                                        <p:tav tm="0">
                                          <p:val>
                                            <p:strVal val="#ppt_h*0.01"/>
                                          </p:val>
                                        </p:tav>
                                        <p:tav tm="100000">
                                          <p:val>
                                            <p:strVal val="#ppt_h"/>
                                          </p:val>
                                        </p:tav>
                                      </p:tavLst>
                                    </p:anim>
                                    <p:anim calcmode="lin" valueType="num">
                                      <p:cBhvr>
                                        <p:cTn id="116" dur="500" fill="hold"/>
                                        <p:tgtEl>
                                          <p:spTgt spid="72"/>
                                        </p:tgtEl>
                                        <p:attrNameLst>
                                          <p:attrName>ppt_x</p:attrName>
                                        </p:attrNameLst>
                                      </p:cBhvr>
                                      <p:tavLst>
                                        <p:tav tm="0">
                                          <p:val>
                                            <p:strVal val="#ppt_x"/>
                                          </p:val>
                                        </p:tav>
                                        <p:tav tm="100000">
                                          <p:val>
                                            <p:strVal val="#ppt_x"/>
                                          </p:val>
                                        </p:tav>
                                      </p:tavLst>
                                    </p:anim>
                                    <p:anim calcmode="lin" valueType="num">
                                      <p:cBhvr>
                                        <p:cTn id="117" dur="500" fill="hold"/>
                                        <p:tgtEl>
                                          <p:spTgt spid="72"/>
                                        </p:tgtEl>
                                        <p:attrNameLst>
                                          <p:attrName>ppt_y</p:attrName>
                                        </p:attrNameLst>
                                      </p:cBhvr>
                                      <p:tavLst>
                                        <p:tav tm="0">
                                          <p:val>
                                            <p:strVal val="#ppt_h+1"/>
                                          </p:val>
                                        </p:tav>
                                        <p:tav tm="100000">
                                          <p:val>
                                            <p:strVal val="#ppt_y"/>
                                          </p:val>
                                        </p:tav>
                                      </p:tavLst>
                                    </p:anim>
                                    <p:animEffect transition="in" filter="fade">
                                      <p:cBhvr>
                                        <p:cTn id="118" dur="500"/>
                                        <p:tgtEl>
                                          <p:spTgt spid="72"/>
                                        </p:tgtEl>
                                      </p:cBhvr>
                                    </p:animEffect>
                                  </p:childTnLst>
                                </p:cTn>
                              </p:par>
                              <p:par>
                                <p:cTn id="119" presetID="2" presetClass="entr" presetSubtype="4" fill="hold" nodeType="withEffect">
                                  <p:stCondLst>
                                    <p:cond delay="21000"/>
                                  </p:stCondLst>
                                  <p:childTnLst>
                                    <p:set>
                                      <p:cBhvr>
                                        <p:cTn id="120" dur="1" fill="hold">
                                          <p:stCondLst>
                                            <p:cond delay="0"/>
                                          </p:stCondLst>
                                        </p:cTn>
                                        <p:tgtEl>
                                          <p:spTgt spid="76"/>
                                        </p:tgtEl>
                                        <p:attrNameLst>
                                          <p:attrName>style.visibility</p:attrName>
                                        </p:attrNameLst>
                                      </p:cBhvr>
                                      <p:to>
                                        <p:strVal val="visible"/>
                                      </p:to>
                                    </p:set>
                                    <p:anim calcmode="lin" valueType="num">
                                      <p:cBhvr additive="base">
                                        <p:cTn id="121" dur="600" fill="hold"/>
                                        <p:tgtEl>
                                          <p:spTgt spid="76"/>
                                        </p:tgtEl>
                                        <p:attrNameLst>
                                          <p:attrName>ppt_x</p:attrName>
                                        </p:attrNameLst>
                                      </p:cBhvr>
                                      <p:tavLst>
                                        <p:tav tm="0">
                                          <p:val>
                                            <p:strVal val="#ppt_x"/>
                                          </p:val>
                                        </p:tav>
                                        <p:tav tm="100000">
                                          <p:val>
                                            <p:strVal val="#ppt_x"/>
                                          </p:val>
                                        </p:tav>
                                      </p:tavLst>
                                    </p:anim>
                                    <p:anim calcmode="lin" valueType="num">
                                      <p:cBhvr additive="base">
                                        <p:cTn id="122" dur="600" fill="hold"/>
                                        <p:tgtEl>
                                          <p:spTgt spid="76"/>
                                        </p:tgtEl>
                                        <p:attrNameLst>
                                          <p:attrName>ppt_y</p:attrName>
                                        </p:attrNameLst>
                                      </p:cBhvr>
                                      <p:tavLst>
                                        <p:tav tm="0">
                                          <p:val>
                                            <p:strVal val="1+#ppt_h/2"/>
                                          </p:val>
                                        </p:tav>
                                        <p:tav tm="100000">
                                          <p:val>
                                            <p:strVal val="#ppt_y"/>
                                          </p:val>
                                        </p:tav>
                                      </p:tavLst>
                                    </p:anim>
                                  </p:childTnLst>
                                </p:cTn>
                              </p:par>
                              <p:par>
                                <p:cTn id="123" presetID="10" presetClass="entr" presetSubtype="0" fill="hold" nodeType="withEffect">
                                  <p:stCondLst>
                                    <p:cond delay="24400"/>
                                  </p:stCondLst>
                                  <p:childTnLst>
                                    <p:set>
                                      <p:cBhvr>
                                        <p:cTn id="124" dur="1" fill="hold">
                                          <p:stCondLst>
                                            <p:cond delay="0"/>
                                          </p:stCondLst>
                                        </p:cTn>
                                        <p:tgtEl>
                                          <p:spTgt spid="79"/>
                                        </p:tgtEl>
                                        <p:attrNameLst>
                                          <p:attrName>style.visibility</p:attrName>
                                        </p:attrNameLst>
                                      </p:cBhvr>
                                      <p:to>
                                        <p:strVal val="visible"/>
                                      </p:to>
                                    </p:set>
                                    <p:animEffect transition="in" filter="fade">
                                      <p:cBhvr>
                                        <p:cTn id="125" dur="6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Measuring Canvas adoption</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you measure Canvas adoption?</a:t>
            </a:r>
          </a:p>
        </p:txBody>
      </p:sp>
      <p:sp>
        <p:nvSpPr>
          <p:cNvPr id="6" name="Outcome"/>
          <p:cNvSpPr txBox="1"/>
          <p:nvPr/>
        </p:nvSpPr>
        <p:spPr>
          <a:xfrm>
            <a:off x="0" y="1841500"/>
            <a:ext cx="12192000" cy="381000"/>
          </a:xfrm>
          <a:prstGeom prst="rect">
            <a:avLst/>
          </a:prstGeom>
          <a:noFill/>
        </p:spPr>
        <p:txBody>
          <a:bodyPr wrap="square" lIns="0" tIns="0" rIns="0" bIns="0" anchor="t">
            <a:spAutoFit/>
          </a:bodyPr>
          <a:lstStyle/>
          <a:p>
            <a:pPr algn="ctr">
              <a:lnSpc>
                <a:spcPct val="115000"/>
              </a:lnSpc>
            </a:pPr>
            <a:r>
              <a:rPr sz="2200" b="1">
                <a:solidFill>
                  <a:srgbClr val="F2F5FB"/>
                </a:solidFill>
                <a:latin typeface="Segoe UI"/>
              </a:rPr>
              <a:t>Outcome: </a:t>
            </a:r>
            <a:r>
              <a:rPr sz="2200" b="1">
                <a:solidFill>
                  <a:srgbClr val="22C55E"/>
                </a:solidFill>
                <a:latin typeface="Segoe UI"/>
              </a:rPr>
              <a:t>automated component deployment &amp; lifecycle management</a:t>
            </a:r>
          </a:p>
        </p:txBody>
      </p:sp>
      <p:grpSp>
        <p:nvGrpSpPr>
          <p:cNvPr id="9" name="Light 1"/>
          <p:cNvGrpSpPr/>
          <p:nvPr/>
        </p:nvGrpSpPr>
        <p:grpSpPr>
          <a:xfrm>
            <a:off x="889000" y="2984500"/>
            <a:ext cx="1397000" cy="1625600"/>
            <a:chOff x="889000" y="2984500"/>
            <a:chExt cx="1397000" cy="1625600"/>
          </a:xfrm>
        </p:grpSpPr>
        <p:sp>
          <p:nvSpPr>
            <p:cNvPr id="7" name="Shape 5"/>
            <p:cNvSpPr/>
            <p:nvPr/>
          </p:nvSpPr>
          <p:spPr>
            <a:xfrm>
              <a:off x="111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hape 6"/>
            <p:cNvSpPr txBox="1"/>
            <p:nvPr/>
          </p:nvSpPr>
          <p:spPr>
            <a:xfrm>
              <a:off x="88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API exposure</a:t>
              </a:r>
            </a:p>
          </p:txBody>
        </p:sp>
      </p:grpSp>
      <p:sp>
        <p:nvSpPr>
          <p:cNvPr id="10" name="Light 1 on"/>
          <p:cNvSpPr/>
          <p:nvPr/>
        </p:nvSpPr>
        <p:spPr>
          <a:xfrm>
            <a:off x="111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 name="Light 2"/>
          <p:cNvGrpSpPr/>
          <p:nvPr/>
        </p:nvGrpSpPr>
        <p:grpSpPr>
          <a:xfrm>
            <a:off x="2413000" y="2984500"/>
            <a:ext cx="1397000" cy="1625600"/>
            <a:chOff x="2413000" y="2984500"/>
            <a:chExt cx="1397000" cy="1625600"/>
          </a:xfrm>
        </p:grpSpPr>
        <p:sp>
          <p:nvSpPr>
            <p:cNvPr id="11" name="Shape 9"/>
            <p:cNvSpPr/>
            <p:nvPr/>
          </p:nvSpPr>
          <p:spPr>
            <a:xfrm>
              <a:off x="263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hape 10"/>
            <p:cNvSpPr txBox="1"/>
            <p:nvPr/>
          </p:nvSpPr>
          <p:spPr>
            <a:xfrm>
              <a:off x="241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Observability</a:t>
              </a:r>
            </a:p>
          </p:txBody>
        </p:sp>
      </p:grpSp>
      <p:sp>
        <p:nvSpPr>
          <p:cNvPr id="14" name="Light 2 on"/>
          <p:cNvSpPr/>
          <p:nvPr/>
        </p:nvSpPr>
        <p:spPr>
          <a:xfrm>
            <a:off x="263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7" name="Light 3"/>
          <p:cNvGrpSpPr/>
          <p:nvPr/>
        </p:nvGrpSpPr>
        <p:grpSpPr>
          <a:xfrm>
            <a:off x="3937000" y="2984500"/>
            <a:ext cx="1397000" cy="1625600"/>
            <a:chOff x="3937000" y="2984500"/>
            <a:chExt cx="1397000" cy="1625600"/>
          </a:xfrm>
        </p:grpSpPr>
        <p:sp>
          <p:nvSpPr>
            <p:cNvPr id="15" name="Shape 13"/>
            <p:cNvSpPr/>
            <p:nvPr/>
          </p:nvSpPr>
          <p:spPr>
            <a:xfrm>
              <a:off x="4159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hape 14"/>
            <p:cNvSpPr txBox="1"/>
            <p:nvPr/>
          </p:nvSpPr>
          <p:spPr>
            <a:xfrm>
              <a:off x="3937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Identity</a:t>
              </a:r>
            </a:p>
          </p:txBody>
        </p:sp>
      </p:grpSp>
      <p:sp>
        <p:nvSpPr>
          <p:cNvPr id="18" name="Light 3 on"/>
          <p:cNvSpPr/>
          <p:nvPr/>
        </p:nvSpPr>
        <p:spPr>
          <a:xfrm>
            <a:off x="4159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1" name="Light 4"/>
          <p:cNvGrpSpPr/>
          <p:nvPr/>
        </p:nvGrpSpPr>
        <p:grpSpPr>
          <a:xfrm>
            <a:off x="5461000" y="2984500"/>
            <a:ext cx="1397000" cy="1625600"/>
            <a:chOff x="5461000" y="2984500"/>
            <a:chExt cx="1397000" cy="1625600"/>
          </a:xfrm>
        </p:grpSpPr>
        <p:sp>
          <p:nvSpPr>
            <p:cNvPr id="19" name="Shape 17"/>
            <p:cNvSpPr/>
            <p:nvPr/>
          </p:nvSpPr>
          <p:spPr>
            <a:xfrm>
              <a:off x="5683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hape 18"/>
            <p:cNvSpPr txBox="1"/>
            <p:nvPr/>
          </p:nvSpPr>
          <p:spPr>
            <a:xfrm>
              <a:off x="5461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Secrets</a:t>
              </a:r>
            </a:p>
          </p:txBody>
        </p:sp>
      </p:grpSp>
      <p:sp>
        <p:nvSpPr>
          <p:cNvPr id="22" name="Light 4 on"/>
          <p:cNvSpPr/>
          <p:nvPr/>
        </p:nvSpPr>
        <p:spPr>
          <a:xfrm>
            <a:off x="5683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5" name="Light 5"/>
          <p:cNvGrpSpPr/>
          <p:nvPr/>
        </p:nvGrpSpPr>
        <p:grpSpPr>
          <a:xfrm>
            <a:off x="6985000" y="2984500"/>
            <a:ext cx="1397000" cy="1625600"/>
            <a:chOff x="6985000" y="2984500"/>
            <a:chExt cx="1397000" cy="1625600"/>
          </a:xfrm>
        </p:grpSpPr>
        <p:sp>
          <p:nvSpPr>
            <p:cNvPr id="23" name="Shape 21"/>
            <p:cNvSpPr/>
            <p:nvPr/>
          </p:nvSpPr>
          <p:spPr>
            <a:xfrm>
              <a:off x="7207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hape 22"/>
            <p:cNvSpPr txBox="1"/>
            <p:nvPr/>
          </p:nvSpPr>
          <p:spPr>
            <a:xfrm>
              <a:off x="6985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Responsible AI</a:t>
              </a:r>
            </a:p>
          </p:txBody>
        </p:sp>
      </p:grpSp>
      <p:sp>
        <p:nvSpPr>
          <p:cNvPr id="26" name="Light 5 on"/>
          <p:cNvSpPr/>
          <p:nvPr/>
        </p:nvSpPr>
        <p:spPr>
          <a:xfrm>
            <a:off x="7207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9" name="Light 6"/>
          <p:cNvGrpSpPr/>
          <p:nvPr/>
        </p:nvGrpSpPr>
        <p:grpSpPr>
          <a:xfrm>
            <a:off x="8509000" y="2984500"/>
            <a:ext cx="1397000" cy="1625600"/>
            <a:chOff x="8509000" y="2984500"/>
            <a:chExt cx="1397000" cy="1625600"/>
          </a:xfrm>
        </p:grpSpPr>
        <p:sp>
          <p:nvSpPr>
            <p:cNvPr id="27" name="Shape 25"/>
            <p:cNvSpPr/>
            <p:nvPr/>
          </p:nvSpPr>
          <p:spPr>
            <a:xfrm>
              <a:off x="873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hape 26"/>
            <p:cNvSpPr txBox="1"/>
            <p:nvPr/>
          </p:nvSpPr>
          <p:spPr>
            <a:xfrm>
              <a:off x="850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Cost</a:t>
              </a:r>
            </a:p>
          </p:txBody>
        </p:sp>
      </p:grpSp>
      <p:sp>
        <p:nvSpPr>
          <p:cNvPr id="30" name="Light 6 on"/>
          <p:cNvSpPr/>
          <p:nvPr/>
        </p:nvSpPr>
        <p:spPr>
          <a:xfrm>
            <a:off x="873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Light 7"/>
          <p:cNvGrpSpPr/>
          <p:nvPr/>
        </p:nvGrpSpPr>
        <p:grpSpPr>
          <a:xfrm>
            <a:off x="10033000" y="2984500"/>
            <a:ext cx="1397000" cy="1625600"/>
            <a:chOff x="10033000" y="2984500"/>
            <a:chExt cx="1397000" cy="1625600"/>
          </a:xfrm>
        </p:grpSpPr>
        <p:sp>
          <p:nvSpPr>
            <p:cNvPr id="31" name="Shape 29"/>
            <p:cNvSpPr/>
            <p:nvPr/>
          </p:nvSpPr>
          <p:spPr>
            <a:xfrm>
              <a:off x="1025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hape 30"/>
            <p:cNvSpPr txBox="1"/>
            <p:nvPr/>
          </p:nvSpPr>
          <p:spPr>
            <a:xfrm>
              <a:off x="1003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Carbon</a:t>
              </a:r>
            </a:p>
          </p:txBody>
        </p:sp>
      </p:grpSp>
      <p:sp>
        <p:nvSpPr>
          <p:cNvPr id="34" name="Light 7 on"/>
          <p:cNvSpPr/>
          <p:nvPr/>
        </p:nvSpPr>
        <p:spPr>
          <a:xfrm>
            <a:off x="1025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uture"/>
          <p:cNvSpPr txBox="1"/>
          <p:nvPr/>
        </p:nvSpPr>
        <p:spPr>
          <a:xfrm>
            <a:off x="0" y="5905500"/>
            <a:ext cx="12192000" cy="317500"/>
          </a:xfrm>
          <a:prstGeom prst="rect">
            <a:avLst/>
          </a:prstGeom>
          <a:noFill/>
        </p:spPr>
        <p:txBody>
          <a:bodyPr wrap="square" lIns="0" tIns="0" rIns="0" bIns="0" anchor="t">
            <a:spAutoFit/>
          </a:bodyPr>
          <a:lstStyle/>
          <a:p>
            <a:pPr algn="ctr">
              <a:lnSpc>
                <a:spcPct val="115000"/>
              </a:lnSpc>
            </a:pPr>
            <a:r>
              <a:rPr sz="2000" b="1">
                <a:solidFill>
                  <a:srgbClr val="8F9BB8"/>
                </a:solidFill>
                <a:latin typeface="Segoe UI"/>
              </a:rPr>
              <a:t>…and future automations</a:t>
            </a:r>
          </a:p>
        </p:txBody>
      </p:sp>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240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childTnLst>
                                </p:cTn>
                              </p:par>
                              <p:par>
                                <p:cTn id="15" presetID="10" presetClass="entr" presetSubtype="0" fill="hold" nodeType="withEffect">
                                  <p:stCondLst>
                                    <p:cond delay="65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600"/>
                                        <p:tgtEl>
                                          <p:spTgt spid="9"/>
                                        </p:tgtEl>
                                      </p:cBhvr>
                                    </p:animEffect>
                                  </p:childTnLst>
                                </p:cTn>
                              </p:par>
                              <p:par>
                                <p:cTn id="18" presetID="10" presetClass="entr" presetSubtype="0" fill="hold" nodeType="withEffect">
                                  <p:stCondLst>
                                    <p:cond delay="66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600"/>
                                        <p:tgtEl>
                                          <p:spTgt spid="13"/>
                                        </p:tgtEl>
                                      </p:cBhvr>
                                    </p:animEffect>
                                  </p:childTnLst>
                                </p:cTn>
                              </p:par>
                              <p:par>
                                <p:cTn id="21" presetID="10" presetClass="entr" presetSubtype="0" fill="hold" nodeType="withEffect">
                                  <p:stCondLst>
                                    <p:cond delay="680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600"/>
                                        <p:tgtEl>
                                          <p:spTgt spid="17"/>
                                        </p:tgtEl>
                                      </p:cBhvr>
                                    </p:animEffect>
                                  </p:childTnLst>
                                </p:cTn>
                              </p:par>
                              <p:par>
                                <p:cTn id="24" presetID="10" presetClass="entr" presetSubtype="0" fill="hold" nodeType="withEffect">
                                  <p:stCondLst>
                                    <p:cond delay="695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600"/>
                                        <p:tgtEl>
                                          <p:spTgt spid="21"/>
                                        </p:tgtEl>
                                      </p:cBhvr>
                                    </p:animEffect>
                                  </p:childTnLst>
                                </p:cTn>
                              </p:par>
                              <p:par>
                                <p:cTn id="27" presetID="10" presetClass="entr" presetSubtype="0" fill="hold" nodeType="withEffect">
                                  <p:stCondLst>
                                    <p:cond delay="710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600"/>
                                        <p:tgtEl>
                                          <p:spTgt spid="25"/>
                                        </p:tgtEl>
                                      </p:cBhvr>
                                    </p:animEffect>
                                  </p:childTnLst>
                                </p:cTn>
                              </p:par>
                              <p:par>
                                <p:cTn id="30" presetID="10" presetClass="entr" presetSubtype="0" fill="hold" nodeType="withEffect">
                                  <p:stCondLst>
                                    <p:cond delay="725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600"/>
                                        <p:tgtEl>
                                          <p:spTgt spid="29"/>
                                        </p:tgtEl>
                                      </p:cBhvr>
                                    </p:animEffect>
                                  </p:childTnLst>
                                </p:cTn>
                              </p:par>
                              <p:par>
                                <p:cTn id="33" presetID="10" presetClass="entr" presetSubtype="0" fill="hold" nodeType="withEffect">
                                  <p:stCondLst>
                                    <p:cond delay="740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600"/>
                                        <p:tgtEl>
                                          <p:spTgt spid="33"/>
                                        </p:tgtEl>
                                      </p:cBhvr>
                                    </p:animEffect>
                                  </p:childTnLst>
                                </p:cTn>
                              </p:par>
                              <p:par>
                                <p:cTn id="36" presetID="58" presetClass="entr" presetSubtype="0" accel="100000" fill="hold" grpId="0" nodeType="withEffect">
                                  <p:stCondLst>
                                    <p:cond delay="9800"/>
                                  </p:stCondLst>
                                  <p:childTnLst>
                                    <p:set>
                                      <p:cBhvr>
                                        <p:cTn id="37" dur="1" fill="hold">
                                          <p:stCondLst>
                                            <p:cond delay="0"/>
                                          </p:stCondLst>
                                        </p:cTn>
                                        <p:tgtEl>
                                          <p:spTgt spid="10"/>
                                        </p:tgtEl>
                                        <p:attrNameLst>
                                          <p:attrName>style.visibility</p:attrName>
                                        </p:attrNameLst>
                                      </p:cBhvr>
                                      <p:to>
                                        <p:strVal val="visible"/>
                                      </p:to>
                                    </p:set>
                                    <p:anim calcmode="lin" valueType="num">
                                      <p:cBhvr>
                                        <p:cTn id="38" dur="500" fill="hold"/>
                                        <p:tgtEl>
                                          <p:spTgt spid="10"/>
                                        </p:tgtEl>
                                        <p:attrNameLst>
                                          <p:attrName>ppt_w</p:attrName>
                                        </p:attrNameLst>
                                      </p:cBhvr>
                                      <p:tavLst>
                                        <p:tav tm="0">
                                          <p:val>
                                            <p:strVal val="#ppt_w*2.5"/>
                                          </p:val>
                                        </p:tav>
                                        <p:tav tm="100000">
                                          <p:val>
                                            <p:strVal val="#ppt_w"/>
                                          </p:val>
                                        </p:tav>
                                      </p:tavLst>
                                    </p:anim>
                                    <p:anim calcmode="lin" valueType="num">
                                      <p:cBhvr>
                                        <p:cTn id="39" dur="500" fill="hold"/>
                                        <p:tgtEl>
                                          <p:spTgt spid="10"/>
                                        </p:tgtEl>
                                        <p:attrNameLst>
                                          <p:attrName>ppt_h</p:attrName>
                                        </p:attrNameLst>
                                      </p:cBhvr>
                                      <p:tavLst>
                                        <p:tav tm="0">
                                          <p:val>
                                            <p:strVal val="#ppt_h*0.01"/>
                                          </p:val>
                                        </p:tav>
                                        <p:tav tm="100000">
                                          <p:val>
                                            <p:strVal val="#ppt_h"/>
                                          </p:val>
                                        </p:tav>
                                      </p:tavLst>
                                    </p:anim>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h+1"/>
                                          </p:val>
                                        </p:tav>
                                        <p:tav tm="100000">
                                          <p:val>
                                            <p:strVal val="#ppt_y"/>
                                          </p:val>
                                        </p:tav>
                                      </p:tavLst>
                                    </p:anim>
                                    <p:animEffect transition="in" filter="fade">
                                      <p:cBhvr>
                                        <p:cTn id="42" dur="500"/>
                                        <p:tgtEl>
                                          <p:spTgt spid="10"/>
                                        </p:tgtEl>
                                      </p:cBhvr>
                                    </p:animEffect>
                                  </p:childTnLst>
                                </p:cTn>
                              </p:par>
                              <p:par>
                                <p:cTn id="43" presetID="58" presetClass="entr" presetSubtype="0" accel="100000" fill="hold" grpId="0" nodeType="withEffect">
                                  <p:stCondLst>
                                    <p:cond delay="10800"/>
                                  </p:stCondLst>
                                  <p:childTnLst>
                                    <p:set>
                                      <p:cBhvr>
                                        <p:cTn id="44" dur="1" fill="hold">
                                          <p:stCondLst>
                                            <p:cond delay="0"/>
                                          </p:stCondLst>
                                        </p:cTn>
                                        <p:tgtEl>
                                          <p:spTgt spid="14"/>
                                        </p:tgtEl>
                                        <p:attrNameLst>
                                          <p:attrName>style.visibility</p:attrName>
                                        </p:attrNameLst>
                                      </p:cBhvr>
                                      <p:to>
                                        <p:strVal val="visible"/>
                                      </p:to>
                                    </p:set>
                                    <p:anim calcmode="lin" valueType="num">
                                      <p:cBhvr>
                                        <p:cTn id="45" dur="500" fill="hold"/>
                                        <p:tgtEl>
                                          <p:spTgt spid="14"/>
                                        </p:tgtEl>
                                        <p:attrNameLst>
                                          <p:attrName>ppt_w</p:attrName>
                                        </p:attrNameLst>
                                      </p:cBhvr>
                                      <p:tavLst>
                                        <p:tav tm="0">
                                          <p:val>
                                            <p:strVal val="#ppt_w*2.5"/>
                                          </p:val>
                                        </p:tav>
                                        <p:tav tm="100000">
                                          <p:val>
                                            <p:strVal val="#ppt_w"/>
                                          </p:val>
                                        </p:tav>
                                      </p:tavLst>
                                    </p:anim>
                                    <p:anim calcmode="lin" valueType="num">
                                      <p:cBhvr>
                                        <p:cTn id="46" dur="500" fill="hold"/>
                                        <p:tgtEl>
                                          <p:spTgt spid="14"/>
                                        </p:tgtEl>
                                        <p:attrNameLst>
                                          <p:attrName>ppt_h</p:attrName>
                                        </p:attrNameLst>
                                      </p:cBhvr>
                                      <p:tavLst>
                                        <p:tav tm="0">
                                          <p:val>
                                            <p:strVal val="#ppt_h*0.01"/>
                                          </p:val>
                                        </p:tav>
                                        <p:tav tm="100000">
                                          <p:val>
                                            <p:strVal val="#ppt_h"/>
                                          </p:val>
                                        </p:tav>
                                      </p:tavLst>
                                    </p:anim>
                                    <p:anim calcmode="lin" valueType="num">
                                      <p:cBhvr>
                                        <p:cTn id="47" dur="500" fill="hold"/>
                                        <p:tgtEl>
                                          <p:spTgt spid="14"/>
                                        </p:tgtEl>
                                        <p:attrNameLst>
                                          <p:attrName>ppt_x</p:attrName>
                                        </p:attrNameLst>
                                      </p:cBhvr>
                                      <p:tavLst>
                                        <p:tav tm="0">
                                          <p:val>
                                            <p:strVal val="#ppt_x"/>
                                          </p:val>
                                        </p:tav>
                                        <p:tav tm="100000">
                                          <p:val>
                                            <p:strVal val="#ppt_x"/>
                                          </p:val>
                                        </p:tav>
                                      </p:tavLst>
                                    </p:anim>
                                    <p:anim calcmode="lin" valueType="num">
                                      <p:cBhvr>
                                        <p:cTn id="48" dur="500" fill="hold"/>
                                        <p:tgtEl>
                                          <p:spTgt spid="14"/>
                                        </p:tgtEl>
                                        <p:attrNameLst>
                                          <p:attrName>ppt_y</p:attrName>
                                        </p:attrNameLst>
                                      </p:cBhvr>
                                      <p:tavLst>
                                        <p:tav tm="0">
                                          <p:val>
                                            <p:strVal val="#ppt_h+1"/>
                                          </p:val>
                                        </p:tav>
                                        <p:tav tm="100000">
                                          <p:val>
                                            <p:strVal val="#ppt_y"/>
                                          </p:val>
                                        </p:tav>
                                      </p:tavLst>
                                    </p:anim>
                                    <p:animEffect transition="in" filter="fade">
                                      <p:cBhvr>
                                        <p:cTn id="49" dur="500"/>
                                        <p:tgtEl>
                                          <p:spTgt spid="14"/>
                                        </p:tgtEl>
                                      </p:cBhvr>
                                    </p:animEffect>
                                  </p:childTnLst>
                                </p:cTn>
                              </p:par>
                              <p:par>
                                <p:cTn id="50" presetID="58" presetClass="entr" presetSubtype="0" accel="100000" fill="hold" grpId="0" nodeType="withEffect">
                                  <p:stCondLst>
                                    <p:cond delay="11600"/>
                                  </p:stCondLst>
                                  <p:childTnLst>
                                    <p:set>
                                      <p:cBhvr>
                                        <p:cTn id="51" dur="1" fill="hold">
                                          <p:stCondLst>
                                            <p:cond delay="0"/>
                                          </p:stCondLst>
                                        </p:cTn>
                                        <p:tgtEl>
                                          <p:spTgt spid="18"/>
                                        </p:tgtEl>
                                        <p:attrNameLst>
                                          <p:attrName>style.visibility</p:attrName>
                                        </p:attrNameLst>
                                      </p:cBhvr>
                                      <p:to>
                                        <p:strVal val="visible"/>
                                      </p:to>
                                    </p:set>
                                    <p:anim calcmode="lin" valueType="num">
                                      <p:cBhvr>
                                        <p:cTn id="52" dur="500" fill="hold"/>
                                        <p:tgtEl>
                                          <p:spTgt spid="18"/>
                                        </p:tgtEl>
                                        <p:attrNameLst>
                                          <p:attrName>ppt_w</p:attrName>
                                        </p:attrNameLst>
                                      </p:cBhvr>
                                      <p:tavLst>
                                        <p:tav tm="0">
                                          <p:val>
                                            <p:strVal val="#ppt_w*2.5"/>
                                          </p:val>
                                        </p:tav>
                                        <p:tav tm="100000">
                                          <p:val>
                                            <p:strVal val="#ppt_w"/>
                                          </p:val>
                                        </p:tav>
                                      </p:tavLst>
                                    </p:anim>
                                    <p:anim calcmode="lin" valueType="num">
                                      <p:cBhvr>
                                        <p:cTn id="53" dur="500" fill="hold"/>
                                        <p:tgtEl>
                                          <p:spTgt spid="18"/>
                                        </p:tgtEl>
                                        <p:attrNameLst>
                                          <p:attrName>ppt_h</p:attrName>
                                        </p:attrNameLst>
                                      </p:cBhvr>
                                      <p:tavLst>
                                        <p:tav tm="0">
                                          <p:val>
                                            <p:strVal val="#ppt_h*0.01"/>
                                          </p:val>
                                        </p:tav>
                                        <p:tav tm="100000">
                                          <p:val>
                                            <p:strVal val="#ppt_h"/>
                                          </p:val>
                                        </p:tav>
                                      </p:tavLst>
                                    </p:anim>
                                    <p:anim calcmode="lin" valueType="num">
                                      <p:cBhvr>
                                        <p:cTn id="54" dur="500" fill="hold"/>
                                        <p:tgtEl>
                                          <p:spTgt spid="18"/>
                                        </p:tgtEl>
                                        <p:attrNameLst>
                                          <p:attrName>ppt_x</p:attrName>
                                        </p:attrNameLst>
                                      </p:cBhvr>
                                      <p:tavLst>
                                        <p:tav tm="0">
                                          <p:val>
                                            <p:strVal val="#ppt_x"/>
                                          </p:val>
                                        </p:tav>
                                        <p:tav tm="100000">
                                          <p:val>
                                            <p:strVal val="#ppt_x"/>
                                          </p:val>
                                        </p:tav>
                                      </p:tavLst>
                                    </p:anim>
                                    <p:anim calcmode="lin" valueType="num">
                                      <p:cBhvr>
                                        <p:cTn id="55" dur="500" fill="hold"/>
                                        <p:tgtEl>
                                          <p:spTgt spid="18"/>
                                        </p:tgtEl>
                                        <p:attrNameLst>
                                          <p:attrName>ppt_y</p:attrName>
                                        </p:attrNameLst>
                                      </p:cBhvr>
                                      <p:tavLst>
                                        <p:tav tm="0">
                                          <p:val>
                                            <p:strVal val="#ppt_h+1"/>
                                          </p:val>
                                        </p:tav>
                                        <p:tav tm="100000">
                                          <p:val>
                                            <p:strVal val="#ppt_y"/>
                                          </p:val>
                                        </p:tav>
                                      </p:tavLst>
                                    </p:anim>
                                    <p:animEffect transition="in" filter="fade">
                                      <p:cBhvr>
                                        <p:cTn id="56" dur="500"/>
                                        <p:tgtEl>
                                          <p:spTgt spid="18"/>
                                        </p:tgtEl>
                                      </p:cBhvr>
                                    </p:animEffect>
                                  </p:childTnLst>
                                </p:cTn>
                              </p:par>
                              <p:par>
                                <p:cTn id="57" presetID="58" presetClass="entr" presetSubtype="0" accel="100000" fill="hold" grpId="0" nodeType="withEffect">
                                  <p:stCondLst>
                                    <p:cond delay="12200"/>
                                  </p:stCondLst>
                                  <p:childTnLst>
                                    <p:set>
                                      <p:cBhvr>
                                        <p:cTn id="58" dur="1" fill="hold">
                                          <p:stCondLst>
                                            <p:cond delay="0"/>
                                          </p:stCondLst>
                                        </p:cTn>
                                        <p:tgtEl>
                                          <p:spTgt spid="22"/>
                                        </p:tgtEl>
                                        <p:attrNameLst>
                                          <p:attrName>style.visibility</p:attrName>
                                        </p:attrNameLst>
                                      </p:cBhvr>
                                      <p:to>
                                        <p:strVal val="visible"/>
                                      </p:to>
                                    </p:set>
                                    <p:anim calcmode="lin" valueType="num">
                                      <p:cBhvr>
                                        <p:cTn id="59" dur="500" fill="hold"/>
                                        <p:tgtEl>
                                          <p:spTgt spid="22"/>
                                        </p:tgtEl>
                                        <p:attrNameLst>
                                          <p:attrName>ppt_w</p:attrName>
                                        </p:attrNameLst>
                                      </p:cBhvr>
                                      <p:tavLst>
                                        <p:tav tm="0">
                                          <p:val>
                                            <p:strVal val="#ppt_w*2.5"/>
                                          </p:val>
                                        </p:tav>
                                        <p:tav tm="100000">
                                          <p:val>
                                            <p:strVal val="#ppt_w"/>
                                          </p:val>
                                        </p:tav>
                                      </p:tavLst>
                                    </p:anim>
                                    <p:anim calcmode="lin" valueType="num">
                                      <p:cBhvr>
                                        <p:cTn id="60" dur="500" fill="hold"/>
                                        <p:tgtEl>
                                          <p:spTgt spid="22"/>
                                        </p:tgtEl>
                                        <p:attrNameLst>
                                          <p:attrName>ppt_h</p:attrName>
                                        </p:attrNameLst>
                                      </p:cBhvr>
                                      <p:tavLst>
                                        <p:tav tm="0">
                                          <p:val>
                                            <p:strVal val="#ppt_h*0.01"/>
                                          </p:val>
                                        </p:tav>
                                        <p:tav tm="100000">
                                          <p:val>
                                            <p:strVal val="#ppt_h"/>
                                          </p:val>
                                        </p:tav>
                                      </p:tavLst>
                                    </p:anim>
                                    <p:anim calcmode="lin" valueType="num">
                                      <p:cBhvr>
                                        <p:cTn id="61" dur="500" fill="hold"/>
                                        <p:tgtEl>
                                          <p:spTgt spid="22"/>
                                        </p:tgtEl>
                                        <p:attrNameLst>
                                          <p:attrName>ppt_x</p:attrName>
                                        </p:attrNameLst>
                                      </p:cBhvr>
                                      <p:tavLst>
                                        <p:tav tm="0">
                                          <p:val>
                                            <p:strVal val="#ppt_x"/>
                                          </p:val>
                                        </p:tav>
                                        <p:tav tm="100000">
                                          <p:val>
                                            <p:strVal val="#ppt_x"/>
                                          </p:val>
                                        </p:tav>
                                      </p:tavLst>
                                    </p:anim>
                                    <p:anim calcmode="lin" valueType="num">
                                      <p:cBhvr>
                                        <p:cTn id="62" dur="500" fill="hold"/>
                                        <p:tgtEl>
                                          <p:spTgt spid="22"/>
                                        </p:tgtEl>
                                        <p:attrNameLst>
                                          <p:attrName>ppt_y</p:attrName>
                                        </p:attrNameLst>
                                      </p:cBhvr>
                                      <p:tavLst>
                                        <p:tav tm="0">
                                          <p:val>
                                            <p:strVal val="#ppt_h+1"/>
                                          </p:val>
                                        </p:tav>
                                        <p:tav tm="100000">
                                          <p:val>
                                            <p:strVal val="#ppt_y"/>
                                          </p:val>
                                        </p:tav>
                                      </p:tavLst>
                                    </p:anim>
                                    <p:animEffect transition="in" filter="fade">
                                      <p:cBhvr>
                                        <p:cTn id="63" dur="500"/>
                                        <p:tgtEl>
                                          <p:spTgt spid="22"/>
                                        </p:tgtEl>
                                      </p:cBhvr>
                                    </p:animEffect>
                                  </p:childTnLst>
                                </p:cTn>
                              </p:par>
                              <p:par>
                                <p:cTn id="64" presetID="58" presetClass="entr" presetSubtype="0" accel="100000" fill="hold" grpId="0" nodeType="withEffect">
                                  <p:stCondLst>
                                    <p:cond delay="14200"/>
                                  </p:stCondLst>
                                  <p:childTnLst>
                                    <p:set>
                                      <p:cBhvr>
                                        <p:cTn id="65" dur="1" fill="hold">
                                          <p:stCondLst>
                                            <p:cond delay="0"/>
                                          </p:stCondLst>
                                        </p:cTn>
                                        <p:tgtEl>
                                          <p:spTgt spid="26"/>
                                        </p:tgtEl>
                                        <p:attrNameLst>
                                          <p:attrName>style.visibility</p:attrName>
                                        </p:attrNameLst>
                                      </p:cBhvr>
                                      <p:to>
                                        <p:strVal val="visible"/>
                                      </p:to>
                                    </p:set>
                                    <p:anim calcmode="lin" valueType="num">
                                      <p:cBhvr>
                                        <p:cTn id="66" dur="500" fill="hold"/>
                                        <p:tgtEl>
                                          <p:spTgt spid="26"/>
                                        </p:tgtEl>
                                        <p:attrNameLst>
                                          <p:attrName>ppt_w</p:attrName>
                                        </p:attrNameLst>
                                      </p:cBhvr>
                                      <p:tavLst>
                                        <p:tav tm="0">
                                          <p:val>
                                            <p:strVal val="#ppt_w*2.5"/>
                                          </p:val>
                                        </p:tav>
                                        <p:tav tm="100000">
                                          <p:val>
                                            <p:strVal val="#ppt_w"/>
                                          </p:val>
                                        </p:tav>
                                      </p:tavLst>
                                    </p:anim>
                                    <p:anim calcmode="lin" valueType="num">
                                      <p:cBhvr>
                                        <p:cTn id="67" dur="500" fill="hold"/>
                                        <p:tgtEl>
                                          <p:spTgt spid="26"/>
                                        </p:tgtEl>
                                        <p:attrNameLst>
                                          <p:attrName>ppt_h</p:attrName>
                                        </p:attrNameLst>
                                      </p:cBhvr>
                                      <p:tavLst>
                                        <p:tav tm="0">
                                          <p:val>
                                            <p:strVal val="#ppt_h*0.01"/>
                                          </p:val>
                                        </p:tav>
                                        <p:tav tm="100000">
                                          <p:val>
                                            <p:strVal val="#ppt_h"/>
                                          </p:val>
                                        </p:tav>
                                      </p:tavLst>
                                    </p:anim>
                                    <p:anim calcmode="lin" valueType="num">
                                      <p:cBhvr>
                                        <p:cTn id="68" dur="500" fill="hold"/>
                                        <p:tgtEl>
                                          <p:spTgt spid="26"/>
                                        </p:tgtEl>
                                        <p:attrNameLst>
                                          <p:attrName>ppt_x</p:attrName>
                                        </p:attrNameLst>
                                      </p:cBhvr>
                                      <p:tavLst>
                                        <p:tav tm="0">
                                          <p:val>
                                            <p:strVal val="#ppt_x"/>
                                          </p:val>
                                        </p:tav>
                                        <p:tav tm="100000">
                                          <p:val>
                                            <p:strVal val="#ppt_x"/>
                                          </p:val>
                                        </p:tav>
                                      </p:tavLst>
                                    </p:anim>
                                    <p:anim calcmode="lin" valueType="num">
                                      <p:cBhvr>
                                        <p:cTn id="69" dur="500" fill="hold"/>
                                        <p:tgtEl>
                                          <p:spTgt spid="26"/>
                                        </p:tgtEl>
                                        <p:attrNameLst>
                                          <p:attrName>ppt_y</p:attrName>
                                        </p:attrNameLst>
                                      </p:cBhvr>
                                      <p:tavLst>
                                        <p:tav tm="0">
                                          <p:val>
                                            <p:strVal val="#ppt_h+1"/>
                                          </p:val>
                                        </p:tav>
                                        <p:tav tm="100000">
                                          <p:val>
                                            <p:strVal val="#ppt_y"/>
                                          </p:val>
                                        </p:tav>
                                      </p:tavLst>
                                    </p:anim>
                                    <p:animEffect transition="in" filter="fade">
                                      <p:cBhvr>
                                        <p:cTn id="70" dur="500"/>
                                        <p:tgtEl>
                                          <p:spTgt spid="26"/>
                                        </p:tgtEl>
                                      </p:cBhvr>
                                    </p:animEffect>
                                  </p:childTnLst>
                                </p:cTn>
                              </p:par>
                              <p:par>
                                <p:cTn id="71" presetID="58" presetClass="entr" presetSubtype="0" accel="100000" fill="hold" grpId="0" nodeType="withEffect">
                                  <p:stCondLst>
                                    <p:cond delay="15000"/>
                                  </p:stCondLst>
                                  <p:childTnLst>
                                    <p:set>
                                      <p:cBhvr>
                                        <p:cTn id="72" dur="1" fill="hold">
                                          <p:stCondLst>
                                            <p:cond delay="0"/>
                                          </p:stCondLst>
                                        </p:cTn>
                                        <p:tgtEl>
                                          <p:spTgt spid="30"/>
                                        </p:tgtEl>
                                        <p:attrNameLst>
                                          <p:attrName>style.visibility</p:attrName>
                                        </p:attrNameLst>
                                      </p:cBhvr>
                                      <p:to>
                                        <p:strVal val="visible"/>
                                      </p:to>
                                    </p:set>
                                    <p:anim calcmode="lin" valueType="num">
                                      <p:cBhvr>
                                        <p:cTn id="73" dur="500" fill="hold"/>
                                        <p:tgtEl>
                                          <p:spTgt spid="30"/>
                                        </p:tgtEl>
                                        <p:attrNameLst>
                                          <p:attrName>ppt_w</p:attrName>
                                        </p:attrNameLst>
                                      </p:cBhvr>
                                      <p:tavLst>
                                        <p:tav tm="0">
                                          <p:val>
                                            <p:strVal val="#ppt_w*2.5"/>
                                          </p:val>
                                        </p:tav>
                                        <p:tav tm="100000">
                                          <p:val>
                                            <p:strVal val="#ppt_w"/>
                                          </p:val>
                                        </p:tav>
                                      </p:tavLst>
                                    </p:anim>
                                    <p:anim calcmode="lin" valueType="num">
                                      <p:cBhvr>
                                        <p:cTn id="74" dur="500" fill="hold"/>
                                        <p:tgtEl>
                                          <p:spTgt spid="30"/>
                                        </p:tgtEl>
                                        <p:attrNameLst>
                                          <p:attrName>ppt_h</p:attrName>
                                        </p:attrNameLst>
                                      </p:cBhvr>
                                      <p:tavLst>
                                        <p:tav tm="0">
                                          <p:val>
                                            <p:strVal val="#ppt_h*0.01"/>
                                          </p:val>
                                        </p:tav>
                                        <p:tav tm="100000">
                                          <p:val>
                                            <p:strVal val="#ppt_h"/>
                                          </p:val>
                                        </p:tav>
                                      </p:tavLst>
                                    </p:anim>
                                    <p:anim calcmode="lin" valueType="num">
                                      <p:cBhvr>
                                        <p:cTn id="75" dur="500" fill="hold"/>
                                        <p:tgtEl>
                                          <p:spTgt spid="30"/>
                                        </p:tgtEl>
                                        <p:attrNameLst>
                                          <p:attrName>ppt_x</p:attrName>
                                        </p:attrNameLst>
                                      </p:cBhvr>
                                      <p:tavLst>
                                        <p:tav tm="0">
                                          <p:val>
                                            <p:strVal val="#ppt_x"/>
                                          </p:val>
                                        </p:tav>
                                        <p:tav tm="100000">
                                          <p:val>
                                            <p:strVal val="#ppt_x"/>
                                          </p:val>
                                        </p:tav>
                                      </p:tavLst>
                                    </p:anim>
                                    <p:anim calcmode="lin" valueType="num">
                                      <p:cBhvr>
                                        <p:cTn id="76" dur="500" fill="hold"/>
                                        <p:tgtEl>
                                          <p:spTgt spid="30"/>
                                        </p:tgtEl>
                                        <p:attrNameLst>
                                          <p:attrName>ppt_y</p:attrName>
                                        </p:attrNameLst>
                                      </p:cBhvr>
                                      <p:tavLst>
                                        <p:tav tm="0">
                                          <p:val>
                                            <p:strVal val="#ppt_h+1"/>
                                          </p:val>
                                        </p:tav>
                                        <p:tav tm="100000">
                                          <p:val>
                                            <p:strVal val="#ppt_y"/>
                                          </p:val>
                                        </p:tav>
                                      </p:tavLst>
                                    </p:anim>
                                    <p:animEffect transition="in" filter="fade">
                                      <p:cBhvr>
                                        <p:cTn id="77" dur="500"/>
                                        <p:tgtEl>
                                          <p:spTgt spid="30"/>
                                        </p:tgtEl>
                                      </p:cBhvr>
                                    </p:animEffect>
                                  </p:childTnLst>
                                </p:cTn>
                              </p:par>
                              <p:par>
                                <p:cTn id="78" presetID="58" presetClass="entr" presetSubtype="0" accel="100000" fill="hold" grpId="0" nodeType="withEffect">
                                  <p:stCondLst>
                                    <p:cond delay="15600"/>
                                  </p:stCondLst>
                                  <p:childTnLst>
                                    <p:set>
                                      <p:cBhvr>
                                        <p:cTn id="79" dur="1" fill="hold">
                                          <p:stCondLst>
                                            <p:cond delay="0"/>
                                          </p:stCondLst>
                                        </p:cTn>
                                        <p:tgtEl>
                                          <p:spTgt spid="34"/>
                                        </p:tgtEl>
                                        <p:attrNameLst>
                                          <p:attrName>style.visibility</p:attrName>
                                        </p:attrNameLst>
                                      </p:cBhvr>
                                      <p:to>
                                        <p:strVal val="visible"/>
                                      </p:to>
                                    </p:set>
                                    <p:anim calcmode="lin" valueType="num">
                                      <p:cBhvr>
                                        <p:cTn id="80" dur="500" fill="hold"/>
                                        <p:tgtEl>
                                          <p:spTgt spid="34"/>
                                        </p:tgtEl>
                                        <p:attrNameLst>
                                          <p:attrName>ppt_w</p:attrName>
                                        </p:attrNameLst>
                                      </p:cBhvr>
                                      <p:tavLst>
                                        <p:tav tm="0">
                                          <p:val>
                                            <p:strVal val="#ppt_w*2.5"/>
                                          </p:val>
                                        </p:tav>
                                        <p:tav tm="100000">
                                          <p:val>
                                            <p:strVal val="#ppt_w"/>
                                          </p:val>
                                        </p:tav>
                                      </p:tavLst>
                                    </p:anim>
                                    <p:anim calcmode="lin" valueType="num">
                                      <p:cBhvr>
                                        <p:cTn id="81" dur="500" fill="hold"/>
                                        <p:tgtEl>
                                          <p:spTgt spid="34"/>
                                        </p:tgtEl>
                                        <p:attrNameLst>
                                          <p:attrName>ppt_h</p:attrName>
                                        </p:attrNameLst>
                                      </p:cBhvr>
                                      <p:tavLst>
                                        <p:tav tm="0">
                                          <p:val>
                                            <p:strVal val="#ppt_h*0.01"/>
                                          </p:val>
                                        </p:tav>
                                        <p:tav tm="100000">
                                          <p:val>
                                            <p:strVal val="#ppt_h"/>
                                          </p:val>
                                        </p:tav>
                                      </p:tavLst>
                                    </p:anim>
                                    <p:anim calcmode="lin" valueType="num">
                                      <p:cBhvr>
                                        <p:cTn id="82" dur="500" fill="hold"/>
                                        <p:tgtEl>
                                          <p:spTgt spid="34"/>
                                        </p:tgtEl>
                                        <p:attrNameLst>
                                          <p:attrName>ppt_x</p:attrName>
                                        </p:attrNameLst>
                                      </p:cBhvr>
                                      <p:tavLst>
                                        <p:tav tm="0">
                                          <p:val>
                                            <p:strVal val="#ppt_x"/>
                                          </p:val>
                                        </p:tav>
                                        <p:tav tm="100000">
                                          <p:val>
                                            <p:strVal val="#ppt_x"/>
                                          </p:val>
                                        </p:tav>
                                      </p:tavLst>
                                    </p:anim>
                                    <p:anim calcmode="lin" valueType="num">
                                      <p:cBhvr>
                                        <p:cTn id="83" dur="500" fill="hold"/>
                                        <p:tgtEl>
                                          <p:spTgt spid="34"/>
                                        </p:tgtEl>
                                        <p:attrNameLst>
                                          <p:attrName>ppt_y</p:attrName>
                                        </p:attrNameLst>
                                      </p:cBhvr>
                                      <p:tavLst>
                                        <p:tav tm="0">
                                          <p:val>
                                            <p:strVal val="#ppt_h+1"/>
                                          </p:val>
                                        </p:tav>
                                        <p:tav tm="100000">
                                          <p:val>
                                            <p:strVal val="#ppt_y"/>
                                          </p:val>
                                        </p:tav>
                                      </p:tavLst>
                                    </p:anim>
                                    <p:animEffect transition="in" filter="fade">
                                      <p:cBhvr>
                                        <p:cTn id="84" dur="500"/>
                                        <p:tgtEl>
                                          <p:spTgt spid="34"/>
                                        </p:tgtEl>
                                      </p:cBhvr>
                                    </p:animEffect>
                                  </p:childTnLst>
                                </p:cTn>
                              </p:par>
                              <p:par>
                                <p:cTn id="85" presetID="10" presetClass="entr" presetSubtype="0" fill="hold" grpId="0" nodeType="withEffect">
                                  <p:stCondLst>
                                    <p:cond delay="1620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6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animBg="1"/>
      <p:bldP spid="14" grpId="0" animBg="1"/>
      <p:bldP spid="18" grpId="0" animBg="1"/>
      <p:bldP spid="22" grpId="0" animBg="1"/>
      <p:bldP spid="26" grpId="0" animBg="1"/>
      <p:bldP spid="30" grpId="0" animBg="1"/>
      <p:bldP spid="34" grpId="0" animBg="1"/>
      <p:bldP spid="35"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Built together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CONCLUSION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Built together</a:t>
            </a:r>
          </a:p>
        </p:txBody>
      </p:sp>
      <p:grpSp>
        <p:nvGrpSpPr>
          <p:cNvPr id="9" name="Role 1"/>
          <p:cNvGrpSpPr/>
          <p:nvPr/>
        </p:nvGrpSpPr>
        <p:grpSpPr>
          <a:xfrm>
            <a:off x="762000" y="1397000"/>
            <a:ext cx="2540000" cy="1473200"/>
            <a:chOff x="762000" y="1397000"/>
            <a:chExt cx="2540000" cy="1473200"/>
          </a:xfrm>
        </p:grpSpPr>
        <p:sp>
          <p:nvSpPr>
            <p:cNvPr id="6" name="Shape 4"/>
            <p:cNvSpPr/>
            <p:nvPr/>
          </p:nvSpPr>
          <p:spPr>
            <a:xfrm>
              <a:off x="1587500" y="1397000"/>
              <a:ext cx="889000" cy="889000"/>
            </a:xfrm>
            <a:prstGeom prst="ellipse">
              <a:avLst/>
            </a:prstGeom>
            <a:solidFill>
              <a:srgbClr val="E6007E">
                <a:alpha val="15000"/>
              </a:srgbClr>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Shape 5" descr="icon-globe-e6007e.png"/>
            <p:cNvPicPr>
              <a:picLocks noChangeAspect="1"/>
            </p:cNvPicPr>
            <p:nvPr/>
          </p:nvPicPr>
          <p:blipFill>
            <a:blip r:embed="rId4"/>
            <a:stretch>
              <a:fillRect/>
            </a:stretch>
          </p:blipFill>
          <p:spPr>
            <a:xfrm>
              <a:off x="1778000" y="1587500"/>
              <a:ext cx="508000" cy="508000"/>
            </a:xfrm>
            <a:prstGeom prst="rect">
              <a:avLst/>
            </a:prstGeom>
          </p:spPr>
        </p:pic>
        <p:sp>
          <p:nvSpPr>
            <p:cNvPr id="8" name="Shape 6"/>
            <p:cNvSpPr txBox="1"/>
            <p:nvPr/>
          </p:nvSpPr>
          <p:spPr>
            <a:xfrm>
              <a:off x="762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Communication service providers</a:t>
              </a:r>
            </a:p>
          </p:txBody>
        </p:sp>
      </p:grpSp>
      <p:cxnSp>
        <p:nvCxnSpPr>
          <p:cNvPr id="10" name="Link 1"/>
          <p:cNvCxnSpPr/>
          <p:nvPr/>
        </p:nvCxnSpPr>
        <p:spPr>
          <a:xfrm>
            <a:off x="2476500" y="1841500"/>
            <a:ext cx="1397000" cy="2070100"/>
          </a:xfrm>
          <a:prstGeom prst="bentConnector3">
            <a:avLst/>
          </a:prstGeom>
          <a:ln w="19050">
            <a:solidFill>
              <a:srgbClr val="E6007E"/>
            </a:solidFill>
            <a:tailEnd type="triangle" w="med"/>
          </a:ln>
        </p:spPr>
        <p:style>
          <a:lnRef idx="2">
            <a:schemeClr val="accent1"/>
          </a:lnRef>
          <a:fillRef idx="0">
            <a:schemeClr val="accent1"/>
          </a:fillRef>
          <a:effectRef idx="1">
            <a:schemeClr val="accent1"/>
          </a:effectRef>
          <a:fontRef idx="minor">
            <a:schemeClr val="tx1"/>
          </a:fontRef>
        </p:style>
      </p:cxnSp>
      <p:grpSp>
        <p:nvGrpSpPr>
          <p:cNvPr id="14" name="Role 2"/>
          <p:cNvGrpSpPr/>
          <p:nvPr/>
        </p:nvGrpSpPr>
        <p:grpSpPr>
          <a:xfrm>
            <a:off x="8890000" y="1397000"/>
            <a:ext cx="2540000" cy="1473200"/>
            <a:chOff x="8890000" y="1397000"/>
            <a:chExt cx="2540000" cy="1473200"/>
          </a:xfrm>
        </p:grpSpPr>
        <p:sp>
          <p:nvSpPr>
            <p:cNvPr id="11" name="Shape 9"/>
            <p:cNvSpPr/>
            <p:nvPr/>
          </p:nvSpPr>
          <p:spPr>
            <a:xfrm>
              <a:off x="9715500" y="1397000"/>
              <a:ext cx="889000" cy="889000"/>
            </a:xfrm>
            <a:prstGeom prst="ellipse">
              <a:avLst/>
            </a:prstGeom>
            <a:solidFill>
              <a:srgbClr val="2F6FED">
                <a:alpha val="15000"/>
              </a:srgbClr>
            </a:solidFill>
            <a:ln w="25400">
              <a:solidFill>
                <a:srgbClr val="2F6F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Shape 10" descr="icon-cloud-2f6fed.png"/>
            <p:cNvPicPr>
              <a:picLocks noChangeAspect="1"/>
            </p:cNvPicPr>
            <p:nvPr/>
          </p:nvPicPr>
          <p:blipFill>
            <a:blip r:embed="rId5"/>
            <a:stretch>
              <a:fillRect/>
            </a:stretch>
          </p:blipFill>
          <p:spPr>
            <a:xfrm>
              <a:off x="9906000" y="1587500"/>
              <a:ext cx="508000" cy="508000"/>
            </a:xfrm>
            <a:prstGeom prst="rect">
              <a:avLst/>
            </a:prstGeom>
          </p:spPr>
        </p:pic>
        <p:sp>
          <p:nvSpPr>
            <p:cNvPr id="13" name="Shape 11"/>
            <p:cNvSpPr txBox="1"/>
            <p:nvPr/>
          </p:nvSpPr>
          <p:spPr>
            <a:xfrm>
              <a:off x="8890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Cloud providers</a:t>
              </a:r>
            </a:p>
          </p:txBody>
        </p:sp>
      </p:grpSp>
      <p:cxnSp>
        <p:nvCxnSpPr>
          <p:cNvPr id="15" name="Link 2"/>
          <p:cNvCxnSpPr/>
          <p:nvPr/>
        </p:nvCxnSpPr>
        <p:spPr>
          <a:xfrm flipH="1">
            <a:off x="8318500" y="1841500"/>
            <a:ext cx="1397000" cy="2070100"/>
          </a:xfrm>
          <a:prstGeom prst="bentConnector3">
            <a:avLst/>
          </a:prstGeom>
          <a:ln w="1905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grpSp>
        <p:nvGrpSpPr>
          <p:cNvPr id="19" name="Role 3"/>
          <p:cNvGrpSpPr/>
          <p:nvPr/>
        </p:nvGrpSpPr>
        <p:grpSpPr>
          <a:xfrm>
            <a:off x="762000" y="3429000"/>
            <a:ext cx="2540000" cy="1473200"/>
            <a:chOff x="762000" y="3429000"/>
            <a:chExt cx="2540000" cy="1473200"/>
          </a:xfrm>
        </p:grpSpPr>
        <p:sp>
          <p:nvSpPr>
            <p:cNvPr id="16" name="Shape 14"/>
            <p:cNvSpPr/>
            <p:nvPr/>
          </p:nvSpPr>
          <p:spPr>
            <a:xfrm>
              <a:off x="1587500" y="3429000"/>
              <a:ext cx="889000" cy="889000"/>
            </a:xfrm>
            <a:prstGeom prst="ellipse">
              <a:avLst/>
            </a:prstGeom>
            <a:solidFill>
              <a:srgbClr val="F5A623">
                <a:alpha val="15000"/>
              </a:srgbClr>
            </a:solidFill>
            <a:ln w="254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Shape 15" descr="icon-cube-f5a623.png"/>
            <p:cNvPicPr>
              <a:picLocks noChangeAspect="1"/>
            </p:cNvPicPr>
            <p:nvPr/>
          </p:nvPicPr>
          <p:blipFill>
            <a:blip r:embed="rId6"/>
            <a:stretch>
              <a:fillRect/>
            </a:stretch>
          </p:blipFill>
          <p:spPr>
            <a:xfrm>
              <a:off x="1778000" y="3619500"/>
              <a:ext cx="508000" cy="508000"/>
            </a:xfrm>
            <a:prstGeom prst="rect">
              <a:avLst/>
            </a:prstGeom>
          </p:spPr>
        </p:pic>
        <p:sp>
          <p:nvSpPr>
            <p:cNvPr id="18" name="Shape 16"/>
            <p:cNvSpPr txBox="1"/>
            <p:nvPr/>
          </p:nvSpPr>
          <p:spPr>
            <a:xfrm>
              <a:off x="762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Software vendors</a:t>
              </a:r>
            </a:p>
          </p:txBody>
        </p:sp>
      </p:grpSp>
      <p:cxnSp>
        <p:nvCxnSpPr>
          <p:cNvPr id="20" name="Link 3"/>
          <p:cNvCxnSpPr/>
          <p:nvPr/>
        </p:nvCxnSpPr>
        <p:spPr>
          <a:xfrm>
            <a:off x="2476500" y="3873500"/>
            <a:ext cx="1397000" cy="38100"/>
          </a:xfrm>
          <a:prstGeom prst="bentConnector3">
            <a:avLst/>
          </a:prstGeom>
          <a:ln w="1905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grpSp>
        <p:nvGrpSpPr>
          <p:cNvPr id="24" name="Role 4"/>
          <p:cNvGrpSpPr/>
          <p:nvPr/>
        </p:nvGrpSpPr>
        <p:grpSpPr>
          <a:xfrm>
            <a:off x="8890000" y="3429000"/>
            <a:ext cx="2540000" cy="1473200"/>
            <a:chOff x="8890000" y="3429000"/>
            <a:chExt cx="2540000" cy="1473200"/>
          </a:xfrm>
        </p:grpSpPr>
        <p:sp>
          <p:nvSpPr>
            <p:cNvPr id="21" name="Shape 19"/>
            <p:cNvSpPr/>
            <p:nvPr/>
          </p:nvSpPr>
          <p:spPr>
            <a:xfrm>
              <a:off x="9715500" y="3429000"/>
              <a:ext cx="889000" cy="889000"/>
            </a:xfrm>
            <a:prstGeom prst="ellipse">
              <a:avLst/>
            </a:prstGeom>
            <a:solidFill>
              <a:srgbClr val="1FC7A8">
                <a:alpha val="15000"/>
              </a:srgbClr>
            </a:solidFill>
            <a:ln w="25400">
              <a:solidFill>
                <a:srgbClr val="1FC7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Shape 20" descr="icon-handshake-1fc7a8.png"/>
            <p:cNvPicPr>
              <a:picLocks noChangeAspect="1"/>
            </p:cNvPicPr>
            <p:nvPr/>
          </p:nvPicPr>
          <p:blipFill>
            <a:blip r:embed="rId7"/>
            <a:stretch>
              <a:fillRect/>
            </a:stretch>
          </p:blipFill>
          <p:spPr>
            <a:xfrm>
              <a:off x="9906000" y="3619500"/>
              <a:ext cx="508000" cy="508000"/>
            </a:xfrm>
            <a:prstGeom prst="rect">
              <a:avLst/>
            </a:prstGeom>
          </p:spPr>
        </p:pic>
        <p:sp>
          <p:nvSpPr>
            <p:cNvPr id="23" name="Shape 21"/>
            <p:cNvSpPr txBox="1"/>
            <p:nvPr/>
          </p:nvSpPr>
          <p:spPr>
            <a:xfrm>
              <a:off x="8890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Systems integrators</a:t>
              </a:r>
            </a:p>
          </p:txBody>
        </p:sp>
      </p:grpSp>
      <p:cxnSp>
        <p:nvCxnSpPr>
          <p:cNvPr id="25" name="Link 4"/>
          <p:cNvCxnSpPr/>
          <p:nvPr/>
        </p:nvCxnSpPr>
        <p:spPr>
          <a:xfrm flipH="1">
            <a:off x="8318500" y="3873500"/>
            <a:ext cx="1397000" cy="38100"/>
          </a:xfrm>
          <a:prstGeom prst="bentConnector3">
            <a:avLst/>
          </a:prstGeom>
          <a:ln w="190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30" name="Canvas"/>
          <p:cNvGrpSpPr/>
          <p:nvPr/>
        </p:nvGrpSpPr>
        <p:grpSpPr>
          <a:xfrm>
            <a:off x="3873500" y="2603500"/>
            <a:ext cx="4445000" cy="1619250"/>
            <a:chOff x="3873500" y="2603500"/>
            <a:chExt cx="4445000" cy="1619250"/>
          </a:xfrm>
        </p:grpSpPr>
        <p:pic>
          <p:nvPicPr>
            <p:cNvPr id="26" name="Shape 24" descr="oda.png"/>
            <p:cNvPicPr>
              <a:picLocks noChangeAspect="1"/>
            </p:cNvPicPr>
            <p:nvPr/>
          </p:nvPicPr>
          <p:blipFill>
            <a:blip r:embed="rId8"/>
            <a:stretch>
              <a:fillRect/>
            </a:stretch>
          </p:blipFill>
          <p:spPr>
            <a:xfrm>
              <a:off x="4222750" y="2603500"/>
              <a:ext cx="1206500" cy="1139472"/>
            </a:xfrm>
            <a:prstGeom prst="rect">
              <a:avLst/>
            </a:prstGeom>
          </p:spPr>
        </p:pic>
        <p:pic>
          <p:nvPicPr>
            <p:cNvPr id="27" name="Shape 25" descr="oda-agent.png"/>
            <p:cNvPicPr>
              <a:picLocks noChangeAspect="1"/>
            </p:cNvPicPr>
            <p:nvPr/>
          </p:nvPicPr>
          <p:blipFill>
            <a:blip r:embed="rId9"/>
            <a:stretch>
              <a:fillRect/>
            </a:stretch>
          </p:blipFill>
          <p:spPr>
            <a:xfrm>
              <a:off x="5492750" y="2603500"/>
              <a:ext cx="1206500" cy="1139472"/>
            </a:xfrm>
            <a:prstGeom prst="rect">
              <a:avLst/>
            </a:prstGeom>
          </p:spPr>
        </p:pic>
        <p:pic>
          <p:nvPicPr>
            <p:cNvPr id="28" name="Shape 26" descr="oda.png"/>
            <p:cNvPicPr>
              <a:picLocks noChangeAspect="1"/>
            </p:cNvPicPr>
            <p:nvPr/>
          </p:nvPicPr>
          <p:blipFill>
            <a:blip r:embed="rId8"/>
            <a:stretch>
              <a:fillRect/>
            </a:stretch>
          </p:blipFill>
          <p:spPr>
            <a:xfrm>
              <a:off x="6762750" y="2603500"/>
              <a:ext cx="1206500" cy="1139472"/>
            </a:xfrm>
            <a:prstGeom prst="rect">
              <a:avLst/>
            </a:prstGeom>
          </p:spPr>
        </p:pic>
        <p:sp>
          <p:nvSpPr>
            <p:cNvPr id="29" name="Shape 27"/>
            <p:cNvSpPr/>
            <p:nvPr/>
          </p:nvSpPr>
          <p:spPr>
            <a:xfrm>
              <a:off x="3873500" y="3600450"/>
              <a:ext cx="4445000" cy="622300"/>
            </a:xfrm>
            <a:prstGeom prst="roundRect">
              <a:avLst>
                <a:gd name="adj" fmla="val 16326"/>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50" b="1" spc="100">
                  <a:solidFill>
                    <a:srgbClr val="F2F5FB"/>
                  </a:solidFill>
                  <a:latin typeface="Segoe UI"/>
                </a:rPr>
                <a:t>ODA Canvas</a:t>
              </a:r>
            </a:p>
          </p:txBody>
        </p:sp>
      </p:grpSp>
      <p:grpSp>
        <p:nvGrpSpPr>
          <p:cNvPr id="33" name="Manifesto"/>
          <p:cNvGrpSpPr/>
          <p:nvPr/>
        </p:nvGrpSpPr>
        <p:grpSpPr>
          <a:xfrm>
            <a:off x="0" y="5207000"/>
            <a:ext cx="12192000" cy="635000"/>
            <a:chOff x="0" y="5207000"/>
            <a:chExt cx="12192000" cy="635000"/>
          </a:xfrm>
        </p:grpSpPr>
        <p:sp>
          <p:nvSpPr>
            <p:cNvPr id="31" name="Shape 29"/>
            <p:cNvSpPr txBox="1"/>
            <p:nvPr/>
          </p:nvSpPr>
          <p:spPr>
            <a:xfrm>
              <a:off x="0" y="5207000"/>
              <a:ext cx="12192000" cy="254000"/>
            </a:xfrm>
            <a:prstGeom prst="rect">
              <a:avLst/>
            </a:prstGeom>
            <a:noFill/>
          </p:spPr>
          <p:txBody>
            <a:bodyPr wrap="square" lIns="0" tIns="0" rIns="0" bIns="0" anchor="t">
              <a:spAutoFit/>
            </a:bodyPr>
            <a:lstStyle/>
            <a:p>
              <a:pPr algn="ctr">
                <a:lnSpc>
                  <a:spcPct val="115000"/>
                </a:lnSpc>
              </a:pPr>
              <a:r>
                <a:rPr sz="1300" b="1" spc="200">
                  <a:solidFill>
                    <a:srgbClr val="E6007E"/>
                  </a:solidFill>
                  <a:latin typeface="Segoe UI"/>
                </a:rPr>
                <a:t>ODA MANIFESTO</a:t>
              </a:r>
            </a:p>
          </p:txBody>
        </p:sp>
        <p:sp>
          <p:nvSpPr>
            <p:cNvPr id="32" name="Shape 30"/>
            <p:cNvSpPr txBox="1"/>
            <p:nvPr/>
          </p:nvSpPr>
          <p:spPr>
            <a:xfrm>
              <a:off x="0" y="5461000"/>
              <a:ext cx="12192000" cy="381000"/>
            </a:xfrm>
            <a:prstGeom prst="rect">
              <a:avLst/>
            </a:prstGeom>
            <a:noFill/>
          </p:spPr>
          <p:txBody>
            <a:bodyPr wrap="square" lIns="0" tIns="0" rIns="0" bIns="0" anchor="t">
              <a:spAutoFit/>
            </a:bodyPr>
            <a:lstStyle/>
            <a:p>
              <a:pPr algn="ctr">
                <a:lnSpc>
                  <a:spcPct val="115000"/>
                </a:lnSpc>
              </a:pPr>
              <a:r>
                <a:rPr sz="2000" b="1">
                  <a:solidFill>
                    <a:srgbClr val="F2F5FB"/>
                  </a:solidFill>
                  <a:latin typeface="Segoe UI"/>
                </a:rPr>
                <a:t>A standard execution environment for ODA Components</a:t>
              </a:r>
            </a:p>
          </p:txBody>
        </p:sp>
      </p:grpSp>
      <p:sp>
        <p:nvSpPr>
          <p:cNvPr id="34" name="Together"/>
          <p:cNvSpPr txBox="1"/>
          <p:nvPr/>
        </p:nvSpPr>
        <p:spPr>
          <a:xfrm>
            <a:off x="0" y="6096000"/>
            <a:ext cx="12192000" cy="317500"/>
          </a:xfrm>
          <a:prstGeom prst="rect">
            <a:avLst/>
          </a:prstGeom>
          <a:noFill/>
        </p:spPr>
        <p:txBody>
          <a:bodyPr wrap="square" lIns="0" tIns="0" rIns="0" bIns="0" anchor="t">
            <a:spAutoFit/>
          </a:bodyPr>
          <a:lstStyle/>
          <a:p>
            <a:pPr algn="ctr">
              <a:lnSpc>
                <a:spcPct val="115000"/>
              </a:lnSpc>
            </a:pPr>
            <a:r>
              <a:rPr sz="1600" b="0">
                <a:solidFill>
                  <a:srgbClr val="F472B6"/>
                </a:solidFill>
                <a:latin typeface="Segoe UI"/>
              </a:rPr>
              <a:t>Adopting new capabilities — including AI — faster, together</a:t>
            </a:r>
          </a:p>
        </p:txBody>
      </p:sp>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9"/>
                                        </p:tgtEl>
                                        <p:attrNameLst>
                                          <p:attrName>style.visibility</p:attrName>
                                        </p:attrNameLst>
                                      </p:cBhvr>
                                      <p:to>
                                        <p:strVal val="visible"/>
                                      </p:to>
                                    </p:set>
                                    <p:anim calcmode="lin" valueType="num">
                                      <p:cBhvr>
                                        <p:cTn id="13" dur="600" fill="hold"/>
                                        <p:tgtEl>
                                          <p:spTgt spid="9"/>
                                        </p:tgtEl>
                                        <p:attrNameLst>
                                          <p:attrName>ppt_w</p:attrName>
                                        </p:attrNameLst>
                                      </p:cBhvr>
                                      <p:tavLst>
                                        <p:tav tm="0">
                                          <p:val>
                                            <p:strVal val="#ppt_w*2.5"/>
                                          </p:val>
                                        </p:tav>
                                        <p:tav tm="100000">
                                          <p:val>
                                            <p:strVal val="#ppt_w"/>
                                          </p:val>
                                        </p:tav>
                                      </p:tavLst>
                                    </p:anim>
                                    <p:anim calcmode="lin" valueType="num">
                                      <p:cBhvr>
                                        <p:cTn id="14" dur="600" fill="hold"/>
                                        <p:tgtEl>
                                          <p:spTgt spid="9"/>
                                        </p:tgtEl>
                                        <p:attrNameLst>
                                          <p:attrName>ppt_h</p:attrName>
                                        </p:attrNameLst>
                                      </p:cBhvr>
                                      <p:tavLst>
                                        <p:tav tm="0">
                                          <p:val>
                                            <p:strVal val="#ppt_h*0.01"/>
                                          </p:val>
                                        </p:tav>
                                        <p:tav tm="100000">
                                          <p:val>
                                            <p:strVal val="#ppt_h"/>
                                          </p:val>
                                        </p:tav>
                                      </p:tavLst>
                                    </p:anim>
                                    <p:anim calcmode="lin" valueType="num">
                                      <p:cBhvr>
                                        <p:cTn id="15" dur="600" fill="hold"/>
                                        <p:tgtEl>
                                          <p:spTgt spid="9"/>
                                        </p:tgtEl>
                                        <p:attrNameLst>
                                          <p:attrName>ppt_x</p:attrName>
                                        </p:attrNameLst>
                                      </p:cBhvr>
                                      <p:tavLst>
                                        <p:tav tm="0">
                                          <p:val>
                                            <p:strVal val="#ppt_x"/>
                                          </p:val>
                                        </p:tav>
                                        <p:tav tm="100000">
                                          <p:val>
                                            <p:strVal val="#ppt_x"/>
                                          </p:val>
                                        </p:tav>
                                      </p:tavLst>
                                    </p:anim>
                                    <p:anim calcmode="lin" valueType="num">
                                      <p:cBhvr>
                                        <p:cTn id="16" dur="600" fill="hold"/>
                                        <p:tgtEl>
                                          <p:spTgt spid="9"/>
                                        </p:tgtEl>
                                        <p:attrNameLst>
                                          <p:attrName>ppt_y</p:attrName>
                                        </p:attrNameLst>
                                      </p:cBhvr>
                                      <p:tavLst>
                                        <p:tav tm="0">
                                          <p:val>
                                            <p:strVal val="#ppt_h+1"/>
                                          </p:val>
                                        </p:tav>
                                        <p:tav tm="100000">
                                          <p:val>
                                            <p:strVal val="#ppt_y"/>
                                          </p:val>
                                        </p:tav>
                                      </p:tavLst>
                                    </p:anim>
                                    <p:animEffect transition="in" filter="fade">
                                      <p:cBhvr>
                                        <p:cTn id="17" dur="600"/>
                                        <p:tgtEl>
                                          <p:spTgt spid="9"/>
                                        </p:tgtEl>
                                      </p:cBhvr>
                                    </p:animEffect>
                                  </p:childTnLst>
                                </p:cTn>
                              </p:par>
                              <p:par>
                                <p:cTn id="18" presetID="58" presetClass="entr" presetSubtype="0" accel="100000" fill="hold" nodeType="withEffect">
                                  <p:stCondLst>
                                    <p:cond delay="1800"/>
                                  </p:stCondLst>
                                  <p:childTnLst>
                                    <p:set>
                                      <p:cBhvr>
                                        <p:cTn id="19" dur="1" fill="hold">
                                          <p:stCondLst>
                                            <p:cond delay="0"/>
                                          </p:stCondLst>
                                        </p:cTn>
                                        <p:tgtEl>
                                          <p:spTgt spid="14"/>
                                        </p:tgtEl>
                                        <p:attrNameLst>
                                          <p:attrName>style.visibility</p:attrName>
                                        </p:attrNameLst>
                                      </p:cBhvr>
                                      <p:to>
                                        <p:strVal val="visible"/>
                                      </p:to>
                                    </p:set>
                                    <p:anim calcmode="lin" valueType="num">
                                      <p:cBhvr>
                                        <p:cTn id="20" dur="600" fill="hold"/>
                                        <p:tgtEl>
                                          <p:spTgt spid="14"/>
                                        </p:tgtEl>
                                        <p:attrNameLst>
                                          <p:attrName>ppt_w</p:attrName>
                                        </p:attrNameLst>
                                      </p:cBhvr>
                                      <p:tavLst>
                                        <p:tav tm="0">
                                          <p:val>
                                            <p:strVal val="#ppt_w*2.5"/>
                                          </p:val>
                                        </p:tav>
                                        <p:tav tm="100000">
                                          <p:val>
                                            <p:strVal val="#ppt_w"/>
                                          </p:val>
                                        </p:tav>
                                      </p:tavLst>
                                    </p:anim>
                                    <p:anim calcmode="lin" valueType="num">
                                      <p:cBhvr>
                                        <p:cTn id="21" dur="600" fill="hold"/>
                                        <p:tgtEl>
                                          <p:spTgt spid="14"/>
                                        </p:tgtEl>
                                        <p:attrNameLst>
                                          <p:attrName>ppt_h</p:attrName>
                                        </p:attrNameLst>
                                      </p:cBhvr>
                                      <p:tavLst>
                                        <p:tav tm="0">
                                          <p:val>
                                            <p:strVal val="#ppt_h*0.01"/>
                                          </p:val>
                                        </p:tav>
                                        <p:tav tm="100000">
                                          <p:val>
                                            <p:strVal val="#ppt_h"/>
                                          </p:val>
                                        </p:tav>
                                      </p:tavLst>
                                    </p:anim>
                                    <p:anim calcmode="lin" valueType="num">
                                      <p:cBhvr>
                                        <p:cTn id="22" dur="600" fill="hold"/>
                                        <p:tgtEl>
                                          <p:spTgt spid="14"/>
                                        </p:tgtEl>
                                        <p:attrNameLst>
                                          <p:attrName>ppt_x</p:attrName>
                                        </p:attrNameLst>
                                      </p:cBhvr>
                                      <p:tavLst>
                                        <p:tav tm="0">
                                          <p:val>
                                            <p:strVal val="#ppt_x"/>
                                          </p:val>
                                        </p:tav>
                                        <p:tav tm="100000">
                                          <p:val>
                                            <p:strVal val="#ppt_x"/>
                                          </p:val>
                                        </p:tav>
                                      </p:tavLst>
                                    </p:anim>
                                    <p:anim calcmode="lin" valueType="num">
                                      <p:cBhvr>
                                        <p:cTn id="23" dur="600" fill="hold"/>
                                        <p:tgtEl>
                                          <p:spTgt spid="14"/>
                                        </p:tgtEl>
                                        <p:attrNameLst>
                                          <p:attrName>ppt_y</p:attrName>
                                        </p:attrNameLst>
                                      </p:cBhvr>
                                      <p:tavLst>
                                        <p:tav tm="0">
                                          <p:val>
                                            <p:strVal val="#ppt_h+1"/>
                                          </p:val>
                                        </p:tav>
                                        <p:tav tm="100000">
                                          <p:val>
                                            <p:strVal val="#ppt_y"/>
                                          </p:val>
                                        </p:tav>
                                      </p:tavLst>
                                    </p:anim>
                                    <p:animEffect transition="in" filter="fade">
                                      <p:cBhvr>
                                        <p:cTn id="24" dur="600"/>
                                        <p:tgtEl>
                                          <p:spTgt spid="14"/>
                                        </p:tgtEl>
                                      </p:cBhvr>
                                    </p:animEffect>
                                  </p:childTnLst>
                                </p:cTn>
                              </p:par>
                              <p:par>
                                <p:cTn id="25" presetID="58" presetClass="entr" presetSubtype="0" accel="100000" fill="hold" nodeType="withEffect">
                                  <p:stCondLst>
                                    <p:cond delay="2400"/>
                                  </p:stCondLst>
                                  <p:childTnLst>
                                    <p:set>
                                      <p:cBhvr>
                                        <p:cTn id="26" dur="1" fill="hold">
                                          <p:stCondLst>
                                            <p:cond delay="0"/>
                                          </p:stCondLst>
                                        </p:cTn>
                                        <p:tgtEl>
                                          <p:spTgt spid="19"/>
                                        </p:tgtEl>
                                        <p:attrNameLst>
                                          <p:attrName>style.visibility</p:attrName>
                                        </p:attrNameLst>
                                      </p:cBhvr>
                                      <p:to>
                                        <p:strVal val="visible"/>
                                      </p:to>
                                    </p:set>
                                    <p:anim calcmode="lin" valueType="num">
                                      <p:cBhvr>
                                        <p:cTn id="27" dur="600" fill="hold"/>
                                        <p:tgtEl>
                                          <p:spTgt spid="19"/>
                                        </p:tgtEl>
                                        <p:attrNameLst>
                                          <p:attrName>ppt_w</p:attrName>
                                        </p:attrNameLst>
                                      </p:cBhvr>
                                      <p:tavLst>
                                        <p:tav tm="0">
                                          <p:val>
                                            <p:strVal val="#ppt_w*2.5"/>
                                          </p:val>
                                        </p:tav>
                                        <p:tav tm="100000">
                                          <p:val>
                                            <p:strVal val="#ppt_w"/>
                                          </p:val>
                                        </p:tav>
                                      </p:tavLst>
                                    </p:anim>
                                    <p:anim calcmode="lin" valueType="num">
                                      <p:cBhvr>
                                        <p:cTn id="28" dur="600" fill="hold"/>
                                        <p:tgtEl>
                                          <p:spTgt spid="19"/>
                                        </p:tgtEl>
                                        <p:attrNameLst>
                                          <p:attrName>ppt_h</p:attrName>
                                        </p:attrNameLst>
                                      </p:cBhvr>
                                      <p:tavLst>
                                        <p:tav tm="0">
                                          <p:val>
                                            <p:strVal val="#ppt_h*0.01"/>
                                          </p:val>
                                        </p:tav>
                                        <p:tav tm="100000">
                                          <p:val>
                                            <p:strVal val="#ppt_h"/>
                                          </p:val>
                                        </p:tav>
                                      </p:tavLst>
                                    </p:anim>
                                    <p:anim calcmode="lin" valueType="num">
                                      <p:cBhvr>
                                        <p:cTn id="29" dur="600" fill="hold"/>
                                        <p:tgtEl>
                                          <p:spTgt spid="19"/>
                                        </p:tgtEl>
                                        <p:attrNameLst>
                                          <p:attrName>ppt_x</p:attrName>
                                        </p:attrNameLst>
                                      </p:cBhvr>
                                      <p:tavLst>
                                        <p:tav tm="0">
                                          <p:val>
                                            <p:strVal val="#ppt_x"/>
                                          </p:val>
                                        </p:tav>
                                        <p:tav tm="100000">
                                          <p:val>
                                            <p:strVal val="#ppt_x"/>
                                          </p:val>
                                        </p:tav>
                                      </p:tavLst>
                                    </p:anim>
                                    <p:anim calcmode="lin" valueType="num">
                                      <p:cBhvr>
                                        <p:cTn id="30" dur="600" fill="hold"/>
                                        <p:tgtEl>
                                          <p:spTgt spid="19"/>
                                        </p:tgtEl>
                                        <p:attrNameLst>
                                          <p:attrName>ppt_y</p:attrName>
                                        </p:attrNameLst>
                                      </p:cBhvr>
                                      <p:tavLst>
                                        <p:tav tm="0">
                                          <p:val>
                                            <p:strVal val="#ppt_h+1"/>
                                          </p:val>
                                        </p:tav>
                                        <p:tav tm="100000">
                                          <p:val>
                                            <p:strVal val="#ppt_y"/>
                                          </p:val>
                                        </p:tav>
                                      </p:tavLst>
                                    </p:anim>
                                    <p:animEffect transition="in" filter="fade">
                                      <p:cBhvr>
                                        <p:cTn id="31" dur="600"/>
                                        <p:tgtEl>
                                          <p:spTgt spid="19"/>
                                        </p:tgtEl>
                                      </p:cBhvr>
                                    </p:animEffect>
                                  </p:childTnLst>
                                </p:cTn>
                              </p:par>
                              <p:par>
                                <p:cTn id="32" presetID="58" presetClass="entr" presetSubtype="0" accel="100000" fill="hold" nodeType="withEffect">
                                  <p:stCondLst>
                                    <p:cond delay="3000"/>
                                  </p:stCondLst>
                                  <p:childTnLst>
                                    <p:set>
                                      <p:cBhvr>
                                        <p:cTn id="33" dur="1" fill="hold">
                                          <p:stCondLst>
                                            <p:cond delay="0"/>
                                          </p:stCondLst>
                                        </p:cTn>
                                        <p:tgtEl>
                                          <p:spTgt spid="24"/>
                                        </p:tgtEl>
                                        <p:attrNameLst>
                                          <p:attrName>style.visibility</p:attrName>
                                        </p:attrNameLst>
                                      </p:cBhvr>
                                      <p:to>
                                        <p:strVal val="visible"/>
                                      </p:to>
                                    </p:set>
                                    <p:anim calcmode="lin" valueType="num">
                                      <p:cBhvr>
                                        <p:cTn id="34" dur="600" fill="hold"/>
                                        <p:tgtEl>
                                          <p:spTgt spid="24"/>
                                        </p:tgtEl>
                                        <p:attrNameLst>
                                          <p:attrName>ppt_w</p:attrName>
                                        </p:attrNameLst>
                                      </p:cBhvr>
                                      <p:tavLst>
                                        <p:tav tm="0">
                                          <p:val>
                                            <p:strVal val="#ppt_w*2.5"/>
                                          </p:val>
                                        </p:tav>
                                        <p:tav tm="100000">
                                          <p:val>
                                            <p:strVal val="#ppt_w"/>
                                          </p:val>
                                        </p:tav>
                                      </p:tavLst>
                                    </p:anim>
                                    <p:anim calcmode="lin" valueType="num">
                                      <p:cBhvr>
                                        <p:cTn id="35" dur="600" fill="hold"/>
                                        <p:tgtEl>
                                          <p:spTgt spid="24"/>
                                        </p:tgtEl>
                                        <p:attrNameLst>
                                          <p:attrName>ppt_h</p:attrName>
                                        </p:attrNameLst>
                                      </p:cBhvr>
                                      <p:tavLst>
                                        <p:tav tm="0">
                                          <p:val>
                                            <p:strVal val="#ppt_h*0.01"/>
                                          </p:val>
                                        </p:tav>
                                        <p:tav tm="100000">
                                          <p:val>
                                            <p:strVal val="#ppt_h"/>
                                          </p:val>
                                        </p:tav>
                                      </p:tavLst>
                                    </p:anim>
                                    <p:anim calcmode="lin" valueType="num">
                                      <p:cBhvr>
                                        <p:cTn id="36" dur="600" fill="hold"/>
                                        <p:tgtEl>
                                          <p:spTgt spid="24"/>
                                        </p:tgtEl>
                                        <p:attrNameLst>
                                          <p:attrName>ppt_x</p:attrName>
                                        </p:attrNameLst>
                                      </p:cBhvr>
                                      <p:tavLst>
                                        <p:tav tm="0">
                                          <p:val>
                                            <p:strVal val="#ppt_x"/>
                                          </p:val>
                                        </p:tav>
                                        <p:tav tm="100000">
                                          <p:val>
                                            <p:strVal val="#ppt_x"/>
                                          </p:val>
                                        </p:tav>
                                      </p:tavLst>
                                    </p:anim>
                                    <p:anim calcmode="lin" valueType="num">
                                      <p:cBhvr>
                                        <p:cTn id="37" dur="600" fill="hold"/>
                                        <p:tgtEl>
                                          <p:spTgt spid="24"/>
                                        </p:tgtEl>
                                        <p:attrNameLst>
                                          <p:attrName>ppt_y</p:attrName>
                                        </p:attrNameLst>
                                      </p:cBhvr>
                                      <p:tavLst>
                                        <p:tav tm="0">
                                          <p:val>
                                            <p:strVal val="#ppt_h+1"/>
                                          </p:val>
                                        </p:tav>
                                        <p:tav tm="100000">
                                          <p:val>
                                            <p:strVal val="#ppt_y"/>
                                          </p:val>
                                        </p:tav>
                                      </p:tavLst>
                                    </p:anim>
                                    <p:animEffect transition="in" filter="fade">
                                      <p:cBhvr>
                                        <p:cTn id="38" dur="600"/>
                                        <p:tgtEl>
                                          <p:spTgt spid="24"/>
                                        </p:tgtEl>
                                      </p:cBhvr>
                                    </p:animEffect>
                                  </p:childTnLst>
                                </p:cTn>
                              </p:par>
                              <p:par>
                                <p:cTn id="39" presetID="10" presetClass="entr" presetSubtype="0" fill="hold" nodeType="withEffect">
                                  <p:stCondLst>
                                    <p:cond delay="50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2" presetID="10" presetClass="entr" presetSubtype="0" fill="hold" nodeType="withEffect">
                                  <p:stCondLst>
                                    <p:cond delay="530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nodeType="withEffect">
                                  <p:stCondLst>
                                    <p:cond delay="560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0"/>
                                        <p:tgtEl>
                                          <p:spTgt spid="20"/>
                                        </p:tgtEl>
                                      </p:cBhvr>
                                    </p:animEffect>
                                  </p:childTnLst>
                                </p:cTn>
                              </p:par>
                              <p:par>
                                <p:cTn id="48" presetID="10" presetClass="entr" presetSubtype="0" fill="hold" nodeType="withEffect">
                                  <p:stCondLst>
                                    <p:cond delay="590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500"/>
                                        <p:tgtEl>
                                          <p:spTgt spid="25"/>
                                        </p:tgtEl>
                                      </p:cBhvr>
                                    </p:animEffect>
                                  </p:childTnLst>
                                </p:cTn>
                              </p:par>
                              <p:par>
                                <p:cTn id="51" presetID="2" presetClass="entr" presetSubtype="4" fill="hold" nodeType="withEffect">
                                  <p:stCondLst>
                                    <p:cond delay="6000"/>
                                  </p:stCondLst>
                                  <p:childTnLst>
                                    <p:set>
                                      <p:cBhvr>
                                        <p:cTn id="52" dur="1" fill="hold">
                                          <p:stCondLst>
                                            <p:cond delay="0"/>
                                          </p:stCondLst>
                                        </p:cTn>
                                        <p:tgtEl>
                                          <p:spTgt spid="30"/>
                                        </p:tgtEl>
                                        <p:attrNameLst>
                                          <p:attrName>style.visibility</p:attrName>
                                        </p:attrNameLst>
                                      </p:cBhvr>
                                      <p:to>
                                        <p:strVal val="visible"/>
                                      </p:to>
                                    </p:set>
                                    <p:anim calcmode="lin" valueType="num">
                                      <p:cBhvr additive="base">
                                        <p:cTn id="53" dur="800" fill="hold"/>
                                        <p:tgtEl>
                                          <p:spTgt spid="30"/>
                                        </p:tgtEl>
                                        <p:attrNameLst>
                                          <p:attrName>ppt_x</p:attrName>
                                        </p:attrNameLst>
                                      </p:cBhvr>
                                      <p:tavLst>
                                        <p:tav tm="0">
                                          <p:val>
                                            <p:strVal val="#ppt_x"/>
                                          </p:val>
                                        </p:tav>
                                        <p:tav tm="100000">
                                          <p:val>
                                            <p:strVal val="#ppt_x"/>
                                          </p:val>
                                        </p:tav>
                                      </p:tavLst>
                                    </p:anim>
                                    <p:anim calcmode="lin" valueType="num">
                                      <p:cBhvr additive="base">
                                        <p:cTn id="54" dur="800" fill="hold"/>
                                        <p:tgtEl>
                                          <p:spTgt spid="30"/>
                                        </p:tgtEl>
                                        <p:attrNameLst>
                                          <p:attrName>ppt_y</p:attrName>
                                        </p:attrNameLst>
                                      </p:cBhvr>
                                      <p:tavLst>
                                        <p:tav tm="0">
                                          <p:val>
                                            <p:strVal val="1+#ppt_h/2"/>
                                          </p:val>
                                        </p:tav>
                                        <p:tav tm="100000">
                                          <p:val>
                                            <p:strVal val="#ppt_y"/>
                                          </p:val>
                                        </p:tav>
                                      </p:tavLst>
                                    </p:anim>
                                  </p:childTnLst>
                                </p:cTn>
                              </p:par>
                              <p:par>
                                <p:cTn id="55" presetID="10" presetClass="entr" presetSubtype="0" fill="hold" nodeType="withEffect">
                                  <p:stCondLst>
                                    <p:cond delay="960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600"/>
                                        <p:tgtEl>
                                          <p:spTgt spid="33"/>
                                        </p:tgtEl>
                                      </p:cBhvr>
                                    </p:animEffect>
                                  </p:childTnLst>
                                </p:cTn>
                              </p:par>
                              <p:par>
                                <p:cTn id="58" presetID="10" presetClass="entr" presetSubtype="0" fill="hold" grpId="0" nodeType="withEffect">
                                  <p:stCondLst>
                                    <p:cond delay="1550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COMING UP IN THE SERIES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10" name="Part 2"/>
          <p:cNvGrpSpPr/>
          <p:nvPr/>
        </p:nvGrpSpPr>
        <p:grpSpPr>
          <a:xfrm>
            <a:off x="762000" y="1905000"/>
            <a:ext cx="2540000" cy="2095500"/>
            <a:chOff x="762000" y="1905000"/>
            <a:chExt cx="2540000" cy="2095500"/>
          </a:xfrm>
        </p:grpSpPr>
        <p:sp>
          <p:nvSpPr>
            <p:cNvPr id="6" name="Shape 4"/>
            <p:cNvSpPr/>
            <p:nvPr/>
          </p:nvSpPr>
          <p:spPr>
            <a:xfrm>
              <a:off x="762000" y="1905000"/>
              <a:ext cx="2540000" cy="2095500"/>
            </a:xfrm>
            <a:prstGeom prst="roundRect">
              <a:avLst>
                <a:gd name="adj" fmla="val 787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2</a:t>
              </a:r>
            </a:p>
          </p:txBody>
        </p:sp>
        <p:pic>
          <p:nvPicPr>
            <p:cNvPr id="8" name="Shape 6" descr="icon-layers-2f6fed.png"/>
            <p:cNvPicPr>
              <a:picLocks noChangeAspect="1"/>
            </p:cNvPicPr>
            <p:nvPr/>
          </p:nvPicPr>
          <p:blipFill>
            <a:blip r:embed="rId4"/>
            <a:stretch>
              <a:fillRect/>
            </a:stretch>
          </p:blipFill>
          <p:spPr>
            <a:xfrm>
              <a:off x="977900" y="2413000"/>
              <a:ext cx="533400" cy="533400"/>
            </a:xfrm>
            <a:prstGeom prst="rect">
              <a:avLst/>
            </a:prstGeom>
          </p:spPr>
        </p:pic>
        <p:sp>
          <p:nvSpPr>
            <p:cNvPr id="9" name="Shape 7"/>
            <p:cNvSpPr txBox="1"/>
            <p:nvPr/>
          </p:nvSpPr>
          <p:spPr>
            <a:xfrm>
              <a:off x="977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How do I buy or build an ODA Canvas?</a:t>
              </a:r>
            </a:p>
          </p:txBody>
        </p:sp>
      </p:grpSp>
      <p:grpSp>
        <p:nvGrpSpPr>
          <p:cNvPr id="15" name="Part 3"/>
          <p:cNvGrpSpPr/>
          <p:nvPr/>
        </p:nvGrpSpPr>
        <p:grpSpPr>
          <a:xfrm>
            <a:off x="3492500" y="1905000"/>
            <a:ext cx="2540000" cy="2095500"/>
            <a:chOff x="3492500" y="1905000"/>
            <a:chExt cx="2540000" cy="2095500"/>
          </a:xfrm>
        </p:grpSpPr>
        <p:sp>
          <p:nvSpPr>
            <p:cNvPr id="11" name="Shape 9"/>
            <p:cNvSpPr/>
            <p:nvPr/>
          </p:nvSpPr>
          <p:spPr>
            <a:xfrm>
              <a:off x="3492500" y="1905000"/>
              <a:ext cx="2540000" cy="2095500"/>
            </a:xfrm>
            <a:prstGeom prst="roundRect">
              <a:avLst>
                <a:gd name="adj" fmla="val 7878"/>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3708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3</a:t>
              </a:r>
            </a:p>
          </p:txBody>
        </p:sp>
        <p:pic>
          <p:nvPicPr>
            <p:cNvPr id="13" name="Shape 11" descr="icon-shield-ff6b6b.png"/>
            <p:cNvPicPr>
              <a:picLocks noChangeAspect="1"/>
            </p:cNvPicPr>
            <p:nvPr/>
          </p:nvPicPr>
          <p:blipFill>
            <a:blip r:embed="rId5"/>
            <a:stretch>
              <a:fillRect/>
            </a:stretch>
          </p:blipFill>
          <p:spPr>
            <a:xfrm>
              <a:off x="3708400" y="2413000"/>
              <a:ext cx="533400" cy="533400"/>
            </a:xfrm>
            <a:prstGeom prst="rect">
              <a:avLst/>
            </a:prstGeom>
          </p:spPr>
        </p:pic>
        <p:sp>
          <p:nvSpPr>
            <p:cNvPr id="14" name="Shape 12"/>
            <p:cNvSpPr txBox="1"/>
            <p:nvPr/>
          </p:nvSpPr>
          <p:spPr>
            <a:xfrm>
              <a:off x="3708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Authentication &amp; authorization</a:t>
              </a:r>
            </a:p>
          </p:txBody>
        </p:sp>
      </p:grpSp>
      <p:grpSp>
        <p:nvGrpSpPr>
          <p:cNvPr id="20" name="Part 4"/>
          <p:cNvGrpSpPr/>
          <p:nvPr/>
        </p:nvGrpSpPr>
        <p:grpSpPr>
          <a:xfrm>
            <a:off x="6223000" y="1905000"/>
            <a:ext cx="2540000" cy="2095500"/>
            <a:chOff x="6223000" y="1905000"/>
            <a:chExt cx="2540000" cy="2095500"/>
          </a:xfrm>
        </p:grpSpPr>
        <p:sp>
          <p:nvSpPr>
            <p:cNvPr id="16" name="Shape 14"/>
            <p:cNvSpPr/>
            <p:nvPr/>
          </p:nvSpPr>
          <p:spPr>
            <a:xfrm>
              <a:off x="6223000" y="1905000"/>
              <a:ext cx="2540000" cy="2095500"/>
            </a:xfrm>
            <a:prstGeom prst="roundRect">
              <a:avLst>
                <a:gd name="adj" fmla="val 7878"/>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6438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4</a:t>
              </a:r>
            </a:p>
          </p:txBody>
        </p:sp>
        <p:pic>
          <p:nvPicPr>
            <p:cNvPr id="18" name="Shape 16" descr="icon-spark-f472b6.png"/>
            <p:cNvPicPr>
              <a:picLocks noChangeAspect="1"/>
            </p:cNvPicPr>
            <p:nvPr/>
          </p:nvPicPr>
          <p:blipFill>
            <a:blip r:embed="rId6"/>
            <a:stretch>
              <a:fillRect/>
            </a:stretch>
          </p:blipFill>
          <p:spPr>
            <a:xfrm>
              <a:off x="6438900" y="2413000"/>
              <a:ext cx="533400" cy="533400"/>
            </a:xfrm>
            <a:prstGeom prst="rect">
              <a:avLst/>
            </a:prstGeom>
          </p:spPr>
        </p:pic>
        <p:sp>
          <p:nvSpPr>
            <p:cNvPr id="19" name="Shape 17"/>
            <p:cNvSpPr txBox="1"/>
            <p:nvPr/>
          </p:nvSpPr>
          <p:spPr>
            <a:xfrm>
              <a:off x="6438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AI-Native ODA Canvas</a:t>
              </a:r>
            </a:p>
          </p:txBody>
        </p:sp>
      </p:grpSp>
      <p:grpSp>
        <p:nvGrpSpPr>
          <p:cNvPr id="25" name="Part 5"/>
          <p:cNvGrpSpPr/>
          <p:nvPr/>
        </p:nvGrpSpPr>
        <p:grpSpPr>
          <a:xfrm>
            <a:off x="8953500" y="1905000"/>
            <a:ext cx="2540000" cy="2095500"/>
            <a:chOff x="8953500" y="1905000"/>
            <a:chExt cx="2540000" cy="2095500"/>
          </a:xfrm>
        </p:grpSpPr>
        <p:sp>
          <p:nvSpPr>
            <p:cNvPr id="21" name="Shape 19"/>
            <p:cNvSpPr/>
            <p:nvPr/>
          </p:nvSpPr>
          <p:spPr>
            <a:xfrm>
              <a:off x="8953500" y="1905000"/>
              <a:ext cx="2540000" cy="2095500"/>
            </a:xfrm>
            <a:prstGeom prst="roundRect">
              <a:avLst>
                <a:gd name="adj" fmla="val 7878"/>
              </a:avLst>
            </a:prstGeom>
            <a:solidFill>
              <a:srgbClr val="111A30"/>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9169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5</a:t>
              </a:r>
            </a:p>
          </p:txBody>
        </p:sp>
        <p:pic>
          <p:nvPicPr>
            <p:cNvPr id="23" name="Shape 21" descr="icon-leaf-34d399.png"/>
            <p:cNvPicPr>
              <a:picLocks noChangeAspect="1"/>
            </p:cNvPicPr>
            <p:nvPr/>
          </p:nvPicPr>
          <p:blipFill>
            <a:blip r:embed="rId7"/>
            <a:stretch>
              <a:fillRect/>
            </a:stretch>
          </p:blipFill>
          <p:spPr>
            <a:xfrm>
              <a:off x="9169400" y="2413000"/>
              <a:ext cx="533400" cy="533400"/>
            </a:xfrm>
            <a:prstGeom prst="rect">
              <a:avLst/>
            </a:prstGeom>
          </p:spPr>
        </p:pic>
        <p:sp>
          <p:nvSpPr>
            <p:cNvPr id="24" name="Shape 22"/>
            <p:cNvSpPr txBox="1"/>
            <p:nvPr/>
          </p:nvSpPr>
          <p:spPr>
            <a:xfrm>
              <a:off x="9169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Carbon-aware software</a:t>
              </a:r>
            </a:p>
          </p:txBody>
        </p:sp>
      </p:grpSp>
      <p:grpSp>
        <p:nvGrpSpPr>
          <p:cNvPr id="29" name="Links"/>
          <p:cNvGrpSpPr/>
          <p:nvPr/>
        </p:nvGrpSpPr>
        <p:grpSpPr>
          <a:xfrm>
            <a:off x="762000" y="4699000"/>
            <a:ext cx="8890000" cy="755650"/>
            <a:chOff x="762000" y="4699000"/>
            <a:chExt cx="8890000" cy="755650"/>
          </a:xfrm>
        </p:grpSpPr>
        <p:sp>
          <p:nvSpPr>
            <p:cNvPr id="26" name="Shape 24"/>
            <p:cNvSpPr txBox="1"/>
            <p:nvPr/>
          </p:nvSpPr>
          <p:spPr>
            <a:xfrm>
              <a:off x="762000" y="4699000"/>
              <a:ext cx="8890000" cy="2794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Reference implementation, docs and use-case library</a:t>
              </a:r>
            </a:p>
          </p:txBody>
        </p:sp>
        <p:sp>
          <p:nvSpPr>
            <p:cNvPr id="27" name="Shape 25">
              <a:hlinkClick r:id="rId8"/>
            </p:cNvPr>
            <p:cNvSpPr/>
            <p:nvPr/>
          </p:nvSpPr>
          <p:spPr>
            <a:xfrm>
              <a:off x="762000" y="5054600"/>
              <a:ext cx="4502150" cy="4000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github.com/tmforum-oda/oda-canvas</a:t>
              </a:r>
            </a:p>
          </p:txBody>
        </p:sp>
        <p:sp>
          <p:nvSpPr>
            <p:cNvPr id="28" name="Shape 26">
              <a:hlinkClick r:id="rId9"/>
            </p:cNvPr>
            <p:cNvSpPr/>
            <p:nvPr/>
          </p:nvSpPr>
          <p:spPr>
            <a:xfrm>
              <a:off x="5416550" y="5054600"/>
              <a:ext cx="3479800" cy="40005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tmforum.org/oda/directory</a:t>
              </a:r>
            </a:p>
          </p:txBody>
        </p:sp>
      </p:grpSp>
      <p:sp>
        <p:nvSpPr>
          <p:cNvPr id="30" name="Welcome"/>
          <p:cNvSpPr txBox="1"/>
          <p:nvPr/>
        </p:nvSpPr>
        <p:spPr>
          <a:xfrm>
            <a:off x="762000" y="5905500"/>
            <a:ext cx="762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21900"/>
    </mc:Choice>
    <mc:Fallback>
      <p:transition spd="slow" advTm="2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2" presetClass="entr" presetSubtype="4" fill="hold" grpId="0" nodeType="withEffect">
                                  <p:stCondLst>
                                    <p:cond delay="100"/>
                                  </p:stCondLst>
                                  <p:childTnLst>
                                    <p:set>
                                      <p:cBhvr>
                                        <p:cTn id="9" dur="1" fill="hold">
                                          <p:stCondLst>
                                            <p:cond delay="0"/>
                                          </p:stCondLst>
                                        </p:cTn>
                                        <p:tgtEl>
                                          <p:spTgt spid="5"/>
                                        </p:tgtEl>
                                        <p:attrNameLst>
                                          <p:attrName>style.visibility</p:attrName>
                                        </p:attrNameLst>
                                      </p:cBhvr>
                                      <p:to>
                                        <p:strVal val="visible"/>
                                      </p:to>
                                    </p:set>
                                    <p:anim calcmode="lin" valueType="num">
                                      <p:cBhvr additive="base">
                                        <p:cTn id="10" dur="600" fill="hold"/>
                                        <p:tgtEl>
                                          <p:spTgt spid="5"/>
                                        </p:tgtEl>
                                        <p:attrNameLst>
                                          <p:attrName>ppt_x</p:attrName>
                                        </p:attrNameLst>
                                      </p:cBhvr>
                                      <p:tavLst>
                                        <p:tav tm="0">
                                          <p:val>
                                            <p:strVal val="#ppt_x"/>
                                          </p:val>
                                        </p:tav>
                                        <p:tav tm="100000">
                                          <p:val>
                                            <p:strVal val="#ppt_x"/>
                                          </p:val>
                                        </p:tav>
                                      </p:tavLst>
                                    </p:anim>
                                    <p:anim calcmode="lin" valueType="num">
                                      <p:cBhvr additive="base">
                                        <p:cTn id="11" dur="600" fill="hold"/>
                                        <p:tgtEl>
                                          <p:spTgt spid="5"/>
                                        </p:tgtEl>
                                        <p:attrNameLst>
                                          <p:attrName>ppt_y</p:attrName>
                                        </p:attrNameLst>
                                      </p:cBhvr>
                                      <p:tavLst>
                                        <p:tav tm="0">
                                          <p:val>
                                            <p:strVal val="1+#ppt_h/2"/>
                                          </p:val>
                                        </p:tav>
                                        <p:tav tm="100000">
                                          <p:val>
                                            <p:strVal val="#ppt_y"/>
                                          </p:val>
                                        </p:tav>
                                      </p:tavLst>
                                    </p:anim>
                                  </p:childTnLst>
                                </p:cTn>
                              </p:par>
                              <p:par>
                                <p:cTn id="12" presetID="2" presetClass="entr" presetSubtype="4" fill="hold" nodeType="withEffect">
                                  <p:stCondLst>
                                    <p:cond delay="2400"/>
                                  </p:stCondLst>
                                  <p:childTnLst>
                                    <p:set>
                                      <p:cBhvr>
                                        <p:cTn id="13" dur="1" fill="hold">
                                          <p:stCondLst>
                                            <p:cond delay="0"/>
                                          </p:stCondLst>
                                        </p:cTn>
                                        <p:tgtEl>
                                          <p:spTgt spid="10"/>
                                        </p:tgtEl>
                                        <p:attrNameLst>
                                          <p:attrName>style.visibility</p:attrName>
                                        </p:attrNameLst>
                                      </p:cBhvr>
                                      <p:to>
                                        <p:strVal val="visible"/>
                                      </p:to>
                                    </p:set>
                                    <p:anim calcmode="lin" valueType="num">
                                      <p:cBhvr additive="base">
                                        <p:cTn id="14" dur="700" fill="hold"/>
                                        <p:tgtEl>
                                          <p:spTgt spid="10"/>
                                        </p:tgtEl>
                                        <p:attrNameLst>
                                          <p:attrName>ppt_x</p:attrName>
                                        </p:attrNameLst>
                                      </p:cBhvr>
                                      <p:tavLst>
                                        <p:tav tm="0">
                                          <p:val>
                                            <p:strVal val="#ppt_x"/>
                                          </p:val>
                                        </p:tav>
                                        <p:tav tm="100000">
                                          <p:val>
                                            <p:strVal val="#ppt_x"/>
                                          </p:val>
                                        </p:tav>
                                      </p:tavLst>
                                    </p:anim>
                                    <p:anim calcmode="lin" valueType="num">
                                      <p:cBhvr additive="base">
                                        <p:cTn id="15" dur="700" fill="hold"/>
                                        <p:tgtEl>
                                          <p:spTgt spid="10"/>
                                        </p:tgtEl>
                                        <p:attrNameLst>
                                          <p:attrName>ppt_y</p:attrName>
                                        </p:attrNameLst>
                                      </p:cBhvr>
                                      <p:tavLst>
                                        <p:tav tm="0">
                                          <p:val>
                                            <p:strVal val="1+#ppt_h/2"/>
                                          </p:val>
                                        </p:tav>
                                        <p:tav tm="100000">
                                          <p:val>
                                            <p:strVal val="#ppt_y"/>
                                          </p:val>
                                        </p:tav>
                                      </p:tavLst>
                                    </p:anim>
                                  </p:childTnLst>
                                </p:cTn>
                              </p:par>
                              <p:par>
                                <p:cTn id="16" presetID="2" presetClass="entr" presetSubtype="4" fill="hold" nodeType="withEffect">
                                  <p:stCondLst>
                                    <p:cond delay="4000"/>
                                  </p:stCondLst>
                                  <p:childTnLst>
                                    <p:set>
                                      <p:cBhvr>
                                        <p:cTn id="17" dur="1" fill="hold">
                                          <p:stCondLst>
                                            <p:cond delay="0"/>
                                          </p:stCondLst>
                                        </p:cTn>
                                        <p:tgtEl>
                                          <p:spTgt spid="15"/>
                                        </p:tgtEl>
                                        <p:attrNameLst>
                                          <p:attrName>style.visibility</p:attrName>
                                        </p:attrNameLst>
                                      </p:cBhvr>
                                      <p:to>
                                        <p:strVal val="visible"/>
                                      </p:to>
                                    </p:set>
                                    <p:anim calcmode="lin" valueType="num">
                                      <p:cBhvr additive="base">
                                        <p:cTn id="18" dur="700" fill="hold"/>
                                        <p:tgtEl>
                                          <p:spTgt spid="15"/>
                                        </p:tgtEl>
                                        <p:attrNameLst>
                                          <p:attrName>ppt_x</p:attrName>
                                        </p:attrNameLst>
                                      </p:cBhvr>
                                      <p:tavLst>
                                        <p:tav tm="0">
                                          <p:val>
                                            <p:strVal val="#ppt_x"/>
                                          </p:val>
                                        </p:tav>
                                        <p:tav tm="100000">
                                          <p:val>
                                            <p:strVal val="#ppt_x"/>
                                          </p:val>
                                        </p:tav>
                                      </p:tavLst>
                                    </p:anim>
                                    <p:anim calcmode="lin" valueType="num">
                                      <p:cBhvr additive="base">
                                        <p:cTn id="19" dur="700" fill="hold"/>
                                        <p:tgtEl>
                                          <p:spTgt spid="15"/>
                                        </p:tgtEl>
                                        <p:attrNameLst>
                                          <p:attrName>ppt_y</p:attrName>
                                        </p:attrNameLst>
                                      </p:cBhvr>
                                      <p:tavLst>
                                        <p:tav tm="0">
                                          <p:val>
                                            <p:strVal val="1+#ppt_h/2"/>
                                          </p:val>
                                        </p:tav>
                                        <p:tav tm="100000">
                                          <p:val>
                                            <p:strVal val="#ppt_y"/>
                                          </p:val>
                                        </p:tav>
                                      </p:tavLst>
                                    </p:anim>
                                  </p:childTnLst>
                                </p:cTn>
                              </p:par>
                              <p:par>
                                <p:cTn id="20" presetID="2" presetClass="entr" presetSubtype="4" fill="hold" nodeType="withEffect">
                                  <p:stCondLst>
                                    <p:cond delay="5600"/>
                                  </p:stCondLst>
                                  <p:childTnLst>
                                    <p:set>
                                      <p:cBhvr>
                                        <p:cTn id="21" dur="1" fill="hold">
                                          <p:stCondLst>
                                            <p:cond delay="0"/>
                                          </p:stCondLst>
                                        </p:cTn>
                                        <p:tgtEl>
                                          <p:spTgt spid="20"/>
                                        </p:tgtEl>
                                        <p:attrNameLst>
                                          <p:attrName>style.visibility</p:attrName>
                                        </p:attrNameLst>
                                      </p:cBhvr>
                                      <p:to>
                                        <p:strVal val="visible"/>
                                      </p:to>
                                    </p:set>
                                    <p:anim calcmode="lin" valueType="num">
                                      <p:cBhvr additive="base">
                                        <p:cTn id="22" dur="700" fill="hold"/>
                                        <p:tgtEl>
                                          <p:spTgt spid="20"/>
                                        </p:tgtEl>
                                        <p:attrNameLst>
                                          <p:attrName>ppt_x</p:attrName>
                                        </p:attrNameLst>
                                      </p:cBhvr>
                                      <p:tavLst>
                                        <p:tav tm="0">
                                          <p:val>
                                            <p:strVal val="#ppt_x"/>
                                          </p:val>
                                        </p:tav>
                                        <p:tav tm="100000">
                                          <p:val>
                                            <p:strVal val="#ppt_x"/>
                                          </p:val>
                                        </p:tav>
                                      </p:tavLst>
                                    </p:anim>
                                    <p:anim calcmode="lin" valueType="num">
                                      <p:cBhvr additive="base">
                                        <p:cTn id="23" dur="700" fill="hold"/>
                                        <p:tgtEl>
                                          <p:spTgt spid="20"/>
                                        </p:tgtEl>
                                        <p:attrNameLst>
                                          <p:attrName>ppt_y</p:attrName>
                                        </p:attrNameLst>
                                      </p:cBhvr>
                                      <p:tavLst>
                                        <p:tav tm="0">
                                          <p:val>
                                            <p:strVal val="1+#ppt_h/2"/>
                                          </p:val>
                                        </p:tav>
                                        <p:tav tm="100000">
                                          <p:val>
                                            <p:strVal val="#ppt_y"/>
                                          </p:val>
                                        </p:tav>
                                      </p:tavLst>
                                    </p:anim>
                                  </p:childTnLst>
                                </p:cTn>
                              </p:par>
                              <p:par>
                                <p:cTn id="24" presetID="2" presetClass="entr" presetSubtype="4" fill="hold" nodeType="withEffect">
                                  <p:stCondLst>
                                    <p:cond delay="7200"/>
                                  </p:stCondLst>
                                  <p:childTnLst>
                                    <p:set>
                                      <p:cBhvr>
                                        <p:cTn id="25" dur="1" fill="hold">
                                          <p:stCondLst>
                                            <p:cond delay="0"/>
                                          </p:stCondLst>
                                        </p:cTn>
                                        <p:tgtEl>
                                          <p:spTgt spid="25"/>
                                        </p:tgtEl>
                                        <p:attrNameLst>
                                          <p:attrName>style.visibility</p:attrName>
                                        </p:attrNameLst>
                                      </p:cBhvr>
                                      <p:to>
                                        <p:strVal val="visible"/>
                                      </p:to>
                                    </p:set>
                                    <p:anim calcmode="lin" valueType="num">
                                      <p:cBhvr additive="base">
                                        <p:cTn id="26" dur="700" fill="hold"/>
                                        <p:tgtEl>
                                          <p:spTgt spid="25"/>
                                        </p:tgtEl>
                                        <p:attrNameLst>
                                          <p:attrName>ppt_x</p:attrName>
                                        </p:attrNameLst>
                                      </p:cBhvr>
                                      <p:tavLst>
                                        <p:tav tm="0">
                                          <p:val>
                                            <p:strVal val="#ppt_x"/>
                                          </p:val>
                                        </p:tav>
                                        <p:tav tm="100000">
                                          <p:val>
                                            <p:strVal val="#ppt_x"/>
                                          </p:val>
                                        </p:tav>
                                      </p:tavLst>
                                    </p:anim>
                                    <p:anim calcmode="lin" valueType="num">
                                      <p:cBhvr additive="base">
                                        <p:cTn id="27" dur="700" fill="hold"/>
                                        <p:tgtEl>
                                          <p:spTgt spid="25"/>
                                        </p:tgtEl>
                                        <p:attrNameLst>
                                          <p:attrName>ppt_y</p:attrName>
                                        </p:attrNameLst>
                                      </p:cBhvr>
                                      <p:tavLst>
                                        <p:tav tm="0">
                                          <p:val>
                                            <p:strVal val="1+#ppt_h/2"/>
                                          </p:val>
                                        </p:tav>
                                        <p:tav tm="100000">
                                          <p:val>
                                            <p:strVal val="#ppt_y"/>
                                          </p:val>
                                        </p:tav>
                                      </p:tavLst>
                                    </p:anim>
                                  </p:childTnLst>
                                </p:cTn>
                              </p:par>
                              <p:par>
                                <p:cTn id="28" presetID="2" presetClass="entr" presetSubtype="4" fill="hold" nodeType="withEffect">
                                  <p:stCondLst>
                                    <p:cond delay="10500"/>
                                  </p:stCondLst>
                                  <p:childTnLst>
                                    <p:set>
                                      <p:cBhvr>
                                        <p:cTn id="29" dur="1" fill="hold">
                                          <p:stCondLst>
                                            <p:cond delay="0"/>
                                          </p:stCondLst>
                                        </p:cTn>
                                        <p:tgtEl>
                                          <p:spTgt spid="29"/>
                                        </p:tgtEl>
                                        <p:attrNameLst>
                                          <p:attrName>style.visibility</p:attrName>
                                        </p:attrNameLst>
                                      </p:cBhvr>
                                      <p:to>
                                        <p:strVal val="visible"/>
                                      </p:to>
                                    </p:set>
                                    <p:anim calcmode="lin" valueType="num">
                                      <p:cBhvr additive="base">
                                        <p:cTn id="30" dur="600" fill="hold"/>
                                        <p:tgtEl>
                                          <p:spTgt spid="29"/>
                                        </p:tgtEl>
                                        <p:attrNameLst>
                                          <p:attrName>ppt_x</p:attrName>
                                        </p:attrNameLst>
                                      </p:cBhvr>
                                      <p:tavLst>
                                        <p:tav tm="0">
                                          <p:val>
                                            <p:strVal val="#ppt_x"/>
                                          </p:val>
                                        </p:tav>
                                        <p:tav tm="100000">
                                          <p:val>
                                            <p:strVal val="#ppt_x"/>
                                          </p:val>
                                        </p:tav>
                                      </p:tavLst>
                                    </p:anim>
                                    <p:anim calcmode="lin" valueType="num">
                                      <p:cBhvr additive="base">
                                        <p:cTn id="31" dur="600" fill="hold"/>
                                        <p:tgtEl>
                                          <p:spTgt spid="29"/>
                                        </p:tgtEl>
                                        <p:attrNameLst>
                                          <p:attrName>ppt_y</p:attrName>
                                        </p:attrNameLst>
                                      </p:cBhvr>
                                      <p:tavLst>
                                        <p:tav tm="0">
                                          <p:val>
                                            <p:strVal val="1+#ppt_h/2"/>
                                          </p:val>
                                        </p:tav>
                                        <p:tav tm="100000">
                                          <p:val>
                                            <p:strVal val="#ppt_y"/>
                                          </p:val>
                                        </p:tav>
                                      </p:tavLst>
                                    </p:anim>
                                  </p:childTnLst>
                                </p:cTn>
                              </p:par>
                              <p:par>
                                <p:cTn id="32" presetID="10" presetClass="entr" presetSubtype="0" fill="hold" grpId="0" nodeType="withEffect">
                                  <p:stCondLst>
                                    <p:cond delay="1500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2399</Words>
  <Application>Microsoft Office PowerPoint</Application>
  <PresentationFormat>Widescreen</PresentationFormat>
  <Paragraphs>181</Paragraphs>
  <Slides>27</Slides>
  <Notes>27</Notes>
  <HiddenSlides>0</HiddenSlides>
  <MMClips>17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Segoe UI</vt:lpstr>
      <vt:lpstr>Office Theme</vt:lpstr>
      <vt:lpstr>Title card</vt:lpstr>
      <vt:lpstr>Who this is for</vt:lpstr>
      <vt:lpstr>Roadmap</vt:lpstr>
      <vt:lpstr>Frameworks and the problem of interpretation</vt:lpstr>
      <vt:lpstr>The Open API programme</vt:lpstr>
      <vt:lpstr>The remaining gap</vt:lpstr>
      <vt:lpstr>What is an ODA Component?</vt:lpstr>
      <vt:lpstr>What is the ODA Canvas?</vt:lpstr>
      <vt:lpstr>Composable IT with ODA</vt:lpstr>
      <vt:lpstr>Composable AI with Agentic ODA</vt:lpstr>
      <vt:lpstr>Example: identity is declared, not implemented</vt:lpstr>
      <vt:lpstr>Example: secrets without bootstrap credentials</vt:lpstr>
      <vt:lpstr>Six benefits</vt:lpstr>
      <vt:lpstr>An order-of-magnitude goal</vt:lpstr>
      <vt:lpstr>The component standard in two layers</vt:lpstr>
      <vt:lpstr>Live demo: the ODA Component Directory</vt:lpstr>
      <vt:lpstr>The component YAML</vt:lpstr>
      <vt:lpstr>The Canvas as a set of operators</vt:lpstr>
      <vt:lpstr>Worked example: API exposure</vt:lpstr>
      <vt:lpstr>Live demo: the component inventory</vt:lpstr>
      <vt:lpstr>Live demo: deploying a component</vt:lpstr>
      <vt:lpstr>Identity configuration</vt:lpstr>
      <vt:lpstr>Observability</vt:lpstr>
      <vt:lpstr>Available today, experimental, planned</vt:lpstr>
      <vt:lpstr>Measuring Canvas adoption</vt:lpstr>
      <vt:lpstr>Built together</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2026-10-17T07:07:47Z</dcterms:modified>
  <cp:category/>
</cp:coreProperties>
</file>