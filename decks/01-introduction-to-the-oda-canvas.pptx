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131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first video in a series about the Open Digital Architecture Canvas. The Canvas is the execution platform for ODA Components. It also has an open-source reference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video is for two groups. The first group is the architects and software engineers who build functional software components. They want to know what it means to meet the ODA standards and run on the Canvas. The second group is site reliability engineers who build or operate a Canvas platform. That might be a communication service provider running its own Canvas. Or it might be a cloud provider offering a managed Canvas to others.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We'll start with a short history of how we got here. Then we'll explain what an ODA Component is and what the Canvas provides. After that we'll cover the business benefits. Next comes a quick tour of the Canvas, including the Canvas Portal. We'll finish with where the work is heading. Later videos in the series go deeper into each area.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more than twenty-five years, TM Forum has been a hub for collaboration on telecom IT. The early frameworks gave the industry a common language for processes, information and functions. Operators used them successfully to design high-level architectures. They also gave a common language for product selection and requests for proposal. But they were not detailed enough for systems to work together seamlessly. So every integration needed custom work. That integration tax was paid again and again.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next big step was TM Forum's Open API programme. It began with experiments and hackathons around 2013. It was formally launched in 2015. Open APIs are detailed, prescriptive, machine-readable specifications for standard services. Adoption has been huge. By September 2026, there had been almost one point four million downloads. They came from nearly seventy-two thousand developers. Today, TM Forum Open APIs are the foundation for many telcos' IT services. They have enabled seamless integration between systems.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Standard APIs didn't solve everything. Telecom IT estates are still diverse and complex, and upgrading them is hard. Often several systems have to be upgraded together in one large transformation project. Standardising the interfaces wasn't enough. The industry also needed a standard way to package, deploy and operate the software behind them.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where ODA Components come in. An ODA Component is an independently deployable unit of functionality. Alongside its business function, it declares its non-functional needs, such as the APIs it exposes and depends on, the events it publishes, its security roles and its observability. Components are interoperable, designed around end-to-end use cases. They are also portable and can run on any cloud platform that follows the standard.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ODA Canvas is the cloud-native execution environment for those components. It reads each component's declared requirements and provides the shared operational services it needs, including API management, identity, observability and secrets. Component developers can focus on business functionality while the Canvas takes care of security, monitoring and scaling.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 the two together and you get composable IT. Use cases are assembled from standard components. Components are deployed onto a Canvas. Canvas operators configure the underlying platform services, such as API gateways, service meshes, identity and observability, whether those are open-source reference modules or commercial cloud services. When a new business need appears, you assemble existing building blocks instead of starting a new integration project.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model now extends to AI. In the AI-Native Canvas, AI agents can be packaged as agentic components that follow the same component standard. Standard components can expose their APIs as tools for agents using the Model Context Protocol. Agents can describe themselves to other agents through agent-to-agent standards. The Canvas adds AI and data services, such as an AI gateway in front of the approved language models, so that agents from many vendors can be governed, observed and cost-managed in one consistent way.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Identity is a good example of why this matters. Traditionally, each application ships with its own identity management. Operations teams then have to integrate each one. In the ODA model, a component only declares the roles it supports. The Canvas configures those roles in one shared identity platform. That could be Keycloak, Microsoft Entra ID, or another identity management platform. The Canvas does not mandate a specific product. It provides standard integration patterns, built on open standards, for interoperability and portability. Identities are managed once, consistently, across every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Secrets work the same way. A component declares that it needs a secrets store, and the Canvas sets up a private vault for it. In the reference implementation that's HashiCorp Vault, but any secrets management platform can be used. The component authenticates with its own Kubernetes workload identity. So it never needs a bootstrap password just to reach the vault.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do this? The benefits are shared by service providers, software vendors, integrators and cloud providers. Seamless integration supports zero-touch, zero-wait and zero-trouble customer experiences. Operations get simpler, moving from hundreds of teams running vertically integrated applications towards a single site reliability team running a Canvas. Agility drives innovation, including faster adoption of AI-native capabilities. Integration becomes automated instead of a manual project. Security is built in, with a zero-trust architecture and security as code. And modular contracts let every component be upgraded continuously, reducing technical debt.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ambition isn't an incremental gain. The goal is a step change, aiming for an order-of-magnitude improvement in efficiency and agility, and a faster transformation to an AI-native telco.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component standard has two layers. The lower layer is a set of design patterns for self-describing, modular software, with security and management defined as code. The upper layer is a set of standard golden components that represent industry best practice for breaking telecom IT into building blocks. You can browse them in the TM Forum ODA Component Directory.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standard components are published in the ODA Component Directory on the TM Forum website. Its components map groups them by business domain, alongside the Canvas operators. Opening Product Catalog Management shows its specification: the version and status, its YAML definition, conformance profile, test kit and reference implementation, the Open APIs it must expose and those it may depend on, and the products certified against it. Every standard component, such as Product Inventory, follows the same structure.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component carries a YAML definition. Think of it as a Swagger file for a whole component. It describes the component's metadata and functional scope, and then, in its core, management and security functions, the APIs it exposes and depends on, the events it uses, and the roles it needs. The specification reached version one, its generally available release, at the end of 2024.</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itself is modular. It is a set of software operators, following the Kubernetes operator pattern. The component management operator takes the component definition and breaks it into sub-resources, such as exposed APIs, dependent APIs, identity configuration and secrets management. Each sub-resource is handled by its own specialised operator. Each operator is a piece of software that holds the operational knowledge a human operator would otherwise apply by hand.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API exposure shows the pattern. The component declares which APIs it wants to expose, and optionally policies such as rate limiting, API-key checks, cross-origin rules or request validation. An API operator reads that declaration and automatically configures whichever gateway or service mesh the Canvas uses. The reference implementation has six options. They are the Istio service mesh and the Kong and Apache APISIX gateways. There are also operators for Azure API Management, Google Apigee and Whale Cloud. Any other gateway can be added with its own operator. The component stays the same, and only the operator changes.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of this is visible in the Canvas Portal. Here is the component inventory. It lists standard components grouped by business domain and shows which ones are installed on this Canvas.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Components are packaged as Helm charts. Deploying one is just a matter of choosing the chart and giving the release a name. From there, the operators take over: they expose its APIs, register its roles and configure its monitoring. Later videos follow that process end to end.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Identity follows the same pattern. A component declares its roles, either statically in its YAML or dynamically through a standard roles-and-permissions API. An identity config operator registers them in Keycloak, Microsoft Entra ID, or another identity management platform. Companion operators then create the component's client credentials and connect its API dependencies once access has been granted.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observability, components publish metrics using OpenMetrics and traces using OpenTelemetry, rather than shipping their own monitoring tools. When the API operator exposes a component's metrics endpoint, it also sets up scraping. In the reference implementation that means Prometheus, Grafana, Jaeger and an OpenTelemetry collector. The same declaration can target managed Prometheus services, Datadog, or another observability platform instead. Metrics can be business metrics as well as technical ones, for example a new product being added to a catalog.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where things stand. Available in the reference implementation today are operators for component management, API management, identity, credentials, dependencies, secrets and disruption budgets. An OAuth2 configuration operator for authentication between components is available as a prototype. Experimental operators cover model-as-a-service, data products and carbon-aware scaling. Event management, cost control and database services are planned. The Canvas is generally available, with regular releases. Every change is checked by an automated behaviour-driven test suite, running against a real Kubernetes cluster.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 you measure adoption? The outcome that matters is automated component deployment and lifecycle management. A service provider can turn on each light in turn as it automates API exposure, observability, identity, secrets and, increasingly, responsible AI, cost and carbon management. The Canvas itself is modular and can be deployed incrementally.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ODA Components and Canvas are the result of collaboration between software vendors, systems integrators, communication service providers and cloud providers. Together they deliver what the ODA Manifesto set out: a standard execution environment for ODA Components. That shared foundation is what lets the industry adopt new capabilities, including AI, faster together than any one company could alone.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video was an overview. The next videos in the series go deeper into how to buy or build a Canvas, authentication and authorization, the AI-Native Canvas and carbon-aware software. The reference implementation, its documentation and its use-case library are all on GitHub at tmforum-oda slash oda-canvas, and contributions are welcome.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1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1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1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2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hyperlink" Target="https://www.tmforum.org/oda/directory/components-map" TargetMode="Externa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0.mp4"/><Relationship Id="rId1" Type="http://schemas.microsoft.com/office/2007/relationships/media" Target="../media/media10.mp4"/><Relationship Id="rId5" Type="http://schemas.openxmlformats.org/officeDocument/2006/relationships/image" Target="../media/image2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1.mp4"/><Relationship Id="rId1" Type="http://schemas.microsoft.com/office/2007/relationships/media" Target="../media/media11.mp4"/><Relationship Id="rId5" Type="http://schemas.openxmlformats.org/officeDocument/2006/relationships/image" Target="../media/image2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2.mp4"/><Relationship Id="rId1" Type="http://schemas.microsoft.com/office/2007/relationships/media" Target="../media/media12.mp4"/><Relationship Id="rId5" Type="http://schemas.openxmlformats.org/officeDocument/2006/relationships/image" Target="../media/image3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3.mp4"/><Relationship Id="rId1" Type="http://schemas.microsoft.com/office/2007/relationships/media" Target="../media/media13.mp4"/><Relationship Id="rId5" Type="http://schemas.openxmlformats.org/officeDocument/2006/relationships/image" Target="../media/image3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4.mp4"/><Relationship Id="rId1" Type="http://schemas.microsoft.com/office/2007/relationships/media" Target="../media/media14.mp4"/><Relationship Id="rId5" Type="http://schemas.openxmlformats.org/officeDocument/2006/relationships/image" Target="../media/image3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5.mp4"/><Relationship Id="rId1" Type="http://schemas.microsoft.com/office/2007/relationships/media" Target="../media/media15.mp4"/><Relationship Id="rId5" Type="http://schemas.openxmlformats.org/officeDocument/2006/relationships/image" Target="../media/image3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6.mp4"/><Relationship Id="rId1" Type="http://schemas.microsoft.com/office/2007/relationships/media" Target="../media/media16.mp4"/><Relationship Id="rId5" Type="http://schemas.openxmlformats.org/officeDocument/2006/relationships/image" Target="../media/image3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7.mp4"/><Relationship Id="rId1" Type="http://schemas.microsoft.com/office/2007/relationships/media" Target="../media/media17.mp4"/><Relationship Id="rId5" Type="http://schemas.openxmlformats.org/officeDocument/2006/relationships/image" Target="../media/image3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png"/><Relationship Id="rId7"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png"/><Relationship Id="rId10" Type="http://schemas.openxmlformats.org/officeDocument/2006/relationships/image" Target="../media/image44.png"/><Relationship Id="rId4" Type="http://schemas.openxmlformats.org/officeDocument/2006/relationships/image" Target="../media/image2.png"/><Relationship Id="rId9" Type="http://schemas.openxmlformats.org/officeDocument/2006/relationships/image" Target="../media/image43.png"/></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tmforum-oda/oda-canvas" TargetMode="External"/><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45.png"/><Relationship Id="rId9" Type="http://schemas.openxmlformats.org/officeDocument/2006/relationships/hyperlink" Target="https://www.tmforum.org/oda/directory/components-ma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titl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Title card</a:t>
            </a:r>
          </a:p>
        </p:txBody>
      </p:sp>
      <p:pic>
        <p:nvPicPr>
          <p:cNvPr id="4" name="Canvas" descr="canvas-dark.png"/>
          <p:cNvPicPr>
            <a:picLocks noChangeAspect="1"/>
          </p:cNvPicPr>
          <p:nvPr/>
        </p:nvPicPr>
        <p:blipFill>
          <a:blip r:embed="rId4"/>
          <a:stretch>
            <a:fillRect/>
          </a:stretch>
        </p:blipFill>
        <p:spPr>
          <a:xfrm>
            <a:off x="6350000" y="3556000"/>
            <a:ext cx="5207000" cy="1923336"/>
          </a:xfrm>
          <a:prstGeom prst="rect">
            <a:avLst/>
          </a:prstGeom>
        </p:spPr>
      </p:pic>
      <p:pic>
        <p:nvPicPr>
          <p:cNvPr id="5" name="Component" descr="oda.png"/>
          <p:cNvPicPr>
            <a:picLocks noChangeAspect="1"/>
          </p:cNvPicPr>
          <p:nvPr/>
        </p:nvPicPr>
        <p:blipFill>
          <a:blip r:embed="rId5"/>
          <a:stretch>
            <a:fillRect/>
          </a:stretch>
        </p:blipFill>
        <p:spPr>
          <a:xfrm>
            <a:off x="8032750" y="1492250"/>
            <a:ext cx="1841500" cy="1739194"/>
          </a:xfrm>
          <a:prstGeom prst="rect">
            <a:avLst/>
          </a:prstGeom>
        </p:spPr>
      </p:pic>
      <p:sp>
        <p:nvSpPr>
          <p:cNvPr id="6" name="Intro"/>
          <p:cNvSpPr txBox="1"/>
          <p:nvPr/>
        </p:nvSpPr>
        <p:spPr>
          <a:xfrm>
            <a:off x="762000" y="2095500"/>
            <a:ext cx="5715000" cy="381000"/>
          </a:xfrm>
          <a:prstGeom prst="rect">
            <a:avLst/>
          </a:prstGeom>
          <a:noFill/>
        </p:spPr>
        <p:txBody>
          <a:bodyPr wrap="square" lIns="0" tIns="0" rIns="0" bIns="0" anchor="t">
            <a:spAutoFit/>
          </a:bodyPr>
          <a:lstStyle/>
          <a:p>
            <a:pPr algn="l">
              <a:lnSpc>
                <a:spcPct val="115000"/>
              </a:lnSpc>
            </a:pPr>
            <a:r>
              <a:rPr sz="2200" b="1">
                <a:solidFill>
                  <a:srgbClr val="8F9BB8"/>
                </a:solidFill>
                <a:latin typeface="Segoe UI"/>
              </a:rPr>
              <a:t>Introduction to the</a:t>
            </a:r>
          </a:p>
        </p:txBody>
      </p:sp>
      <p:sp>
        <p:nvSpPr>
          <p:cNvPr id="7" name="Name"/>
          <p:cNvSpPr txBox="1"/>
          <p:nvPr/>
        </p:nvSpPr>
        <p:spPr>
          <a:xfrm>
            <a:off x="762000" y="2413000"/>
            <a:ext cx="6350000" cy="1016000"/>
          </a:xfrm>
          <a:prstGeom prst="rect">
            <a:avLst/>
          </a:prstGeom>
          <a:noFill/>
        </p:spPr>
        <p:txBody>
          <a:bodyPr wrap="square" lIns="0" tIns="0" rIns="0" bIns="0" anchor="t">
            <a:spAutoFit/>
          </a:bodyPr>
          <a:lstStyle/>
          <a:p>
            <a:pPr algn="l">
              <a:lnSpc>
                <a:spcPct val="115000"/>
              </a:lnSpc>
            </a:pPr>
            <a:r>
              <a:rPr sz="6600" b="1">
                <a:solidFill>
                  <a:srgbClr val="F2F5FB"/>
                </a:solidFill>
                <a:latin typeface="Segoe UI"/>
              </a:rPr>
              <a:t>ODA </a:t>
            </a:r>
            <a:r>
              <a:rPr sz="6600" b="1">
                <a:solidFill>
                  <a:srgbClr val="E6007E"/>
                </a:solidFill>
                <a:latin typeface="Segoe UI"/>
              </a:rPr>
              <a:t>Canvas</a:t>
            </a:r>
          </a:p>
        </p:txBody>
      </p:sp>
      <p:sp>
        <p:nvSpPr>
          <p:cNvPr id="8" name="Subtitle"/>
          <p:cNvSpPr txBox="1"/>
          <p:nvPr/>
        </p:nvSpPr>
        <p:spPr>
          <a:xfrm>
            <a:off x="787400" y="3556000"/>
            <a:ext cx="5715000" cy="317500"/>
          </a:xfrm>
          <a:prstGeom prst="rect">
            <a:avLst/>
          </a:prstGeom>
          <a:noFill/>
        </p:spPr>
        <p:txBody>
          <a:bodyPr wrap="square" lIns="0" tIns="0" rIns="0" bIns="0" anchor="t">
            <a:spAutoFit/>
          </a:bodyPr>
          <a:lstStyle/>
          <a:p>
            <a:pPr algn="l">
              <a:lnSpc>
                <a:spcPct val="115000"/>
              </a:lnSpc>
            </a:pPr>
            <a:r>
              <a:rPr sz="1800" b="0">
                <a:solidFill>
                  <a:srgbClr val="8F9BB8"/>
                </a:solidFill>
                <a:latin typeface="Segoe UI"/>
              </a:rPr>
              <a:t>Open Digital Architecture · TM Forum</a:t>
            </a:r>
          </a:p>
        </p:txBody>
      </p:sp>
      <p:sp>
        <p:nvSpPr>
          <p:cNvPr id="9" name="Series"/>
          <p:cNvSpPr/>
          <p:nvPr/>
        </p:nvSpPr>
        <p:spPr>
          <a:xfrm>
            <a:off x="787400" y="4191000"/>
            <a:ext cx="2495550" cy="285750"/>
          </a:xfrm>
          <a:prstGeom prst="roundRect">
            <a:avLst>
              <a:gd name="adj" fmla="val 50000"/>
            </a:avLst>
          </a:prstGeom>
          <a:solidFill>
            <a:srgbClr val="E6007E">
              <a:alpha val="15000"/>
            </a:srgbClr>
          </a:solidFill>
          <a:ln w="127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Training series · Part 1</a:t>
            </a:r>
          </a:p>
        </p:txBody>
      </p:sp>
    </p:spTree>
  </p:cSld>
  <p:clrMapOvr>
    <a:masterClrMapping/>
  </p:clrMapOvr>
  <mc:AlternateContent xmlns:mc="http://schemas.openxmlformats.org/markup-compatibility/2006">
    <mc:Choice xmlns:p14="http://schemas.microsoft.com/office/powerpoint/2010/main" Requires="p14">
      <p:transition spd="slow" p14:dur="2000" advTm="13500"/>
    </mc:Choice>
    <mc:Fallback>
      <p:transition spd="slow" advTm="13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800"/>
                                        <p:tgtEl>
                                          <p:spTgt spid="6"/>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800"/>
                                        <p:tgtEl>
                                          <p:spTgt spid="7"/>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800"/>
                                        <p:tgtEl>
                                          <p:spTgt spid="8"/>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800"/>
                                        <p:tgtEl>
                                          <p:spTgt spid="4"/>
                                        </p:tgtEl>
                                      </p:cBhvr>
                                    </p:animEffect>
                                  </p:childTnLst>
                                </p:cTn>
                              </p:par>
                              <p:par>
                                <p:cTn id="17" presetID="58" presetClass="entr" presetSubtype="0" accel="100000" fill="hold" nodeType="withEffect">
                                  <p:stCondLst>
                                    <p:cond delay="1600"/>
                                  </p:stCondLst>
                                  <p:childTnLst>
                                    <p:set>
                                      <p:cBhvr>
                                        <p:cTn id="18" dur="1" fill="hold">
                                          <p:stCondLst>
                                            <p:cond delay="0"/>
                                          </p:stCondLst>
                                        </p:cTn>
                                        <p:tgtEl>
                                          <p:spTgt spid="5"/>
                                        </p:tgtEl>
                                        <p:attrNameLst>
                                          <p:attrName>style.visibility</p:attrName>
                                        </p:attrNameLst>
                                      </p:cBhvr>
                                      <p:to>
                                        <p:strVal val="visible"/>
                                      </p:to>
                                    </p:set>
                                    <p:anim calcmode="lin" valueType="num">
                                      <p:cBhvr>
                                        <p:cTn id="19" dur="800" fill="hold"/>
                                        <p:tgtEl>
                                          <p:spTgt spid="5"/>
                                        </p:tgtEl>
                                        <p:attrNameLst>
                                          <p:attrName>ppt_w</p:attrName>
                                        </p:attrNameLst>
                                      </p:cBhvr>
                                      <p:tavLst>
                                        <p:tav tm="0">
                                          <p:val>
                                            <p:strVal val="#ppt_w*2.5"/>
                                          </p:val>
                                        </p:tav>
                                        <p:tav tm="100000">
                                          <p:val>
                                            <p:strVal val="#ppt_w"/>
                                          </p:val>
                                        </p:tav>
                                      </p:tavLst>
                                    </p:anim>
                                    <p:anim calcmode="lin" valueType="num">
                                      <p:cBhvr>
                                        <p:cTn id="20" dur="800" fill="hold"/>
                                        <p:tgtEl>
                                          <p:spTgt spid="5"/>
                                        </p:tgtEl>
                                        <p:attrNameLst>
                                          <p:attrName>ppt_h</p:attrName>
                                        </p:attrNameLst>
                                      </p:cBhvr>
                                      <p:tavLst>
                                        <p:tav tm="0">
                                          <p:val>
                                            <p:strVal val="#ppt_h*0.01"/>
                                          </p:val>
                                        </p:tav>
                                        <p:tav tm="100000">
                                          <p:val>
                                            <p:strVal val="#ppt_h"/>
                                          </p:val>
                                        </p:tav>
                                      </p:tavLst>
                                    </p:anim>
                                    <p:anim calcmode="lin" valueType="num">
                                      <p:cBhvr>
                                        <p:cTn id="21" dur="800" fill="hold"/>
                                        <p:tgtEl>
                                          <p:spTgt spid="5"/>
                                        </p:tgtEl>
                                        <p:attrNameLst>
                                          <p:attrName>ppt_x</p:attrName>
                                        </p:attrNameLst>
                                      </p:cBhvr>
                                      <p:tavLst>
                                        <p:tav tm="0">
                                          <p:val>
                                            <p:strVal val="#ppt_x"/>
                                          </p:val>
                                        </p:tav>
                                        <p:tav tm="100000">
                                          <p:val>
                                            <p:strVal val="#ppt_x"/>
                                          </p:val>
                                        </p:tav>
                                      </p:tavLst>
                                    </p:anim>
                                    <p:anim calcmode="lin" valueType="num">
                                      <p:cBhvr>
                                        <p:cTn id="22" dur="800" fill="hold"/>
                                        <p:tgtEl>
                                          <p:spTgt spid="5"/>
                                        </p:tgtEl>
                                        <p:attrNameLst>
                                          <p:attrName>ppt_y</p:attrName>
                                        </p:attrNameLst>
                                      </p:cBhvr>
                                      <p:tavLst>
                                        <p:tav tm="0">
                                          <p:val>
                                            <p:strVal val="#ppt_h+1"/>
                                          </p:val>
                                        </p:tav>
                                        <p:tav tm="100000">
                                          <p:val>
                                            <p:strVal val="#ppt_y"/>
                                          </p:val>
                                        </p:tav>
                                      </p:tavLst>
                                    </p:anim>
                                    <p:animEffect transition="in" filter="fade">
                                      <p:cBhvr>
                                        <p:cTn id="23" dur="800"/>
                                        <p:tgtEl>
                                          <p:spTgt spid="5"/>
                                        </p:tgtEl>
                                      </p:cBhvr>
                                    </p:animEffect>
                                  </p:childTnLst>
                                </p:cTn>
                              </p:par>
                              <p:par>
                                <p:cTn id="24" presetID="10" presetClass="entr" presetSubtype="0" fill="hold" grpId="0" nodeType="withEffect">
                                  <p:stCondLst>
                                    <p:cond delay="22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Who this is for</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WHO THIS IS FOR</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Two audiences, one platform</a:t>
            </a:r>
          </a:p>
        </p:txBody>
      </p:sp>
      <p:cxnSp>
        <p:nvCxnSpPr>
          <p:cNvPr id="6" name="Divider"/>
          <p:cNvCxnSpPr/>
          <p:nvPr/>
        </p:nvCxnSpPr>
        <p:spPr>
          <a:xfrm>
            <a:off x="6096000" y="1651000"/>
            <a:ext cx="0" cy="3937000"/>
          </a:xfrm>
          <a:prstGeom prst="line">
            <a:avLst/>
          </a:prstGeom>
          <a:ln w="25400">
            <a:solidFill>
              <a:srgbClr val="24314F"/>
            </a:solidFill>
          </a:ln>
        </p:spPr>
        <p:style>
          <a:lnRef idx="2">
            <a:schemeClr val="accent1"/>
          </a:lnRef>
          <a:fillRef idx="0">
            <a:schemeClr val="accent1"/>
          </a:fillRef>
          <a:effectRef idx="1">
            <a:schemeClr val="accent1"/>
          </a:effectRef>
          <a:fontRef idx="minor">
            <a:schemeClr val="tx1"/>
          </a:fontRef>
        </p:style>
      </p:cxnSp>
      <p:grpSp>
        <p:nvGrpSpPr>
          <p:cNvPr id="12" name="Component builders"/>
          <p:cNvGrpSpPr/>
          <p:nvPr/>
        </p:nvGrpSpPr>
        <p:grpSpPr>
          <a:xfrm>
            <a:off x="889000" y="1587500"/>
            <a:ext cx="4826000" cy="4064000"/>
            <a:chOff x="889000" y="1587500"/>
            <a:chExt cx="4826000" cy="4064000"/>
          </a:xfrm>
        </p:grpSpPr>
        <p:sp>
          <p:nvSpPr>
            <p:cNvPr id="7" name="Shape 5"/>
            <p:cNvSpPr/>
            <p:nvPr/>
          </p:nvSpPr>
          <p:spPr>
            <a:xfrm>
              <a:off x="889000" y="1587500"/>
              <a:ext cx="4826000" cy="4064000"/>
            </a:xfrm>
            <a:prstGeom prst="roundRect">
              <a:avLst>
                <a:gd name="adj" fmla="val 4375"/>
              </a:avLst>
            </a:prstGeom>
            <a:solidFill>
              <a:srgbClr val="111A30"/>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8" name="Shape 6" descr="icon-person-f5a623.png"/>
            <p:cNvPicPr>
              <a:picLocks noChangeAspect="1"/>
            </p:cNvPicPr>
            <p:nvPr/>
          </p:nvPicPr>
          <p:blipFill>
            <a:blip r:embed="rId4"/>
            <a:stretch>
              <a:fillRect/>
            </a:stretch>
          </p:blipFill>
          <p:spPr>
            <a:xfrm>
              <a:off x="1936750" y="1905000"/>
              <a:ext cx="1206500" cy="1206500"/>
            </a:xfrm>
            <a:prstGeom prst="rect">
              <a:avLst/>
            </a:prstGeom>
          </p:spPr>
        </p:pic>
        <p:pic>
          <p:nvPicPr>
            <p:cNvPr id="9" name="Shape 7" descr="oda.png"/>
            <p:cNvPicPr>
              <a:picLocks noChangeAspect="1"/>
            </p:cNvPicPr>
            <p:nvPr/>
          </p:nvPicPr>
          <p:blipFill>
            <a:blip r:embed="rId5"/>
            <a:stretch>
              <a:fillRect/>
            </a:stretch>
          </p:blipFill>
          <p:spPr>
            <a:xfrm>
              <a:off x="3333750" y="1905000"/>
              <a:ext cx="1333500" cy="1259417"/>
            </a:xfrm>
            <a:prstGeom prst="rect">
              <a:avLst/>
            </a:prstGeom>
          </p:spPr>
        </p:pic>
        <p:sp>
          <p:nvSpPr>
            <p:cNvPr id="10" name="Shape 8"/>
            <p:cNvSpPr txBox="1"/>
            <p:nvPr/>
          </p:nvSpPr>
          <p:spPr>
            <a:xfrm>
              <a:off x="889000" y="3429000"/>
              <a:ext cx="4826000" cy="444500"/>
            </a:xfrm>
            <a:prstGeom prst="rect">
              <a:avLst/>
            </a:prstGeom>
            <a:noFill/>
          </p:spPr>
          <p:txBody>
            <a:bodyPr wrap="square" lIns="0" tIns="0" rIns="0" bIns="0" anchor="t">
              <a:spAutoFit/>
            </a:bodyPr>
            <a:lstStyle/>
            <a:p>
              <a:pPr algn="ctr">
                <a:lnSpc>
                  <a:spcPct val="115000"/>
                </a:lnSpc>
              </a:pPr>
              <a:r>
                <a:rPr sz="2600" b="1">
                  <a:solidFill>
                    <a:srgbClr val="F2F5FB"/>
                  </a:solidFill>
                  <a:latin typeface="Segoe UI"/>
                </a:rPr>
                <a:t>Component builders</a:t>
              </a:r>
            </a:p>
          </p:txBody>
        </p:sp>
        <p:sp>
          <p:nvSpPr>
            <p:cNvPr id="11" name="Shape 9"/>
            <p:cNvSpPr txBox="1"/>
            <p:nvPr/>
          </p:nvSpPr>
          <p:spPr>
            <a:xfrm>
              <a:off x="1206500" y="4000500"/>
              <a:ext cx="4191000" cy="1397000"/>
            </a:xfrm>
            <a:prstGeom prst="rect">
              <a:avLst/>
            </a:prstGeom>
            <a:noFill/>
          </p:spPr>
          <p:txBody>
            <a:bodyPr wrap="square" lIns="0" tIns="0" rIns="0" bIns="0" anchor="t">
              <a:spAutoFit/>
            </a:bodyPr>
            <a:lstStyle/>
            <a:p>
              <a:pPr algn="ctr">
                <a:lnSpc>
                  <a:spcPct val="130000"/>
                </a:lnSpc>
              </a:pPr>
              <a:r>
                <a:rPr sz="1700" b="0">
                  <a:solidFill>
                    <a:srgbClr val="8F9BB8"/>
                  </a:solidFill>
                  <a:latin typeface="Segoe UI"/>
                </a:rPr>
                <a:t>Architects and software engineers building software components that meet the ODA standards</a:t>
              </a:r>
            </a:p>
          </p:txBody>
        </p:sp>
      </p:grpSp>
      <p:grpSp>
        <p:nvGrpSpPr>
          <p:cNvPr id="18" name="Canvas builders"/>
          <p:cNvGrpSpPr/>
          <p:nvPr/>
        </p:nvGrpSpPr>
        <p:grpSpPr>
          <a:xfrm>
            <a:off x="6477000" y="1587500"/>
            <a:ext cx="4826000" cy="4064000"/>
            <a:chOff x="6477000" y="1587500"/>
            <a:chExt cx="4826000" cy="4064000"/>
          </a:xfrm>
        </p:grpSpPr>
        <p:sp>
          <p:nvSpPr>
            <p:cNvPr id="13" name="Shape 11"/>
            <p:cNvSpPr/>
            <p:nvPr/>
          </p:nvSpPr>
          <p:spPr>
            <a:xfrm>
              <a:off x="6477000" y="1587500"/>
              <a:ext cx="4826000" cy="4064000"/>
            </a:xfrm>
            <a:prstGeom prst="roundRect">
              <a:avLst>
                <a:gd name="adj" fmla="val 4375"/>
              </a:avLst>
            </a:prstGeom>
            <a:solidFill>
              <a:srgbClr val="111A30"/>
            </a:solidFill>
            <a:ln w="19050">
              <a:solidFill>
                <a:srgbClr val="2F6FE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4" name="Shape 12" descr="icon-person-2f6fed.png"/>
            <p:cNvPicPr>
              <a:picLocks noChangeAspect="1"/>
            </p:cNvPicPr>
            <p:nvPr/>
          </p:nvPicPr>
          <p:blipFill>
            <a:blip r:embed="rId6"/>
            <a:stretch>
              <a:fillRect/>
            </a:stretch>
          </p:blipFill>
          <p:spPr>
            <a:xfrm>
              <a:off x="7524750" y="1905000"/>
              <a:ext cx="1206500" cy="1206500"/>
            </a:xfrm>
            <a:prstGeom prst="rect">
              <a:avLst/>
            </a:prstGeom>
          </p:spPr>
        </p:pic>
        <p:pic>
          <p:nvPicPr>
            <p:cNvPr id="15" name="Shape 13" descr="canvas-dark.png"/>
            <p:cNvPicPr>
              <a:picLocks noChangeAspect="1"/>
            </p:cNvPicPr>
            <p:nvPr/>
          </p:nvPicPr>
          <p:blipFill>
            <a:blip r:embed="rId7"/>
            <a:stretch>
              <a:fillRect/>
            </a:stretch>
          </p:blipFill>
          <p:spPr>
            <a:xfrm>
              <a:off x="8794750" y="2095500"/>
              <a:ext cx="2095500" cy="774025"/>
            </a:xfrm>
            <a:prstGeom prst="rect">
              <a:avLst/>
            </a:prstGeom>
          </p:spPr>
        </p:pic>
        <p:sp>
          <p:nvSpPr>
            <p:cNvPr id="16" name="Shape 14"/>
            <p:cNvSpPr txBox="1"/>
            <p:nvPr/>
          </p:nvSpPr>
          <p:spPr>
            <a:xfrm>
              <a:off x="6477000" y="3302000"/>
              <a:ext cx="4826000" cy="889000"/>
            </a:xfrm>
            <a:prstGeom prst="rect">
              <a:avLst/>
            </a:prstGeom>
            <a:noFill/>
          </p:spPr>
          <p:txBody>
            <a:bodyPr wrap="square" lIns="0" tIns="0" rIns="0" bIns="0" anchor="t">
              <a:spAutoFit/>
            </a:bodyPr>
            <a:lstStyle/>
            <a:p>
              <a:pPr algn="ctr">
                <a:lnSpc>
                  <a:spcPct val="115000"/>
                </a:lnSpc>
              </a:pPr>
              <a:r>
                <a:rPr sz="2600" b="1">
                  <a:solidFill>
                    <a:srgbClr val="F2F5FB"/>
                  </a:solidFill>
                  <a:latin typeface="Segoe UI"/>
                </a:rPr>
                <a:t>Canvas builders &amp; operators</a:t>
              </a:r>
            </a:p>
          </p:txBody>
        </p:sp>
        <p:sp>
          <p:nvSpPr>
            <p:cNvPr id="17" name="Shape 15"/>
            <p:cNvSpPr txBox="1"/>
            <p:nvPr/>
          </p:nvSpPr>
          <p:spPr>
            <a:xfrm>
              <a:off x="6731000" y="4318000"/>
              <a:ext cx="4318000" cy="1016000"/>
            </a:xfrm>
            <a:prstGeom prst="rect">
              <a:avLst/>
            </a:prstGeom>
            <a:noFill/>
          </p:spPr>
          <p:txBody>
            <a:bodyPr wrap="square" lIns="0" tIns="0" rIns="0" bIns="0" anchor="t">
              <a:spAutoFit/>
            </a:bodyPr>
            <a:lstStyle/>
            <a:p>
              <a:pPr algn="ctr">
                <a:lnSpc>
                  <a:spcPct val="130000"/>
                </a:lnSpc>
              </a:pPr>
              <a:r>
                <a:rPr sz="1700" b="0">
                  <a:solidFill>
                    <a:srgbClr val="8F9BB8"/>
                  </a:solidFill>
                  <a:latin typeface="Segoe UI"/>
                </a:rPr>
                <a:t>Site reliability engineers (SREs) building or operating a Canvas platform</a:t>
              </a:r>
            </a:p>
          </p:txBody>
        </p:sp>
      </p:grpSp>
      <p:grpSp>
        <p:nvGrpSpPr>
          <p:cNvPr id="21" name="Canvas options"/>
          <p:cNvGrpSpPr/>
          <p:nvPr/>
        </p:nvGrpSpPr>
        <p:grpSpPr>
          <a:xfrm>
            <a:off x="6858000" y="5842000"/>
            <a:ext cx="4857750" cy="285750"/>
            <a:chOff x="6858000" y="5842000"/>
            <a:chExt cx="4857750" cy="285750"/>
          </a:xfrm>
        </p:grpSpPr>
        <p:sp>
          <p:nvSpPr>
            <p:cNvPr id="19" name="Shape 17"/>
            <p:cNvSpPr/>
            <p:nvPr/>
          </p:nvSpPr>
          <p:spPr>
            <a:xfrm>
              <a:off x="6858000" y="5842000"/>
              <a:ext cx="1568450" cy="285750"/>
            </a:xfrm>
            <a:prstGeom prst="roundRect">
              <a:avLst>
                <a:gd name="adj" fmla="val 50000"/>
              </a:avLst>
            </a:prstGeom>
            <a:solidFill>
              <a:srgbClr val="2F6FED">
                <a:alpha val="15000"/>
              </a:srgbClr>
            </a:solidFill>
            <a:ln w="12700">
              <a:solidFill>
                <a:srgbClr val="2F6FED"/>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CSP-run Canvas</a:t>
              </a:r>
            </a:p>
          </p:txBody>
        </p:sp>
        <p:sp>
          <p:nvSpPr>
            <p:cNvPr id="20" name="Shape 18"/>
            <p:cNvSpPr/>
            <p:nvPr/>
          </p:nvSpPr>
          <p:spPr>
            <a:xfrm>
              <a:off x="8572500" y="5842000"/>
              <a:ext cx="3143250" cy="285750"/>
            </a:xfrm>
            <a:prstGeom prst="roundRect">
              <a:avLst>
                <a:gd name="adj" fmla="val 50000"/>
              </a:avLst>
            </a:prstGeom>
            <a:solidFill>
              <a:srgbClr val="2F6FED">
                <a:alpha val="15000"/>
              </a:srgbClr>
            </a:solidFill>
            <a:ln w="12700">
              <a:solidFill>
                <a:srgbClr val="2F6FED"/>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Managed Canvas (cloud provider)</a:t>
              </a:r>
            </a:p>
          </p:txBody>
        </p:sp>
      </p:grpSp>
    </p:spTree>
  </p:cSld>
  <p:clrMapOvr>
    <a:masterClrMapping/>
  </p:clrMapOvr>
  <mc:AlternateContent xmlns:mc="http://schemas.openxmlformats.org/markup-compatibility/2006">
    <mc:Choice xmlns:p14="http://schemas.microsoft.com/office/powerpoint/2010/main" Requires="p14">
      <p:transition spd="slow" p14:dur="2000" advTm="31500"/>
    </mc:Choice>
    <mc:Fallback>
      <p:transition spd="slow" advTm="3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2" presetClass="entr" presetSubtype="1" fill="hold" nodeType="withEffect">
                                  <p:stCondLst>
                                    <p:cond delay="100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1200"/>
                                        <p:tgtEl>
                                          <p:spTgt spid="6"/>
                                        </p:tgtEl>
                                      </p:cBhvr>
                                    </p:animEffect>
                                  </p:childTnLst>
                                </p:cTn>
                              </p:par>
                              <p:par>
                                <p:cTn id="14" presetID="2" presetClass="entr" presetSubtype="4" fill="hold" nodeType="withEffect">
                                  <p:stCondLst>
                                    <p:cond delay="220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800" fill="hold"/>
                                        <p:tgtEl>
                                          <p:spTgt spid="12"/>
                                        </p:tgtEl>
                                        <p:attrNameLst>
                                          <p:attrName>ppt_x</p:attrName>
                                        </p:attrNameLst>
                                      </p:cBhvr>
                                      <p:tavLst>
                                        <p:tav tm="0">
                                          <p:val>
                                            <p:strVal val="#ppt_x"/>
                                          </p:val>
                                        </p:tav>
                                        <p:tav tm="100000">
                                          <p:val>
                                            <p:strVal val="#ppt_x"/>
                                          </p:val>
                                        </p:tav>
                                      </p:tavLst>
                                    </p:anim>
                                    <p:anim calcmode="lin" valueType="num">
                                      <p:cBhvr additive="base">
                                        <p:cTn id="17" dur="8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1440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800" fill="hold"/>
                                        <p:tgtEl>
                                          <p:spTgt spid="18"/>
                                        </p:tgtEl>
                                        <p:attrNameLst>
                                          <p:attrName>ppt_x</p:attrName>
                                        </p:attrNameLst>
                                      </p:cBhvr>
                                      <p:tavLst>
                                        <p:tav tm="0">
                                          <p:val>
                                            <p:strVal val="#ppt_x"/>
                                          </p:val>
                                        </p:tav>
                                        <p:tav tm="100000">
                                          <p:val>
                                            <p:strVal val="#ppt_x"/>
                                          </p:val>
                                        </p:tav>
                                      </p:tavLst>
                                    </p:anim>
                                    <p:anim calcmode="lin" valueType="num">
                                      <p:cBhvr additive="base">
                                        <p:cTn id="21" dur="800" fill="hold"/>
                                        <p:tgtEl>
                                          <p:spTgt spid="18"/>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2000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600" fill="hold"/>
                                        <p:tgtEl>
                                          <p:spTgt spid="21"/>
                                        </p:tgtEl>
                                        <p:attrNameLst>
                                          <p:attrName>ppt_x</p:attrName>
                                        </p:attrNameLst>
                                      </p:cBhvr>
                                      <p:tavLst>
                                        <p:tav tm="0">
                                          <p:val>
                                            <p:strVal val="#ppt_x"/>
                                          </p:val>
                                        </p:tav>
                                        <p:tav tm="100000">
                                          <p:val>
                                            <p:strVal val="#ppt_x"/>
                                          </p:val>
                                        </p:tav>
                                      </p:tavLst>
                                    </p:anim>
                                    <p:anim calcmode="lin" valueType="num">
                                      <p:cBhvr additive="base">
                                        <p:cTn id="25" dur="6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Roadmap</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IN THIS VIDEO</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Roadmap</a:t>
            </a:r>
          </a:p>
        </p:txBody>
      </p:sp>
      <p:sp>
        <p:nvSpPr>
          <p:cNvPr id="6" name="Track"/>
          <p:cNvSpPr/>
          <p:nvPr/>
        </p:nvSpPr>
        <p:spPr>
          <a:xfrm>
            <a:off x="1587500" y="1905000"/>
            <a:ext cx="38100" cy="3810000"/>
          </a:xfrm>
          <a:prstGeom prst="roundRect">
            <a:avLst>
              <a:gd name="adj" fmla="val 50000"/>
            </a:avLst>
          </a:prstGeom>
          <a:solidFill>
            <a:srgbClr val="2431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Progress"/>
          <p:cNvSpPr/>
          <p:nvPr/>
        </p:nvSpPr>
        <p:spPr>
          <a:xfrm>
            <a:off x="1587500" y="1905000"/>
            <a:ext cx="38100" cy="3810000"/>
          </a:xfrm>
          <a:prstGeom prst="roundRect">
            <a:avLst>
              <a:gd name="adj" fmla="val 50000"/>
            </a:avLst>
          </a:prstGeom>
          <a:solidFill>
            <a:srgbClr val="E600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grpSp>
        <p:nvGrpSpPr>
          <p:cNvPr id="11" name="Agenda 1"/>
          <p:cNvGrpSpPr/>
          <p:nvPr/>
        </p:nvGrpSpPr>
        <p:grpSpPr>
          <a:xfrm>
            <a:off x="1358900" y="1714500"/>
            <a:ext cx="9740900" cy="495300"/>
            <a:chOff x="1358900" y="1714500"/>
            <a:chExt cx="9740900" cy="495300"/>
          </a:xfrm>
        </p:grpSpPr>
        <p:sp>
          <p:nvSpPr>
            <p:cNvPr id="8" name="Shape 6"/>
            <p:cNvSpPr/>
            <p:nvPr/>
          </p:nvSpPr>
          <p:spPr>
            <a:xfrm>
              <a:off x="1358900" y="1714500"/>
              <a:ext cx="495300" cy="495300"/>
            </a:xfrm>
            <a:prstGeom prst="ellipse">
              <a:avLst/>
            </a:prstGeom>
            <a:solidFill>
              <a:srgbClr val="111A30"/>
            </a:solidFill>
            <a:ln w="254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700" b="1">
                  <a:solidFill>
                    <a:srgbClr val="F2F5FB"/>
                  </a:solidFill>
                  <a:latin typeface="Segoe UI"/>
                </a:rPr>
                <a:t>1</a:t>
              </a:r>
            </a:p>
          </p:txBody>
        </p:sp>
        <p:pic>
          <p:nvPicPr>
            <p:cNvPr id="9" name="Shape 7" descr="icon-doc-e6007e.png"/>
            <p:cNvPicPr>
              <a:picLocks noChangeAspect="1"/>
            </p:cNvPicPr>
            <p:nvPr/>
          </p:nvPicPr>
          <p:blipFill>
            <a:blip r:embed="rId4"/>
            <a:stretch>
              <a:fillRect/>
            </a:stretch>
          </p:blipFill>
          <p:spPr>
            <a:xfrm>
              <a:off x="2209800" y="1771650"/>
              <a:ext cx="381000" cy="381000"/>
            </a:xfrm>
            <a:prstGeom prst="rect">
              <a:avLst/>
            </a:prstGeom>
          </p:spPr>
        </p:pic>
        <p:sp>
          <p:nvSpPr>
            <p:cNvPr id="10" name="Shape 8"/>
            <p:cNvSpPr txBox="1"/>
            <p:nvPr/>
          </p:nvSpPr>
          <p:spPr>
            <a:xfrm>
              <a:off x="2844800" y="1739900"/>
              <a:ext cx="8255000" cy="444500"/>
            </a:xfrm>
            <a:prstGeom prst="rect">
              <a:avLst/>
            </a:prstGeom>
            <a:noFill/>
          </p:spPr>
          <p:txBody>
            <a:bodyPr wrap="square" lIns="0" tIns="0" rIns="0" bIns="0" anchor="t">
              <a:spAutoFit/>
            </a:bodyPr>
            <a:lstStyle/>
            <a:p>
              <a:pPr algn="l">
                <a:lnSpc>
                  <a:spcPct val="115000"/>
                </a:lnSpc>
              </a:pPr>
              <a:r>
                <a:rPr sz="2500" b="1">
                  <a:solidFill>
                    <a:srgbClr val="F2F5FB"/>
                  </a:solidFill>
                  <a:latin typeface="Segoe UI"/>
                </a:rPr>
                <a:t>History</a:t>
              </a:r>
            </a:p>
          </p:txBody>
        </p:sp>
      </p:grpSp>
      <p:grpSp>
        <p:nvGrpSpPr>
          <p:cNvPr id="15" name="Agenda 2"/>
          <p:cNvGrpSpPr/>
          <p:nvPr/>
        </p:nvGrpSpPr>
        <p:grpSpPr>
          <a:xfrm>
            <a:off x="1358900" y="2603500"/>
            <a:ext cx="9740900" cy="495300"/>
            <a:chOff x="1358900" y="2603500"/>
            <a:chExt cx="9740900" cy="495300"/>
          </a:xfrm>
        </p:grpSpPr>
        <p:sp>
          <p:nvSpPr>
            <p:cNvPr id="12" name="Shape 10"/>
            <p:cNvSpPr/>
            <p:nvPr/>
          </p:nvSpPr>
          <p:spPr>
            <a:xfrm>
              <a:off x="1358900" y="2603500"/>
              <a:ext cx="495300" cy="495300"/>
            </a:xfrm>
            <a:prstGeom prst="ellipse">
              <a:avLst/>
            </a:prstGeom>
            <a:solidFill>
              <a:srgbClr val="111A30"/>
            </a:solidFill>
            <a:ln w="254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700" b="1">
                  <a:solidFill>
                    <a:srgbClr val="F2F5FB"/>
                  </a:solidFill>
                  <a:latin typeface="Segoe UI"/>
                </a:rPr>
                <a:t>2</a:t>
              </a:r>
            </a:p>
          </p:txBody>
        </p:sp>
        <p:pic>
          <p:nvPicPr>
            <p:cNvPr id="13" name="Shape 11" descr="oda-icon.png"/>
            <p:cNvPicPr>
              <a:picLocks noChangeAspect="1"/>
            </p:cNvPicPr>
            <p:nvPr/>
          </p:nvPicPr>
          <p:blipFill>
            <a:blip r:embed="rId5"/>
            <a:stretch>
              <a:fillRect/>
            </a:stretch>
          </p:blipFill>
          <p:spPr>
            <a:xfrm>
              <a:off x="2235200" y="2660650"/>
              <a:ext cx="330200" cy="376728"/>
            </a:xfrm>
            <a:prstGeom prst="rect">
              <a:avLst/>
            </a:prstGeom>
          </p:spPr>
        </p:pic>
        <p:sp>
          <p:nvSpPr>
            <p:cNvPr id="14" name="Shape 12"/>
            <p:cNvSpPr txBox="1"/>
            <p:nvPr/>
          </p:nvSpPr>
          <p:spPr>
            <a:xfrm>
              <a:off x="2844800" y="2628900"/>
              <a:ext cx="8255000" cy="444500"/>
            </a:xfrm>
            <a:prstGeom prst="rect">
              <a:avLst/>
            </a:prstGeom>
            <a:noFill/>
          </p:spPr>
          <p:txBody>
            <a:bodyPr wrap="square" lIns="0" tIns="0" rIns="0" bIns="0" anchor="t">
              <a:spAutoFit/>
            </a:bodyPr>
            <a:lstStyle/>
            <a:p>
              <a:pPr algn="l">
                <a:lnSpc>
                  <a:spcPct val="115000"/>
                </a:lnSpc>
              </a:pPr>
              <a:r>
                <a:rPr sz="2500" b="1">
                  <a:solidFill>
                    <a:srgbClr val="F2F5FB"/>
                  </a:solidFill>
                  <a:latin typeface="Segoe UI"/>
                </a:rPr>
                <a:t>Components and Canvas</a:t>
              </a:r>
            </a:p>
          </p:txBody>
        </p:sp>
      </p:grpSp>
      <p:grpSp>
        <p:nvGrpSpPr>
          <p:cNvPr id="19" name="Agenda 3"/>
          <p:cNvGrpSpPr/>
          <p:nvPr/>
        </p:nvGrpSpPr>
        <p:grpSpPr>
          <a:xfrm>
            <a:off x="1358900" y="3492500"/>
            <a:ext cx="9740900" cy="495300"/>
            <a:chOff x="1358900" y="3492500"/>
            <a:chExt cx="9740900" cy="495300"/>
          </a:xfrm>
        </p:grpSpPr>
        <p:sp>
          <p:nvSpPr>
            <p:cNvPr id="16" name="Shape 14"/>
            <p:cNvSpPr/>
            <p:nvPr/>
          </p:nvSpPr>
          <p:spPr>
            <a:xfrm>
              <a:off x="1358900" y="3492500"/>
              <a:ext cx="495300" cy="495300"/>
            </a:xfrm>
            <a:prstGeom prst="ellipse">
              <a:avLst/>
            </a:prstGeom>
            <a:solidFill>
              <a:srgbClr val="111A30"/>
            </a:solidFill>
            <a:ln w="254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700" b="1">
                  <a:solidFill>
                    <a:srgbClr val="F2F5FB"/>
                  </a:solidFill>
                  <a:latin typeface="Segoe UI"/>
                </a:rPr>
                <a:t>3</a:t>
              </a:r>
            </a:p>
          </p:txBody>
        </p:sp>
        <p:pic>
          <p:nvPicPr>
            <p:cNvPr id="17" name="Shape 15" descr="icon-rocket-e6007e.png"/>
            <p:cNvPicPr>
              <a:picLocks noChangeAspect="1"/>
            </p:cNvPicPr>
            <p:nvPr/>
          </p:nvPicPr>
          <p:blipFill>
            <a:blip r:embed="rId6"/>
            <a:stretch>
              <a:fillRect/>
            </a:stretch>
          </p:blipFill>
          <p:spPr>
            <a:xfrm>
              <a:off x="2209800" y="3549650"/>
              <a:ext cx="381000" cy="381000"/>
            </a:xfrm>
            <a:prstGeom prst="rect">
              <a:avLst/>
            </a:prstGeom>
          </p:spPr>
        </p:pic>
        <p:sp>
          <p:nvSpPr>
            <p:cNvPr id="18" name="Shape 16"/>
            <p:cNvSpPr txBox="1"/>
            <p:nvPr/>
          </p:nvSpPr>
          <p:spPr>
            <a:xfrm>
              <a:off x="2844800" y="3517900"/>
              <a:ext cx="8255000" cy="444500"/>
            </a:xfrm>
            <a:prstGeom prst="rect">
              <a:avLst/>
            </a:prstGeom>
            <a:noFill/>
          </p:spPr>
          <p:txBody>
            <a:bodyPr wrap="square" lIns="0" tIns="0" rIns="0" bIns="0" anchor="t">
              <a:spAutoFit/>
            </a:bodyPr>
            <a:lstStyle/>
            <a:p>
              <a:pPr algn="l">
                <a:lnSpc>
                  <a:spcPct val="115000"/>
                </a:lnSpc>
              </a:pPr>
              <a:r>
                <a:rPr sz="2500" b="1">
                  <a:solidFill>
                    <a:srgbClr val="F2F5FB"/>
                  </a:solidFill>
                  <a:latin typeface="Segoe UI"/>
                </a:rPr>
                <a:t>Business benefits</a:t>
              </a:r>
            </a:p>
          </p:txBody>
        </p:sp>
      </p:grpSp>
      <p:grpSp>
        <p:nvGrpSpPr>
          <p:cNvPr id="23" name="Agenda 4"/>
          <p:cNvGrpSpPr/>
          <p:nvPr/>
        </p:nvGrpSpPr>
        <p:grpSpPr>
          <a:xfrm>
            <a:off x="1358900" y="4381500"/>
            <a:ext cx="9740900" cy="495300"/>
            <a:chOff x="1358900" y="4381500"/>
            <a:chExt cx="9740900" cy="495300"/>
          </a:xfrm>
        </p:grpSpPr>
        <p:sp>
          <p:nvSpPr>
            <p:cNvPr id="20" name="Shape 18"/>
            <p:cNvSpPr/>
            <p:nvPr/>
          </p:nvSpPr>
          <p:spPr>
            <a:xfrm>
              <a:off x="1358900" y="4381500"/>
              <a:ext cx="495300" cy="495300"/>
            </a:xfrm>
            <a:prstGeom prst="ellipse">
              <a:avLst/>
            </a:prstGeom>
            <a:solidFill>
              <a:srgbClr val="111A30"/>
            </a:solidFill>
            <a:ln w="254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700" b="1">
                  <a:solidFill>
                    <a:srgbClr val="F2F5FB"/>
                  </a:solidFill>
                  <a:latin typeface="Segoe UI"/>
                </a:rPr>
                <a:t>4</a:t>
              </a:r>
            </a:p>
          </p:txBody>
        </p:sp>
        <p:pic>
          <p:nvPicPr>
            <p:cNvPr id="21" name="Shape 19" descr="icon-layers-e6007e.png"/>
            <p:cNvPicPr>
              <a:picLocks noChangeAspect="1"/>
            </p:cNvPicPr>
            <p:nvPr/>
          </p:nvPicPr>
          <p:blipFill>
            <a:blip r:embed="rId7"/>
            <a:stretch>
              <a:fillRect/>
            </a:stretch>
          </p:blipFill>
          <p:spPr>
            <a:xfrm>
              <a:off x="2209800" y="4438650"/>
              <a:ext cx="381000" cy="381000"/>
            </a:xfrm>
            <a:prstGeom prst="rect">
              <a:avLst/>
            </a:prstGeom>
          </p:spPr>
        </p:pic>
        <p:sp>
          <p:nvSpPr>
            <p:cNvPr id="22" name="Shape 20"/>
            <p:cNvSpPr txBox="1"/>
            <p:nvPr/>
          </p:nvSpPr>
          <p:spPr>
            <a:xfrm>
              <a:off x="2844800" y="4406900"/>
              <a:ext cx="8255000" cy="444500"/>
            </a:xfrm>
            <a:prstGeom prst="rect">
              <a:avLst/>
            </a:prstGeom>
            <a:noFill/>
          </p:spPr>
          <p:txBody>
            <a:bodyPr wrap="square" lIns="0" tIns="0" rIns="0" bIns="0" anchor="t">
              <a:spAutoFit/>
            </a:bodyPr>
            <a:lstStyle/>
            <a:p>
              <a:pPr algn="l">
                <a:lnSpc>
                  <a:spcPct val="115000"/>
                </a:lnSpc>
              </a:pPr>
              <a:r>
                <a:rPr sz="2500" b="1">
                  <a:solidFill>
                    <a:srgbClr val="F2F5FB"/>
                  </a:solidFill>
                  <a:latin typeface="Segoe UI"/>
                </a:rPr>
                <a:t>A tour of the Canvas and its Portal</a:t>
              </a:r>
            </a:p>
          </p:txBody>
        </p:sp>
      </p:grpSp>
      <p:grpSp>
        <p:nvGrpSpPr>
          <p:cNvPr id="27" name="Agenda 5"/>
          <p:cNvGrpSpPr/>
          <p:nvPr/>
        </p:nvGrpSpPr>
        <p:grpSpPr>
          <a:xfrm>
            <a:off x="1358900" y="5270500"/>
            <a:ext cx="9740900" cy="495300"/>
            <a:chOff x="1358900" y="5270500"/>
            <a:chExt cx="9740900" cy="495300"/>
          </a:xfrm>
        </p:grpSpPr>
        <p:sp>
          <p:nvSpPr>
            <p:cNvPr id="24" name="Shape 22"/>
            <p:cNvSpPr/>
            <p:nvPr/>
          </p:nvSpPr>
          <p:spPr>
            <a:xfrm>
              <a:off x="1358900" y="5270500"/>
              <a:ext cx="495300" cy="495300"/>
            </a:xfrm>
            <a:prstGeom prst="ellipse">
              <a:avLst/>
            </a:prstGeom>
            <a:solidFill>
              <a:srgbClr val="111A30"/>
            </a:solidFill>
            <a:ln w="254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700" b="1">
                  <a:solidFill>
                    <a:srgbClr val="F2F5FB"/>
                  </a:solidFill>
                  <a:latin typeface="Segoe UI"/>
                </a:rPr>
                <a:t>5</a:t>
              </a:r>
            </a:p>
          </p:txBody>
        </p:sp>
        <p:pic>
          <p:nvPicPr>
            <p:cNvPr id="25" name="Shape 23" descr="icon-spark-e6007e.png"/>
            <p:cNvPicPr>
              <a:picLocks noChangeAspect="1"/>
            </p:cNvPicPr>
            <p:nvPr/>
          </p:nvPicPr>
          <p:blipFill>
            <a:blip r:embed="rId8"/>
            <a:stretch>
              <a:fillRect/>
            </a:stretch>
          </p:blipFill>
          <p:spPr>
            <a:xfrm>
              <a:off x="2209800" y="5327650"/>
              <a:ext cx="381000" cy="381000"/>
            </a:xfrm>
            <a:prstGeom prst="rect">
              <a:avLst/>
            </a:prstGeom>
          </p:spPr>
        </p:pic>
        <p:sp>
          <p:nvSpPr>
            <p:cNvPr id="26" name="Shape 24"/>
            <p:cNvSpPr txBox="1"/>
            <p:nvPr/>
          </p:nvSpPr>
          <p:spPr>
            <a:xfrm>
              <a:off x="2844800" y="5295900"/>
              <a:ext cx="8255000" cy="444500"/>
            </a:xfrm>
            <a:prstGeom prst="rect">
              <a:avLst/>
            </a:prstGeom>
            <a:noFill/>
          </p:spPr>
          <p:txBody>
            <a:bodyPr wrap="square" lIns="0" tIns="0" rIns="0" bIns="0" anchor="t">
              <a:spAutoFit/>
            </a:bodyPr>
            <a:lstStyle/>
            <a:p>
              <a:pPr algn="l">
                <a:lnSpc>
                  <a:spcPct val="115000"/>
                </a:lnSpc>
              </a:pPr>
              <a:r>
                <a:rPr sz="2500" b="1">
                  <a:solidFill>
                    <a:srgbClr val="F2F5FB"/>
                  </a:solidFill>
                  <a:latin typeface="Segoe UI"/>
                </a:rPr>
                <a:t>What's next</a:t>
              </a:r>
            </a:p>
          </p:txBody>
        </p:sp>
      </p:grpSp>
      <p:sp>
        <p:nvSpPr>
          <p:cNvPr id="28" name="Deep dives"/>
          <p:cNvSpPr/>
          <p:nvPr/>
        </p:nvSpPr>
        <p:spPr>
          <a:xfrm>
            <a:off x="6604000" y="5588000"/>
            <a:ext cx="4527550" cy="285750"/>
          </a:xfrm>
          <a:prstGeom prst="roundRect">
            <a:avLst>
              <a:gd name="adj" fmla="val 50000"/>
            </a:avLst>
          </a:prstGeom>
          <a:solidFill>
            <a:srgbClr val="1FC7A8">
              <a:alpha val="15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Deep dives on each area follow in later videos</a:t>
            </a:r>
          </a:p>
        </p:txBody>
      </p:sp>
    </p:spTree>
  </p:cSld>
  <p:clrMapOvr>
    <a:masterClrMapping/>
  </p:clrMapOvr>
  <mc:AlternateContent xmlns:mc="http://schemas.openxmlformats.org/markup-compatibility/2006">
    <mc:Choice xmlns:p14="http://schemas.microsoft.com/office/powerpoint/2010/main" Requires="p14">
      <p:transition spd="slow" p14:dur="2000" advTm="25900"/>
    </mc:Choice>
    <mc:Fallback>
      <p:transition spd="slow" advTm="2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2" presetClass="entr" presetSubtype="1" fill="hold" grpId="0" nodeType="withEffect">
                                  <p:stCondLst>
                                    <p:cond delay="800"/>
                                  </p:stCondLst>
                                  <p:childTnLst>
                                    <p:set>
                                      <p:cBhvr>
                                        <p:cTn id="12" dur="1" fill="hold">
                                          <p:stCondLst>
                                            <p:cond delay="0"/>
                                          </p:stCondLst>
                                        </p:cTn>
                                        <p:tgtEl>
                                          <p:spTgt spid="7"/>
                                        </p:tgtEl>
                                        <p:attrNameLst>
                                          <p:attrName>style.visibility</p:attrName>
                                        </p:attrNameLst>
                                      </p:cBhvr>
                                      <p:to>
                                        <p:strVal val="visible"/>
                                      </p:to>
                                    </p:set>
                                    <p:animEffect transition="in" filter="wipe(up)">
                                      <p:cBhvr>
                                        <p:cTn id="13" dur="15500"/>
                                        <p:tgtEl>
                                          <p:spTgt spid="7"/>
                                        </p:tgtEl>
                                      </p:cBhvr>
                                    </p:animEffect>
                                  </p:childTnLst>
                                </p:cTn>
                              </p:par>
                              <p:par>
                                <p:cTn id="14" presetID="2" presetClass="entr" presetSubtype="4" fill="hold" nodeType="withEffect">
                                  <p:stCondLst>
                                    <p:cond delay="120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600" fill="hold"/>
                                        <p:tgtEl>
                                          <p:spTgt spid="11"/>
                                        </p:tgtEl>
                                        <p:attrNameLst>
                                          <p:attrName>ppt_x</p:attrName>
                                        </p:attrNameLst>
                                      </p:cBhvr>
                                      <p:tavLst>
                                        <p:tav tm="0">
                                          <p:val>
                                            <p:strVal val="#ppt_x"/>
                                          </p:val>
                                        </p:tav>
                                        <p:tav tm="100000">
                                          <p:val>
                                            <p:strVal val="#ppt_x"/>
                                          </p:val>
                                        </p:tav>
                                      </p:tavLst>
                                    </p:anim>
                                    <p:anim calcmode="lin" valueType="num">
                                      <p:cBhvr additive="base">
                                        <p:cTn id="17" dur="600" fill="hold"/>
                                        <p:tgtEl>
                                          <p:spTgt spid="11"/>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420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600" fill="hold"/>
                                        <p:tgtEl>
                                          <p:spTgt spid="15"/>
                                        </p:tgtEl>
                                        <p:attrNameLst>
                                          <p:attrName>ppt_x</p:attrName>
                                        </p:attrNameLst>
                                      </p:cBhvr>
                                      <p:tavLst>
                                        <p:tav tm="0">
                                          <p:val>
                                            <p:strVal val="#ppt_x"/>
                                          </p:val>
                                        </p:tav>
                                        <p:tav tm="100000">
                                          <p:val>
                                            <p:strVal val="#ppt_x"/>
                                          </p:val>
                                        </p:tav>
                                      </p:tavLst>
                                    </p:anim>
                                    <p:anim calcmode="lin" valueType="num">
                                      <p:cBhvr additive="base">
                                        <p:cTn id="21" dur="600" fill="hold"/>
                                        <p:tgtEl>
                                          <p:spTgt spid="15"/>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86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600" fill="hold"/>
                                        <p:tgtEl>
                                          <p:spTgt spid="19"/>
                                        </p:tgtEl>
                                        <p:attrNameLst>
                                          <p:attrName>ppt_x</p:attrName>
                                        </p:attrNameLst>
                                      </p:cBhvr>
                                      <p:tavLst>
                                        <p:tav tm="0">
                                          <p:val>
                                            <p:strVal val="#ppt_x"/>
                                          </p:val>
                                        </p:tav>
                                        <p:tav tm="100000">
                                          <p:val>
                                            <p:strVal val="#ppt_x"/>
                                          </p:val>
                                        </p:tav>
                                      </p:tavLst>
                                    </p:anim>
                                    <p:anim calcmode="lin" valueType="num">
                                      <p:cBhvr additive="base">
                                        <p:cTn id="25" dur="600" fill="hold"/>
                                        <p:tgtEl>
                                          <p:spTgt spid="19"/>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1100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600" fill="hold"/>
                                        <p:tgtEl>
                                          <p:spTgt spid="23"/>
                                        </p:tgtEl>
                                        <p:attrNameLst>
                                          <p:attrName>ppt_x</p:attrName>
                                        </p:attrNameLst>
                                      </p:cBhvr>
                                      <p:tavLst>
                                        <p:tav tm="0">
                                          <p:val>
                                            <p:strVal val="#ppt_x"/>
                                          </p:val>
                                        </p:tav>
                                        <p:tav tm="100000">
                                          <p:val>
                                            <p:strVal val="#ppt_x"/>
                                          </p:val>
                                        </p:tav>
                                      </p:tavLst>
                                    </p:anim>
                                    <p:anim calcmode="lin" valueType="num">
                                      <p:cBhvr additive="base">
                                        <p:cTn id="29" dur="600" fill="hold"/>
                                        <p:tgtEl>
                                          <p:spTgt spid="23"/>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1560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600" fill="hold"/>
                                        <p:tgtEl>
                                          <p:spTgt spid="27"/>
                                        </p:tgtEl>
                                        <p:attrNameLst>
                                          <p:attrName>ppt_x</p:attrName>
                                        </p:attrNameLst>
                                      </p:cBhvr>
                                      <p:tavLst>
                                        <p:tav tm="0">
                                          <p:val>
                                            <p:strVal val="#ppt_x"/>
                                          </p:val>
                                        </p:tav>
                                        <p:tav tm="100000">
                                          <p:val>
                                            <p:strVal val="#ppt_x"/>
                                          </p:val>
                                        </p:tav>
                                      </p:tavLst>
                                    </p:anim>
                                    <p:anim calcmode="lin" valueType="num">
                                      <p:cBhvr additive="base">
                                        <p:cTn id="33" dur="600" fill="hold"/>
                                        <p:tgtEl>
                                          <p:spTgt spid="27"/>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19000"/>
                                  </p:stCondLst>
                                  <p:childTnLst>
                                    <p:set>
                                      <p:cBhvr>
                                        <p:cTn id="35" dur="1" fill="hold">
                                          <p:stCondLst>
                                            <p:cond delay="0"/>
                                          </p:stCondLst>
                                        </p:cTn>
                                        <p:tgtEl>
                                          <p:spTgt spid="28"/>
                                        </p:tgtEl>
                                        <p:attrNameLst>
                                          <p:attrName>style.visibility</p:attrName>
                                        </p:attrNameLst>
                                      </p:cBhvr>
                                      <p:to>
                                        <p:strVal val="visible"/>
                                      </p:to>
                                    </p:set>
                                    <p:anim calcmode="lin" valueType="num">
                                      <p:cBhvr additive="base">
                                        <p:cTn id="36" dur="600" fill="hold"/>
                                        <p:tgtEl>
                                          <p:spTgt spid="28"/>
                                        </p:tgtEl>
                                        <p:attrNameLst>
                                          <p:attrName>ppt_x</p:attrName>
                                        </p:attrNameLst>
                                      </p:cBhvr>
                                      <p:tavLst>
                                        <p:tav tm="0">
                                          <p:val>
                                            <p:strVal val="#ppt_x"/>
                                          </p:val>
                                        </p:tav>
                                        <p:tav tm="100000">
                                          <p:val>
                                            <p:strVal val="#ppt_x"/>
                                          </p:val>
                                        </p:tav>
                                      </p:tavLst>
                                    </p:anim>
                                    <p:anim calcmode="lin" valueType="num">
                                      <p:cBhvr additive="base">
                                        <p:cTn id="37" dur="6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Frameworks and the problem of interpretation</a:t>
            </a:r>
          </a:p>
        </p:txBody>
      </p:sp>
      <p:pic>
        <p:nvPicPr>
          <p:cNvPr id="3" name="Clip 0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300"/>
    </mc:Choice>
    <mc:Fallback>
      <p:transition spd="slow" advTm="3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7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Open API programme</a:t>
            </a:r>
          </a:p>
        </p:txBody>
      </p:sp>
      <p:pic>
        <p:nvPicPr>
          <p:cNvPr id="3" name="Clip 0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300"/>
    </mc:Choice>
    <mc:Fallback>
      <p:transition spd="slow" advTm="3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7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remaining gap</a:t>
            </a:r>
          </a:p>
        </p:txBody>
      </p:sp>
      <p:pic>
        <p:nvPicPr>
          <p:cNvPr id="3" name="Clip 0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300"/>
    </mc:Choice>
    <mc:Fallback>
      <p:transition spd="slow" advTm="2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What is an ODA Component?</a:t>
            </a:r>
          </a:p>
        </p:txBody>
      </p:sp>
      <p:pic>
        <p:nvPicPr>
          <p:cNvPr id="3" name="Clip 0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300"/>
    </mc:Choice>
    <mc:Fallback>
      <p:transition spd="slow" advTm="2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What is the ODA Canvas?</a:t>
            </a:r>
          </a:p>
        </p:txBody>
      </p:sp>
      <p:pic>
        <p:nvPicPr>
          <p:cNvPr id="3" name="Clip 0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100"/>
    </mc:Choice>
    <mc:Fallback>
      <p:transition spd="slow" advTm="21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Composable IT with ODA</a:t>
            </a:r>
          </a:p>
        </p:txBody>
      </p:sp>
      <p:pic>
        <p:nvPicPr>
          <p:cNvPr id="3" name="Clip 0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900"/>
    </mc:Choice>
    <mc:Fallback>
      <p:transition spd="slow" advTm="2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Composable AI with Agentic ODA</a:t>
            </a:r>
          </a:p>
        </p:txBody>
      </p:sp>
      <p:pic>
        <p:nvPicPr>
          <p:cNvPr id="3" name="Clip 1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00"/>
    </mc:Choice>
    <mc:Fallback>
      <p:transition spd="slow" advTm="3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Example: identity is declared, not implemented</a:t>
            </a:r>
          </a:p>
        </p:txBody>
      </p:sp>
      <p:pic>
        <p:nvPicPr>
          <p:cNvPr id="3" name="Clip 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00"/>
    </mc:Choice>
    <mc:Fallback>
      <p:transition spd="slow" advTm="3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Example: secrets without bootstrap credentials</a:t>
            </a:r>
          </a:p>
        </p:txBody>
      </p:sp>
      <p:pic>
        <p:nvPicPr>
          <p:cNvPr id="3" name="Clip 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500"/>
    </mc:Choice>
    <mc:Fallback>
      <p:transition spd="slow" advTm="2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8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Six benefits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BENEFITS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Why ODA Components and Canvas?</a:t>
            </a:r>
          </a:p>
        </p:txBody>
      </p:sp>
      <p:grpSp>
        <p:nvGrpSpPr>
          <p:cNvPr id="10" name="Stakeholders"/>
          <p:cNvGrpSpPr/>
          <p:nvPr/>
        </p:nvGrpSpPr>
        <p:grpSpPr>
          <a:xfrm>
            <a:off x="762000" y="1555750"/>
            <a:ext cx="7600950" cy="285750"/>
            <a:chOff x="762000" y="1555750"/>
            <a:chExt cx="7600950" cy="285750"/>
          </a:xfrm>
        </p:grpSpPr>
        <p:sp>
          <p:nvSpPr>
            <p:cNvPr id="6" name="Shape 4"/>
            <p:cNvSpPr/>
            <p:nvPr/>
          </p:nvSpPr>
          <p:spPr>
            <a:xfrm>
              <a:off x="762000" y="1555750"/>
              <a:ext cx="1847850" cy="28575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Service providers</a:t>
              </a:r>
            </a:p>
          </p:txBody>
        </p:sp>
        <p:sp>
          <p:nvSpPr>
            <p:cNvPr id="7" name="Shape 5"/>
            <p:cNvSpPr/>
            <p:nvPr/>
          </p:nvSpPr>
          <p:spPr>
            <a:xfrm>
              <a:off x="2711450" y="1555750"/>
              <a:ext cx="1752600" cy="28575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Software vendors</a:t>
              </a:r>
            </a:p>
          </p:txBody>
        </p:sp>
        <p:sp>
          <p:nvSpPr>
            <p:cNvPr id="8" name="Shape 6"/>
            <p:cNvSpPr/>
            <p:nvPr/>
          </p:nvSpPr>
          <p:spPr>
            <a:xfrm>
              <a:off x="4565650" y="1555750"/>
              <a:ext cx="2032000" cy="28575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Systems integrators</a:t>
              </a:r>
            </a:p>
          </p:txBody>
        </p:sp>
        <p:sp>
          <p:nvSpPr>
            <p:cNvPr id="9" name="Shape 7"/>
            <p:cNvSpPr/>
            <p:nvPr/>
          </p:nvSpPr>
          <p:spPr>
            <a:xfrm>
              <a:off x="6699250" y="1555750"/>
              <a:ext cx="1663700" cy="28575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Cloud providers</a:t>
              </a:r>
            </a:p>
          </p:txBody>
        </p:sp>
      </p:grpSp>
      <p:grpSp>
        <p:nvGrpSpPr>
          <p:cNvPr id="16" name="Pillar 1"/>
          <p:cNvGrpSpPr/>
          <p:nvPr/>
        </p:nvGrpSpPr>
        <p:grpSpPr>
          <a:xfrm>
            <a:off x="698500" y="2159000"/>
            <a:ext cx="1727200" cy="3810000"/>
            <a:chOff x="698500" y="2159000"/>
            <a:chExt cx="1727200" cy="3810000"/>
          </a:xfrm>
        </p:grpSpPr>
        <p:sp>
          <p:nvSpPr>
            <p:cNvPr id="11" name="Shape 9"/>
            <p:cNvSpPr/>
            <p:nvPr/>
          </p:nvSpPr>
          <p:spPr>
            <a:xfrm>
              <a:off x="698500" y="2159000"/>
              <a:ext cx="1727200" cy="3810000"/>
            </a:xfrm>
            <a:prstGeom prst="roundRect">
              <a:avLst>
                <a:gd name="adj" fmla="val 8088"/>
              </a:avLst>
            </a:prstGeom>
            <a:solidFill>
              <a:srgbClr val="E6007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Shape 10"/>
            <p:cNvSpPr/>
            <p:nvPr/>
          </p:nvSpPr>
          <p:spPr>
            <a:xfrm>
              <a:off x="698500" y="2159000"/>
              <a:ext cx="1727200" cy="50800"/>
            </a:xfrm>
            <a:prstGeom prst="rect">
              <a:avLst/>
            </a:prstGeom>
            <a:solidFill>
              <a:srgbClr val="E600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3" name="Shape 11" descr="icon-smile-e6007e.png"/>
            <p:cNvPicPr>
              <a:picLocks noChangeAspect="1"/>
            </p:cNvPicPr>
            <p:nvPr/>
          </p:nvPicPr>
          <p:blipFill>
            <a:blip r:embed="rId4"/>
            <a:stretch>
              <a:fillRect/>
            </a:stretch>
          </p:blipFill>
          <p:spPr>
            <a:xfrm>
              <a:off x="838200" y="2374900"/>
              <a:ext cx="508000" cy="508000"/>
            </a:xfrm>
            <a:prstGeom prst="rect">
              <a:avLst/>
            </a:prstGeom>
          </p:spPr>
        </p:pic>
        <p:sp>
          <p:nvSpPr>
            <p:cNvPr id="14" name="Shape 12"/>
            <p:cNvSpPr txBox="1"/>
            <p:nvPr/>
          </p:nvSpPr>
          <p:spPr>
            <a:xfrm>
              <a:off x="838200" y="3009900"/>
              <a:ext cx="1473200" cy="635000"/>
            </a:xfrm>
            <a:prstGeom prst="rect">
              <a:avLst/>
            </a:prstGeom>
            <a:noFill/>
          </p:spPr>
          <p:txBody>
            <a:bodyPr wrap="square" lIns="0" tIns="0" rIns="0" bIns="0" anchor="t">
              <a:spAutoFit/>
            </a:bodyPr>
            <a:lstStyle/>
            <a:p>
              <a:pPr algn="l">
                <a:lnSpc>
                  <a:spcPct val="105000"/>
                </a:lnSpc>
              </a:pPr>
              <a:r>
                <a:rPr sz="1800" b="1">
                  <a:solidFill>
                    <a:srgbClr val="F2F5FB"/>
                  </a:solidFill>
                  <a:latin typeface="Segoe UI"/>
                </a:rPr>
                <a:t>Customer experience</a:t>
              </a:r>
            </a:p>
          </p:txBody>
        </p:sp>
        <p:sp>
          <p:nvSpPr>
            <p:cNvPr id="15" name="Shape 13"/>
            <p:cNvSpPr txBox="1"/>
            <p:nvPr/>
          </p:nvSpPr>
          <p:spPr>
            <a:xfrm>
              <a:off x="838200" y="3657600"/>
              <a:ext cx="1473200" cy="1397000"/>
            </a:xfrm>
            <a:prstGeom prst="rect">
              <a:avLst/>
            </a:prstGeom>
            <a:noFill/>
          </p:spPr>
          <p:txBody>
            <a:bodyPr wrap="square" lIns="0" tIns="0" rIns="0" bIns="0" anchor="t">
              <a:spAutoFit/>
            </a:bodyPr>
            <a:lstStyle/>
            <a:p>
              <a:pPr algn="l">
                <a:lnSpc>
                  <a:spcPct val="130000"/>
                </a:lnSpc>
              </a:pPr>
              <a:r>
                <a:rPr sz="1350" b="0">
                  <a:solidFill>
                    <a:srgbClr val="8F9BB8"/>
                  </a:solidFill>
                  <a:latin typeface="Segoe UI"/>
                </a:rPr>
                <a:t>Zero touch, zero wait, zero trouble</a:t>
              </a:r>
            </a:p>
          </p:txBody>
        </p:sp>
      </p:grpSp>
      <p:grpSp>
        <p:nvGrpSpPr>
          <p:cNvPr id="22" name="Pillar 2"/>
          <p:cNvGrpSpPr/>
          <p:nvPr/>
        </p:nvGrpSpPr>
        <p:grpSpPr>
          <a:xfrm>
            <a:off x="2508250" y="2159000"/>
            <a:ext cx="1727200" cy="3810000"/>
            <a:chOff x="2508250" y="2159000"/>
            <a:chExt cx="1727200" cy="3810000"/>
          </a:xfrm>
        </p:grpSpPr>
        <p:sp>
          <p:nvSpPr>
            <p:cNvPr id="17" name="Shape 15"/>
            <p:cNvSpPr/>
            <p:nvPr/>
          </p:nvSpPr>
          <p:spPr>
            <a:xfrm>
              <a:off x="2508250" y="2159000"/>
              <a:ext cx="1727200" cy="3810000"/>
            </a:xfrm>
            <a:prstGeom prst="roundRect">
              <a:avLst>
                <a:gd name="adj" fmla="val 8088"/>
              </a:avLst>
            </a:prstGeom>
            <a:solidFill>
              <a:srgbClr val="2F6FED">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hape 16"/>
            <p:cNvSpPr/>
            <p:nvPr/>
          </p:nvSpPr>
          <p:spPr>
            <a:xfrm>
              <a:off x="2508250" y="2159000"/>
              <a:ext cx="1727200" cy="50800"/>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9" name="Shape 17" descr="icon-people-2f6fed.png"/>
            <p:cNvPicPr>
              <a:picLocks noChangeAspect="1"/>
            </p:cNvPicPr>
            <p:nvPr/>
          </p:nvPicPr>
          <p:blipFill>
            <a:blip r:embed="rId5"/>
            <a:stretch>
              <a:fillRect/>
            </a:stretch>
          </p:blipFill>
          <p:spPr>
            <a:xfrm>
              <a:off x="2647950" y="2374900"/>
              <a:ext cx="508000" cy="508000"/>
            </a:xfrm>
            <a:prstGeom prst="rect">
              <a:avLst/>
            </a:prstGeom>
          </p:spPr>
        </p:pic>
        <p:sp>
          <p:nvSpPr>
            <p:cNvPr id="20" name="Shape 18"/>
            <p:cNvSpPr txBox="1"/>
            <p:nvPr/>
          </p:nvSpPr>
          <p:spPr>
            <a:xfrm>
              <a:off x="2647950" y="3009900"/>
              <a:ext cx="1473200" cy="635000"/>
            </a:xfrm>
            <a:prstGeom prst="rect">
              <a:avLst/>
            </a:prstGeom>
            <a:noFill/>
          </p:spPr>
          <p:txBody>
            <a:bodyPr wrap="square" lIns="0" tIns="0" rIns="0" bIns="0" anchor="t">
              <a:spAutoFit/>
            </a:bodyPr>
            <a:lstStyle/>
            <a:p>
              <a:pPr algn="l">
                <a:lnSpc>
                  <a:spcPct val="105000"/>
                </a:lnSpc>
              </a:pPr>
              <a:r>
                <a:rPr sz="1800" b="1">
                  <a:solidFill>
                    <a:srgbClr val="F2F5FB"/>
                  </a:solidFill>
                  <a:latin typeface="Segoe UI"/>
                </a:rPr>
                <a:t>Simplicity</a:t>
              </a:r>
            </a:p>
          </p:txBody>
        </p:sp>
        <p:sp>
          <p:nvSpPr>
            <p:cNvPr id="21" name="Shape 19"/>
            <p:cNvSpPr txBox="1"/>
            <p:nvPr/>
          </p:nvSpPr>
          <p:spPr>
            <a:xfrm>
              <a:off x="2647950" y="3657600"/>
              <a:ext cx="1473200" cy="1397000"/>
            </a:xfrm>
            <a:prstGeom prst="rect">
              <a:avLst/>
            </a:prstGeom>
            <a:noFill/>
          </p:spPr>
          <p:txBody>
            <a:bodyPr wrap="square" lIns="0" tIns="0" rIns="0" bIns="0" anchor="t">
              <a:spAutoFit/>
            </a:bodyPr>
            <a:lstStyle/>
            <a:p>
              <a:pPr algn="l">
                <a:lnSpc>
                  <a:spcPct val="130000"/>
                </a:lnSpc>
              </a:pPr>
              <a:r>
                <a:rPr sz="1350" b="0">
                  <a:solidFill>
                    <a:srgbClr val="8F9BB8"/>
                  </a:solidFill>
                  <a:latin typeface="Segoe UI"/>
                </a:rPr>
                <a:t>Hundreds of ops teams → one SRE team</a:t>
              </a:r>
            </a:p>
          </p:txBody>
        </p:sp>
      </p:grpSp>
      <p:grpSp>
        <p:nvGrpSpPr>
          <p:cNvPr id="28" name="Pillar 3"/>
          <p:cNvGrpSpPr/>
          <p:nvPr/>
        </p:nvGrpSpPr>
        <p:grpSpPr>
          <a:xfrm>
            <a:off x="4318000" y="2159000"/>
            <a:ext cx="1727200" cy="3810000"/>
            <a:chOff x="4318000" y="2159000"/>
            <a:chExt cx="1727200" cy="3810000"/>
          </a:xfrm>
        </p:grpSpPr>
        <p:sp>
          <p:nvSpPr>
            <p:cNvPr id="23" name="Shape 21"/>
            <p:cNvSpPr/>
            <p:nvPr/>
          </p:nvSpPr>
          <p:spPr>
            <a:xfrm>
              <a:off x="4318000" y="2159000"/>
              <a:ext cx="1727200" cy="3810000"/>
            </a:xfrm>
            <a:prstGeom prst="roundRect">
              <a:avLst>
                <a:gd name="adj" fmla="val 8088"/>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Shape 22"/>
            <p:cNvSpPr/>
            <p:nvPr/>
          </p:nvSpPr>
          <p:spPr>
            <a:xfrm>
              <a:off x="4318000" y="2159000"/>
              <a:ext cx="1727200" cy="508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5" name="Shape 23" descr="icon-spark-f472b6.png"/>
            <p:cNvPicPr>
              <a:picLocks noChangeAspect="1"/>
            </p:cNvPicPr>
            <p:nvPr/>
          </p:nvPicPr>
          <p:blipFill>
            <a:blip r:embed="rId6"/>
            <a:stretch>
              <a:fillRect/>
            </a:stretch>
          </p:blipFill>
          <p:spPr>
            <a:xfrm>
              <a:off x="4457700" y="2374900"/>
              <a:ext cx="508000" cy="508000"/>
            </a:xfrm>
            <a:prstGeom prst="rect">
              <a:avLst/>
            </a:prstGeom>
          </p:spPr>
        </p:pic>
        <p:sp>
          <p:nvSpPr>
            <p:cNvPr id="26" name="Shape 24"/>
            <p:cNvSpPr txBox="1"/>
            <p:nvPr/>
          </p:nvSpPr>
          <p:spPr>
            <a:xfrm>
              <a:off x="4457700" y="3009900"/>
              <a:ext cx="1473200" cy="635000"/>
            </a:xfrm>
            <a:prstGeom prst="rect">
              <a:avLst/>
            </a:prstGeom>
            <a:noFill/>
          </p:spPr>
          <p:txBody>
            <a:bodyPr wrap="square" lIns="0" tIns="0" rIns="0" bIns="0" anchor="t">
              <a:spAutoFit/>
            </a:bodyPr>
            <a:lstStyle/>
            <a:p>
              <a:pPr algn="l">
                <a:lnSpc>
                  <a:spcPct val="105000"/>
                </a:lnSpc>
              </a:pPr>
              <a:r>
                <a:rPr sz="1800" b="1">
                  <a:solidFill>
                    <a:srgbClr val="F2F5FB"/>
                  </a:solidFill>
                  <a:latin typeface="Segoe UI"/>
                </a:rPr>
                <a:t>Innovation</a:t>
              </a:r>
            </a:p>
          </p:txBody>
        </p:sp>
        <p:sp>
          <p:nvSpPr>
            <p:cNvPr id="27" name="Shape 25"/>
            <p:cNvSpPr txBox="1"/>
            <p:nvPr/>
          </p:nvSpPr>
          <p:spPr>
            <a:xfrm>
              <a:off x="4457700" y="3657600"/>
              <a:ext cx="1473200" cy="1397000"/>
            </a:xfrm>
            <a:prstGeom prst="rect">
              <a:avLst/>
            </a:prstGeom>
            <a:noFill/>
          </p:spPr>
          <p:txBody>
            <a:bodyPr wrap="square" lIns="0" tIns="0" rIns="0" bIns="0" anchor="t">
              <a:spAutoFit/>
            </a:bodyPr>
            <a:lstStyle/>
            <a:p>
              <a:pPr algn="l">
                <a:lnSpc>
                  <a:spcPct val="130000"/>
                </a:lnSpc>
              </a:pPr>
              <a:r>
                <a:rPr sz="1350" b="0">
                  <a:solidFill>
                    <a:srgbClr val="8F9BB8"/>
                  </a:solidFill>
                  <a:latin typeface="Segoe UI"/>
                </a:rPr>
                <a:t>Agility, faster AI-native adoption</a:t>
              </a:r>
            </a:p>
          </p:txBody>
        </p:sp>
      </p:grpSp>
      <p:grpSp>
        <p:nvGrpSpPr>
          <p:cNvPr id="34" name="Pillar 4"/>
          <p:cNvGrpSpPr/>
          <p:nvPr/>
        </p:nvGrpSpPr>
        <p:grpSpPr>
          <a:xfrm>
            <a:off x="6127750" y="2159000"/>
            <a:ext cx="1727200" cy="3810000"/>
            <a:chOff x="6127750" y="2159000"/>
            <a:chExt cx="1727200" cy="3810000"/>
          </a:xfrm>
        </p:grpSpPr>
        <p:sp>
          <p:nvSpPr>
            <p:cNvPr id="29" name="Shape 27"/>
            <p:cNvSpPr/>
            <p:nvPr/>
          </p:nvSpPr>
          <p:spPr>
            <a:xfrm>
              <a:off x="6127750" y="2159000"/>
              <a:ext cx="1727200" cy="3810000"/>
            </a:xfrm>
            <a:prstGeom prst="roundRect">
              <a:avLst>
                <a:gd name="adj" fmla="val 8088"/>
              </a:avLst>
            </a:prstGeom>
            <a:solidFill>
              <a:srgbClr val="1FC7A8">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Shape 28"/>
            <p:cNvSpPr/>
            <p:nvPr/>
          </p:nvSpPr>
          <p:spPr>
            <a:xfrm>
              <a:off x="6127750" y="2159000"/>
              <a:ext cx="1727200" cy="50800"/>
            </a:xfrm>
            <a:prstGeom prst="rect">
              <a:avLst/>
            </a:prstGeom>
            <a:solidFill>
              <a:srgbClr val="1FC7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31" name="Shape 29" descr="icon-bolt-1fc7a8.png"/>
            <p:cNvPicPr>
              <a:picLocks noChangeAspect="1"/>
            </p:cNvPicPr>
            <p:nvPr/>
          </p:nvPicPr>
          <p:blipFill>
            <a:blip r:embed="rId7"/>
            <a:stretch>
              <a:fillRect/>
            </a:stretch>
          </p:blipFill>
          <p:spPr>
            <a:xfrm>
              <a:off x="6267450" y="2374900"/>
              <a:ext cx="508000" cy="508000"/>
            </a:xfrm>
            <a:prstGeom prst="rect">
              <a:avLst/>
            </a:prstGeom>
          </p:spPr>
        </p:pic>
        <p:sp>
          <p:nvSpPr>
            <p:cNvPr id="32" name="Shape 30"/>
            <p:cNvSpPr txBox="1"/>
            <p:nvPr/>
          </p:nvSpPr>
          <p:spPr>
            <a:xfrm>
              <a:off x="6267450" y="3009900"/>
              <a:ext cx="1473200" cy="635000"/>
            </a:xfrm>
            <a:prstGeom prst="rect">
              <a:avLst/>
            </a:prstGeom>
            <a:noFill/>
          </p:spPr>
          <p:txBody>
            <a:bodyPr wrap="square" lIns="0" tIns="0" rIns="0" bIns="0" anchor="t">
              <a:spAutoFit/>
            </a:bodyPr>
            <a:lstStyle/>
            <a:p>
              <a:pPr algn="l">
                <a:lnSpc>
                  <a:spcPct val="105000"/>
                </a:lnSpc>
              </a:pPr>
              <a:r>
                <a:rPr sz="1800" b="1">
                  <a:solidFill>
                    <a:srgbClr val="F2F5FB"/>
                  </a:solidFill>
                  <a:latin typeface="Segoe UI"/>
                </a:rPr>
                <a:t>Operational efficiency</a:t>
              </a:r>
            </a:p>
          </p:txBody>
        </p:sp>
        <p:sp>
          <p:nvSpPr>
            <p:cNvPr id="33" name="Shape 31"/>
            <p:cNvSpPr txBox="1"/>
            <p:nvPr/>
          </p:nvSpPr>
          <p:spPr>
            <a:xfrm>
              <a:off x="6267450" y="3657600"/>
              <a:ext cx="1473200" cy="1397000"/>
            </a:xfrm>
            <a:prstGeom prst="rect">
              <a:avLst/>
            </a:prstGeom>
            <a:noFill/>
          </p:spPr>
          <p:txBody>
            <a:bodyPr wrap="square" lIns="0" tIns="0" rIns="0" bIns="0" anchor="t">
              <a:spAutoFit/>
            </a:bodyPr>
            <a:lstStyle/>
            <a:p>
              <a:pPr algn="l">
                <a:lnSpc>
                  <a:spcPct val="130000"/>
                </a:lnSpc>
              </a:pPr>
              <a:r>
                <a:rPr sz="1350" b="0">
                  <a:solidFill>
                    <a:srgbClr val="8F9BB8"/>
                  </a:solidFill>
                  <a:latin typeface="Segoe UI"/>
                </a:rPr>
                <a:t>Integration fully automated</a:t>
              </a:r>
            </a:p>
          </p:txBody>
        </p:sp>
      </p:grpSp>
      <p:grpSp>
        <p:nvGrpSpPr>
          <p:cNvPr id="40" name="Pillar 5"/>
          <p:cNvGrpSpPr/>
          <p:nvPr/>
        </p:nvGrpSpPr>
        <p:grpSpPr>
          <a:xfrm>
            <a:off x="7937500" y="2159000"/>
            <a:ext cx="1727200" cy="3810000"/>
            <a:chOff x="7937500" y="2159000"/>
            <a:chExt cx="1727200" cy="3810000"/>
          </a:xfrm>
        </p:grpSpPr>
        <p:sp>
          <p:nvSpPr>
            <p:cNvPr id="35" name="Shape 33"/>
            <p:cNvSpPr/>
            <p:nvPr/>
          </p:nvSpPr>
          <p:spPr>
            <a:xfrm>
              <a:off x="7937500" y="2159000"/>
              <a:ext cx="1727200" cy="3810000"/>
            </a:xfrm>
            <a:prstGeom prst="roundRect">
              <a:avLst>
                <a:gd name="adj" fmla="val 8088"/>
              </a:avLst>
            </a:prstGeom>
            <a:solidFill>
              <a:srgbClr val="FF6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Shape 34"/>
            <p:cNvSpPr/>
            <p:nvPr/>
          </p:nvSpPr>
          <p:spPr>
            <a:xfrm>
              <a:off x="7937500" y="2159000"/>
              <a:ext cx="1727200" cy="508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37" name="Shape 35" descr="icon-shield-ff6b6b.png"/>
            <p:cNvPicPr>
              <a:picLocks noChangeAspect="1"/>
            </p:cNvPicPr>
            <p:nvPr/>
          </p:nvPicPr>
          <p:blipFill>
            <a:blip r:embed="rId8"/>
            <a:stretch>
              <a:fillRect/>
            </a:stretch>
          </p:blipFill>
          <p:spPr>
            <a:xfrm>
              <a:off x="8077200" y="2374900"/>
              <a:ext cx="508000" cy="508000"/>
            </a:xfrm>
            <a:prstGeom prst="rect">
              <a:avLst/>
            </a:prstGeom>
          </p:spPr>
        </p:pic>
        <p:sp>
          <p:nvSpPr>
            <p:cNvPr id="38" name="Shape 36"/>
            <p:cNvSpPr txBox="1"/>
            <p:nvPr/>
          </p:nvSpPr>
          <p:spPr>
            <a:xfrm>
              <a:off x="8077200" y="3009900"/>
              <a:ext cx="1473200" cy="635000"/>
            </a:xfrm>
            <a:prstGeom prst="rect">
              <a:avLst/>
            </a:prstGeom>
            <a:noFill/>
          </p:spPr>
          <p:txBody>
            <a:bodyPr wrap="square" lIns="0" tIns="0" rIns="0" bIns="0" anchor="t">
              <a:spAutoFit/>
            </a:bodyPr>
            <a:lstStyle/>
            <a:p>
              <a:pPr algn="l">
                <a:lnSpc>
                  <a:spcPct val="105000"/>
                </a:lnSpc>
              </a:pPr>
              <a:r>
                <a:rPr sz="1800" b="1">
                  <a:solidFill>
                    <a:srgbClr val="F2F5FB"/>
                  </a:solidFill>
                  <a:latin typeface="Segoe UI"/>
                </a:rPr>
                <a:t>Security</a:t>
              </a:r>
            </a:p>
          </p:txBody>
        </p:sp>
        <p:sp>
          <p:nvSpPr>
            <p:cNvPr id="39" name="Shape 37"/>
            <p:cNvSpPr txBox="1"/>
            <p:nvPr/>
          </p:nvSpPr>
          <p:spPr>
            <a:xfrm>
              <a:off x="8077200" y="3657600"/>
              <a:ext cx="1473200" cy="1397000"/>
            </a:xfrm>
            <a:prstGeom prst="rect">
              <a:avLst/>
            </a:prstGeom>
            <a:noFill/>
          </p:spPr>
          <p:txBody>
            <a:bodyPr wrap="square" lIns="0" tIns="0" rIns="0" bIns="0" anchor="t">
              <a:spAutoFit/>
            </a:bodyPr>
            <a:lstStyle/>
            <a:p>
              <a:pPr algn="l">
                <a:lnSpc>
                  <a:spcPct val="130000"/>
                </a:lnSpc>
              </a:pPr>
              <a:r>
                <a:rPr sz="1350" b="0">
                  <a:solidFill>
                    <a:srgbClr val="8F9BB8"/>
                  </a:solidFill>
                  <a:latin typeface="Segoe UI"/>
                </a:rPr>
                <a:t>Zero trust, security as code</a:t>
              </a:r>
            </a:p>
          </p:txBody>
        </p:sp>
      </p:grpSp>
      <p:grpSp>
        <p:nvGrpSpPr>
          <p:cNvPr id="46" name="Pillar 6"/>
          <p:cNvGrpSpPr/>
          <p:nvPr/>
        </p:nvGrpSpPr>
        <p:grpSpPr>
          <a:xfrm>
            <a:off x="9747250" y="2159000"/>
            <a:ext cx="1727200" cy="3810000"/>
            <a:chOff x="9747250" y="2159000"/>
            <a:chExt cx="1727200" cy="3810000"/>
          </a:xfrm>
        </p:grpSpPr>
        <p:sp>
          <p:nvSpPr>
            <p:cNvPr id="41" name="Shape 39"/>
            <p:cNvSpPr/>
            <p:nvPr/>
          </p:nvSpPr>
          <p:spPr>
            <a:xfrm>
              <a:off x="9747250" y="2159000"/>
              <a:ext cx="1727200" cy="3810000"/>
            </a:xfrm>
            <a:prstGeom prst="roundRect">
              <a:avLst>
                <a:gd name="adj" fmla="val 8088"/>
              </a:avLst>
            </a:prstGeom>
            <a:solidFill>
              <a:srgbClr val="F5A623">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Shape 40"/>
            <p:cNvSpPr/>
            <p:nvPr/>
          </p:nvSpPr>
          <p:spPr>
            <a:xfrm>
              <a:off x="9747250" y="2159000"/>
              <a:ext cx="1727200" cy="508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43" name="Shape 41" descr="icon-wrench-f5a623.png"/>
            <p:cNvPicPr>
              <a:picLocks noChangeAspect="1"/>
            </p:cNvPicPr>
            <p:nvPr/>
          </p:nvPicPr>
          <p:blipFill>
            <a:blip r:embed="rId9"/>
            <a:stretch>
              <a:fillRect/>
            </a:stretch>
          </p:blipFill>
          <p:spPr>
            <a:xfrm>
              <a:off x="9886950" y="2374900"/>
              <a:ext cx="508000" cy="508000"/>
            </a:xfrm>
            <a:prstGeom prst="rect">
              <a:avLst/>
            </a:prstGeom>
          </p:spPr>
        </p:pic>
        <p:sp>
          <p:nvSpPr>
            <p:cNvPr id="44" name="Shape 42"/>
            <p:cNvSpPr txBox="1"/>
            <p:nvPr/>
          </p:nvSpPr>
          <p:spPr>
            <a:xfrm>
              <a:off x="9886950" y="3009900"/>
              <a:ext cx="1473200" cy="635000"/>
            </a:xfrm>
            <a:prstGeom prst="rect">
              <a:avLst/>
            </a:prstGeom>
            <a:noFill/>
          </p:spPr>
          <p:txBody>
            <a:bodyPr wrap="square" lIns="0" tIns="0" rIns="0" bIns="0" anchor="t">
              <a:spAutoFit/>
            </a:bodyPr>
            <a:lstStyle/>
            <a:p>
              <a:pPr algn="l">
                <a:lnSpc>
                  <a:spcPct val="105000"/>
                </a:lnSpc>
              </a:pPr>
              <a:r>
                <a:rPr sz="1800" b="1">
                  <a:solidFill>
                    <a:srgbClr val="F2F5FB"/>
                  </a:solidFill>
                  <a:latin typeface="Segoe UI"/>
                </a:rPr>
                <a:t>Technical debt</a:t>
              </a:r>
            </a:p>
          </p:txBody>
        </p:sp>
        <p:sp>
          <p:nvSpPr>
            <p:cNvPr id="45" name="Shape 43"/>
            <p:cNvSpPr txBox="1"/>
            <p:nvPr/>
          </p:nvSpPr>
          <p:spPr>
            <a:xfrm>
              <a:off x="9886950" y="3657600"/>
              <a:ext cx="1473200" cy="1397000"/>
            </a:xfrm>
            <a:prstGeom prst="rect">
              <a:avLst/>
            </a:prstGeom>
            <a:noFill/>
          </p:spPr>
          <p:txBody>
            <a:bodyPr wrap="square" lIns="0" tIns="0" rIns="0" bIns="0" anchor="t">
              <a:spAutoFit/>
            </a:bodyPr>
            <a:lstStyle/>
            <a:p>
              <a:pPr algn="l">
                <a:lnSpc>
                  <a:spcPct val="130000"/>
                </a:lnSpc>
              </a:pPr>
              <a:r>
                <a:rPr sz="1350" b="0">
                  <a:solidFill>
                    <a:srgbClr val="8F9BB8"/>
                  </a:solidFill>
                  <a:latin typeface="Segoe UI"/>
                </a:rPr>
                <a:t>Continuous upgrade of every component</a:t>
              </a:r>
            </a:p>
          </p:txBody>
        </p:sp>
      </p:grpSp>
    </p:spTree>
  </p:cSld>
  <p:clrMapOvr>
    <a:masterClrMapping/>
  </p:clrMapOvr>
  <mc:AlternateContent xmlns:mc="http://schemas.openxmlformats.org/markup-compatibility/2006">
    <mc:Choice xmlns:p14="http://schemas.microsoft.com/office/powerpoint/2010/main" Requires="p14">
      <p:transition spd="slow" p14:dur="2000" advTm="36300"/>
    </mc:Choice>
    <mc:Fallback>
      <p:transition spd="slow" advTm="3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20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600"/>
                                        <p:tgtEl>
                                          <p:spTgt spid="10"/>
                                        </p:tgtEl>
                                      </p:cBhvr>
                                    </p:animEffect>
                                  </p:childTnLst>
                                </p:cTn>
                              </p:par>
                              <p:par>
                                <p:cTn id="14" presetID="22" presetClass="entr" presetSubtype="4" fill="hold" nodeType="withEffect">
                                  <p:stCondLst>
                                    <p:cond delay="700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1000"/>
                                        <p:tgtEl>
                                          <p:spTgt spid="16"/>
                                        </p:tgtEl>
                                      </p:cBhvr>
                                    </p:animEffect>
                                  </p:childTnLst>
                                </p:cTn>
                              </p:par>
                              <p:par>
                                <p:cTn id="17" presetID="22" presetClass="entr" presetSubtype="4" fill="hold" nodeType="withEffect">
                                  <p:stCondLst>
                                    <p:cond delay="1120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1000"/>
                                        <p:tgtEl>
                                          <p:spTgt spid="22"/>
                                        </p:tgtEl>
                                      </p:cBhvr>
                                    </p:animEffect>
                                  </p:childTnLst>
                                </p:cTn>
                              </p:par>
                              <p:par>
                                <p:cTn id="20" presetID="22" presetClass="entr" presetSubtype="4" fill="hold" nodeType="withEffect">
                                  <p:stCondLst>
                                    <p:cond delay="18600"/>
                                  </p:stCondLst>
                                  <p:childTnLst>
                                    <p:set>
                                      <p:cBhvr>
                                        <p:cTn id="21" dur="1" fill="hold">
                                          <p:stCondLst>
                                            <p:cond delay="0"/>
                                          </p:stCondLst>
                                        </p:cTn>
                                        <p:tgtEl>
                                          <p:spTgt spid="28"/>
                                        </p:tgtEl>
                                        <p:attrNameLst>
                                          <p:attrName>style.visibility</p:attrName>
                                        </p:attrNameLst>
                                      </p:cBhvr>
                                      <p:to>
                                        <p:strVal val="visible"/>
                                      </p:to>
                                    </p:set>
                                    <p:animEffect transition="in" filter="wipe(down)">
                                      <p:cBhvr>
                                        <p:cTn id="22" dur="1000"/>
                                        <p:tgtEl>
                                          <p:spTgt spid="28"/>
                                        </p:tgtEl>
                                      </p:cBhvr>
                                    </p:animEffect>
                                  </p:childTnLst>
                                </p:cTn>
                              </p:par>
                              <p:par>
                                <p:cTn id="23" presetID="22" presetClass="entr" presetSubtype="4" fill="hold" nodeType="withEffect">
                                  <p:stCondLst>
                                    <p:cond delay="22600"/>
                                  </p:stCondLst>
                                  <p:childTnLst>
                                    <p:set>
                                      <p:cBhvr>
                                        <p:cTn id="24" dur="1" fill="hold">
                                          <p:stCondLst>
                                            <p:cond delay="0"/>
                                          </p:stCondLst>
                                        </p:cTn>
                                        <p:tgtEl>
                                          <p:spTgt spid="34"/>
                                        </p:tgtEl>
                                        <p:attrNameLst>
                                          <p:attrName>style.visibility</p:attrName>
                                        </p:attrNameLst>
                                      </p:cBhvr>
                                      <p:to>
                                        <p:strVal val="visible"/>
                                      </p:to>
                                    </p:set>
                                    <p:animEffect transition="in" filter="wipe(down)">
                                      <p:cBhvr>
                                        <p:cTn id="25" dur="1000"/>
                                        <p:tgtEl>
                                          <p:spTgt spid="34"/>
                                        </p:tgtEl>
                                      </p:cBhvr>
                                    </p:animEffect>
                                  </p:childTnLst>
                                </p:cTn>
                              </p:par>
                              <p:par>
                                <p:cTn id="26" presetID="22" presetClass="entr" presetSubtype="4" fill="hold" nodeType="withEffect">
                                  <p:stCondLst>
                                    <p:cond delay="25400"/>
                                  </p:stCondLst>
                                  <p:childTnLst>
                                    <p:set>
                                      <p:cBhvr>
                                        <p:cTn id="27" dur="1" fill="hold">
                                          <p:stCondLst>
                                            <p:cond delay="0"/>
                                          </p:stCondLst>
                                        </p:cTn>
                                        <p:tgtEl>
                                          <p:spTgt spid="40"/>
                                        </p:tgtEl>
                                        <p:attrNameLst>
                                          <p:attrName>style.visibility</p:attrName>
                                        </p:attrNameLst>
                                      </p:cBhvr>
                                      <p:to>
                                        <p:strVal val="visible"/>
                                      </p:to>
                                    </p:set>
                                    <p:animEffect transition="in" filter="wipe(down)">
                                      <p:cBhvr>
                                        <p:cTn id="28" dur="1000"/>
                                        <p:tgtEl>
                                          <p:spTgt spid="40"/>
                                        </p:tgtEl>
                                      </p:cBhvr>
                                    </p:animEffect>
                                  </p:childTnLst>
                                </p:cTn>
                              </p:par>
                              <p:par>
                                <p:cTn id="29" presetID="22" presetClass="entr" presetSubtype="4" fill="hold" nodeType="withEffect">
                                  <p:stCondLst>
                                    <p:cond delay="29600"/>
                                  </p:stCondLst>
                                  <p:childTnLst>
                                    <p:set>
                                      <p:cBhvr>
                                        <p:cTn id="30" dur="1" fill="hold">
                                          <p:stCondLst>
                                            <p:cond delay="0"/>
                                          </p:stCondLst>
                                        </p:cTn>
                                        <p:tgtEl>
                                          <p:spTgt spid="46"/>
                                        </p:tgtEl>
                                        <p:attrNameLst>
                                          <p:attrName>style.visibility</p:attrName>
                                        </p:attrNameLst>
                                      </p:cBhvr>
                                      <p:to>
                                        <p:strVal val="visible"/>
                                      </p:to>
                                    </p:set>
                                    <p:animEffect transition="in" filter="wipe(down)">
                                      <p:cBhvr>
                                        <p:cTn id="31"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An order-of-magnitude goal</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BENEFITS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Not incremental — an order of magnitude</a:t>
            </a:r>
          </a:p>
        </p:txBody>
      </p:sp>
      <p:sp>
        <p:nvSpPr>
          <p:cNvPr id="6" name="Baseline"/>
          <p:cNvSpPr/>
          <p:nvPr/>
        </p:nvSpPr>
        <p:spPr>
          <a:xfrm>
            <a:off x="1651000" y="5969000"/>
            <a:ext cx="8890000" cy="25400"/>
          </a:xfrm>
          <a:prstGeom prst="rect">
            <a:avLst/>
          </a:prstGeom>
          <a:solidFill>
            <a:srgbClr val="2431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mall bar"/>
          <p:cNvSpPr/>
          <p:nvPr/>
        </p:nvSpPr>
        <p:spPr>
          <a:xfrm>
            <a:off x="2921000" y="5340350"/>
            <a:ext cx="1905000" cy="628650"/>
          </a:xfrm>
          <a:prstGeom prst="roundRect">
            <a:avLst>
              <a:gd name="adj" fmla="val 12121"/>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mall label"/>
          <p:cNvSpPr txBox="1"/>
          <p:nvPr/>
        </p:nvSpPr>
        <p:spPr>
          <a:xfrm>
            <a:off x="2921000" y="4826000"/>
            <a:ext cx="1905000" cy="444500"/>
          </a:xfrm>
          <a:prstGeom prst="rect">
            <a:avLst/>
          </a:prstGeom>
          <a:noFill/>
        </p:spPr>
        <p:txBody>
          <a:bodyPr wrap="square" lIns="0" tIns="0" rIns="0" bIns="0" anchor="t">
            <a:spAutoFit/>
          </a:bodyPr>
          <a:lstStyle/>
          <a:p>
            <a:pPr algn="ctr">
              <a:lnSpc>
                <a:spcPct val="115000"/>
              </a:lnSpc>
            </a:pPr>
            <a:r>
              <a:rPr sz="2700" b="1">
                <a:solidFill>
                  <a:srgbClr val="8F9BB8"/>
                </a:solidFill>
                <a:latin typeface="Segoe UI"/>
              </a:rPr>
              <a:t>+30%</a:t>
            </a:r>
          </a:p>
        </p:txBody>
      </p:sp>
      <p:sp>
        <p:nvSpPr>
          <p:cNvPr id="9" name="Big bar"/>
          <p:cNvSpPr/>
          <p:nvPr/>
        </p:nvSpPr>
        <p:spPr>
          <a:xfrm>
            <a:off x="6731000" y="2203450"/>
            <a:ext cx="2413000" cy="3765550"/>
          </a:xfrm>
          <a:prstGeom prst="roundRect">
            <a:avLst>
              <a:gd name="adj" fmla="val 4210"/>
            </a:avLst>
          </a:prstGeom>
          <a:solidFill>
            <a:srgbClr val="E600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Big label"/>
          <p:cNvSpPr txBox="1"/>
          <p:nvPr/>
        </p:nvSpPr>
        <p:spPr>
          <a:xfrm>
            <a:off x="6731000" y="2413000"/>
            <a:ext cx="2413000" cy="1079500"/>
          </a:xfrm>
          <a:prstGeom prst="rect">
            <a:avLst/>
          </a:prstGeom>
          <a:noFill/>
        </p:spPr>
        <p:txBody>
          <a:bodyPr wrap="square" lIns="0" tIns="0" rIns="0" bIns="0" anchor="t">
            <a:spAutoFit/>
          </a:bodyPr>
          <a:lstStyle/>
          <a:p>
            <a:pPr algn="ctr">
              <a:lnSpc>
                <a:spcPct val="115000"/>
              </a:lnSpc>
            </a:pPr>
            <a:r>
              <a:rPr sz="7500" b="1">
                <a:solidFill>
                  <a:srgbClr val="F2F5FB"/>
                </a:solidFill>
                <a:latin typeface="Segoe UI"/>
              </a:rPr>
              <a:t>10×</a:t>
            </a:r>
          </a:p>
        </p:txBody>
      </p:sp>
      <p:sp>
        <p:nvSpPr>
          <p:cNvPr id="11" name="What"/>
          <p:cNvSpPr txBox="1"/>
          <p:nvPr/>
        </p:nvSpPr>
        <p:spPr>
          <a:xfrm>
            <a:off x="9398000" y="2667000"/>
            <a:ext cx="2413000" cy="698500"/>
          </a:xfrm>
          <a:prstGeom prst="rect">
            <a:avLst/>
          </a:prstGeom>
          <a:noFill/>
        </p:spPr>
        <p:txBody>
          <a:bodyPr wrap="square" lIns="0" tIns="0" rIns="0" bIns="0" anchor="t">
            <a:spAutoFit/>
          </a:bodyPr>
          <a:lstStyle/>
          <a:p>
            <a:pPr algn="l">
              <a:lnSpc>
                <a:spcPct val="115000"/>
              </a:lnSpc>
            </a:pPr>
            <a:r>
              <a:rPr sz="1700" b="1">
                <a:solidFill>
                  <a:srgbClr val="F2F5FB"/>
                </a:solidFill>
                <a:latin typeface="Segoe UI"/>
              </a:rPr>
              <a:t>efficiency</a:t>
            </a:r>
          </a:p>
          <a:p>
            <a:pPr algn="l">
              <a:lnSpc>
                <a:spcPct val="115000"/>
              </a:lnSpc>
            </a:pPr>
            <a:r>
              <a:rPr sz="1700" b="1">
                <a:solidFill>
                  <a:srgbClr val="F2F5FB"/>
                </a:solidFill>
                <a:latin typeface="Segoe UI"/>
              </a:rPr>
              <a:t>&amp; agility</a:t>
            </a:r>
          </a:p>
        </p:txBody>
      </p:sp>
      <p:sp>
        <p:nvSpPr>
          <p:cNvPr id="12" name="Telco"/>
          <p:cNvSpPr txBox="1"/>
          <p:nvPr/>
        </p:nvSpPr>
        <p:spPr>
          <a:xfrm>
            <a:off x="0" y="6096000"/>
            <a:ext cx="12192000" cy="381000"/>
          </a:xfrm>
          <a:prstGeom prst="rect">
            <a:avLst/>
          </a:prstGeom>
          <a:noFill/>
        </p:spPr>
        <p:txBody>
          <a:bodyPr wrap="square" lIns="0" tIns="0" rIns="0" bIns="0" anchor="t">
            <a:spAutoFit/>
          </a:bodyPr>
          <a:lstStyle/>
          <a:p>
            <a:pPr algn="ctr">
              <a:lnSpc>
                <a:spcPct val="115000"/>
              </a:lnSpc>
            </a:pPr>
            <a:r>
              <a:rPr sz="2000" b="1">
                <a:solidFill>
                  <a:srgbClr val="F472B6"/>
                </a:solidFill>
                <a:latin typeface="Segoe UI"/>
              </a:rPr>
              <a:t>… and a faster transformation to an AI-native telco</a:t>
            </a:r>
          </a:p>
        </p:txBody>
      </p:sp>
    </p:spTree>
  </p:cSld>
  <p:clrMapOvr>
    <a:masterClrMapping/>
  </p:clrMapOvr>
  <mc:AlternateContent xmlns:mc="http://schemas.openxmlformats.org/markup-compatibility/2006">
    <mc:Choice xmlns:p14="http://schemas.microsoft.com/office/powerpoint/2010/main" Requires="p14">
      <p:transition spd="slow" p14:dur="2000" advTm="13100"/>
    </mc:Choice>
    <mc:Fallback>
      <p:transition spd="slow" advTm="1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2" presetClass="entr" presetSubtype="4" fill="hold" grpId="0" nodeType="withEffect">
                                  <p:stCondLst>
                                    <p:cond delay="80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1400"/>
                                        <p:tgtEl>
                                          <p:spTgt spid="7"/>
                                        </p:tgtEl>
                                      </p:cBhvr>
                                    </p:animEffect>
                                  </p:childTnLst>
                                </p:cTn>
                              </p:par>
                              <p:par>
                                <p:cTn id="14" presetID="10" presetClass="entr" presetSubtype="0" fill="hold" grpId="0" nodeType="withEffect">
                                  <p:stCondLst>
                                    <p:cond delay="16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par>
                                <p:cTn id="17" presetID="22" presetClass="entr" presetSubtype="4" fill="hold" grpId="0" nodeType="withEffect">
                                  <p:stCondLst>
                                    <p:cond delay="380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2600"/>
                                        <p:tgtEl>
                                          <p:spTgt spid="9"/>
                                        </p:tgtEl>
                                      </p:cBhvr>
                                    </p:animEffect>
                                  </p:childTnLst>
                                </p:cTn>
                              </p:par>
                              <p:par>
                                <p:cTn id="20" presetID="58" presetClass="entr" presetSubtype="0" accel="100000" fill="hold" grpId="0" nodeType="withEffect">
                                  <p:stCondLst>
                                    <p:cond delay="5600"/>
                                  </p:stCondLst>
                                  <p:childTnLst>
                                    <p:set>
                                      <p:cBhvr>
                                        <p:cTn id="21" dur="1" fill="hold">
                                          <p:stCondLst>
                                            <p:cond delay="0"/>
                                          </p:stCondLst>
                                        </p:cTn>
                                        <p:tgtEl>
                                          <p:spTgt spid="10"/>
                                        </p:tgtEl>
                                        <p:attrNameLst>
                                          <p:attrName>style.visibility</p:attrName>
                                        </p:attrNameLst>
                                      </p:cBhvr>
                                      <p:to>
                                        <p:strVal val="visible"/>
                                      </p:to>
                                    </p:set>
                                    <p:anim calcmode="lin" valueType="num">
                                      <p:cBhvr>
                                        <p:cTn id="22" dur="600" fill="hold"/>
                                        <p:tgtEl>
                                          <p:spTgt spid="10"/>
                                        </p:tgtEl>
                                        <p:attrNameLst>
                                          <p:attrName>ppt_w</p:attrName>
                                        </p:attrNameLst>
                                      </p:cBhvr>
                                      <p:tavLst>
                                        <p:tav tm="0">
                                          <p:val>
                                            <p:strVal val="#ppt_w*2.5"/>
                                          </p:val>
                                        </p:tav>
                                        <p:tav tm="100000">
                                          <p:val>
                                            <p:strVal val="#ppt_w"/>
                                          </p:val>
                                        </p:tav>
                                      </p:tavLst>
                                    </p:anim>
                                    <p:anim calcmode="lin" valueType="num">
                                      <p:cBhvr>
                                        <p:cTn id="23" dur="600" fill="hold"/>
                                        <p:tgtEl>
                                          <p:spTgt spid="10"/>
                                        </p:tgtEl>
                                        <p:attrNameLst>
                                          <p:attrName>ppt_h</p:attrName>
                                        </p:attrNameLst>
                                      </p:cBhvr>
                                      <p:tavLst>
                                        <p:tav tm="0">
                                          <p:val>
                                            <p:strVal val="#ppt_h*0.01"/>
                                          </p:val>
                                        </p:tav>
                                        <p:tav tm="100000">
                                          <p:val>
                                            <p:strVal val="#ppt_h"/>
                                          </p:val>
                                        </p:tav>
                                      </p:tavLst>
                                    </p:anim>
                                    <p:anim calcmode="lin" valueType="num">
                                      <p:cBhvr>
                                        <p:cTn id="24" dur="600" fill="hold"/>
                                        <p:tgtEl>
                                          <p:spTgt spid="10"/>
                                        </p:tgtEl>
                                        <p:attrNameLst>
                                          <p:attrName>ppt_x</p:attrName>
                                        </p:attrNameLst>
                                      </p:cBhvr>
                                      <p:tavLst>
                                        <p:tav tm="0">
                                          <p:val>
                                            <p:strVal val="#ppt_x"/>
                                          </p:val>
                                        </p:tav>
                                        <p:tav tm="100000">
                                          <p:val>
                                            <p:strVal val="#ppt_x"/>
                                          </p:val>
                                        </p:tav>
                                      </p:tavLst>
                                    </p:anim>
                                    <p:anim calcmode="lin" valueType="num">
                                      <p:cBhvr>
                                        <p:cTn id="25" dur="600" fill="hold"/>
                                        <p:tgtEl>
                                          <p:spTgt spid="10"/>
                                        </p:tgtEl>
                                        <p:attrNameLst>
                                          <p:attrName>ppt_y</p:attrName>
                                        </p:attrNameLst>
                                      </p:cBhvr>
                                      <p:tavLst>
                                        <p:tav tm="0">
                                          <p:val>
                                            <p:strVal val="#ppt_h+1"/>
                                          </p:val>
                                        </p:tav>
                                        <p:tav tm="100000">
                                          <p:val>
                                            <p:strVal val="#ppt_y"/>
                                          </p:val>
                                        </p:tav>
                                      </p:tavLst>
                                    </p:anim>
                                    <p:animEffect transition="in" filter="fade">
                                      <p:cBhvr>
                                        <p:cTn id="26" dur="600"/>
                                        <p:tgtEl>
                                          <p:spTgt spid="10"/>
                                        </p:tgtEl>
                                      </p:cBhvr>
                                    </p:animEffect>
                                  </p:childTnLst>
                                </p:cTn>
                              </p:par>
                              <p:par>
                                <p:cTn id="27" presetID="10" presetClass="entr" presetSubtype="0" fill="hold" grpId="0" nodeType="withEffect">
                                  <p:stCondLst>
                                    <p:cond delay="600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p:tgtEl>
                                          <p:spTgt spid="11"/>
                                        </p:tgtEl>
                                      </p:cBhvr>
                                    </p:animEffect>
                                  </p:childTnLst>
                                </p:cTn>
                              </p:par>
                              <p:par>
                                <p:cTn id="30" presetID="2" presetClass="entr" presetSubtype="4" fill="hold" grpId="0" nodeType="withEffect">
                                  <p:stCondLst>
                                    <p:cond delay="860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600" fill="hold"/>
                                        <p:tgtEl>
                                          <p:spTgt spid="12"/>
                                        </p:tgtEl>
                                        <p:attrNameLst>
                                          <p:attrName>ppt_x</p:attrName>
                                        </p:attrNameLst>
                                      </p:cBhvr>
                                      <p:tavLst>
                                        <p:tav tm="0">
                                          <p:val>
                                            <p:strVal val="#ppt_x"/>
                                          </p:val>
                                        </p:tav>
                                        <p:tav tm="100000">
                                          <p:val>
                                            <p:strVal val="#ppt_x"/>
                                          </p:val>
                                        </p:tav>
                                      </p:tavLst>
                                    </p:anim>
                                    <p:anim calcmode="lin" valueType="num">
                                      <p:cBhvr additive="base">
                                        <p:cTn id="33" dur="6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p:bldP spid="9" grpId="0" animBg="1"/>
      <p:bldP spid="10"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The component standard in two layers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5A623"/>
                </a:solidFill>
                <a:latin typeface="Segoe UI"/>
              </a:rPr>
              <a:t>A TOUR OF THE CANVAS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The component standard: two layers</a:t>
            </a:r>
          </a:p>
        </p:txBody>
      </p:sp>
      <p:grpSp>
        <p:nvGrpSpPr>
          <p:cNvPr id="8" name="Layer 1"/>
          <p:cNvGrpSpPr/>
          <p:nvPr/>
        </p:nvGrpSpPr>
        <p:grpSpPr>
          <a:xfrm>
            <a:off x="1016000" y="4635500"/>
            <a:ext cx="10160000" cy="1333500"/>
            <a:chOff x="1016000" y="4635500"/>
            <a:chExt cx="10160000" cy="1333500"/>
          </a:xfrm>
        </p:grpSpPr>
        <p:sp>
          <p:nvSpPr>
            <p:cNvPr id="6" name="Shape 4"/>
            <p:cNvSpPr/>
            <p:nvPr/>
          </p:nvSpPr>
          <p:spPr>
            <a:xfrm>
              <a:off x="1016000" y="4635500"/>
              <a:ext cx="10160000" cy="1333500"/>
            </a:xfrm>
            <a:prstGeom prst="roundRect">
              <a:avLst>
                <a:gd name="adj" fmla="val 11428"/>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p:cNvSpPr txBox="1"/>
            <p:nvPr/>
          </p:nvSpPr>
          <p:spPr>
            <a:xfrm>
              <a:off x="1270000" y="4800600"/>
              <a:ext cx="9525000" cy="254000"/>
            </a:xfrm>
            <a:prstGeom prst="rect">
              <a:avLst/>
            </a:prstGeom>
            <a:noFill/>
          </p:spPr>
          <p:txBody>
            <a:bodyPr wrap="square" lIns="0" tIns="0" rIns="0" bIns="0" anchor="t">
              <a:spAutoFit/>
            </a:bodyPr>
            <a:lstStyle/>
            <a:p>
              <a:pPr algn="l">
                <a:lnSpc>
                  <a:spcPct val="115000"/>
                </a:lnSpc>
              </a:pPr>
              <a:r>
                <a:rPr sz="1500" b="1" spc="150">
                  <a:solidFill>
                    <a:srgbClr val="1FC7A8"/>
                  </a:solidFill>
                  <a:latin typeface="Segoe UI"/>
                </a:rPr>
                <a:t>LAYER 1 · DESIGN PATTERNS</a:t>
              </a:r>
            </a:p>
          </p:txBody>
        </p:sp>
      </p:grpSp>
      <p:sp>
        <p:nvSpPr>
          <p:cNvPr id="9" name="Pattern 1"/>
          <p:cNvSpPr/>
          <p:nvPr/>
        </p:nvSpPr>
        <p:spPr>
          <a:xfrm>
            <a:off x="1270000" y="5156200"/>
            <a:ext cx="4032250" cy="355600"/>
          </a:xfrm>
          <a:prstGeom prst="roundRect">
            <a:avLst>
              <a:gd name="adj" fmla="val 50000"/>
            </a:avLst>
          </a:prstGeom>
          <a:solidFill>
            <a:srgbClr val="1FC7A8">
              <a:alpha val="15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600" b="1">
                <a:solidFill>
                  <a:srgbClr val="F2F5FB"/>
                </a:solidFill>
                <a:latin typeface="Segoe UI"/>
              </a:rPr>
              <a:t>Self-describing, modular software</a:t>
            </a:r>
          </a:p>
        </p:txBody>
      </p:sp>
      <p:sp>
        <p:nvSpPr>
          <p:cNvPr id="10" name="Pattern 2"/>
          <p:cNvSpPr/>
          <p:nvPr/>
        </p:nvSpPr>
        <p:spPr>
          <a:xfrm>
            <a:off x="5441950" y="5156200"/>
            <a:ext cx="2095500" cy="355600"/>
          </a:xfrm>
          <a:prstGeom prst="roundRect">
            <a:avLst>
              <a:gd name="adj" fmla="val 50000"/>
            </a:avLst>
          </a:prstGeom>
          <a:solidFill>
            <a:srgbClr val="FF6B6B">
              <a:alpha val="15000"/>
            </a:srgbClr>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600" b="1">
                <a:solidFill>
                  <a:srgbClr val="F2F5FB"/>
                </a:solidFill>
                <a:latin typeface="Segoe UI"/>
              </a:rPr>
              <a:t>Security as code</a:t>
            </a:r>
          </a:p>
        </p:txBody>
      </p:sp>
      <p:sp>
        <p:nvSpPr>
          <p:cNvPr id="11" name="Pattern 3"/>
          <p:cNvSpPr/>
          <p:nvPr/>
        </p:nvSpPr>
        <p:spPr>
          <a:xfrm>
            <a:off x="7677150" y="5156200"/>
            <a:ext cx="2324100" cy="355600"/>
          </a:xfrm>
          <a:prstGeom prst="roundRect">
            <a:avLst>
              <a:gd name="adj" fmla="val 50000"/>
            </a:avLst>
          </a:prstGeom>
          <a:solidFill>
            <a:srgbClr val="38BDF8">
              <a:alpha val="15000"/>
            </a:srgbClr>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600" b="1">
                <a:solidFill>
                  <a:srgbClr val="F2F5FB"/>
                </a:solidFill>
                <a:latin typeface="Segoe UI"/>
              </a:rPr>
              <a:t>Management as code</a:t>
            </a:r>
          </a:p>
        </p:txBody>
      </p:sp>
      <p:sp>
        <p:nvSpPr>
          <p:cNvPr id="12" name="Layer 2"/>
          <p:cNvSpPr txBox="1"/>
          <p:nvPr/>
        </p:nvSpPr>
        <p:spPr>
          <a:xfrm>
            <a:off x="1016000" y="1841500"/>
            <a:ext cx="10160000" cy="254000"/>
          </a:xfrm>
          <a:prstGeom prst="rect">
            <a:avLst/>
          </a:prstGeom>
          <a:noFill/>
        </p:spPr>
        <p:txBody>
          <a:bodyPr wrap="square" lIns="0" tIns="0" rIns="0" bIns="0" anchor="t">
            <a:spAutoFit/>
          </a:bodyPr>
          <a:lstStyle/>
          <a:p>
            <a:pPr algn="l">
              <a:lnSpc>
                <a:spcPct val="115000"/>
              </a:lnSpc>
            </a:pPr>
            <a:r>
              <a:rPr sz="1500" b="1" spc="150">
                <a:solidFill>
                  <a:srgbClr val="F5A623"/>
                </a:solidFill>
                <a:latin typeface="Segoe UI"/>
              </a:rPr>
              <a:t>LAYER 2 · STANDARD “GOLDEN” COMPONENTS</a:t>
            </a:r>
          </a:p>
        </p:txBody>
      </p:sp>
      <p:grpSp>
        <p:nvGrpSpPr>
          <p:cNvPr id="16" name="Golden 1"/>
          <p:cNvGrpSpPr/>
          <p:nvPr/>
        </p:nvGrpSpPr>
        <p:grpSpPr>
          <a:xfrm>
            <a:off x="1047750" y="2286000"/>
            <a:ext cx="1968500" cy="1911350"/>
            <a:chOff x="1047750" y="2286000"/>
            <a:chExt cx="1968500" cy="1911350"/>
          </a:xfrm>
        </p:grpSpPr>
        <p:pic>
          <p:nvPicPr>
            <p:cNvPr id="13" name="Shape 11" descr="oda.png"/>
            <p:cNvPicPr>
              <a:picLocks noChangeAspect="1"/>
            </p:cNvPicPr>
            <p:nvPr/>
          </p:nvPicPr>
          <p:blipFill>
            <a:blip r:embed="rId4"/>
            <a:stretch>
              <a:fillRect/>
            </a:stretch>
          </p:blipFill>
          <p:spPr>
            <a:xfrm>
              <a:off x="1301750" y="2286000"/>
              <a:ext cx="1460500" cy="1379361"/>
            </a:xfrm>
            <a:prstGeom prst="rect">
              <a:avLst/>
            </a:prstGeom>
          </p:spPr>
        </p:pic>
        <p:sp>
          <p:nvSpPr>
            <p:cNvPr id="14" name="Shape 12"/>
            <p:cNvSpPr txBox="1"/>
            <p:nvPr/>
          </p:nvSpPr>
          <p:spPr>
            <a:xfrm>
              <a:off x="1047750" y="3714750"/>
              <a:ext cx="1968500" cy="2794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Product Catalog</a:t>
              </a:r>
            </a:p>
          </p:txBody>
        </p:sp>
        <p:sp>
          <p:nvSpPr>
            <p:cNvPr id="15" name="Shape 13"/>
            <p:cNvSpPr txBox="1"/>
            <p:nvPr/>
          </p:nvSpPr>
          <p:spPr>
            <a:xfrm>
              <a:off x="1111250" y="3981450"/>
              <a:ext cx="1841500" cy="215900"/>
            </a:xfrm>
            <a:prstGeom prst="rect">
              <a:avLst/>
            </a:prstGeom>
            <a:noFill/>
          </p:spPr>
          <p:txBody>
            <a:bodyPr wrap="square" lIns="0" tIns="0" rIns="0" bIns="0" anchor="t">
              <a:spAutoFit/>
            </a:bodyPr>
            <a:lstStyle/>
            <a:p>
              <a:pPr algn="ctr">
                <a:lnSpc>
                  <a:spcPct val="115000"/>
                </a:lnSpc>
              </a:pPr>
              <a:r>
                <a:rPr sz="1200" b="1">
                  <a:solidFill>
                    <a:srgbClr val="F5A623"/>
                  </a:solidFill>
                  <a:latin typeface="Segoe UI"/>
                </a:rPr>
                <a:t>TMFC001</a:t>
              </a:r>
            </a:p>
          </p:txBody>
        </p:sp>
      </p:grpSp>
      <p:grpSp>
        <p:nvGrpSpPr>
          <p:cNvPr id="20" name="Golden 2"/>
          <p:cNvGrpSpPr/>
          <p:nvPr/>
        </p:nvGrpSpPr>
        <p:grpSpPr>
          <a:xfrm>
            <a:off x="3092450" y="2286000"/>
            <a:ext cx="1968500" cy="1911350"/>
            <a:chOff x="3092450" y="2286000"/>
            <a:chExt cx="1968500" cy="1911350"/>
          </a:xfrm>
        </p:grpSpPr>
        <p:pic>
          <p:nvPicPr>
            <p:cNvPr id="17" name="Shape 15" descr="oda.png"/>
            <p:cNvPicPr>
              <a:picLocks noChangeAspect="1"/>
            </p:cNvPicPr>
            <p:nvPr/>
          </p:nvPicPr>
          <p:blipFill>
            <a:blip r:embed="rId4"/>
            <a:stretch>
              <a:fillRect/>
            </a:stretch>
          </p:blipFill>
          <p:spPr>
            <a:xfrm>
              <a:off x="3346450" y="2286000"/>
              <a:ext cx="1460500" cy="1379361"/>
            </a:xfrm>
            <a:prstGeom prst="rect">
              <a:avLst/>
            </a:prstGeom>
          </p:spPr>
        </p:pic>
        <p:sp>
          <p:nvSpPr>
            <p:cNvPr id="18" name="Shape 16"/>
            <p:cNvSpPr txBox="1"/>
            <p:nvPr/>
          </p:nvSpPr>
          <p:spPr>
            <a:xfrm>
              <a:off x="3092450" y="3714750"/>
              <a:ext cx="1968500" cy="2794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Product Order</a:t>
              </a:r>
            </a:p>
          </p:txBody>
        </p:sp>
        <p:sp>
          <p:nvSpPr>
            <p:cNvPr id="19" name="Shape 17"/>
            <p:cNvSpPr txBox="1"/>
            <p:nvPr/>
          </p:nvSpPr>
          <p:spPr>
            <a:xfrm>
              <a:off x="3155950" y="3981450"/>
              <a:ext cx="1841500" cy="215900"/>
            </a:xfrm>
            <a:prstGeom prst="rect">
              <a:avLst/>
            </a:prstGeom>
            <a:noFill/>
          </p:spPr>
          <p:txBody>
            <a:bodyPr wrap="square" lIns="0" tIns="0" rIns="0" bIns="0" anchor="t">
              <a:spAutoFit/>
            </a:bodyPr>
            <a:lstStyle/>
            <a:p>
              <a:pPr algn="ctr">
                <a:lnSpc>
                  <a:spcPct val="115000"/>
                </a:lnSpc>
              </a:pPr>
              <a:r>
                <a:rPr sz="1200" b="1">
                  <a:solidFill>
                    <a:srgbClr val="F5A623"/>
                  </a:solidFill>
                  <a:latin typeface="Segoe UI"/>
                </a:rPr>
                <a:t>TMFC002</a:t>
              </a:r>
            </a:p>
          </p:txBody>
        </p:sp>
      </p:grpSp>
      <p:grpSp>
        <p:nvGrpSpPr>
          <p:cNvPr id="24" name="Golden 3"/>
          <p:cNvGrpSpPr/>
          <p:nvPr/>
        </p:nvGrpSpPr>
        <p:grpSpPr>
          <a:xfrm>
            <a:off x="5137150" y="2286000"/>
            <a:ext cx="1968500" cy="1911350"/>
            <a:chOff x="5137150" y="2286000"/>
            <a:chExt cx="1968500" cy="1911350"/>
          </a:xfrm>
        </p:grpSpPr>
        <p:pic>
          <p:nvPicPr>
            <p:cNvPr id="21" name="Shape 19" descr="oda.png"/>
            <p:cNvPicPr>
              <a:picLocks noChangeAspect="1"/>
            </p:cNvPicPr>
            <p:nvPr/>
          </p:nvPicPr>
          <p:blipFill>
            <a:blip r:embed="rId4"/>
            <a:stretch>
              <a:fillRect/>
            </a:stretch>
          </p:blipFill>
          <p:spPr>
            <a:xfrm>
              <a:off x="5391150" y="2286000"/>
              <a:ext cx="1460500" cy="1379361"/>
            </a:xfrm>
            <a:prstGeom prst="rect">
              <a:avLst/>
            </a:prstGeom>
          </p:spPr>
        </p:pic>
        <p:sp>
          <p:nvSpPr>
            <p:cNvPr id="22" name="Shape 20"/>
            <p:cNvSpPr txBox="1"/>
            <p:nvPr/>
          </p:nvSpPr>
          <p:spPr>
            <a:xfrm>
              <a:off x="5137150" y="3714750"/>
              <a:ext cx="1968500" cy="2794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Product Inventory</a:t>
              </a:r>
            </a:p>
          </p:txBody>
        </p:sp>
        <p:sp>
          <p:nvSpPr>
            <p:cNvPr id="23" name="Shape 21"/>
            <p:cNvSpPr txBox="1"/>
            <p:nvPr/>
          </p:nvSpPr>
          <p:spPr>
            <a:xfrm>
              <a:off x="5200650" y="3981450"/>
              <a:ext cx="1841500" cy="215900"/>
            </a:xfrm>
            <a:prstGeom prst="rect">
              <a:avLst/>
            </a:prstGeom>
            <a:noFill/>
          </p:spPr>
          <p:txBody>
            <a:bodyPr wrap="square" lIns="0" tIns="0" rIns="0" bIns="0" anchor="t">
              <a:spAutoFit/>
            </a:bodyPr>
            <a:lstStyle/>
            <a:p>
              <a:pPr algn="ctr">
                <a:lnSpc>
                  <a:spcPct val="115000"/>
                </a:lnSpc>
              </a:pPr>
              <a:r>
                <a:rPr sz="1200" b="1">
                  <a:solidFill>
                    <a:srgbClr val="F5A623"/>
                  </a:solidFill>
                  <a:latin typeface="Segoe UI"/>
                </a:rPr>
                <a:t>TMFC005</a:t>
              </a:r>
            </a:p>
          </p:txBody>
        </p:sp>
      </p:grpSp>
      <p:grpSp>
        <p:nvGrpSpPr>
          <p:cNvPr id="28" name="Golden 4"/>
          <p:cNvGrpSpPr/>
          <p:nvPr/>
        </p:nvGrpSpPr>
        <p:grpSpPr>
          <a:xfrm>
            <a:off x="7181850" y="2286000"/>
            <a:ext cx="1968500" cy="1911350"/>
            <a:chOff x="7181850" y="2286000"/>
            <a:chExt cx="1968500" cy="1911350"/>
          </a:xfrm>
        </p:grpSpPr>
        <p:pic>
          <p:nvPicPr>
            <p:cNvPr id="25" name="Shape 23" descr="oda.png"/>
            <p:cNvPicPr>
              <a:picLocks noChangeAspect="1"/>
            </p:cNvPicPr>
            <p:nvPr/>
          </p:nvPicPr>
          <p:blipFill>
            <a:blip r:embed="rId4"/>
            <a:stretch>
              <a:fillRect/>
            </a:stretch>
          </p:blipFill>
          <p:spPr>
            <a:xfrm>
              <a:off x="7435850" y="2286000"/>
              <a:ext cx="1460500" cy="1379361"/>
            </a:xfrm>
            <a:prstGeom prst="rect">
              <a:avLst/>
            </a:prstGeom>
          </p:spPr>
        </p:pic>
        <p:sp>
          <p:nvSpPr>
            <p:cNvPr id="26" name="Shape 24"/>
            <p:cNvSpPr txBox="1"/>
            <p:nvPr/>
          </p:nvSpPr>
          <p:spPr>
            <a:xfrm>
              <a:off x="7181850" y="3714750"/>
              <a:ext cx="1968500" cy="2794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Bill Calculation</a:t>
              </a:r>
            </a:p>
          </p:txBody>
        </p:sp>
        <p:sp>
          <p:nvSpPr>
            <p:cNvPr id="27" name="Shape 25"/>
            <p:cNvSpPr txBox="1"/>
            <p:nvPr/>
          </p:nvSpPr>
          <p:spPr>
            <a:xfrm>
              <a:off x="7245350" y="3981450"/>
              <a:ext cx="1841500" cy="215900"/>
            </a:xfrm>
            <a:prstGeom prst="rect">
              <a:avLst/>
            </a:prstGeom>
            <a:noFill/>
          </p:spPr>
          <p:txBody>
            <a:bodyPr wrap="square" lIns="0" tIns="0" rIns="0" bIns="0" anchor="t">
              <a:spAutoFit/>
            </a:bodyPr>
            <a:lstStyle/>
            <a:p>
              <a:pPr algn="ctr">
                <a:lnSpc>
                  <a:spcPct val="115000"/>
                </a:lnSpc>
              </a:pPr>
              <a:r>
                <a:rPr sz="1200" b="1">
                  <a:solidFill>
                    <a:srgbClr val="F5A623"/>
                  </a:solidFill>
                  <a:latin typeface="Segoe UI"/>
                </a:rPr>
                <a:t>TMFC031</a:t>
              </a:r>
            </a:p>
          </p:txBody>
        </p:sp>
      </p:grpSp>
      <p:grpSp>
        <p:nvGrpSpPr>
          <p:cNvPr id="32" name="Golden 5"/>
          <p:cNvGrpSpPr/>
          <p:nvPr/>
        </p:nvGrpSpPr>
        <p:grpSpPr>
          <a:xfrm>
            <a:off x="9226550" y="2286000"/>
            <a:ext cx="1968500" cy="1911350"/>
            <a:chOff x="9226550" y="2286000"/>
            <a:chExt cx="1968500" cy="1911350"/>
          </a:xfrm>
        </p:grpSpPr>
        <p:pic>
          <p:nvPicPr>
            <p:cNvPr id="29" name="Shape 27" descr="oda.png"/>
            <p:cNvPicPr>
              <a:picLocks noChangeAspect="1"/>
            </p:cNvPicPr>
            <p:nvPr/>
          </p:nvPicPr>
          <p:blipFill>
            <a:blip r:embed="rId4"/>
            <a:stretch>
              <a:fillRect/>
            </a:stretch>
          </p:blipFill>
          <p:spPr>
            <a:xfrm>
              <a:off x="9480550" y="2286000"/>
              <a:ext cx="1460500" cy="1379361"/>
            </a:xfrm>
            <a:prstGeom prst="rect">
              <a:avLst/>
            </a:prstGeom>
          </p:spPr>
        </p:pic>
        <p:sp>
          <p:nvSpPr>
            <p:cNvPr id="30" name="Shape 28"/>
            <p:cNvSpPr txBox="1"/>
            <p:nvPr/>
          </p:nvSpPr>
          <p:spPr>
            <a:xfrm>
              <a:off x="9226550" y="3714750"/>
              <a:ext cx="1968500" cy="2794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Fault Management</a:t>
              </a:r>
            </a:p>
          </p:txBody>
        </p:sp>
        <p:sp>
          <p:nvSpPr>
            <p:cNvPr id="31" name="Shape 29"/>
            <p:cNvSpPr txBox="1"/>
            <p:nvPr/>
          </p:nvSpPr>
          <p:spPr>
            <a:xfrm>
              <a:off x="9290050" y="3981450"/>
              <a:ext cx="1841500" cy="215900"/>
            </a:xfrm>
            <a:prstGeom prst="rect">
              <a:avLst/>
            </a:prstGeom>
            <a:noFill/>
          </p:spPr>
          <p:txBody>
            <a:bodyPr wrap="square" lIns="0" tIns="0" rIns="0" bIns="0" anchor="t">
              <a:spAutoFit/>
            </a:bodyPr>
            <a:lstStyle/>
            <a:p>
              <a:pPr algn="ctr">
                <a:lnSpc>
                  <a:spcPct val="115000"/>
                </a:lnSpc>
              </a:pPr>
              <a:r>
                <a:rPr sz="1200" b="1">
                  <a:solidFill>
                    <a:srgbClr val="F5A623"/>
                  </a:solidFill>
                  <a:latin typeface="Segoe UI"/>
                </a:rPr>
                <a:t>TMFC043</a:t>
              </a:r>
            </a:p>
          </p:txBody>
        </p:sp>
      </p:grpSp>
      <p:sp>
        <p:nvSpPr>
          <p:cNvPr id="33" name="Directory">
            <a:hlinkClick r:id="rId5"/>
          </p:cNvPr>
          <p:cNvSpPr/>
          <p:nvPr/>
        </p:nvSpPr>
        <p:spPr>
          <a:xfrm>
            <a:off x="7493000" y="6210300"/>
            <a:ext cx="2946400" cy="330200"/>
          </a:xfrm>
          <a:prstGeom prst="roundRect">
            <a:avLst>
              <a:gd name="adj" fmla="val 50000"/>
            </a:avLst>
          </a:prstGeom>
          <a:solidFill>
            <a:srgbClr val="E6007E">
              <a:alpha val="15000"/>
            </a:srgbClr>
          </a:solidFill>
          <a:ln w="127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500" b="1">
                <a:solidFill>
                  <a:srgbClr val="F2F5FB"/>
                </a:solidFill>
                <a:latin typeface="Segoe UI"/>
              </a:rPr>
              <a:t>tmforum.org/oda/directory</a:t>
            </a:r>
          </a:p>
        </p:txBody>
      </p:sp>
    </p:spTree>
  </p:cSld>
  <p:clrMapOvr>
    <a:masterClrMapping/>
  </p:clrMapOvr>
  <mc:AlternateContent xmlns:mc="http://schemas.openxmlformats.org/markup-compatibility/2006">
    <mc:Choice xmlns:p14="http://schemas.microsoft.com/office/powerpoint/2010/main" Requires="p14">
      <p:transition spd="slow" p14:dur="2000" advTm="25100"/>
    </mc:Choice>
    <mc:Fallback>
      <p:transition spd="slow" advTm="25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26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800" fill="hold"/>
                                        <p:tgtEl>
                                          <p:spTgt spid="8"/>
                                        </p:tgtEl>
                                        <p:attrNameLst>
                                          <p:attrName>ppt_x</p:attrName>
                                        </p:attrNameLst>
                                      </p:cBhvr>
                                      <p:tavLst>
                                        <p:tav tm="0">
                                          <p:val>
                                            <p:strVal val="#ppt_x"/>
                                          </p:val>
                                        </p:tav>
                                        <p:tav tm="100000">
                                          <p:val>
                                            <p:strVal val="#ppt_x"/>
                                          </p:val>
                                        </p:tav>
                                      </p:tavLst>
                                    </p:anim>
                                    <p:anim calcmode="lin" valueType="num">
                                      <p:cBhvr additive="base">
                                        <p:cTn id="14" dur="8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420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600" fill="hold"/>
                                        <p:tgtEl>
                                          <p:spTgt spid="9"/>
                                        </p:tgtEl>
                                        <p:attrNameLst>
                                          <p:attrName>ppt_x</p:attrName>
                                        </p:attrNameLst>
                                      </p:cBhvr>
                                      <p:tavLst>
                                        <p:tav tm="0">
                                          <p:val>
                                            <p:strVal val="#ppt_x"/>
                                          </p:val>
                                        </p:tav>
                                        <p:tav tm="100000">
                                          <p:val>
                                            <p:strVal val="#ppt_x"/>
                                          </p:val>
                                        </p:tav>
                                      </p:tavLst>
                                    </p:anim>
                                    <p:anim calcmode="lin" valueType="num">
                                      <p:cBhvr additive="base">
                                        <p:cTn id="18" dur="6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76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600" fill="hold"/>
                                        <p:tgtEl>
                                          <p:spTgt spid="10"/>
                                        </p:tgtEl>
                                        <p:attrNameLst>
                                          <p:attrName>ppt_x</p:attrName>
                                        </p:attrNameLst>
                                      </p:cBhvr>
                                      <p:tavLst>
                                        <p:tav tm="0">
                                          <p:val>
                                            <p:strVal val="#ppt_x"/>
                                          </p:val>
                                        </p:tav>
                                        <p:tav tm="100000">
                                          <p:val>
                                            <p:strVal val="#ppt_x"/>
                                          </p:val>
                                        </p:tav>
                                      </p:tavLst>
                                    </p:anim>
                                    <p:anim calcmode="lin" valueType="num">
                                      <p:cBhvr additive="base">
                                        <p:cTn id="22" dur="6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900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600" fill="hold"/>
                                        <p:tgtEl>
                                          <p:spTgt spid="11"/>
                                        </p:tgtEl>
                                        <p:attrNameLst>
                                          <p:attrName>ppt_x</p:attrName>
                                        </p:attrNameLst>
                                      </p:cBhvr>
                                      <p:tavLst>
                                        <p:tav tm="0">
                                          <p:val>
                                            <p:strVal val="#ppt_x"/>
                                          </p:val>
                                        </p:tav>
                                        <p:tav tm="100000">
                                          <p:val>
                                            <p:strVal val="#ppt_x"/>
                                          </p:val>
                                        </p:tav>
                                      </p:tavLst>
                                    </p:anim>
                                    <p:anim calcmode="lin" valueType="num">
                                      <p:cBhvr additive="base">
                                        <p:cTn id="26" dur="600" fill="hold"/>
                                        <p:tgtEl>
                                          <p:spTgt spid="11"/>
                                        </p:tgtEl>
                                        <p:attrNameLst>
                                          <p:attrName>ppt_y</p:attrName>
                                        </p:attrNameLst>
                                      </p:cBhvr>
                                      <p:tavLst>
                                        <p:tav tm="0">
                                          <p:val>
                                            <p:strVal val="1+#ppt_h/2"/>
                                          </p:val>
                                        </p:tav>
                                        <p:tav tm="100000">
                                          <p:val>
                                            <p:strVal val="#ppt_y"/>
                                          </p:val>
                                        </p:tav>
                                      </p:tavLst>
                                    </p:anim>
                                  </p:childTnLst>
                                </p:cTn>
                              </p:par>
                              <p:par>
                                <p:cTn id="27" presetID="10" presetClass="entr" presetSubtype="0" fill="hold" grpId="0" nodeType="withEffect">
                                  <p:stCondLst>
                                    <p:cond delay="1100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600"/>
                                        <p:tgtEl>
                                          <p:spTgt spid="12"/>
                                        </p:tgtEl>
                                      </p:cBhvr>
                                    </p:animEffect>
                                  </p:childTnLst>
                                </p:cTn>
                              </p:par>
                              <p:par>
                                <p:cTn id="30" presetID="2" presetClass="entr" presetSubtype="4" fill="hold" nodeType="withEffect">
                                  <p:stCondLst>
                                    <p:cond delay="1220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700" fill="hold"/>
                                        <p:tgtEl>
                                          <p:spTgt spid="16"/>
                                        </p:tgtEl>
                                        <p:attrNameLst>
                                          <p:attrName>ppt_x</p:attrName>
                                        </p:attrNameLst>
                                      </p:cBhvr>
                                      <p:tavLst>
                                        <p:tav tm="0">
                                          <p:val>
                                            <p:strVal val="#ppt_x"/>
                                          </p:val>
                                        </p:tav>
                                        <p:tav tm="100000">
                                          <p:val>
                                            <p:strVal val="#ppt_x"/>
                                          </p:val>
                                        </p:tav>
                                      </p:tavLst>
                                    </p:anim>
                                    <p:anim calcmode="lin" valueType="num">
                                      <p:cBhvr additive="base">
                                        <p:cTn id="33" dur="700" fill="hold"/>
                                        <p:tgtEl>
                                          <p:spTgt spid="16"/>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1310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700" fill="hold"/>
                                        <p:tgtEl>
                                          <p:spTgt spid="20"/>
                                        </p:tgtEl>
                                        <p:attrNameLst>
                                          <p:attrName>ppt_x</p:attrName>
                                        </p:attrNameLst>
                                      </p:cBhvr>
                                      <p:tavLst>
                                        <p:tav tm="0">
                                          <p:val>
                                            <p:strVal val="#ppt_x"/>
                                          </p:val>
                                        </p:tav>
                                        <p:tav tm="100000">
                                          <p:val>
                                            <p:strVal val="#ppt_x"/>
                                          </p:val>
                                        </p:tav>
                                      </p:tavLst>
                                    </p:anim>
                                    <p:anim calcmode="lin" valueType="num">
                                      <p:cBhvr additive="base">
                                        <p:cTn id="37" dur="700" fill="hold"/>
                                        <p:tgtEl>
                                          <p:spTgt spid="20"/>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14000"/>
                                  </p:stCondLst>
                                  <p:childTnLst>
                                    <p:set>
                                      <p:cBhvr>
                                        <p:cTn id="39" dur="1" fill="hold">
                                          <p:stCondLst>
                                            <p:cond delay="0"/>
                                          </p:stCondLst>
                                        </p:cTn>
                                        <p:tgtEl>
                                          <p:spTgt spid="24"/>
                                        </p:tgtEl>
                                        <p:attrNameLst>
                                          <p:attrName>style.visibility</p:attrName>
                                        </p:attrNameLst>
                                      </p:cBhvr>
                                      <p:to>
                                        <p:strVal val="visible"/>
                                      </p:to>
                                    </p:set>
                                    <p:anim calcmode="lin" valueType="num">
                                      <p:cBhvr additive="base">
                                        <p:cTn id="40" dur="700" fill="hold"/>
                                        <p:tgtEl>
                                          <p:spTgt spid="24"/>
                                        </p:tgtEl>
                                        <p:attrNameLst>
                                          <p:attrName>ppt_x</p:attrName>
                                        </p:attrNameLst>
                                      </p:cBhvr>
                                      <p:tavLst>
                                        <p:tav tm="0">
                                          <p:val>
                                            <p:strVal val="#ppt_x"/>
                                          </p:val>
                                        </p:tav>
                                        <p:tav tm="100000">
                                          <p:val>
                                            <p:strVal val="#ppt_x"/>
                                          </p:val>
                                        </p:tav>
                                      </p:tavLst>
                                    </p:anim>
                                    <p:anim calcmode="lin" valueType="num">
                                      <p:cBhvr additive="base">
                                        <p:cTn id="41" dur="700" fill="hold"/>
                                        <p:tgtEl>
                                          <p:spTgt spid="24"/>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14900"/>
                                  </p:stCondLst>
                                  <p:childTnLst>
                                    <p:set>
                                      <p:cBhvr>
                                        <p:cTn id="43" dur="1" fill="hold">
                                          <p:stCondLst>
                                            <p:cond delay="0"/>
                                          </p:stCondLst>
                                        </p:cTn>
                                        <p:tgtEl>
                                          <p:spTgt spid="28"/>
                                        </p:tgtEl>
                                        <p:attrNameLst>
                                          <p:attrName>style.visibility</p:attrName>
                                        </p:attrNameLst>
                                      </p:cBhvr>
                                      <p:to>
                                        <p:strVal val="visible"/>
                                      </p:to>
                                    </p:set>
                                    <p:anim calcmode="lin" valueType="num">
                                      <p:cBhvr additive="base">
                                        <p:cTn id="44" dur="700" fill="hold"/>
                                        <p:tgtEl>
                                          <p:spTgt spid="28"/>
                                        </p:tgtEl>
                                        <p:attrNameLst>
                                          <p:attrName>ppt_x</p:attrName>
                                        </p:attrNameLst>
                                      </p:cBhvr>
                                      <p:tavLst>
                                        <p:tav tm="0">
                                          <p:val>
                                            <p:strVal val="#ppt_x"/>
                                          </p:val>
                                        </p:tav>
                                        <p:tav tm="100000">
                                          <p:val>
                                            <p:strVal val="#ppt_x"/>
                                          </p:val>
                                        </p:tav>
                                      </p:tavLst>
                                    </p:anim>
                                    <p:anim calcmode="lin" valueType="num">
                                      <p:cBhvr additive="base">
                                        <p:cTn id="45" dur="700" fill="hold"/>
                                        <p:tgtEl>
                                          <p:spTgt spid="28"/>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15800"/>
                                  </p:stCondLst>
                                  <p:childTnLst>
                                    <p:set>
                                      <p:cBhvr>
                                        <p:cTn id="47" dur="1" fill="hold">
                                          <p:stCondLst>
                                            <p:cond delay="0"/>
                                          </p:stCondLst>
                                        </p:cTn>
                                        <p:tgtEl>
                                          <p:spTgt spid="32"/>
                                        </p:tgtEl>
                                        <p:attrNameLst>
                                          <p:attrName>style.visibility</p:attrName>
                                        </p:attrNameLst>
                                      </p:cBhvr>
                                      <p:to>
                                        <p:strVal val="visible"/>
                                      </p:to>
                                    </p:set>
                                    <p:anim calcmode="lin" valueType="num">
                                      <p:cBhvr additive="base">
                                        <p:cTn id="48" dur="700" fill="hold"/>
                                        <p:tgtEl>
                                          <p:spTgt spid="32"/>
                                        </p:tgtEl>
                                        <p:attrNameLst>
                                          <p:attrName>ppt_x</p:attrName>
                                        </p:attrNameLst>
                                      </p:cBhvr>
                                      <p:tavLst>
                                        <p:tav tm="0">
                                          <p:val>
                                            <p:strVal val="#ppt_x"/>
                                          </p:val>
                                        </p:tav>
                                        <p:tav tm="100000">
                                          <p:val>
                                            <p:strVal val="#ppt_x"/>
                                          </p:val>
                                        </p:tav>
                                      </p:tavLst>
                                    </p:anim>
                                    <p:anim calcmode="lin" valueType="num">
                                      <p:cBhvr additive="base">
                                        <p:cTn id="49" dur="700" fill="hold"/>
                                        <p:tgtEl>
                                          <p:spTgt spid="32"/>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19800"/>
                                  </p:stCondLst>
                                  <p:childTnLst>
                                    <p:set>
                                      <p:cBhvr>
                                        <p:cTn id="51" dur="1" fill="hold">
                                          <p:stCondLst>
                                            <p:cond delay="0"/>
                                          </p:stCondLst>
                                        </p:cTn>
                                        <p:tgtEl>
                                          <p:spTgt spid="33"/>
                                        </p:tgtEl>
                                        <p:attrNameLst>
                                          <p:attrName>style.visibility</p:attrName>
                                        </p:attrNameLst>
                                      </p:cBhvr>
                                      <p:to>
                                        <p:strVal val="visible"/>
                                      </p:to>
                                    </p:set>
                                    <p:anim calcmode="lin" valueType="num">
                                      <p:cBhvr additive="base">
                                        <p:cTn id="52" dur="600" fill="hold"/>
                                        <p:tgtEl>
                                          <p:spTgt spid="33"/>
                                        </p:tgtEl>
                                        <p:attrNameLst>
                                          <p:attrName>ppt_x</p:attrName>
                                        </p:attrNameLst>
                                      </p:cBhvr>
                                      <p:tavLst>
                                        <p:tav tm="0">
                                          <p:val>
                                            <p:strVal val="#ppt_x"/>
                                          </p:val>
                                        </p:tav>
                                        <p:tav tm="100000">
                                          <p:val>
                                            <p:strVal val="#ppt_x"/>
                                          </p:val>
                                        </p:tav>
                                      </p:tavLst>
                                    </p:anim>
                                    <p:anim calcmode="lin" valueType="num">
                                      <p:cBhvr additive="base">
                                        <p:cTn id="53" dur="6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animBg="1"/>
      <p:bldP spid="10" grpId="0" animBg="1"/>
      <p:bldP spid="11" grpId="0" animBg="1"/>
      <p:bldP spid="12" grpId="0"/>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demo: the ODA Component Directory</a:t>
            </a:r>
          </a:p>
        </p:txBody>
      </p:sp>
      <p:pic>
        <p:nvPicPr>
          <p:cNvPr id="3" name="Clip 1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300"/>
    </mc:Choice>
    <mc:Fallback>
      <p:transition spd="slow" advTm="3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component YAML</a:t>
            </a:r>
          </a:p>
        </p:txBody>
      </p:sp>
      <p:pic>
        <p:nvPicPr>
          <p:cNvPr id="3" name="Clip 1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100"/>
    </mc:Choice>
    <mc:Fallback>
      <p:transition spd="slow" advTm="2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Canvas as a set of operators</a:t>
            </a:r>
          </a:p>
        </p:txBody>
      </p:sp>
      <p:pic>
        <p:nvPicPr>
          <p:cNvPr id="3" name="Clip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500"/>
    </mc:Choice>
    <mc:Fallback>
      <p:transition spd="slow" advTm="2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Worked example: API exposure</a:t>
            </a:r>
          </a:p>
        </p:txBody>
      </p:sp>
      <p:pic>
        <p:nvPicPr>
          <p:cNvPr id="3" name="Clip 1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300"/>
    </mc:Choice>
    <mc:Fallback>
      <p:transition spd="slow" advTm="4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9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demo: the component inventory</a:t>
            </a:r>
          </a:p>
        </p:txBody>
      </p:sp>
      <p:pic>
        <p:nvPicPr>
          <p:cNvPr id="3" name="Clip 2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900"/>
    </mc:Choice>
    <mc:Fallback>
      <p:transition spd="slow" advTm="1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demo: deploying a component</a:t>
            </a:r>
          </a:p>
        </p:txBody>
      </p:sp>
      <p:pic>
        <p:nvPicPr>
          <p:cNvPr id="3" name="Clip 2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300"/>
    </mc:Choice>
    <mc:Fallback>
      <p:transition spd="slow" advTm="2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Identity configuration</a:t>
            </a:r>
          </a:p>
        </p:txBody>
      </p:sp>
      <p:pic>
        <p:nvPicPr>
          <p:cNvPr id="3" name="Clip 2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900"/>
    </mc:Choice>
    <mc:Fallback>
      <p:transition spd="slow" advTm="2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Observability</a:t>
            </a:r>
          </a:p>
        </p:txBody>
      </p:sp>
      <p:pic>
        <p:nvPicPr>
          <p:cNvPr id="3" name="Clip 2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100"/>
    </mc:Choice>
    <mc:Fallback>
      <p:transition spd="slow" advTm="3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2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Available today, experimental, planned</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WHERE THINGS STAND</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Available · experimental · planned</a:t>
            </a:r>
          </a:p>
        </p:txBody>
      </p:sp>
      <p:grpSp>
        <p:nvGrpSpPr>
          <p:cNvPr id="8" name="Available header"/>
          <p:cNvGrpSpPr/>
          <p:nvPr/>
        </p:nvGrpSpPr>
        <p:grpSpPr>
          <a:xfrm>
            <a:off x="762000" y="1485900"/>
            <a:ext cx="3403600" cy="317500"/>
            <a:chOff x="762000" y="1485900"/>
            <a:chExt cx="3403600" cy="317500"/>
          </a:xfrm>
        </p:grpSpPr>
        <p:pic>
          <p:nvPicPr>
            <p:cNvPr id="6" name="Shape 4" descr="icon-check-22c55e.png"/>
            <p:cNvPicPr>
              <a:picLocks noChangeAspect="1"/>
            </p:cNvPicPr>
            <p:nvPr/>
          </p:nvPicPr>
          <p:blipFill>
            <a:blip r:embed="rId4"/>
            <a:stretch>
              <a:fillRect/>
            </a:stretch>
          </p:blipFill>
          <p:spPr>
            <a:xfrm>
              <a:off x="762000" y="1498600"/>
              <a:ext cx="279400" cy="279400"/>
            </a:xfrm>
            <a:prstGeom prst="rect">
              <a:avLst/>
            </a:prstGeom>
          </p:spPr>
        </p:pic>
        <p:sp>
          <p:nvSpPr>
            <p:cNvPr id="7" name="Shape 5"/>
            <p:cNvSpPr txBox="1"/>
            <p:nvPr/>
          </p:nvSpPr>
          <p:spPr>
            <a:xfrm>
              <a:off x="1117600" y="1485900"/>
              <a:ext cx="3048000" cy="317500"/>
            </a:xfrm>
            <a:prstGeom prst="rect">
              <a:avLst/>
            </a:prstGeom>
            <a:noFill/>
          </p:spPr>
          <p:txBody>
            <a:bodyPr wrap="square" lIns="0" tIns="0" rIns="0" bIns="0" anchor="t">
              <a:spAutoFit/>
            </a:bodyPr>
            <a:lstStyle/>
            <a:p>
              <a:pPr algn="l">
                <a:lnSpc>
                  <a:spcPct val="115000"/>
                </a:lnSpc>
              </a:pPr>
              <a:r>
                <a:rPr sz="1700" b="1">
                  <a:solidFill>
                    <a:srgbClr val="22C55E"/>
                  </a:solidFill>
                  <a:latin typeface="Segoe UI"/>
                </a:rPr>
                <a:t>Available today</a:t>
              </a:r>
            </a:p>
          </p:txBody>
        </p:sp>
      </p:grpSp>
      <p:grpSp>
        <p:nvGrpSpPr>
          <p:cNvPr id="12" name="Available 1"/>
          <p:cNvGrpSpPr/>
          <p:nvPr/>
        </p:nvGrpSpPr>
        <p:grpSpPr>
          <a:xfrm>
            <a:off x="762000" y="1968500"/>
            <a:ext cx="3429000" cy="381000"/>
            <a:chOff x="762000" y="1968500"/>
            <a:chExt cx="3429000" cy="381000"/>
          </a:xfrm>
        </p:grpSpPr>
        <p:sp>
          <p:nvSpPr>
            <p:cNvPr id="9" name="Shape 7"/>
            <p:cNvSpPr/>
            <p:nvPr/>
          </p:nvSpPr>
          <p:spPr>
            <a:xfrm>
              <a:off x="762000" y="1968500"/>
              <a:ext cx="3429000" cy="381000"/>
            </a:xfrm>
            <a:prstGeom prst="roundRect">
              <a:avLst>
                <a:gd name="adj" fmla="val 20000"/>
              </a:avLst>
            </a:prstGeom>
            <a:solidFill>
              <a:srgbClr val="1FC7A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hape 8"/>
            <p:cNvSpPr/>
            <p:nvPr/>
          </p:nvSpPr>
          <p:spPr>
            <a:xfrm>
              <a:off x="762000" y="1968500"/>
              <a:ext cx="50800" cy="381000"/>
            </a:xfrm>
            <a:prstGeom prst="rect">
              <a:avLst/>
            </a:prstGeom>
            <a:solidFill>
              <a:srgbClr val="1FC7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Shape 9"/>
            <p:cNvSpPr txBox="1"/>
            <p:nvPr/>
          </p:nvSpPr>
          <p:spPr>
            <a:xfrm>
              <a:off x="927100" y="19685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Component Management</a:t>
              </a:r>
            </a:p>
          </p:txBody>
        </p:sp>
      </p:grpSp>
      <p:grpSp>
        <p:nvGrpSpPr>
          <p:cNvPr id="16" name="Available 2"/>
          <p:cNvGrpSpPr/>
          <p:nvPr/>
        </p:nvGrpSpPr>
        <p:grpSpPr>
          <a:xfrm>
            <a:off x="762000" y="2425700"/>
            <a:ext cx="3429000" cy="381000"/>
            <a:chOff x="762000" y="2425700"/>
            <a:chExt cx="3429000" cy="381000"/>
          </a:xfrm>
        </p:grpSpPr>
        <p:sp>
          <p:nvSpPr>
            <p:cNvPr id="13" name="Shape 11"/>
            <p:cNvSpPr/>
            <p:nvPr/>
          </p:nvSpPr>
          <p:spPr>
            <a:xfrm>
              <a:off x="762000" y="2425700"/>
              <a:ext cx="3429000" cy="381000"/>
            </a:xfrm>
            <a:prstGeom prst="roundRect">
              <a:avLst>
                <a:gd name="adj" fmla="val 20000"/>
              </a:avLst>
            </a:prstGeom>
            <a:solidFill>
              <a:srgbClr val="8B6C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Shape 12"/>
            <p:cNvSpPr/>
            <p:nvPr/>
          </p:nvSpPr>
          <p:spPr>
            <a:xfrm>
              <a:off x="762000" y="2425700"/>
              <a:ext cx="50800" cy="381000"/>
            </a:xfrm>
            <a:prstGeom prst="rect">
              <a:avLst/>
            </a:prstGeom>
            <a:solidFill>
              <a:srgbClr val="8B6C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Shape 13"/>
            <p:cNvSpPr txBox="1"/>
            <p:nvPr/>
          </p:nvSpPr>
          <p:spPr>
            <a:xfrm>
              <a:off x="927100" y="24257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API Management</a:t>
              </a:r>
            </a:p>
          </p:txBody>
        </p:sp>
      </p:grpSp>
      <p:grpSp>
        <p:nvGrpSpPr>
          <p:cNvPr id="20" name="Available 3"/>
          <p:cNvGrpSpPr/>
          <p:nvPr/>
        </p:nvGrpSpPr>
        <p:grpSpPr>
          <a:xfrm>
            <a:off x="762000" y="2882900"/>
            <a:ext cx="3429000" cy="381000"/>
            <a:chOff x="762000" y="2882900"/>
            <a:chExt cx="3429000" cy="381000"/>
          </a:xfrm>
        </p:grpSpPr>
        <p:sp>
          <p:nvSpPr>
            <p:cNvPr id="17" name="Shape 15"/>
            <p:cNvSpPr/>
            <p:nvPr/>
          </p:nvSpPr>
          <p:spPr>
            <a:xfrm>
              <a:off x="762000" y="2882900"/>
              <a:ext cx="3429000" cy="381000"/>
            </a:xfrm>
            <a:prstGeom prst="roundRect">
              <a:avLst>
                <a:gd name="adj" fmla="val 20000"/>
              </a:avLst>
            </a:prstGeom>
            <a:solidFill>
              <a:srgbClr val="FF6B6B">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hape 16"/>
            <p:cNvSpPr/>
            <p:nvPr/>
          </p:nvSpPr>
          <p:spPr>
            <a:xfrm>
              <a:off x="762000" y="2882900"/>
              <a:ext cx="50800" cy="3810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hape 17"/>
            <p:cNvSpPr txBox="1"/>
            <p:nvPr/>
          </p:nvSpPr>
          <p:spPr>
            <a:xfrm>
              <a:off x="927100" y="28829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Identity Config</a:t>
              </a:r>
            </a:p>
          </p:txBody>
        </p:sp>
      </p:grpSp>
      <p:grpSp>
        <p:nvGrpSpPr>
          <p:cNvPr id="24" name="Available 4"/>
          <p:cNvGrpSpPr/>
          <p:nvPr/>
        </p:nvGrpSpPr>
        <p:grpSpPr>
          <a:xfrm>
            <a:off x="762000" y="3340100"/>
            <a:ext cx="3429000" cy="381000"/>
            <a:chOff x="762000" y="3340100"/>
            <a:chExt cx="3429000" cy="381000"/>
          </a:xfrm>
        </p:grpSpPr>
        <p:sp>
          <p:nvSpPr>
            <p:cNvPr id="21" name="Shape 19"/>
            <p:cNvSpPr/>
            <p:nvPr/>
          </p:nvSpPr>
          <p:spPr>
            <a:xfrm>
              <a:off x="762000" y="3340100"/>
              <a:ext cx="3429000" cy="381000"/>
            </a:xfrm>
            <a:prstGeom prst="roundRect">
              <a:avLst>
                <a:gd name="adj" fmla="val 20000"/>
              </a:avLst>
            </a:prstGeom>
            <a:solidFill>
              <a:srgbClr val="FF6B6B">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Shape 20"/>
            <p:cNvSpPr/>
            <p:nvPr/>
          </p:nvSpPr>
          <p:spPr>
            <a:xfrm>
              <a:off x="762000" y="3340100"/>
              <a:ext cx="50800" cy="3810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Shape 21"/>
            <p:cNvSpPr txBox="1"/>
            <p:nvPr/>
          </p:nvSpPr>
          <p:spPr>
            <a:xfrm>
              <a:off x="927100" y="33401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Credentials Management</a:t>
              </a:r>
            </a:p>
          </p:txBody>
        </p:sp>
      </p:grpSp>
      <p:grpSp>
        <p:nvGrpSpPr>
          <p:cNvPr id="28" name="Available 5"/>
          <p:cNvGrpSpPr/>
          <p:nvPr/>
        </p:nvGrpSpPr>
        <p:grpSpPr>
          <a:xfrm>
            <a:off x="762000" y="3797300"/>
            <a:ext cx="3429000" cy="381000"/>
            <a:chOff x="762000" y="3797300"/>
            <a:chExt cx="3429000" cy="381000"/>
          </a:xfrm>
        </p:grpSpPr>
        <p:sp>
          <p:nvSpPr>
            <p:cNvPr id="25" name="Shape 23"/>
            <p:cNvSpPr/>
            <p:nvPr/>
          </p:nvSpPr>
          <p:spPr>
            <a:xfrm>
              <a:off x="762000" y="3797300"/>
              <a:ext cx="3429000" cy="381000"/>
            </a:xfrm>
            <a:prstGeom prst="roundRect">
              <a:avLst>
                <a:gd name="adj" fmla="val 20000"/>
              </a:avLst>
            </a:prstGeom>
            <a:solidFill>
              <a:srgbClr val="8B6C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hape 24"/>
            <p:cNvSpPr/>
            <p:nvPr/>
          </p:nvSpPr>
          <p:spPr>
            <a:xfrm>
              <a:off x="762000" y="3797300"/>
              <a:ext cx="50800" cy="381000"/>
            </a:xfrm>
            <a:prstGeom prst="rect">
              <a:avLst/>
            </a:prstGeom>
            <a:solidFill>
              <a:srgbClr val="8B6C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hape 25"/>
            <p:cNvSpPr txBox="1"/>
            <p:nvPr/>
          </p:nvSpPr>
          <p:spPr>
            <a:xfrm>
              <a:off x="927100" y="37973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Dependency Management</a:t>
              </a:r>
            </a:p>
          </p:txBody>
        </p:sp>
      </p:grpSp>
      <p:grpSp>
        <p:nvGrpSpPr>
          <p:cNvPr id="32" name="Available 6"/>
          <p:cNvGrpSpPr/>
          <p:nvPr/>
        </p:nvGrpSpPr>
        <p:grpSpPr>
          <a:xfrm>
            <a:off x="762000" y="4254500"/>
            <a:ext cx="3429000" cy="381000"/>
            <a:chOff x="762000" y="4254500"/>
            <a:chExt cx="3429000" cy="381000"/>
          </a:xfrm>
        </p:grpSpPr>
        <p:sp>
          <p:nvSpPr>
            <p:cNvPr id="29" name="Shape 27"/>
            <p:cNvSpPr/>
            <p:nvPr/>
          </p:nvSpPr>
          <p:spPr>
            <a:xfrm>
              <a:off x="762000" y="4254500"/>
              <a:ext cx="3429000" cy="381000"/>
            </a:xfrm>
            <a:prstGeom prst="roundRect">
              <a:avLst>
                <a:gd name="adj" fmla="val 20000"/>
              </a:avLst>
            </a:prstGeom>
            <a:solidFill>
              <a:srgbClr val="E9C46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Shape 28"/>
            <p:cNvSpPr/>
            <p:nvPr/>
          </p:nvSpPr>
          <p:spPr>
            <a:xfrm>
              <a:off x="762000" y="4254500"/>
              <a:ext cx="50800" cy="381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Shape 29"/>
            <p:cNvSpPr txBox="1"/>
            <p:nvPr/>
          </p:nvSpPr>
          <p:spPr>
            <a:xfrm>
              <a:off x="927100" y="42545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Secrets Management</a:t>
              </a:r>
            </a:p>
          </p:txBody>
        </p:sp>
      </p:grpSp>
      <p:grpSp>
        <p:nvGrpSpPr>
          <p:cNvPr id="36" name="Available 7"/>
          <p:cNvGrpSpPr/>
          <p:nvPr/>
        </p:nvGrpSpPr>
        <p:grpSpPr>
          <a:xfrm>
            <a:off x="762000" y="4711700"/>
            <a:ext cx="3429000" cy="381000"/>
            <a:chOff x="762000" y="4711700"/>
            <a:chExt cx="3429000" cy="381000"/>
          </a:xfrm>
        </p:grpSpPr>
        <p:sp>
          <p:nvSpPr>
            <p:cNvPr id="33" name="Shape 31"/>
            <p:cNvSpPr/>
            <p:nvPr/>
          </p:nvSpPr>
          <p:spPr>
            <a:xfrm>
              <a:off x="762000" y="4711700"/>
              <a:ext cx="3429000" cy="381000"/>
            </a:xfrm>
            <a:prstGeom prst="roundRect">
              <a:avLst>
                <a:gd name="adj" fmla="val 20000"/>
              </a:avLst>
            </a:prstGeom>
            <a:solidFill>
              <a:srgbClr val="2F6FED">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Shape 32"/>
            <p:cNvSpPr/>
            <p:nvPr/>
          </p:nvSpPr>
          <p:spPr>
            <a:xfrm>
              <a:off x="762000" y="4711700"/>
              <a:ext cx="50800" cy="381000"/>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Shape 33"/>
            <p:cNvSpPr txBox="1"/>
            <p:nvPr/>
          </p:nvSpPr>
          <p:spPr>
            <a:xfrm>
              <a:off x="927100" y="47117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Disruption Budget</a:t>
              </a:r>
            </a:p>
          </p:txBody>
        </p:sp>
      </p:grpSp>
      <p:grpSp>
        <p:nvGrpSpPr>
          <p:cNvPr id="41" name="Available 8"/>
          <p:cNvGrpSpPr/>
          <p:nvPr/>
        </p:nvGrpSpPr>
        <p:grpSpPr>
          <a:xfrm>
            <a:off x="762000" y="5168900"/>
            <a:ext cx="3429000" cy="381000"/>
            <a:chOff x="762000" y="5168900"/>
            <a:chExt cx="3429000" cy="381000"/>
          </a:xfrm>
        </p:grpSpPr>
        <p:sp>
          <p:nvSpPr>
            <p:cNvPr id="37" name="Shape 35"/>
            <p:cNvSpPr/>
            <p:nvPr/>
          </p:nvSpPr>
          <p:spPr>
            <a:xfrm>
              <a:off x="762000" y="5168900"/>
              <a:ext cx="3429000" cy="381000"/>
            </a:xfrm>
            <a:prstGeom prst="roundRect">
              <a:avLst>
                <a:gd name="adj" fmla="val 20000"/>
              </a:avLst>
            </a:prstGeom>
            <a:solidFill>
              <a:srgbClr val="FF6B6B">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Shape 36"/>
            <p:cNvSpPr/>
            <p:nvPr/>
          </p:nvSpPr>
          <p:spPr>
            <a:xfrm>
              <a:off x="762000" y="5168900"/>
              <a:ext cx="50800" cy="3810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Shape 37"/>
            <p:cNvSpPr txBox="1"/>
            <p:nvPr/>
          </p:nvSpPr>
          <p:spPr>
            <a:xfrm>
              <a:off x="927100" y="5168900"/>
              <a:ext cx="20955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OAuth2 Config</a:t>
              </a:r>
            </a:p>
          </p:txBody>
        </p:sp>
        <p:sp>
          <p:nvSpPr>
            <p:cNvPr id="40" name="Shape 38"/>
            <p:cNvSpPr txBox="1"/>
            <p:nvPr/>
          </p:nvSpPr>
          <p:spPr>
            <a:xfrm>
              <a:off x="2667000" y="5168900"/>
              <a:ext cx="1409700" cy="381000"/>
            </a:xfrm>
            <a:prstGeom prst="rect">
              <a:avLst/>
            </a:prstGeom>
            <a:noFill/>
          </p:spPr>
          <p:txBody>
            <a:bodyPr wrap="square" lIns="0" tIns="0" rIns="0" bIns="0" anchor="ctr">
              <a:spAutoFit/>
            </a:bodyPr>
            <a:lstStyle/>
            <a:p>
              <a:pPr algn="r">
                <a:lnSpc>
                  <a:spcPct val="115000"/>
                </a:lnSpc>
              </a:pPr>
              <a:r>
                <a:rPr sz="1100" b="0">
                  <a:solidFill>
                    <a:srgbClr val="8F9BB8"/>
                  </a:solidFill>
                  <a:latin typeface="Segoe UI"/>
                </a:rPr>
                <a:t>prototype</a:t>
              </a:r>
            </a:p>
          </p:txBody>
        </p:sp>
      </p:grpSp>
      <p:grpSp>
        <p:nvGrpSpPr>
          <p:cNvPr id="44" name="Experimental header"/>
          <p:cNvGrpSpPr/>
          <p:nvPr/>
        </p:nvGrpSpPr>
        <p:grpSpPr>
          <a:xfrm>
            <a:off x="4381500" y="1485900"/>
            <a:ext cx="3403600" cy="317500"/>
            <a:chOff x="4381500" y="1485900"/>
            <a:chExt cx="3403600" cy="317500"/>
          </a:xfrm>
        </p:grpSpPr>
        <p:pic>
          <p:nvPicPr>
            <p:cNvPr id="42" name="Shape 40" descr="icon-flask-f472b6.png"/>
            <p:cNvPicPr>
              <a:picLocks noChangeAspect="1"/>
            </p:cNvPicPr>
            <p:nvPr/>
          </p:nvPicPr>
          <p:blipFill>
            <a:blip r:embed="rId5"/>
            <a:stretch>
              <a:fillRect/>
            </a:stretch>
          </p:blipFill>
          <p:spPr>
            <a:xfrm>
              <a:off x="4381500" y="1498600"/>
              <a:ext cx="279400" cy="279400"/>
            </a:xfrm>
            <a:prstGeom prst="rect">
              <a:avLst/>
            </a:prstGeom>
          </p:spPr>
        </p:pic>
        <p:sp>
          <p:nvSpPr>
            <p:cNvPr id="43" name="Shape 41"/>
            <p:cNvSpPr txBox="1"/>
            <p:nvPr/>
          </p:nvSpPr>
          <p:spPr>
            <a:xfrm>
              <a:off x="4737100" y="1485900"/>
              <a:ext cx="3048000" cy="317500"/>
            </a:xfrm>
            <a:prstGeom prst="rect">
              <a:avLst/>
            </a:prstGeom>
            <a:noFill/>
          </p:spPr>
          <p:txBody>
            <a:bodyPr wrap="square" lIns="0" tIns="0" rIns="0" bIns="0" anchor="t">
              <a:spAutoFit/>
            </a:bodyPr>
            <a:lstStyle/>
            <a:p>
              <a:pPr algn="l">
                <a:lnSpc>
                  <a:spcPct val="115000"/>
                </a:lnSpc>
              </a:pPr>
              <a:r>
                <a:rPr sz="1700" b="1">
                  <a:solidFill>
                    <a:srgbClr val="F472B6"/>
                  </a:solidFill>
                  <a:latin typeface="Segoe UI"/>
                </a:rPr>
                <a:t>Experimental</a:t>
              </a:r>
            </a:p>
          </p:txBody>
        </p:sp>
      </p:grpSp>
      <p:grpSp>
        <p:nvGrpSpPr>
          <p:cNvPr id="48" name="Experimental 1"/>
          <p:cNvGrpSpPr/>
          <p:nvPr/>
        </p:nvGrpSpPr>
        <p:grpSpPr>
          <a:xfrm>
            <a:off x="4381500" y="1968500"/>
            <a:ext cx="3429000" cy="381000"/>
            <a:chOff x="4381500" y="1968500"/>
            <a:chExt cx="3429000" cy="381000"/>
          </a:xfrm>
        </p:grpSpPr>
        <p:sp>
          <p:nvSpPr>
            <p:cNvPr id="45" name="Shape 43"/>
            <p:cNvSpPr/>
            <p:nvPr/>
          </p:nvSpPr>
          <p:spPr>
            <a:xfrm>
              <a:off x="4381500" y="1968500"/>
              <a:ext cx="3429000" cy="381000"/>
            </a:xfrm>
            <a:prstGeom prst="roundRect">
              <a:avLst>
                <a:gd name="adj" fmla="val 20000"/>
              </a:avLst>
            </a:prstGeom>
            <a:solidFill>
              <a:srgbClr val="F472B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6" name="Shape 44"/>
            <p:cNvSpPr/>
            <p:nvPr/>
          </p:nvSpPr>
          <p:spPr>
            <a:xfrm>
              <a:off x="4381500" y="1968500"/>
              <a:ext cx="50800" cy="3810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Shape 45"/>
            <p:cNvSpPr txBox="1"/>
            <p:nvPr/>
          </p:nvSpPr>
          <p:spPr>
            <a:xfrm>
              <a:off x="4546600" y="19685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Model-as-a-Service</a:t>
              </a:r>
            </a:p>
          </p:txBody>
        </p:sp>
      </p:grpSp>
      <p:grpSp>
        <p:nvGrpSpPr>
          <p:cNvPr id="52" name="Experimental 2"/>
          <p:cNvGrpSpPr/>
          <p:nvPr/>
        </p:nvGrpSpPr>
        <p:grpSpPr>
          <a:xfrm>
            <a:off x="4381500" y="2425700"/>
            <a:ext cx="3429000" cy="381000"/>
            <a:chOff x="4381500" y="2425700"/>
            <a:chExt cx="3429000" cy="381000"/>
          </a:xfrm>
        </p:grpSpPr>
        <p:sp>
          <p:nvSpPr>
            <p:cNvPr id="49" name="Shape 47"/>
            <p:cNvSpPr/>
            <p:nvPr/>
          </p:nvSpPr>
          <p:spPr>
            <a:xfrm>
              <a:off x="4381500" y="2425700"/>
              <a:ext cx="3429000" cy="381000"/>
            </a:xfrm>
            <a:prstGeom prst="roundRect">
              <a:avLst>
                <a:gd name="adj" fmla="val 20000"/>
              </a:avLst>
            </a:prstGeom>
            <a:solidFill>
              <a:srgbClr val="F472B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Shape 48"/>
            <p:cNvSpPr/>
            <p:nvPr/>
          </p:nvSpPr>
          <p:spPr>
            <a:xfrm>
              <a:off x="4381500" y="2425700"/>
              <a:ext cx="50800" cy="3810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Shape 49"/>
            <p:cNvSpPr txBox="1"/>
            <p:nvPr/>
          </p:nvSpPr>
          <p:spPr>
            <a:xfrm>
              <a:off x="4546600" y="24257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Data Product</a:t>
              </a:r>
            </a:p>
          </p:txBody>
        </p:sp>
      </p:grpSp>
      <p:grpSp>
        <p:nvGrpSpPr>
          <p:cNvPr id="56" name="Experimental 3"/>
          <p:cNvGrpSpPr/>
          <p:nvPr/>
        </p:nvGrpSpPr>
        <p:grpSpPr>
          <a:xfrm>
            <a:off x="4381500" y="2882900"/>
            <a:ext cx="3429000" cy="381000"/>
            <a:chOff x="4381500" y="2882900"/>
            <a:chExt cx="3429000" cy="381000"/>
          </a:xfrm>
        </p:grpSpPr>
        <p:sp>
          <p:nvSpPr>
            <p:cNvPr id="53" name="Shape 51"/>
            <p:cNvSpPr/>
            <p:nvPr/>
          </p:nvSpPr>
          <p:spPr>
            <a:xfrm>
              <a:off x="4381500" y="2882900"/>
              <a:ext cx="3429000" cy="381000"/>
            </a:xfrm>
            <a:prstGeom prst="roundRect">
              <a:avLst>
                <a:gd name="adj" fmla="val 20000"/>
              </a:avLst>
            </a:prstGeom>
            <a:solidFill>
              <a:srgbClr val="34D399">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4" name="Shape 52"/>
            <p:cNvSpPr/>
            <p:nvPr/>
          </p:nvSpPr>
          <p:spPr>
            <a:xfrm>
              <a:off x="4381500" y="2882900"/>
              <a:ext cx="50800" cy="381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Shape 53"/>
            <p:cNvSpPr txBox="1"/>
            <p:nvPr/>
          </p:nvSpPr>
          <p:spPr>
            <a:xfrm>
              <a:off x="4546600" y="28829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Carbon-aware</a:t>
              </a:r>
            </a:p>
          </p:txBody>
        </p:sp>
      </p:grpSp>
      <p:grpSp>
        <p:nvGrpSpPr>
          <p:cNvPr id="59" name="Planned header"/>
          <p:cNvGrpSpPr/>
          <p:nvPr/>
        </p:nvGrpSpPr>
        <p:grpSpPr>
          <a:xfrm>
            <a:off x="8001000" y="1485900"/>
            <a:ext cx="3403600" cy="317500"/>
            <a:chOff x="8001000" y="1485900"/>
            <a:chExt cx="3403600" cy="317500"/>
          </a:xfrm>
        </p:grpSpPr>
        <p:pic>
          <p:nvPicPr>
            <p:cNvPr id="57" name="Shape 55" descr="icon-rocket-8f9bb8.png"/>
            <p:cNvPicPr>
              <a:picLocks noChangeAspect="1"/>
            </p:cNvPicPr>
            <p:nvPr/>
          </p:nvPicPr>
          <p:blipFill>
            <a:blip r:embed="rId6"/>
            <a:stretch>
              <a:fillRect/>
            </a:stretch>
          </p:blipFill>
          <p:spPr>
            <a:xfrm>
              <a:off x="8001000" y="1498600"/>
              <a:ext cx="279400" cy="279400"/>
            </a:xfrm>
            <a:prstGeom prst="rect">
              <a:avLst/>
            </a:prstGeom>
          </p:spPr>
        </p:pic>
        <p:sp>
          <p:nvSpPr>
            <p:cNvPr id="58" name="Shape 56"/>
            <p:cNvSpPr txBox="1"/>
            <p:nvPr/>
          </p:nvSpPr>
          <p:spPr>
            <a:xfrm>
              <a:off x="8356600" y="1485900"/>
              <a:ext cx="3048000" cy="317500"/>
            </a:xfrm>
            <a:prstGeom prst="rect">
              <a:avLst/>
            </a:prstGeom>
            <a:noFill/>
          </p:spPr>
          <p:txBody>
            <a:bodyPr wrap="square" lIns="0" tIns="0" rIns="0" bIns="0" anchor="t">
              <a:spAutoFit/>
            </a:bodyPr>
            <a:lstStyle/>
            <a:p>
              <a:pPr algn="l">
                <a:lnSpc>
                  <a:spcPct val="115000"/>
                </a:lnSpc>
              </a:pPr>
              <a:r>
                <a:rPr sz="1700" b="1">
                  <a:solidFill>
                    <a:srgbClr val="8F9BB8"/>
                  </a:solidFill>
                  <a:latin typeface="Segoe UI"/>
                </a:rPr>
                <a:t>Planned</a:t>
              </a:r>
            </a:p>
          </p:txBody>
        </p:sp>
      </p:grpSp>
      <p:grpSp>
        <p:nvGrpSpPr>
          <p:cNvPr id="63" name="Planned 1"/>
          <p:cNvGrpSpPr/>
          <p:nvPr/>
        </p:nvGrpSpPr>
        <p:grpSpPr>
          <a:xfrm>
            <a:off x="8001000" y="1968500"/>
            <a:ext cx="3429000" cy="381000"/>
            <a:chOff x="8001000" y="1968500"/>
            <a:chExt cx="3429000" cy="381000"/>
          </a:xfrm>
        </p:grpSpPr>
        <p:sp>
          <p:nvSpPr>
            <p:cNvPr id="60" name="Shape 58"/>
            <p:cNvSpPr/>
            <p:nvPr/>
          </p:nvSpPr>
          <p:spPr>
            <a:xfrm>
              <a:off x="8001000" y="1968500"/>
              <a:ext cx="3429000" cy="381000"/>
            </a:xfrm>
            <a:prstGeom prst="roundRect">
              <a:avLst>
                <a:gd name="adj" fmla="val 20000"/>
              </a:avLst>
            </a:prstGeom>
            <a:solidFill>
              <a:srgbClr val="8F9BB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Shape 59"/>
            <p:cNvSpPr/>
            <p:nvPr/>
          </p:nvSpPr>
          <p:spPr>
            <a:xfrm>
              <a:off x="8001000" y="1968500"/>
              <a:ext cx="50800" cy="381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2" name="Shape 60"/>
            <p:cNvSpPr txBox="1"/>
            <p:nvPr/>
          </p:nvSpPr>
          <p:spPr>
            <a:xfrm>
              <a:off x="8166100" y="19685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Event Management</a:t>
              </a:r>
            </a:p>
          </p:txBody>
        </p:sp>
      </p:grpSp>
      <p:grpSp>
        <p:nvGrpSpPr>
          <p:cNvPr id="67" name="Planned 2"/>
          <p:cNvGrpSpPr/>
          <p:nvPr/>
        </p:nvGrpSpPr>
        <p:grpSpPr>
          <a:xfrm>
            <a:off x="8001000" y="2425700"/>
            <a:ext cx="3429000" cy="381000"/>
            <a:chOff x="8001000" y="2425700"/>
            <a:chExt cx="3429000" cy="381000"/>
          </a:xfrm>
        </p:grpSpPr>
        <p:sp>
          <p:nvSpPr>
            <p:cNvPr id="64" name="Shape 62"/>
            <p:cNvSpPr/>
            <p:nvPr/>
          </p:nvSpPr>
          <p:spPr>
            <a:xfrm>
              <a:off x="8001000" y="2425700"/>
              <a:ext cx="3429000" cy="381000"/>
            </a:xfrm>
            <a:prstGeom prst="roundRect">
              <a:avLst>
                <a:gd name="adj" fmla="val 20000"/>
              </a:avLst>
            </a:prstGeom>
            <a:solidFill>
              <a:srgbClr val="8F9BB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Shape 63"/>
            <p:cNvSpPr/>
            <p:nvPr/>
          </p:nvSpPr>
          <p:spPr>
            <a:xfrm>
              <a:off x="8001000" y="2425700"/>
              <a:ext cx="50800" cy="381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6" name="Shape 64"/>
            <p:cNvSpPr txBox="1"/>
            <p:nvPr/>
          </p:nvSpPr>
          <p:spPr>
            <a:xfrm>
              <a:off x="8166100" y="24257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Cost Control</a:t>
              </a:r>
            </a:p>
          </p:txBody>
        </p:sp>
      </p:grpSp>
      <p:grpSp>
        <p:nvGrpSpPr>
          <p:cNvPr id="71" name="Planned 3"/>
          <p:cNvGrpSpPr/>
          <p:nvPr/>
        </p:nvGrpSpPr>
        <p:grpSpPr>
          <a:xfrm>
            <a:off x="8001000" y="2882900"/>
            <a:ext cx="3429000" cy="381000"/>
            <a:chOff x="8001000" y="2882900"/>
            <a:chExt cx="3429000" cy="381000"/>
          </a:xfrm>
        </p:grpSpPr>
        <p:sp>
          <p:nvSpPr>
            <p:cNvPr id="68" name="Shape 66"/>
            <p:cNvSpPr/>
            <p:nvPr/>
          </p:nvSpPr>
          <p:spPr>
            <a:xfrm>
              <a:off x="8001000" y="2882900"/>
              <a:ext cx="3429000" cy="381000"/>
            </a:xfrm>
            <a:prstGeom prst="roundRect">
              <a:avLst>
                <a:gd name="adj" fmla="val 20000"/>
              </a:avLst>
            </a:prstGeom>
            <a:solidFill>
              <a:srgbClr val="8F9BB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9" name="Shape 67"/>
            <p:cNvSpPr/>
            <p:nvPr/>
          </p:nvSpPr>
          <p:spPr>
            <a:xfrm>
              <a:off x="8001000" y="2882900"/>
              <a:ext cx="50800" cy="3810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0" name="Shape 68"/>
            <p:cNvSpPr txBox="1"/>
            <p:nvPr/>
          </p:nvSpPr>
          <p:spPr>
            <a:xfrm>
              <a:off x="8166100" y="2882900"/>
              <a:ext cx="3175000" cy="381000"/>
            </a:xfrm>
            <a:prstGeom prst="rect">
              <a:avLst/>
            </a:prstGeom>
            <a:noFill/>
          </p:spPr>
          <p:txBody>
            <a:bodyPr wrap="square" lIns="0" tIns="0" rIns="0" bIns="0" anchor="ctr">
              <a:spAutoFit/>
            </a:bodyPr>
            <a:lstStyle/>
            <a:p>
              <a:pPr algn="l">
                <a:lnSpc>
                  <a:spcPct val="115000"/>
                </a:lnSpc>
              </a:pPr>
              <a:r>
                <a:rPr sz="1400" b="1">
                  <a:solidFill>
                    <a:srgbClr val="F2F5FB"/>
                  </a:solidFill>
                  <a:latin typeface="Segoe UI"/>
                </a:rPr>
                <a:t>Database Management</a:t>
              </a:r>
            </a:p>
          </p:txBody>
        </p:sp>
      </p:grpSp>
      <p:grpSp>
        <p:nvGrpSpPr>
          <p:cNvPr id="75" name="GA"/>
          <p:cNvGrpSpPr/>
          <p:nvPr/>
        </p:nvGrpSpPr>
        <p:grpSpPr>
          <a:xfrm>
            <a:off x="4381500" y="4318000"/>
            <a:ext cx="7048500" cy="1206500"/>
            <a:chOff x="4381500" y="4318000"/>
            <a:chExt cx="7048500" cy="1206500"/>
          </a:xfrm>
        </p:grpSpPr>
        <p:sp>
          <p:nvSpPr>
            <p:cNvPr id="72" name="Shape 70"/>
            <p:cNvSpPr/>
            <p:nvPr/>
          </p:nvSpPr>
          <p:spPr>
            <a:xfrm>
              <a:off x="4381500" y="4318000"/>
              <a:ext cx="7048500" cy="1206500"/>
            </a:xfrm>
            <a:prstGeom prst="roundRect">
              <a:avLst>
                <a:gd name="adj" fmla="val 12631"/>
              </a:avLst>
            </a:prstGeom>
            <a:solidFill>
              <a:srgbClr val="22C55E">
                <a:alpha val="8000"/>
              </a:srgbClr>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3" name="Shape 71" descr="icon-check-22c55e.png"/>
            <p:cNvPicPr>
              <a:picLocks noChangeAspect="1"/>
            </p:cNvPicPr>
            <p:nvPr/>
          </p:nvPicPr>
          <p:blipFill>
            <a:blip r:embed="rId4"/>
            <a:stretch>
              <a:fillRect/>
            </a:stretch>
          </p:blipFill>
          <p:spPr>
            <a:xfrm>
              <a:off x="4610100" y="4521200"/>
              <a:ext cx="279400" cy="279400"/>
            </a:xfrm>
            <a:prstGeom prst="rect">
              <a:avLst/>
            </a:prstGeom>
          </p:spPr>
        </p:pic>
        <p:sp>
          <p:nvSpPr>
            <p:cNvPr id="74" name="Shape 72"/>
            <p:cNvSpPr txBox="1"/>
            <p:nvPr/>
          </p:nvSpPr>
          <p:spPr>
            <a:xfrm>
              <a:off x="4978400" y="4495800"/>
              <a:ext cx="6223000" cy="317500"/>
            </a:xfrm>
            <a:prstGeom prst="rect">
              <a:avLst/>
            </a:prstGeom>
            <a:noFill/>
          </p:spPr>
          <p:txBody>
            <a:bodyPr wrap="square" lIns="0" tIns="0" rIns="0" bIns="0" anchor="t">
              <a:spAutoFit/>
            </a:bodyPr>
            <a:lstStyle/>
            <a:p>
              <a:pPr algn="l">
                <a:lnSpc>
                  <a:spcPct val="115000"/>
                </a:lnSpc>
              </a:pPr>
              <a:r>
                <a:rPr sz="1700" b="1">
                  <a:solidFill>
                    <a:srgbClr val="F2F5FB"/>
                  </a:solidFill>
                  <a:latin typeface="Segoe UI"/>
                </a:rPr>
                <a:t>Generally available · regular releases</a:t>
              </a:r>
            </a:p>
          </p:txBody>
        </p:sp>
      </p:grpSp>
      <p:grpSp>
        <p:nvGrpSpPr>
          <p:cNvPr id="78" name="BDD"/>
          <p:cNvGrpSpPr/>
          <p:nvPr/>
        </p:nvGrpSpPr>
        <p:grpSpPr>
          <a:xfrm>
            <a:off x="4610100" y="5003800"/>
            <a:ext cx="6654800" cy="317500"/>
            <a:chOff x="4610100" y="5003800"/>
            <a:chExt cx="6654800" cy="317500"/>
          </a:xfrm>
        </p:grpSpPr>
        <p:pic>
          <p:nvPicPr>
            <p:cNvPr id="76" name="Shape 74" descr="icon-flask-22c55e.png"/>
            <p:cNvPicPr>
              <a:picLocks noChangeAspect="1"/>
            </p:cNvPicPr>
            <p:nvPr/>
          </p:nvPicPr>
          <p:blipFill>
            <a:blip r:embed="rId7"/>
            <a:stretch>
              <a:fillRect/>
            </a:stretch>
          </p:blipFill>
          <p:spPr>
            <a:xfrm>
              <a:off x="4610100" y="5016500"/>
              <a:ext cx="254000" cy="254000"/>
            </a:xfrm>
            <a:prstGeom prst="rect">
              <a:avLst/>
            </a:prstGeom>
          </p:spPr>
        </p:pic>
        <p:sp>
          <p:nvSpPr>
            <p:cNvPr id="77" name="Shape 75"/>
            <p:cNvSpPr txBox="1"/>
            <p:nvPr/>
          </p:nvSpPr>
          <p:spPr>
            <a:xfrm>
              <a:off x="4978400" y="5003800"/>
              <a:ext cx="6286500" cy="317500"/>
            </a:xfrm>
            <a:prstGeom prst="rect">
              <a:avLst/>
            </a:prstGeom>
            <a:noFill/>
          </p:spPr>
          <p:txBody>
            <a:bodyPr wrap="square" lIns="0" tIns="0" rIns="0" bIns="0" anchor="t">
              <a:spAutoFit/>
            </a:bodyPr>
            <a:lstStyle/>
            <a:p>
              <a:pPr algn="l">
                <a:lnSpc>
                  <a:spcPct val="115000"/>
                </a:lnSpc>
              </a:pPr>
              <a:r>
                <a:rPr sz="1500" b="0">
                  <a:solidFill>
                    <a:srgbClr val="8F9BB8"/>
                  </a:solidFill>
                  <a:latin typeface="Segoe UI"/>
                </a:rPr>
                <a:t>Every change tested by a BDD suite on a real Kubernetes cluster</a:t>
              </a:r>
            </a:p>
          </p:txBody>
        </p:sp>
      </p:grpSp>
    </p:spTree>
  </p:cSld>
  <p:clrMapOvr>
    <a:masterClrMapping/>
  </p:clrMapOvr>
  <mc:AlternateContent xmlns:mc="http://schemas.openxmlformats.org/markup-compatibility/2006">
    <mc:Choice xmlns:p14="http://schemas.microsoft.com/office/powerpoint/2010/main" Requires="p14">
      <p:transition spd="slow" p14:dur="2000" advTm="33100"/>
    </mc:Choice>
    <mc:Fallback>
      <p:transition spd="slow" advTm="3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16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58" presetClass="entr" presetSubtype="0" accel="100000" fill="hold" nodeType="withEffect">
                                  <p:stCondLst>
                                    <p:cond delay="520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strVal val="#ppt_w*2.5"/>
                                          </p:val>
                                        </p:tav>
                                        <p:tav tm="100000">
                                          <p:val>
                                            <p:strVal val="#ppt_w"/>
                                          </p:val>
                                        </p:tav>
                                      </p:tavLst>
                                    </p:anim>
                                    <p:anim calcmode="lin" valueType="num">
                                      <p:cBhvr>
                                        <p:cTn id="17" dur="500" fill="hold"/>
                                        <p:tgtEl>
                                          <p:spTgt spid="12"/>
                                        </p:tgtEl>
                                        <p:attrNameLst>
                                          <p:attrName>ppt_h</p:attrName>
                                        </p:attrNameLst>
                                      </p:cBhvr>
                                      <p:tavLst>
                                        <p:tav tm="0">
                                          <p:val>
                                            <p:strVal val="#ppt_h*0.01"/>
                                          </p:val>
                                        </p:tav>
                                        <p:tav tm="100000">
                                          <p:val>
                                            <p:strVal val="#ppt_h"/>
                                          </p:val>
                                        </p:tav>
                                      </p:tavLst>
                                    </p:anim>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h+1"/>
                                          </p:val>
                                        </p:tav>
                                        <p:tav tm="100000">
                                          <p:val>
                                            <p:strVal val="#ppt_y"/>
                                          </p:val>
                                        </p:tav>
                                      </p:tavLst>
                                    </p:anim>
                                    <p:animEffect transition="in" filter="fade">
                                      <p:cBhvr>
                                        <p:cTn id="20" dur="500"/>
                                        <p:tgtEl>
                                          <p:spTgt spid="12"/>
                                        </p:tgtEl>
                                      </p:cBhvr>
                                    </p:animEffect>
                                  </p:childTnLst>
                                </p:cTn>
                              </p:par>
                              <p:par>
                                <p:cTn id="21" presetID="58" presetClass="entr" presetSubtype="0" accel="100000" fill="hold" nodeType="withEffect">
                                  <p:stCondLst>
                                    <p:cond delay="600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strVal val="#ppt_w*2.5"/>
                                          </p:val>
                                        </p:tav>
                                        <p:tav tm="100000">
                                          <p:val>
                                            <p:strVal val="#ppt_w"/>
                                          </p:val>
                                        </p:tav>
                                      </p:tavLst>
                                    </p:anim>
                                    <p:anim calcmode="lin" valueType="num">
                                      <p:cBhvr>
                                        <p:cTn id="24" dur="500" fill="hold"/>
                                        <p:tgtEl>
                                          <p:spTgt spid="16"/>
                                        </p:tgtEl>
                                        <p:attrNameLst>
                                          <p:attrName>ppt_h</p:attrName>
                                        </p:attrNameLst>
                                      </p:cBhvr>
                                      <p:tavLst>
                                        <p:tav tm="0">
                                          <p:val>
                                            <p:strVal val="#ppt_h*0.01"/>
                                          </p:val>
                                        </p:tav>
                                        <p:tav tm="100000">
                                          <p:val>
                                            <p:strVal val="#ppt_h"/>
                                          </p:val>
                                        </p:tav>
                                      </p:tavLst>
                                    </p:anim>
                                    <p:anim calcmode="lin" valueType="num">
                                      <p:cBhvr>
                                        <p:cTn id="25" dur="500" fill="hold"/>
                                        <p:tgtEl>
                                          <p:spTgt spid="16"/>
                                        </p:tgtEl>
                                        <p:attrNameLst>
                                          <p:attrName>ppt_x</p:attrName>
                                        </p:attrNameLst>
                                      </p:cBhvr>
                                      <p:tavLst>
                                        <p:tav tm="0">
                                          <p:val>
                                            <p:strVal val="#ppt_x"/>
                                          </p:val>
                                        </p:tav>
                                        <p:tav tm="100000">
                                          <p:val>
                                            <p:strVal val="#ppt_x"/>
                                          </p:val>
                                        </p:tav>
                                      </p:tavLst>
                                    </p:anim>
                                    <p:anim calcmode="lin" valueType="num">
                                      <p:cBhvr>
                                        <p:cTn id="26" dur="500" fill="hold"/>
                                        <p:tgtEl>
                                          <p:spTgt spid="16"/>
                                        </p:tgtEl>
                                        <p:attrNameLst>
                                          <p:attrName>ppt_y</p:attrName>
                                        </p:attrNameLst>
                                      </p:cBhvr>
                                      <p:tavLst>
                                        <p:tav tm="0">
                                          <p:val>
                                            <p:strVal val="#ppt_h+1"/>
                                          </p:val>
                                        </p:tav>
                                        <p:tav tm="100000">
                                          <p:val>
                                            <p:strVal val="#ppt_y"/>
                                          </p:val>
                                        </p:tav>
                                      </p:tavLst>
                                    </p:anim>
                                    <p:animEffect transition="in" filter="fade">
                                      <p:cBhvr>
                                        <p:cTn id="27" dur="500"/>
                                        <p:tgtEl>
                                          <p:spTgt spid="16"/>
                                        </p:tgtEl>
                                      </p:cBhvr>
                                    </p:animEffect>
                                  </p:childTnLst>
                                </p:cTn>
                              </p:par>
                              <p:par>
                                <p:cTn id="28" presetID="58" presetClass="entr" presetSubtype="0" accel="100000" fill="hold" nodeType="withEffect">
                                  <p:stCondLst>
                                    <p:cond delay="6800"/>
                                  </p:stCondLst>
                                  <p:childTnLst>
                                    <p:set>
                                      <p:cBhvr>
                                        <p:cTn id="29" dur="1" fill="hold">
                                          <p:stCondLst>
                                            <p:cond delay="0"/>
                                          </p:stCondLst>
                                        </p:cTn>
                                        <p:tgtEl>
                                          <p:spTgt spid="20"/>
                                        </p:tgtEl>
                                        <p:attrNameLst>
                                          <p:attrName>style.visibility</p:attrName>
                                        </p:attrNameLst>
                                      </p:cBhvr>
                                      <p:to>
                                        <p:strVal val="visible"/>
                                      </p:to>
                                    </p:set>
                                    <p:anim calcmode="lin" valueType="num">
                                      <p:cBhvr>
                                        <p:cTn id="30" dur="500" fill="hold"/>
                                        <p:tgtEl>
                                          <p:spTgt spid="20"/>
                                        </p:tgtEl>
                                        <p:attrNameLst>
                                          <p:attrName>ppt_w</p:attrName>
                                        </p:attrNameLst>
                                      </p:cBhvr>
                                      <p:tavLst>
                                        <p:tav tm="0">
                                          <p:val>
                                            <p:strVal val="#ppt_w*2.5"/>
                                          </p:val>
                                        </p:tav>
                                        <p:tav tm="100000">
                                          <p:val>
                                            <p:strVal val="#ppt_w"/>
                                          </p:val>
                                        </p:tav>
                                      </p:tavLst>
                                    </p:anim>
                                    <p:anim calcmode="lin" valueType="num">
                                      <p:cBhvr>
                                        <p:cTn id="31" dur="500" fill="hold"/>
                                        <p:tgtEl>
                                          <p:spTgt spid="20"/>
                                        </p:tgtEl>
                                        <p:attrNameLst>
                                          <p:attrName>ppt_h</p:attrName>
                                        </p:attrNameLst>
                                      </p:cBhvr>
                                      <p:tavLst>
                                        <p:tav tm="0">
                                          <p:val>
                                            <p:strVal val="#ppt_h*0.01"/>
                                          </p:val>
                                        </p:tav>
                                        <p:tav tm="100000">
                                          <p:val>
                                            <p:strVal val="#ppt_h"/>
                                          </p:val>
                                        </p:tav>
                                      </p:tavLst>
                                    </p:anim>
                                    <p:anim calcmode="lin" valueType="num">
                                      <p:cBhvr>
                                        <p:cTn id="32" dur="500" fill="hold"/>
                                        <p:tgtEl>
                                          <p:spTgt spid="20"/>
                                        </p:tgtEl>
                                        <p:attrNameLst>
                                          <p:attrName>ppt_x</p:attrName>
                                        </p:attrNameLst>
                                      </p:cBhvr>
                                      <p:tavLst>
                                        <p:tav tm="0">
                                          <p:val>
                                            <p:strVal val="#ppt_x"/>
                                          </p:val>
                                        </p:tav>
                                        <p:tav tm="100000">
                                          <p:val>
                                            <p:strVal val="#ppt_x"/>
                                          </p:val>
                                        </p:tav>
                                      </p:tavLst>
                                    </p:anim>
                                    <p:anim calcmode="lin" valueType="num">
                                      <p:cBhvr>
                                        <p:cTn id="33" dur="500" fill="hold"/>
                                        <p:tgtEl>
                                          <p:spTgt spid="20"/>
                                        </p:tgtEl>
                                        <p:attrNameLst>
                                          <p:attrName>ppt_y</p:attrName>
                                        </p:attrNameLst>
                                      </p:cBhvr>
                                      <p:tavLst>
                                        <p:tav tm="0">
                                          <p:val>
                                            <p:strVal val="#ppt_h+1"/>
                                          </p:val>
                                        </p:tav>
                                        <p:tav tm="100000">
                                          <p:val>
                                            <p:strVal val="#ppt_y"/>
                                          </p:val>
                                        </p:tav>
                                      </p:tavLst>
                                    </p:anim>
                                    <p:animEffect transition="in" filter="fade">
                                      <p:cBhvr>
                                        <p:cTn id="34" dur="500"/>
                                        <p:tgtEl>
                                          <p:spTgt spid="20"/>
                                        </p:tgtEl>
                                      </p:cBhvr>
                                    </p:animEffect>
                                  </p:childTnLst>
                                </p:cTn>
                              </p:par>
                              <p:par>
                                <p:cTn id="35" presetID="58" presetClass="entr" presetSubtype="0" accel="100000" fill="hold" nodeType="withEffect">
                                  <p:stCondLst>
                                    <p:cond delay="7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strVal val="#ppt_w*2.5"/>
                                          </p:val>
                                        </p:tav>
                                        <p:tav tm="100000">
                                          <p:val>
                                            <p:strVal val="#ppt_w"/>
                                          </p:val>
                                        </p:tav>
                                      </p:tavLst>
                                    </p:anim>
                                    <p:anim calcmode="lin" valueType="num">
                                      <p:cBhvr>
                                        <p:cTn id="38" dur="500" fill="hold"/>
                                        <p:tgtEl>
                                          <p:spTgt spid="24"/>
                                        </p:tgtEl>
                                        <p:attrNameLst>
                                          <p:attrName>ppt_h</p:attrName>
                                        </p:attrNameLst>
                                      </p:cBhvr>
                                      <p:tavLst>
                                        <p:tav tm="0">
                                          <p:val>
                                            <p:strVal val="#ppt_h*0.01"/>
                                          </p:val>
                                        </p:tav>
                                        <p:tav tm="100000">
                                          <p:val>
                                            <p:strVal val="#ppt_h"/>
                                          </p:val>
                                        </p:tav>
                                      </p:tavLst>
                                    </p:anim>
                                    <p:anim calcmode="lin" valueType="num">
                                      <p:cBhvr>
                                        <p:cTn id="39" dur="500" fill="hold"/>
                                        <p:tgtEl>
                                          <p:spTgt spid="24"/>
                                        </p:tgtEl>
                                        <p:attrNameLst>
                                          <p:attrName>ppt_x</p:attrName>
                                        </p:attrNameLst>
                                      </p:cBhvr>
                                      <p:tavLst>
                                        <p:tav tm="0">
                                          <p:val>
                                            <p:strVal val="#ppt_x"/>
                                          </p:val>
                                        </p:tav>
                                        <p:tav tm="100000">
                                          <p:val>
                                            <p:strVal val="#ppt_x"/>
                                          </p:val>
                                        </p:tav>
                                      </p:tavLst>
                                    </p:anim>
                                    <p:anim calcmode="lin" valueType="num">
                                      <p:cBhvr>
                                        <p:cTn id="40" dur="500" fill="hold"/>
                                        <p:tgtEl>
                                          <p:spTgt spid="24"/>
                                        </p:tgtEl>
                                        <p:attrNameLst>
                                          <p:attrName>ppt_y</p:attrName>
                                        </p:attrNameLst>
                                      </p:cBhvr>
                                      <p:tavLst>
                                        <p:tav tm="0">
                                          <p:val>
                                            <p:strVal val="#ppt_h+1"/>
                                          </p:val>
                                        </p:tav>
                                        <p:tav tm="100000">
                                          <p:val>
                                            <p:strVal val="#ppt_y"/>
                                          </p:val>
                                        </p:tav>
                                      </p:tavLst>
                                    </p:anim>
                                    <p:animEffect transition="in" filter="fade">
                                      <p:cBhvr>
                                        <p:cTn id="41" dur="500"/>
                                        <p:tgtEl>
                                          <p:spTgt spid="24"/>
                                        </p:tgtEl>
                                      </p:cBhvr>
                                    </p:animEffect>
                                  </p:childTnLst>
                                </p:cTn>
                              </p:par>
                              <p:par>
                                <p:cTn id="42" presetID="58" presetClass="entr" presetSubtype="0" accel="100000" fill="hold" nodeType="withEffect">
                                  <p:stCondLst>
                                    <p:cond delay="7600"/>
                                  </p:stCondLst>
                                  <p:childTnLst>
                                    <p:set>
                                      <p:cBhvr>
                                        <p:cTn id="43" dur="1" fill="hold">
                                          <p:stCondLst>
                                            <p:cond delay="0"/>
                                          </p:stCondLst>
                                        </p:cTn>
                                        <p:tgtEl>
                                          <p:spTgt spid="28"/>
                                        </p:tgtEl>
                                        <p:attrNameLst>
                                          <p:attrName>style.visibility</p:attrName>
                                        </p:attrNameLst>
                                      </p:cBhvr>
                                      <p:to>
                                        <p:strVal val="visible"/>
                                      </p:to>
                                    </p:set>
                                    <p:anim calcmode="lin" valueType="num">
                                      <p:cBhvr>
                                        <p:cTn id="44" dur="500" fill="hold"/>
                                        <p:tgtEl>
                                          <p:spTgt spid="28"/>
                                        </p:tgtEl>
                                        <p:attrNameLst>
                                          <p:attrName>ppt_w</p:attrName>
                                        </p:attrNameLst>
                                      </p:cBhvr>
                                      <p:tavLst>
                                        <p:tav tm="0">
                                          <p:val>
                                            <p:strVal val="#ppt_w*2.5"/>
                                          </p:val>
                                        </p:tav>
                                        <p:tav tm="100000">
                                          <p:val>
                                            <p:strVal val="#ppt_w"/>
                                          </p:val>
                                        </p:tav>
                                      </p:tavLst>
                                    </p:anim>
                                    <p:anim calcmode="lin" valueType="num">
                                      <p:cBhvr>
                                        <p:cTn id="45" dur="500" fill="hold"/>
                                        <p:tgtEl>
                                          <p:spTgt spid="28"/>
                                        </p:tgtEl>
                                        <p:attrNameLst>
                                          <p:attrName>ppt_h</p:attrName>
                                        </p:attrNameLst>
                                      </p:cBhvr>
                                      <p:tavLst>
                                        <p:tav tm="0">
                                          <p:val>
                                            <p:strVal val="#ppt_h*0.01"/>
                                          </p:val>
                                        </p:tav>
                                        <p:tav tm="100000">
                                          <p:val>
                                            <p:strVal val="#ppt_h"/>
                                          </p:val>
                                        </p:tav>
                                      </p:tavLst>
                                    </p:anim>
                                    <p:anim calcmode="lin" valueType="num">
                                      <p:cBhvr>
                                        <p:cTn id="46" dur="500" fill="hold"/>
                                        <p:tgtEl>
                                          <p:spTgt spid="28"/>
                                        </p:tgtEl>
                                        <p:attrNameLst>
                                          <p:attrName>ppt_x</p:attrName>
                                        </p:attrNameLst>
                                      </p:cBhvr>
                                      <p:tavLst>
                                        <p:tav tm="0">
                                          <p:val>
                                            <p:strVal val="#ppt_x"/>
                                          </p:val>
                                        </p:tav>
                                        <p:tav tm="100000">
                                          <p:val>
                                            <p:strVal val="#ppt_x"/>
                                          </p:val>
                                        </p:tav>
                                      </p:tavLst>
                                    </p:anim>
                                    <p:anim calcmode="lin" valueType="num">
                                      <p:cBhvr>
                                        <p:cTn id="47" dur="500" fill="hold"/>
                                        <p:tgtEl>
                                          <p:spTgt spid="28"/>
                                        </p:tgtEl>
                                        <p:attrNameLst>
                                          <p:attrName>ppt_y</p:attrName>
                                        </p:attrNameLst>
                                      </p:cBhvr>
                                      <p:tavLst>
                                        <p:tav tm="0">
                                          <p:val>
                                            <p:strVal val="#ppt_h+1"/>
                                          </p:val>
                                        </p:tav>
                                        <p:tav tm="100000">
                                          <p:val>
                                            <p:strVal val="#ppt_y"/>
                                          </p:val>
                                        </p:tav>
                                      </p:tavLst>
                                    </p:anim>
                                    <p:animEffect transition="in" filter="fade">
                                      <p:cBhvr>
                                        <p:cTn id="48" dur="500"/>
                                        <p:tgtEl>
                                          <p:spTgt spid="28"/>
                                        </p:tgtEl>
                                      </p:cBhvr>
                                    </p:animEffect>
                                  </p:childTnLst>
                                </p:cTn>
                              </p:par>
                              <p:par>
                                <p:cTn id="49" presetID="58" presetClass="entr" presetSubtype="0" accel="100000" fill="hold" nodeType="withEffect">
                                  <p:stCondLst>
                                    <p:cond delay="8000"/>
                                  </p:stCondLst>
                                  <p:childTnLst>
                                    <p:set>
                                      <p:cBhvr>
                                        <p:cTn id="50" dur="1" fill="hold">
                                          <p:stCondLst>
                                            <p:cond delay="0"/>
                                          </p:stCondLst>
                                        </p:cTn>
                                        <p:tgtEl>
                                          <p:spTgt spid="32"/>
                                        </p:tgtEl>
                                        <p:attrNameLst>
                                          <p:attrName>style.visibility</p:attrName>
                                        </p:attrNameLst>
                                      </p:cBhvr>
                                      <p:to>
                                        <p:strVal val="visible"/>
                                      </p:to>
                                    </p:set>
                                    <p:anim calcmode="lin" valueType="num">
                                      <p:cBhvr>
                                        <p:cTn id="51" dur="500" fill="hold"/>
                                        <p:tgtEl>
                                          <p:spTgt spid="32"/>
                                        </p:tgtEl>
                                        <p:attrNameLst>
                                          <p:attrName>ppt_w</p:attrName>
                                        </p:attrNameLst>
                                      </p:cBhvr>
                                      <p:tavLst>
                                        <p:tav tm="0">
                                          <p:val>
                                            <p:strVal val="#ppt_w*2.5"/>
                                          </p:val>
                                        </p:tav>
                                        <p:tav tm="100000">
                                          <p:val>
                                            <p:strVal val="#ppt_w"/>
                                          </p:val>
                                        </p:tav>
                                      </p:tavLst>
                                    </p:anim>
                                    <p:anim calcmode="lin" valueType="num">
                                      <p:cBhvr>
                                        <p:cTn id="52" dur="500" fill="hold"/>
                                        <p:tgtEl>
                                          <p:spTgt spid="32"/>
                                        </p:tgtEl>
                                        <p:attrNameLst>
                                          <p:attrName>ppt_h</p:attrName>
                                        </p:attrNameLst>
                                      </p:cBhvr>
                                      <p:tavLst>
                                        <p:tav tm="0">
                                          <p:val>
                                            <p:strVal val="#ppt_h*0.01"/>
                                          </p:val>
                                        </p:tav>
                                        <p:tav tm="100000">
                                          <p:val>
                                            <p:strVal val="#ppt_h"/>
                                          </p:val>
                                        </p:tav>
                                      </p:tavLst>
                                    </p:anim>
                                    <p:anim calcmode="lin" valueType="num">
                                      <p:cBhvr>
                                        <p:cTn id="53" dur="500" fill="hold"/>
                                        <p:tgtEl>
                                          <p:spTgt spid="32"/>
                                        </p:tgtEl>
                                        <p:attrNameLst>
                                          <p:attrName>ppt_x</p:attrName>
                                        </p:attrNameLst>
                                      </p:cBhvr>
                                      <p:tavLst>
                                        <p:tav tm="0">
                                          <p:val>
                                            <p:strVal val="#ppt_x"/>
                                          </p:val>
                                        </p:tav>
                                        <p:tav tm="100000">
                                          <p:val>
                                            <p:strVal val="#ppt_x"/>
                                          </p:val>
                                        </p:tav>
                                      </p:tavLst>
                                    </p:anim>
                                    <p:anim calcmode="lin" valueType="num">
                                      <p:cBhvr>
                                        <p:cTn id="54" dur="500" fill="hold"/>
                                        <p:tgtEl>
                                          <p:spTgt spid="32"/>
                                        </p:tgtEl>
                                        <p:attrNameLst>
                                          <p:attrName>ppt_y</p:attrName>
                                        </p:attrNameLst>
                                      </p:cBhvr>
                                      <p:tavLst>
                                        <p:tav tm="0">
                                          <p:val>
                                            <p:strVal val="#ppt_h+1"/>
                                          </p:val>
                                        </p:tav>
                                        <p:tav tm="100000">
                                          <p:val>
                                            <p:strVal val="#ppt_y"/>
                                          </p:val>
                                        </p:tav>
                                      </p:tavLst>
                                    </p:anim>
                                    <p:animEffect transition="in" filter="fade">
                                      <p:cBhvr>
                                        <p:cTn id="55" dur="500"/>
                                        <p:tgtEl>
                                          <p:spTgt spid="32"/>
                                        </p:tgtEl>
                                      </p:cBhvr>
                                    </p:animEffect>
                                  </p:childTnLst>
                                </p:cTn>
                              </p:par>
                              <p:par>
                                <p:cTn id="56" presetID="58" presetClass="entr" presetSubtype="0" accel="100000" fill="hold" nodeType="withEffect">
                                  <p:stCondLst>
                                    <p:cond delay="8800"/>
                                  </p:stCondLst>
                                  <p:childTnLst>
                                    <p:set>
                                      <p:cBhvr>
                                        <p:cTn id="57" dur="1" fill="hold">
                                          <p:stCondLst>
                                            <p:cond delay="0"/>
                                          </p:stCondLst>
                                        </p:cTn>
                                        <p:tgtEl>
                                          <p:spTgt spid="36"/>
                                        </p:tgtEl>
                                        <p:attrNameLst>
                                          <p:attrName>style.visibility</p:attrName>
                                        </p:attrNameLst>
                                      </p:cBhvr>
                                      <p:to>
                                        <p:strVal val="visible"/>
                                      </p:to>
                                    </p:set>
                                    <p:anim calcmode="lin" valueType="num">
                                      <p:cBhvr>
                                        <p:cTn id="58" dur="500" fill="hold"/>
                                        <p:tgtEl>
                                          <p:spTgt spid="36"/>
                                        </p:tgtEl>
                                        <p:attrNameLst>
                                          <p:attrName>ppt_w</p:attrName>
                                        </p:attrNameLst>
                                      </p:cBhvr>
                                      <p:tavLst>
                                        <p:tav tm="0">
                                          <p:val>
                                            <p:strVal val="#ppt_w*2.5"/>
                                          </p:val>
                                        </p:tav>
                                        <p:tav tm="100000">
                                          <p:val>
                                            <p:strVal val="#ppt_w"/>
                                          </p:val>
                                        </p:tav>
                                      </p:tavLst>
                                    </p:anim>
                                    <p:anim calcmode="lin" valueType="num">
                                      <p:cBhvr>
                                        <p:cTn id="59" dur="500" fill="hold"/>
                                        <p:tgtEl>
                                          <p:spTgt spid="36"/>
                                        </p:tgtEl>
                                        <p:attrNameLst>
                                          <p:attrName>ppt_h</p:attrName>
                                        </p:attrNameLst>
                                      </p:cBhvr>
                                      <p:tavLst>
                                        <p:tav tm="0">
                                          <p:val>
                                            <p:strVal val="#ppt_h*0.01"/>
                                          </p:val>
                                        </p:tav>
                                        <p:tav tm="100000">
                                          <p:val>
                                            <p:strVal val="#ppt_h"/>
                                          </p:val>
                                        </p:tav>
                                      </p:tavLst>
                                    </p:anim>
                                    <p:anim calcmode="lin" valueType="num">
                                      <p:cBhvr>
                                        <p:cTn id="60" dur="500" fill="hold"/>
                                        <p:tgtEl>
                                          <p:spTgt spid="36"/>
                                        </p:tgtEl>
                                        <p:attrNameLst>
                                          <p:attrName>ppt_x</p:attrName>
                                        </p:attrNameLst>
                                      </p:cBhvr>
                                      <p:tavLst>
                                        <p:tav tm="0">
                                          <p:val>
                                            <p:strVal val="#ppt_x"/>
                                          </p:val>
                                        </p:tav>
                                        <p:tav tm="100000">
                                          <p:val>
                                            <p:strVal val="#ppt_x"/>
                                          </p:val>
                                        </p:tav>
                                      </p:tavLst>
                                    </p:anim>
                                    <p:anim calcmode="lin" valueType="num">
                                      <p:cBhvr>
                                        <p:cTn id="61" dur="500" fill="hold"/>
                                        <p:tgtEl>
                                          <p:spTgt spid="36"/>
                                        </p:tgtEl>
                                        <p:attrNameLst>
                                          <p:attrName>ppt_y</p:attrName>
                                        </p:attrNameLst>
                                      </p:cBhvr>
                                      <p:tavLst>
                                        <p:tav tm="0">
                                          <p:val>
                                            <p:strVal val="#ppt_h+1"/>
                                          </p:val>
                                        </p:tav>
                                        <p:tav tm="100000">
                                          <p:val>
                                            <p:strVal val="#ppt_y"/>
                                          </p:val>
                                        </p:tav>
                                      </p:tavLst>
                                    </p:anim>
                                    <p:animEffect transition="in" filter="fade">
                                      <p:cBhvr>
                                        <p:cTn id="62" dur="500"/>
                                        <p:tgtEl>
                                          <p:spTgt spid="36"/>
                                        </p:tgtEl>
                                      </p:cBhvr>
                                    </p:animEffect>
                                  </p:childTnLst>
                                </p:cTn>
                              </p:par>
                              <p:par>
                                <p:cTn id="63" presetID="58" presetClass="entr" presetSubtype="0" accel="100000" fill="hold" nodeType="withEffect">
                                  <p:stCondLst>
                                    <p:cond delay="9600"/>
                                  </p:stCondLst>
                                  <p:childTnLst>
                                    <p:set>
                                      <p:cBhvr>
                                        <p:cTn id="64" dur="1" fill="hold">
                                          <p:stCondLst>
                                            <p:cond delay="0"/>
                                          </p:stCondLst>
                                        </p:cTn>
                                        <p:tgtEl>
                                          <p:spTgt spid="41"/>
                                        </p:tgtEl>
                                        <p:attrNameLst>
                                          <p:attrName>style.visibility</p:attrName>
                                        </p:attrNameLst>
                                      </p:cBhvr>
                                      <p:to>
                                        <p:strVal val="visible"/>
                                      </p:to>
                                    </p:set>
                                    <p:anim calcmode="lin" valueType="num">
                                      <p:cBhvr>
                                        <p:cTn id="65" dur="500" fill="hold"/>
                                        <p:tgtEl>
                                          <p:spTgt spid="41"/>
                                        </p:tgtEl>
                                        <p:attrNameLst>
                                          <p:attrName>ppt_w</p:attrName>
                                        </p:attrNameLst>
                                      </p:cBhvr>
                                      <p:tavLst>
                                        <p:tav tm="0">
                                          <p:val>
                                            <p:strVal val="#ppt_w*2.5"/>
                                          </p:val>
                                        </p:tav>
                                        <p:tav tm="100000">
                                          <p:val>
                                            <p:strVal val="#ppt_w"/>
                                          </p:val>
                                        </p:tav>
                                      </p:tavLst>
                                    </p:anim>
                                    <p:anim calcmode="lin" valueType="num">
                                      <p:cBhvr>
                                        <p:cTn id="66" dur="500" fill="hold"/>
                                        <p:tgtEl>
                                          <p:spTgt spid="41"/>
                                        </p:tgtEl>
                                        <p:attrNameLst>
                                          <p:attrName>ppt_h</p:attrName>
                                        </p:attrNameLst>
                                      </p:cBhvr>
                                      <p:tavLst>
                                        <p:tav tm="0">
                                          <p:val>
                                            <p:strVal val="#ppt_h*0.01"/>
                                          </p:val>
                                        </p:tav>
                                        <p:tav tm="100000">
                                          <p:val>
                                            <p:strVal val="#ppt_h"/>
                                          </p:val>
                                        </p:tav>
                                      </p:tavLst>
                                    </p:anim>
                                    <p:anim calcmode="lin" valueType="num">
                                      <p:cBhvr>
                                        <p:cTn id="67" dur="500" fill="hold"/>
                                        <p:tgtEl>
                                          <p:spTgt spid="41"/>
                                        </p:tgtEl>
                                        <p:attrNameLst>
                                          <p:attrName>ppt_x</p:attrName>
                                        </p:attrNameLst>
                                      </p:cBhvr>
                                      <p:tavLst>
                                        <p:tav tm="0">
                                          <p:val>
                                            <p:strVal val="#ppt_x"/>
                                          </p:val>
                                        </p:tav>
                                        <p:tav tm="100000">
                                          <p:val>
                                            <p:strVal val="#ppt_x"/>
                                          </p:val>
                                        </p:tav>
                                      </p:tavLst>
                                    </p:anim>
                                    <p:anim calcmode="lin" valueType="num">
                                      <p:cBhvr>
                                        <p:cTn id="68" dur="500" fill="hold"/>
                                        <p:tgtEl>
                                          <p:spTgt spid="41"/>
                                        </p:tgtEl>
                                        <p:attrNameLst>
                                          <p:attrName>ppt_y</p:attrName>
                                        </p:attrNameLst>
                                      </p:cBhvr>
                                      <p:tavLst>
                                        <p:tav tm="0">
                                          <p:val>
                                            <p:strVal val="#ppt_h+1"/>
                                          </p:val>
                                        </p:tav>
                                        <p:tav tm="100000">
                                          <p:val>
                                            <p:strVal val="#ppt_y"/>
                                          </p:val>
                                        </p:tav>
                                      </p:tavLst>
                                    </p:anim>
                                    <p:animEffect transition="in" filter="fade">
                                      <p:cBhvr>
                                        <p:cTn id="69" dur="500"/>
                                        <p:tgtEl>
                                          <p:spTgt spid="41"/>
                                        </p:tgtEl>
                                      </p:cBhvr>
                                    </p:animEffect>
                                  </p:childTnLst>
                                </p:cTn>
                              </p:par>
                              <p:par>
                                <p:cTn id="70" presetID="10" presetClass="entr" presetSubtype="0" fill="hold" nodeType="withEffect">
                                  <p:stCondLst>
                                    <p:cond delay="1460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600"/>
                                        <p:tgtEl>
                                          <p:spTgt spid="44"/>
                                        </p:tgtEl>
                                      </p:cBhvr>
                                    </p:animEffect>
                                  </p:childTnLst>
                                </p:cTn>
                              </p:par>
                              <p:par>
                                <p:cTn id="73" presetID="58" presetClass="entr" presetSubtype="0" accel="100000" fill="hold" nodeType="withEffect">
                                  <p:stCondLst>
                                    <p:cond delay="16000"/>
                                  </p:stCondLst>
                                  <p:childTnLst>
                                    <p:set>
                                      <p:cBhvr>
                                        <p:cTn id="74" dur="1" fill="hold">
                                          <p:stCondLst>
                                            <p:cond delay="0"/>
                                          </p:stCondLst>
                                        </p:cTn>
                                        <p:tgtEl>
                                          <p:spTgt spid="48"/>
                                        </p:tgtEl>
                                        <p:attrNameLst>
                                          <p:attrName>style.visibility</p:attrName>
                                        </p:attrNameLst>
                                      </p:cBhvr>
                                      <p:to>
                                        <p:strVal val="visible"/>
                                      </p:to>
                                    </p:set>
                                    <p:anim calcmode="lin" valueType="num">
                                      <p:cBhvr>
                                        <p:cTn id="75" dur="500" fill="hold"/>
                                        <p:tgtEl>
                                          <p:spTgt spid="48"/>
                                        </p:tgtEl>
                                        <p:attrNameLst>
                                          <p:attrName>ppt_w</p:attrName>
                                        </p:attrNameLst>
                                      </p:cBhvr>
                                      <p:tavLst>
                                        <p:tav tm="0">
                                          <p:val>
                                            <p:strVal val="#ppt_w*2.5"/>
                                          </p:val>
                                        </p:tav>
                                        <p:tav tm="100000">
                                          <p:val>
                                            <p:strVal val="#ppt_w"/>
                                          </p:val>
                                        </p:tav>
                                      </p:tavLst>
                                    </p:anim>
                                    <p:anim calcmode="lin" valueType="num">
                                      <p:cBhvr>
                                        <p:cTn id="76" dur="500" fill="hold"/>
                                        <p:tgtEl>
                                          <p:spTgt spid="48"/>
                                        </p:tgtEl>
                                        <p:attrNameLst>
                                          <p:attrName>ppt_h</p:attrName>
                                        </p:attrNameLst>
                                      </p:cBhvr>
                                      <p:tavLst>
                                        <p:tav tm="0">
                                          <p:val>
                                            <p:strVal val="#ppt_h*0.01"/>
                                          </p:val>
                                        </p:tav>
                                        <p:tav tm="100000">
                                          <p:val>
                                            <p:strVal val="#ppt_h"/>
                                          </p:val>
                                        </p:tav>
                                      </p:tavLst>
                                    </p:anim>
                                    <p:anim calcmode="lin" valueType="num">
                                      <p:cBhvr>
                                        <p:cTn id="77" dur="500" fill="hold"/>
                                        <p:tgtEl>
                                          <p:spTgt spid="48"/>
                                        </p:tgtEl>
                                        <p:attrNameLst>
                                          <p:attrName>ppt_x</p:attrName>
                                        </p:attrNameLst>
                                      </p:cBhvr>
                                      <p:tavLst>
                                        <p:tav tm="0">
                                          <p:val>
                                            <p:strVal val="#ppt_x"/>
                                          </p:val>
                                        </p:tav>
                                        <p:tav tm="100000">
                                          <p:val>
                                            <p:strVal val="#ppt_x"/>
                                          </p:val>
                                        </p:tav>
                                      </p:tavLst>
                                    </p:anim>
                                    <p:anim calcmode="lin" valueType="num">
                                      <p:cBhvr>
                                        <p:cTn id="78" dur="500" fill="hold"/>
                                        <p:tgtEl>
                                          <p:spTgt spid="48"/>
                                        </p:tgtEl>
                                        <p:attrNameLst>
                                          <p:attrName>ppt_y</p:attrName>
                                        </p:attrNameLst>
                                      </p:cBhvr>
                                      <p:tavLst>
                                        <p:tav tm="0">
                                          <p:val>
                                            <p:strVal val="#ppt_h+1"/>
                                          </p:val>
                                        </p:tav>
                                        <p:tav tm="100000">
                                          <p:val>
                                            <p:strVal val="#ppt_y"/>
                                          </p:val>
                                        </p:tav>
                                      </p:tavLst>
                                    </p:anim>
                                    <p:animEffect transition="in" filter="fade">
                                      <p:cBhvr>
                                        <p:cTn id="79" dur="500"/>
                                        <p:tgtEl>
                                          <p:spTgt spid="48"/>
                                        </p:tgtEl>
                                      </p:cBhvr>
                                    </p:animEffect>
                                  </p:childTnLst>
                                </p:cTn>
                              </p:par>
                              <p:par>
                                <p:cTn id="80" presetID="58" presetClass="entr" presetSubtype="0" accel="100000" fill="hold" nodeType="withEffect">
                                  <p:stCondLst>
                                    <p:cond delay="16400"/>
                                  </p:stCondLst>
                                  <p:childTnLst>
                                    <p:set>
                                      <p:cBhvr>
                                        <p:cTn id="81" dur="1" fill="hold">
                                          <p:stCondLst>
                                            <p:cond delay="0"/>
                                          </p:stCondLst>
                                        </p:cTn>
                                        <p:tgtEl>
                                          <p:spTgt spid="52"/>
                                        </p:tgtEl>
                                        <p:attrNameLst>
                                          <p:attrName>style.visibility</p:attrName>
                                        </p:attrNameLst>
                                      </p:cBhvr>
                                      <p:to>
                                        <p:strVal val="visible"/>
                                      </p:to>
                                    </p:set>
                                    <p:anim calcmode="lin" valueType="num">
                                      <p:cBhvr>
                                        <p:cTn id="82" dur="500" fill="hold"/>
                                        <p:tgtEl>
                                          <p:spTgt spid="52"/>
                                        </p:tgtEl>
                                        <p:attrNameLst>
                                          <p:attrName>ppt_w</p:attrName>
                                        </p:attrNameLst>
                                      </p:cBhvr>
                                      <p:tavLst>
                                        <p:tav tm="0">
                                          <p:val>
                                            <p:strVal val="#ppt_w*2.5"/>
                                          </p:val>
                                        </p:tav>
                                        <p:tav tm="100000">
                                          <p:val>
                                            <p:strVal val="#ppt_w"/>
                                          </p:val>
                                        </p:tav>
                                      </p:tavLst>
                                    </p:anim>
                                    <p:anim calcmode="lin" valueType="num">
                                      <p:cBhvr>
                                        <p:cTn id="83" dur="500" fill="hold"/>
                                        <p:tgtEl>
                                          <p:spTgt spid="52"/>
                                        </p:tgtEl>
                                        <p:attrNameLst>
                                          <p:attrName>ppt_h</p:attrName>
                                        </p:attrNameLst>
                                      </p:cBhvr>
                                      <p:tavLst>
                                        <p:tav tm="0">
                                          <p:val>
                                            <p:strVal val="#ppt_h*0.01"/>
                                          </p:val>
                                        </p:tav>
                                        <p:tav tm="100000">
                                          <p:val>
                                            <p:strVal val="#ppt_h"/>
                                          </p:val>
                                        </p:tav>
                                      </p:tavLst>
                                    </p:anim>
                                    <p:anim calcmode="lin" valueType="num">
                                      <p:cBhvr>
                                        <p:cTn id="84" dur="500" fill="hold"/>
                                        <p:tgtEl>
                                          <p:spTgt spid="52"/>
                                        </p:tgtEl>
                                        <p:attrNameLst>
                                          <p:attrName>ppt_x</p:attrName>
                                        </p:attrNameLst>
                                      </p:cBhvr>
                                      <p:tavLst>
                                        <p:tav tm="0">
                                          <p:val>
                                            <p:strVal val="#ppt_x"/>
                                          </p:val>
                                        </p:tav>
                                        <p:tav tm="100000">
                                          <p:val>
                                            <p:strVal val="#ppt_x"/>
                                          </p:val>
                                        </p:tav>
                                      </p:tavLst>
                                    </p:anim>
                                    <p:anim calcmode="lin" valueType="num">
                                      <p:cBhvr>
                                        <p:cTn id="85" dur="500" fill="hold"/>
                                        <p:tgtEl>
                                          <p:spTgt spid="52"/>
                                        </p:tgtEl>
                                        <p:attrNameLst>
                                          <p:attrName>ppt_y</p:attrName>
                                        </p:attrNameLst>
                                      </p:cBhvr>
                                      <p:tavLst>
                                        <p:tav tm="0">
                                          <p:val>
                                            <p:strVal val="#ppt_h+1"/>
                                          </p:val>
                                        </p:tav>
                                        <p:tav tm="100000">
                                          <p:val>
                                            <p:strVal val="#ppt_y"/>
                                          </p:val>
                                        </p:tav>
                                      </p:tavLst>
                                    </p:anim>
                                    <p:animEffect transition="in" filter="fade">
                                      <p:cBhvr>
                                        <p:cTn id="86" dur="500"/>
                                        <p:tgtEl>
                                          <p:spTgt spid="52"/>
                                        </p:tgtEl>
                                      </p:cBhvr>
                                    </p:animEffect>
                                  </p:childTnLst>
                                </p:cTn>
                              </p:par>
                              <p:par>
                                <p:cTn id="87" presetID="58" presetClass="entr" presetSubtype="0" accel="100000" fill="hold" nodeType="withEffect">
                                  <p:stCondLst>
                                    <p:cond delay="17600"/>
                                  </p:stCondLst>
                                  <p:childTnLst>
                                    <p:set>
                                      <p:cBhvr>
                                        <p:cTn id="88" dur="1" fill="hold">
                                          <p:stCondLst>
                                            <p:cond delay="0"/>
                                          </p:stCondLst>
                                        </p:cTn>
                                        <p:tgtEl>
                                          <p:spTgt spid="56"/>
                                        </p:tgtEl>
                                        <p:attrNameLst>
                                          <p:attrName>style.visibility</p:attrName>
                                        </p:attrNameLst>
                                      </p:cBhvr>
                                      <p:to>
                                        <p:strVal val="visible"/>
                                      </p:to>
                                    </p:set>
                                    <p:anim calcmode="lin" valueType="num">
                                      <p:cBhvr>
                                        <p:cTn id="89" dur="500" fill="hold"/>
                                        <p:tgtEl>
                                          <p:spTgt spid="56"/>
                                        </p:tgtEl>
                                        <p:attrNameLst>
                                          <p:attrName>ppt_w</p:attrName>
                                        </p:attrNameLst>
                                      </p:cBhvr>
                                      <p:tavLst>
                                        <p:tav tm="0">
                                          <p:val>
                                            <p:strVal val="#ppt_w*2.5"/>
                                          </p:val>
                                        </p:tav>
                                        <p:tav tm="100000">
                                          <p:val>
                                            <p:strVal val="#ppt_w"/>
                                          </p:val>
                                        </p:tav>
                                      </p:tavLst>
                                    </p:anim>
                                    <p:anim calcmode="lin" valueType="num">
                                      <p:cBhvr>
                                        <p:cTn id="90" dur="500" fill="hold"/>
                                        <p:tgtEl>
                                          <p:spTgt spid="56"/>
                                        </p:tgtEl>
                                        <p:attrNameLst>
                                          <p:attrName>ppt_h</p:attrName>
                                        </p:attrNameLst>
                                      </p:cBhvr>
                                      <p:tavLst>
                                        <p:tav tm="0">
                                          <p:val>
                                            <p:strVal val="#ppt_h*0.01"/>
                                          </p:val>
                                        </p:tav>
                                        <p:tav tm="100000">
                                          <p:val>
                                            <p:strVal val="#ppt_h"/>
                                          </p:val>
                                        </p:tav>
                                      </p:tavLst>
                                    </p:anim>
                                    <p:anim calcmode="lin" valueType="num">
                                      <p:cBhvr>
                                        <p:cTn id="91" dur="500" fill="hold"/>
                                        <p:tgtEl>
                                          <p:spTgt spid="56"/>
                                        </p:tgtEl>
                                        <p:attrNameLst>
                                          <p:attrName>ppt_x</p:attrName>
                                        </p:attrNameLst>
                                      </p:cBhvr>
                                      <p:tavLst>
                                        <p:tav tm="0">
                                          <p:val>
                                            <p:strVal val="#ppt_x"/>
                                          </p:val>
                                        </p:tav>
                                        <p:tav tm="100000">
                                          <p:val>
                                            <p:strVal val="#ppt_x"/>
                                          </p:val>
                                        </p:tav>
                                      </p:tavLst>
                                    </p:anim>
                                    <p:anim calcmode="lin" valueType="num">
                                      <p:cBhvr>
                                        <p:cTn id="92" dur="500" fill="hold"/>
                                        <p:tgtEl>
                                          <p:spTgt spid="56"/>
                                        </p:tgtEl>
                                        <p:attrNameLst>
                                          <p:attrName>ppt_y</p:attrName>
                                        </p:attrNameLst>
                                      </p:cBhvr>
                                      <p:tavLst>
                                        <p:tav tm="0">
                                          <p:val>
                                            <p:strVal val="#ppt_h+1"/>
                                          </p:val>
                                        </p:tav>
                                        <p:tav tm="100000">
                                          <p:val>
                                            <p:strVal val="#ppt_y"/>
                                          </p:val>
                                        </p:tav>
                                      </p:tavLst>
                                    </p:anim>
                                    <p:animEffect transition="in" filter="fade">
                                      <p:cBhvr>
                                        <p:cTn id="93" dur="500"/>
                                        <p:tgtEl>
                                          <p:spTgt spid="56"/>
                                        </p:tgtEl>
                                      </p:cBhvr>
                                    </p:animEffect>
                                  </p:childTnLst>
                                </p:cTn>
                              </p:par>
                              <p:par>
                                <p:cTn id="94" presetID="10" presetClass="entr" presetSubtype="0" fill="hold" nodeType="withEffect">
                                  <p:stCondLst>
                                    <p:cond delay="18200"/>
                                  </p:stCondLst>
                                  <p:childTnLst>
                                    <p:set>
                                      <p:cBhvr>
                                        <p:cTn id="95" dur="1" fill="hold">
                                          <p:stCondLst>
                                            <p:cond delay="0"/>
                                          </p:stCondLst>
                                        </p:cTn>
                                        <p:tgtEl>
                                          <p:spTgt spid="59"/>
                                        </p:tgtEl>
                                        <p:attrNameLst>
                                          <p:attrName>style.visibility</p:attrName>
                                        </p:attrNameLst>
                                      </p:cBhvr>
                                      <p:to>
                                        <p:strVal val="visible"/>
                                      </p:to>
                                    </p:set>
                                    <p:animEffect transition="in" filter="fade">
                                      <p:cBhvr>
                                        <p:cTn id="96" dur="600"/>
                                        <p:tgtEl>
                                          <p:spTgt spid="59"/>
                                        </p:tgtEl>
                                      </p:cBhvr>
                                    </p:animEffect>
                                  </p:childTnLst>
                                </p:cTn>
                              </p:par>
                              <p:par>
                                <p:cTn id="97" presetID="58" presetClass="entr" presetSubtype="0" accel="100000" fill="hold" nodeType="withEffect">
                                  <p:stCondLst>
                                    <p:cond delay="18400"/>
                                  </p:stCondLst>
                                  <p:childTnLst>
                                    <p:set>
                                      <p:cBhvr>
                                        <p:cTn id="98" dur="1" fill="hold">
                                          <p:stCondLst>
                                            <p:cond delay="0"/>
                                          </p:stCondLst>
                                        </p:cTn>
                                        <p:tgtEl>
                                          <p:spTgt spid="63"/>
                                        </p:tgtEl>
                                        <p:attrNameLst>
                                          <p:attrName>style.visibility</p:attrName>
                                        </p:attrNameLst>
                                      </p:cBhvr>
                                      <p:to>
                                        <p:strVal val="visible"/>
                                      </p:to>
                                    </p:set>
                                    <p:anim calcmode="lin" valueType="num">
                                      <p:cBhvr>
                                        <p:cTn id="99" dur="500" fill="hold"/>
                                        <p:tgtEl>
                                          <p:spTgt spid="63"/>
                                        </p:tgtEl>
                                        <p:attrNameLst>
                                          <p:attrName>ppt_w</p:attrName>
                                        </p:attrNameLst>
                                      </p:cBhvr>
                                      <p:tavLst>
                                        <p:tav tm="0">
                                          <p:val>
                                            <p:strVal val="#ppt_w*2.5"/>
                                          </p:val>
                                        </p:tav>
                                        <p:tav tm="100000">
                                          <p:val>
                                            <p:strVal val="#ppt_w"/>
                                          </p:val>
                                        </p:tav>
                                      </p:tavLst>
                                    </p:anim>
                                    <p:anim calcmode="lin" valueType="num">
                                      <p:cBhvr>
                                        <p:cTn id="100" dur="500" fill="hold"/>
                                        <p:tgtEl>
                                          <p:spTgt spid="63"/>
                                        </p:tgtEl>
                                        <p:attrNameLst>
                                          <p:attrName>ppt_h</p:attrName>
                                        </p:attrNameLst>
                                      </p:cBhvr>
                                      <p:tavLst>
                                        <p:tav tm="0">
                                          <p:val>
                                            <p:strVal val="#ppt_h*0.01"/>
                                          </p:val>
                                        </p:tav>
                                        <p:tav tm="100000">
                                          <p:val>
                                            <p:strVal val="#ppt_h"/>
                                          </p:val>
                                        </p:tav>
                                      </p:tavLst>
                                    </p:anim>
                                    <p:anim calcmode="lin" valueType="num">
                                      <p:cBhvr>
                                        <p:cTn id="101" dur="500" fill="hold"/>
                                        <p:tgtEl>
                                          <p:spTgt spid="63"/>
                                        </p:tgtEl>
                                        <p:attrNameLst>
                                          <p:attrName>ppt_x</p:attrName>
                                        </p:attrNameLst>
                                      </p:cBhvr>
                                      <p:tavLst>
                                        <p:tav tm="0">
                                          <p:val>
                                            <p:strVal val="#ppt_x"/>
                                          </p:val>
                                        </p:tav>
                                        <p:tav tm="100000">
                                          <p:val>
                                            <p:strVal val="#ppt_x"/>
                                          </p:val>
                                        </p:tav>
                                      </p:tavLst>
                                    </p:anim>
                                    <p:anim calcmode="lin" valueType="num">
                                      <p:cBhvr>
                                        <p:cTn id="102" dur="500" fill="hold"/>
                                        <p:tgtEl>
                                          <p:spTgt spid="63"/>
                                        </p:tgtEl>
                                        <p:attrNameLst>
                                          <p:attrName>ppt_y</p:attrName>
                                        </p:attrNameLst>
                                      </p:cBhvr>
                                      <p:tavLst>
                                        <p:tav tm="0">
                                          <p:val>
                                            <p:strVal val="#ppt_h+1"/>
                                          </p:val>
                                        </p:tav>
                                        <p:tav tm="100000">
                                          <p:val>
                                            <p:strVal val="#ppt_y"/>
                                          </p:val>
                                        </p:tav>
                                      </p:tavLst>
                                    </p:anim>
                                    <p:animEffect transition="in" filter="fade">
                                      <p:cBhvr>
                                        <p:cTn id="103" dur="500"/>
                                        <p:tgtEl>
                                          <p:spTgt spid="63"/>
                                        </p:tgtEl>
                                      </p:cBhvr>
                                    </p:animEffect>
                                  </p:childTnLst>
                                </p:cTn>
                              </p:par>
                              <p:par>
                                <p:cTn id="104" presetID="58" presetClass="entr" presetSubtype="0" accel="100000" fill="hold" nodeType="withEffect">
                                  <p:stCondLst>
                                    <p:cond delay="19200"/>
                                  </p:stCondLst>
                                  <p:childTnLst>
                                    <p:set>
                                      <p:cBhvr>
                                        <p:cTn id="105" dur="1" fill="hold">
                                          <p:stCondLst>
                                            <p:cond delay="0"/>
                                          </p:stCondLst>
                                        </p:cTn>
                                        <p:tgtEl>
                                          <p:spTgt spid="67"/>
                                        </p:tgtEl>
                                        <p:attrNameLst>
                                          <p:attrName>style.visibility</p:attrName>
                                        </p:attrNameLst>
                                      </p:cBhvr>
                                      <p:to>
                                        <p:strVal val="visible"/>
                                      </p:to>
                                    </p:set>
                                    <p:anim calcmode="lin" valueType="num">
                                      <p:cBhvr>
                                        <p:cTn id="106" dur="500" fill="hold"/>
                                        <p:tgtEl>
                                          <p:spTgt spid="67"/>
                                        </p:tgtEl>
                                        <p:attrNameLst>
                                          <p:attrName>ppt_w</p:attrName>
                                        </p:attrNameLst>
                                      </p:cBhvr>
                                      <p:tavLst>
                                        <p:tav tm="0">
                                          <p:val>
                                            <p:strVal val="#ppt_w*2.5"/>
                                          </p:val>
                                        </p:tav>
                                        <p:tav tm="100000">
                                          <p:val>
                                            <p:strVal val="#ppt_w"/>
                                          </p:val>
                                        </p:tav>
                                      </p:tavLst>
                                    </p:anim>
                                    <p:anim calcmode="lin" valueType="num">
                                      <p:cBhvr>
                                        <p:cTn id="107" dur="500" fill="hold"/>
                                        <p:tgtEl>
                                          <p:spTgt spid="67"/>
                                        </p:tgtEl>
                                        <p:attrNameLst>
                                          <p:attrName>ppt_h</p:attrName>
                                        </p:attrNameLst>
                                      </p:cBhvr>
                                      <p:tavLst>
                                        <p:tav tm="0">
                                          <p:val>
                                            <p:strVal val="#ppt_h*0.01"/>
                                          </p:val>
                                        </p:tav>
                                        <p:tav tm="100000">
                                          <p:val>
                                            <p:strVal val="#ppt_h"/>
                                          </p:val>
                                        </p:tav>
                                      </p:tavLst>
                                    </p:anim>
                                    <p:anim calcmode="lin" valueType="num">
                                      <p:cBhvr>
                                        <p:cTn id="108" dur="500" fill="hold"/>
                                        <p:tgtEl>
                                          <p:spTgt spid="67"/>
                                        </p:tgtEl>
                                        <p:attrNameLst>
                                          <p:attrName>ppt_x</p:attrName>
                                        </p:attrNameLst>
                                      </p:cBhvr>
                                      <p:tavLst>
                                        <p:tav tm="0">
                                          <p:val>
                                            <p:strVal val="#ppt_x"/>
                                          </p:val>
                                        </p:tav>
                                        <p:tav tm="100000">
                                          <p:val>
                                            <p:strVal val="#ppt_x"/>
                                          </p:val>
                                        </p:tav>
                                      </p:tavLst>
                                    </p:anim>
                                    <p:anim calcmode="lin" valueType="num">
                                      <p:cBhvr>
                                        <p:cTn id="109" dur="500" fill="hold"/>
                                        <p:tgtEl>
                                          <p:spTgt spid="67"/>
                                        </p:tgtEl>
                                        <p:attrNameLst>
                                          <p:attrName>ppt_y</p:attrName>
                                        </p:attrNameLst>
                                      </p:cBhvr>
                                      <p:tavLst>
                                        <p:tav tm="0">
                                          <p:val>
                                            <p:strVal val="#ppt_h+1"/>
                                          </p:val>
                                        </p:tav>
                                        <p:tav tm="100000">
                                          <p:val>
                                            <p:strVal val="#ppt_y"/>
                                          </p:val>
                                        </p:tav>
                                      </p:tavLst>
                                    </p:anim>
                                    <p:animEffect transition="in" filter="fade">
                                      <p:cBhvr>
                                        <p:cTn id="110" dur="500"/>
                                        <p:tgtEl>
                                          <p:spTgt spid="67"/>
                                        </p:tgtEl>
                                      </p:cBhvr>
                                    </p:animEffect>
                                  </p:childTnLst>
                                </p:cTn>
                              </p:par>
                              <p:par>
                                <p:cTn id="111" presetID="58" presetClass="entr" presetSubtype="0" accel="100000" fill="hold" nodeType="withEffect">
                                  <p:stCondLst>
                                    <p:cond delay="20400"/>
                                  </p:stCondLst>
                                  <p:childTnLst>
                                    <p:set>
                                      <p:cBhvr>
                                        <p:cTn id="112" dur="1" fill="hold">
                                          <p:stCondLst>
                                            <p:cond delay="0"/>
                                          </p:stCondLst>
                                        </p:cTn>
                                        <p:tgtEl>
                                          <p:spTgt spid="71"/>
                                        </p:tgtEl>
                                        <p:attrNameLst>
                                          <p:attrName>style.visibility</p:attrName>
                                        </p:attrNameLst>
                                      </p:cBhvr>
                                      <p:to>
                                        <p:strVal val="visible"/>
                                      </p:to>
                                    </p:set>
                                    <p:anim calcmode="lin" valueType="num">
                                      <p:cBhvr>
                                        <p:cTn id="113" dur="500" fill="hold"/>
                                        <p:tgtEl>
                                          <p:spTgt spid="71"/>
                                        </p:tgtEl>
                                        <p:attrNameLst>
                                          <p:attrName>ppt_w</p:attrName>
                                        </p:attrNameLst>
                                      </p:cBhvr>
                                      <p:tavLst>
                                        <p:tav tm="0">
                                          <p:val>
                                            <p:strVal val="#ppt_w*2.5"/>
                                          </p:val>
                                        </p:tav>
                                        <p:tav tm="100000">
                                          <p:val>
                                            <p:strVal val="#ppt_w"/>
                                          </p:val>
                                        </p:tav>
                                      </p:tavLst>
                                    </p:anim>
                                    <p:anim calcmode="lin" valueType="num">
                                      <p:cBhvr>
                                        <p:cTn id="114" dur="500" fill="hold"/>
                                        <p:tgtEl>
                                          <p:spTgt spid="71"/>
                                        </p:tgtEl>
                                        <p:attrNameLst>
                                          <p:attrName>ppt_h</p:attrName>
                                        </p:attrNameLst>
                                      </p:cBhvr>
                                      <p:tavLst>
                                        <p:tav tm="0">
                                          <p:val>
                                            <p:strVal val="#ppt_h*0.01"/>
                                          </p:val>
                                        </p:tav>
                                        <p:tav tm="100000">
                                          <p:val>
                                            <p:strVal val="#ppt_h"/>
                                          </p:val>
                                        </p:tav>
                                      </p:tavLst>
                                    </p:anim>
                                    <p:anim calcmode="lin" valueType="num">
                                      <p:cBhvr>
                                        <p:cTn id="115" dur="500" fill="hold"/>
                                        <p:tgtEl>
                                          <p:spTgt spid="71"/>
                                        </p:tgtEl>
                                        <p:attrNameLst>
                                          <p:attrName>ppt_x</p:attrName>
                                        </p:attrNameLst>
                                      </p:cBhvr>
                                      <p:tavLst>
                                        <p:tav tm="0">
                                          <p:val>
                                            <p:strVal val="#ppt_x"/>
                                          </p:val>
                                        </p:tav>
                                        <p:tav tm="100000">
                                          <p:val>
                                            <p:strVal val="#ppt_x"/>
                                          </p:val>
                                        </p:tav>
                                      </p:tavLst>
                                    </p:anim>
                                    <p:anim calcmode="lin" valueType="num">
                                      <p:cBhvr>
                                        <p:cTn id="116" dur="500" fill="hold"/>
                                        <p:tgtEl>
                                          <p:spTgt spid="71"/>
                                        </p:tgtEl>
                                        <p:attrNameLst>
                                          <p:attrName>ppt_y</p:attrName>
                                        </p:attrNameLst>
                                      </p:cBhvr>
                                      <p:tavLst>
                                        <p:tav tm="0">
                                          <p:val>
                                            <p:strVal val="#ppt_h+1"/>
                                          </p:val>
                                        </p:tav>
                                        <p:tav tm="100000">
                                          <p:val>
                                            <p:strVal val="#ppt_y"/>
                                          </p:val>
                                        </p:tav>
                                      </p:tavLst>
                                    </p:anim>
                                    <p:animEffect transition="in" filter="fade">
                                      <p:cBhvr>
                                        <p:cTn id="117" dur="500"/>
                                        <p:tgtEl>
                                          <p:spTgt spid="71"/>
                                        </p:tgtEl>
                                      </p:cBhvr>
                                    </p:animEffect>
                                  </p:childTnLst>
                                </p:cTn>
                              </p:par>
                              <p:par>
                                <p:cTn id="118" presetID="2" presetClass="entr" presetSubtype="4" fill="hold" nodeType="withEffect">
                                  <p:stCondLst>
                                    <p:cond delay="22000"/>
                                  </p:stCondLst>
                                  <p:childTnLst>
                                    <p:set>
                                      <p:cBhvr>
                                        <p:cTn id="119" dur="1" fill="hold">
                                          <p:stCondLst>
                                            <p:cond delay="0"/>
                                          </p:stCondLst>
                                        </p:cTn>
                                        <p:tgtEl>
                                          <p:spTgt spid="75"/>
                                        </p:tgtEl>
                                        <p:attrNameLst>
                                          <p:attrName>style.visibility</p:attrName>
                                        </p:attrNameLst>
                                      </p:cBhvr>
                                      <p:to>
                                        <p:strVal val="visible"/>
                                      </p:to>
                                    </p:set>
                                    <p:anim calcmode="lin" valueType="num">
                                      <p:cBhvr additive="base">
                                        <p:cTn id="120" dur="600" fill="hold"/>
                                        <p:tgtEl>
                                          <p:spTgt spid="75"/>
                                        </p:tgtEl>
                                        <p:attrNameLst>
                                          <p:attrName>ppt_x</p:attrName>
                                        </p:attrNameLst>
                                      </p:cBhvr>
                                      <p:tavLst>
                                        <p:tav tm="0">
                                          <p:val>
                                            <p:strVal val="#ppt_x"/>
                                          </p:val>
                                        </p:tav>
                                        <p:tav tm="100000">
                                          <p:val>
                                            <p:strVal val="#ppt_x"/>
                                          </p:val>
                                        </p:tav>
                                      </p:tavLst>
                                    </p:anim>
                                    <p:anim calcmode="lin" valueType="num">
                                      <p:cBhvr additive="base">
                                        <p:cTn id="121" dur="600" fill="hold"/>
                                        <p:tgtEl>
                                          <p:spTgt spid="75"/>
                                        </p:tgtEl>
                                        <p:attrNameLst>
                                          <p:attrName>ppt_y</p:attrName>
                                        </p:attrNameLst>
                                      </p:cBhvr>
                                      <p:tavLst>
                                        <p:tav tm="0">
                                          <p:val>
                                            <p:strVal val="1+#ppt_h/2"/>
                                          </p:val>
                                        </p:tav>
                                        <p:tav tm="100000">
                                          <p:val>
                                            <p:strVal val="#ppt_y"/>
                                          </p:val>
                                        </p:tav>
                                      </p:tavLst>
                                    </p:anim>
                                  </p:childTnLst>
                                </p:cTn>
                              </p:par>
                              <p:par>
                                <p:cTn id="122" presetID="10" presetClass="entr" presetSubtype="0" fill="hold" nodeType="withEffect">
                                  <p:stCondLst>
                                    <p:cond delay="25200"/>
                                  </p:stCondLst>
                                  <p:childTnLst>
                                    <p:set>
                                      <p:cBhvr>
                                        <p:cTn id="123" dur="1" fill="hold">
                                          <p:stCondLst>
                                            <p:cond delay="0"/>
                                          </p:stCondLst>
                                        </p:cTn>
                                        <p:tgtEl>
                                          <p:spTgt spid="78"/>
                                        </p:tgtEl>
                                        <p:attrNameLst>
                                          <p:attrName>style.visibility</p:attrName>
                                        </p:attrNameLst>
                                      </p:cBhvr>
                                      <p:to>
                                        <p:strVal val="visible"/>
                                      </p:to>
                                    </p:set>
                                    <p:animEffect transition="in" filter="fade">
                                      <p:cBhvr>
                                        <p:cTn id="124" dur="6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Measuring Canvas adoption</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A TOUR OF THE CANVAS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How do you measure Canvas adoption?</a:t>
            </a:r>
          </a:p>
        </p:txBody>
      </p:sp>
      <p:sp>
        <p:nvSpPr>
          <p:cNvPr id="6" name="Outcome"/>
          <p:cNvSpPr txBox="1"/>
          <p:nvPr/>
        </p:nvSpPr>
        <p:spPr>
          <a:xfrm>
            <a:off x="0" y="1841500"/>
            <a:ext cx="12192000" cy="381000"/>
          </a:xfrm>
          <a:prstGeom prst="rect">
            <a:avLst/>
          </a:prstGeom>
          <a:noFill/>
        </p:spPr>
        <p:txBody>
          <a:bodyPr wrap="square" lIns="0" tIns="0" rIns="0" bIns="0" anchor="t">
            <a:spAutoFit/>
          </a:bodyPr>
          <a:lstStyle/>
          <a:p>
            <a:pPr algn="ctr">
              <a:lnSpc>
                <a:spcPct val="115000"/>
              </a:lnSpc>
            </a:pPr>
            <a:r>
              <a:rPr sz="2200" b="1">
                <a:solidFill>
                  <a:srgbClr val="F2F5FB"/>
                </a:solidFill>
                <a:latin typeface="Segoe UI"/>
              </a:rPr>
              <a:t>Outcome: </a:t>
            </a:r>
            <a:r>
              <a:rPr sz="2200" b="1">
                <a:solidFill>
                  <a:srgbClr val="22C55E"/>
                </a:solidFill>
                <a:latin typeface="Segoe UI"/>
              </a:rPr>
              <a:t>automated component deployment &amp; lifecycle management</a:t>
            </a:r>
          </a:p>
        </p:txBody>
      </p:sp>
      <p:grpSp>
        <p:nvGrpSpPr>
          <p:cNvPr id="9" name="Light 1"/>
          <p:cNvGrpSpPr/>
          <p:nvPr/>
        </p:nvGrpSpPr>
        <p:grpSpPr>
          <a:xfrm>
            <a:off x="889000" y="2984500"/>
            <a:ext cx="1397000" cy="1625600"/>
            <a:chOff x="889000" y="2984500"/>
            <a:chExt cx="1397000" cy="1625600"/>
          </a:xfrm>
        </p:grpSpPr>
        <p:sp>
          <p:nvSpPr>
            <p:cNvPr id="7" name="Shape 5"/>
            <p:cNvSpPr/>
            <p:nvPr/>
          </p:nvSpPr>
          <p:spPr>
            <a:xfrm>
              <a:off x="1111250" y="2984500"/>
              <a:ext cx="952500" cy="952500"/>
            </a:xfrm>
            <a:prstGeom prst="ellipse">
              <a:avLst/>
            </a:prstGeom>
            <a:solidFill>
              <a:srgbClr val="111A30"/>
            </a:solidFill>
            <a:ln w="31750">
              <a:solidFill>
                <a:srgbClr val="2431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hape 6"/>
            <p:cNvSpPr txBox="1"/>
            <p:nvPr/>
          </p:nvSpPr>
          <p:spPr>
            <a:xfrm>
              <a:off x="889000" y="4102100"/>
              <a:ext cx="1397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API exposure</a:t>
              </a:r>
            </a:p>
          </p:txBody>
        </p:sp>
      </p:grpSp>
      <p:sp>
        <p:nvSpPr>
          <p:cNvPr id="10" name="Light 1 on"/>
          <p:cNvSpPr/>
          <p:nvPr/>
        </p:nvSpPr>
        <p:spPr>
          <a:xfrm>
            <a:off x="1111250" y="2984500"/>
            <a:ext cx="952500" cy="95250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 name="Light 2"/>
          <p:cNvGrpSpPr/>
          <p:nvPr/>
        </p:nvGrpSpPr>
        <p:grpSpPr>
          <a:xfrm>
            <a:off x="2413000" y="2984500"/>
            <a:ext cx="1397000" cy="1625600"/>
            <a:chOff x="2413000" y="2984500"/>
            <a:chExt cx="1397000" cy="1625600"/>
          </a:xfrm>
        </p:grpSpPr>
        <p:sp>
          <p:nvSpPr>
            <p:cNvPr id="11" name="Shape 9"/>
            <p:cNvSpPr/>
            <p:nvPr/>
          </p:nvSpPr>
          <p:spPr>
            <a:xfrm>
              <a:off x="2635250" y="2984500"/>
              <a:ext cx="952500" cy="952500"/>
            </a:xfrm>
            <a:prstGeom prst="ellipse">
              <a:avLst/>
            </a:prstGeom>
            <a:solidFill>
              <a:srgbClr val="111A30"/>
            </a:solidFill>
            <a:ln w="31750">
              <a:solidFill>
                <a:srgbClr val="2431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hape 10"/>
            <p:cNvSpPr txBox="1"/>
            <p:nvPr/>
          </p:nvSpPr>
          <p:spPr>
            <a:xfrm>
              <a:off x="2413000" y="4102100"/>
              <a:ext cx="1397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Observability</a:t>
              </a:r>
            </a:p>
          </p:txBody>
        </p:sp>
      </p:grpSp>
      <p:sp>
        <p:nvSpPr>
          <p:cNvPr id="14" name="Light 2 on"/>
          <p:cNvSpPr/>
          <p:nvPr/>
        </p:nvSpPr>
        <p:spPr>
          <a:xfrm>
            <a:off x="2635250" y="2984500"/>
            <a:ext cx="952500" cy="95250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7" name="Light 3"/>
          <p:cNvGrpSpPr/>
          <p:nvPr/>
        </p:nvGrpSpPr>
        <p:grpSpPr>
          <a:xfrm>
            <a:off x="3937000" y="2984500"/>
            <a:ext cx="1397000" cy="1625600"/>
            <a:chOff x="3937000" y="2984500"/>
            <a:chExt cx="1397000" cy="1625600"/>
          </a:xfrm>
        </p:grpSpPr>
        <p:sp>
          <p:nvSpPr>
            <p:cNvPr id="15" name="Shape 13"/>
            <p:cNvSpPr/>
            <p:nvPr/>
          </p:nvSpPr>
          <p:spPr>
            <a:xfrm>
              <a:off x="4159250" y="2984500"/>
              <a:ext cx="952500" cy="952500"/>
            </a:xfrm>
            <a:prstGeom prst="ellipse">
              <a:avLst/>
            </a:prstGeom>
            <a:solidFill>
              <a:srgbClr val="111A30"/>
            </a:solidFill>
            <a:ln w="31750">
              <a:solidFill>
                <a:srgbClr val="2431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hape 14"/>
            <p:cNvSpPr txBox="1"/>
            <p:nvPr/>
          </p:nvSpPr>
          <p:spPr>
            <a:xfrm>
              <a:off x="3937000" y="4102100"/>
              <a:ext cx="1397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Identity</a:t>
              </a:r>
            </a:p>
          </p:txBody>
        </p:sp>
      </p:grpSp>
      <p:sp>
        <p:nvSpPr>
          <p:cNvPr id="18" name="Light 3 on"/>
          <p:cNvSpPr/>
          <p:nvPr/>
        </p:nvSpPr>
        <p:spPr>
          <a:xfrm>
            <a:off x="4159250" y="2984500"/>
            <a:ext cx="952500" cy="95250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1" name="Light 4"/>
          <p:cNvGrpSpPr/>
          <p:nvPr/>
        </p:nvGrpSpPr>
        <p:grpSpPr>
          <a:xfrm>
            <a:off x="5461000" y="2984500"/>
            <a:ext cx="1397000" cy="1625600"/>
            <a:chOff x="5461000" y="2984500"/>
            <a:chExt cx="1397000" cy="1625600"/>
          </a:xfrm>
        </p:grpSpPr>
        <p:sp>
          <p:nvSpPr>
            <p:cNvPr id="19" name="Shape 17"/>
            <p:cNvSpPr/>
            <p:nvPr/>
          </p:nvSpPr>
          <p:spPr>
            <a:xfrm>
              <a:off x="5683250" y="2984500"/>
              <a:ext cx="952500" cy="952500"/>
            </a:xfrm>
            <a:prstGeom prst="ellipse">
              <a:avLst/>
            </a:prstGeom>
            <a:solidFill>
              <a:srgbClr val="111A30"/>
            </a:solidFill>
            <a:ln w="31750">
              <a:solidFill>
                <a:srgbClr val="2431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hape 18"/>
            <p:cNvSpPr txBox="1"/>
            <p:nvPr/>
          </p:nvSpPr>
          <p:spPr>
            <a:xfrm>
              <a:off x="5461000" y="4102100"/>
              <a:ext cx="1397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Secrets</a:t>
              </a:r>
            </a:p>
          </p:txBody>
        </p:sp>
      </p:grpSp>
      <p:sp>
        <p:nvSpPr>
          <p:cNvPr id="22" name="Light 4 on"/>
          <p:cNvSpPr/>
          <p:nvPr/>
        </p:nvSpPr>
        <p:spPr>
          <a:xfrm>
            <a:off x="5683250" y="2984500"/>
            <a:ext cx="952500" cy="95250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5" name="Light 5"/>
          <p:cNvGrpSpPr/>
          <p:nvPr/>
        </p:nvGrpSpPr>
        <p:grpSpPr>
          <a:xfrm>
            <a:off x="6985000" y="2984500"/>
            <a:ext cx="1397000" cy="1625600"/>
            <a:chOff x="6985000" y="2984500"/>
            <a:chExt cx="1397000" cy="1625600"/>
          </a:xfrm>
        </p:grpSpPr>
        <p:sp>
          <p:nvSpPr>
            <p:cNvPr id="23" name="Shape 21"/>
            <p:cNvSpPr/>
            <p:nvPr/>
          </p:nvSpPr>
          <p:spPr>
            <a:xfrm>
              <a:off x="7207250" y="2984500"/>
              <a:ext cx="952500" cy="952500"/>
            </a:xfrm>
            <a:prstGeom prst="ellipse">
              <a:avLst/>
            </a:prstGeom>
            <a:solidFill>
              <a:srgbClr val="111A30"/>
            </a:solidFill>
            <a:ln w="31750">
              <a:solidFill>
                <a:srgbClr val="2431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hape 22"/>
            <p:cNvSpPr txBox="1"/>
            <p:nvPr/>
          </p:nvSpPr>
          <p:spPr>
            <a:xfrm>
              <a:off x="6985000" y="4102100"/>
              <a:ext cx="1397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Responsible AI</a:t>
              </a:r>
            </a:p>
          </p:txBody>
        </p:sp>
      </p:grpSp>
      <p:sp>
        <p:nvSpPr>
          <p:cNvPr id="26" name="Light 5 on"/>
          <p:cNvSpPr/>
          <p:nvPr/>
        </p:nvSpPr>
        <p:spPr>
          <a:xfrm>
            <a:off x="7207250" y="2984500"/>
            <a:ext cx="952500" cy="95250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9" name="Light 6"/>
          <p:cNvGrpSpPr/>
          <p:nvPr/>
        </p:nvGrpSpPr>
        <p:grpSpPr>
          <a:xfrm>
            <a:off x="8509000" y="2984500"/>
            <a:ext cx="1397000" cy="1625600"/>
            <a:chOff x="8509000" y="2984500"/>
            <a:chExt cx="1397000" cy="1625600"/>
          </a:xfrm>
        </p:grpSpPr>
        <p:sp>
          <p:nvSpPr>
            <p:cNvPr id="27" name="Shape 25"/>
            <p:cNvSpPr/>
            <p:nvPr/>
          </p:nvSpPr>
          <p:spPr>
            <a:xfrm>
              <a:off x="8731250" y="2984500"/>
              <a:ext cx="952500" cy="952500"/>
            </a:xfrm>
            <a:prstGeom prst="ellipse">
              <a:avLst/>
            </a:prstGeom>
            <a:solidFill>
              <a:srgbClr val="111A30"/>
            </a:solidFill>
            <a:ln w="31750">
              <a:solidFill>
                <a:srgbClr val="2431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hape 26"/>
            <p:cNvSpPr txBox="1"/>
            <p:nvPr/>
          </p:nvSpPr>
          <p:spPr>
            <a:xfrm>
              <a:off x="8509000" y="4102100"/>
              <a:ext cx="1397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Cost</a:t>
              </a:r>
            </a:p>
          </p:txBody>
        </p:sp>
      </p:grpSp>
      <p:sp>
        <p:nvSpPr>
          <p:cNvPr id="30" name="Light 6 on"/>
          <p:cNvSpPr/>
          <p:nvPr/>
        </p:nvSpPr>
        <p:spPr>
          <a:xfrm>
            <a:off x="8731250" y="2984500"/>
            <a:ext cx="952500" cy="95250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3" name="Light 7"/>
          <p:cNvGrpSpPr/>
          <p:nvPr/>
        </p:nvGrpSpPr>
        <p:grpSpPr>
          <a:xfrm>
            <a:off x="10033000" y="2984500"/>
            <a:ext cx="1397000" cy="1625600"/>
            <a:chOff x="10033000" y="2984500"/>
            <a:chExt cx="1397000" cy="1625600"/>
          </a:xfrm>
        </p:grpSpPr>
        <p:sp>
          <p:nvSpPr>
            <p:cNvPr id="31" name="Shape 29"/>
            <p:cNvSpPr/>
            <p:nvPr/>
          </p:nvSpPr>
          <p:spPr>
            <a:xfrm>
              <a:off x="10255250" y="2984500"/>
              <a:ext cx="952500" cy="952500"/>
            </a:xfrm>
            <a:prstGeom prst="ellipse">
              <a:avLst/>
            </a:prstGeom>
            <a:solidFill>
              <a:srgbClr val="111A30"/>
            </a:solidFill>
            <a:ln w="31750">
              <a:solidFill>
                <a:srgbClr val="2431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Shape 30"/>
            <p:cNvSpPr txBox="1"/>
            <p:nvPr/>
          </p:nvSpPr>
          <p:spPr>
            <a:xfrm>
              <a:off x="10033000" y="4102100"/>
              <a:ext cx="1397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Carbon</a:t>
              </a:r>
            </a:p>
          </p:txBody>
        </p:sp>
      </p:grpSp>
      <p:sp>
        <p:nvSpPr>
          <p:cNvPr id="34" name="Light 7 on"/>
          <p:cNvSpPr/>
          <p:nvPr/>
        </p:nvSpPr>
        <p:spPr>
          <a:xfrm>
            <a:off x="10255250" y="2984500"/>
            <a:ext cx="952500" cy="95250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uture"/>
          <p:cNvSpPr txBox="1"/>
          <p:nvPr/>
        </p:nvSpPr>
        <p:spPr>
          <a:xfrm>
            <a:off x="0" y="5270500"/>
            <a:ext cx="12192000" cy="317500"/>
          </a:xfrm>
          <a:prstGeom prst="rect">
            <a:avLst/>
          </a:prstGeom>
          <a:noFill/>
        </p:spPr>
        <p:txBody>
          <a:bodyPr wrap="square" lIns="0" tIns="0" rIns="0" bIns="0" anchor="t">
            <a:spAutoFit/>
          </a:bodyPr>
          <a:lstStyle/>
          <a:p>
            <a:pPr algn="ctr">
              <a:lnSpc>
                <a:spcPct val="115000"/>
              </a:lnSpc>
            </a:pPr>
            <a:r>
              <a:rPr sz="2000" b="1">
                <a:solidFill>
                  <a:srgbClr val="8F9BB8"/>
                </a:solidFill>
                <a:latin typeface="Segoe UI"/>
              </a:rPr>
              <a:t>…and future automations</a:t>
            </a:r>
          </a:p>
        </p:txBody>
      </p:sp>
      <p:sp>
        <p:nvSpPr>
          <p:cNvPr id="36" name="Modular"/>
          <p:cNvSpPr txBox="1"/>
          <p:nvPr/>
        </p:nvSpPr>
        <p:spPr>
          <a:xfrm>
            <a:off x="0" y="5810250"/>
            <a:ext cx="12192000" cy="317500"/>
          </a:xfrm>
          <a:prstGeom prst="rect">
            <a:avLst/>
          </a:prstGeom>
          <a:noFill/>
        </p:spPr>
        <p:txBody>
          <a:bodyPr wrap="square" lIns="0" tIns="0" rIns="0" bIns="0" anchor="t">
            <a:spAutoFit/>
          </a:bodyPr>
          <a:lstStyle/>
          <a:p>
            <a:pPr algn="ctr">
              <a:lnSpc>
                <a:spcPct val="115000"/>
              </a:lnSpc>
            </a:pPr>
            <a:r>
              <a:rPr sz="1700" b="1">
                <a:solidFill>
                  <a:srgbClr val="2F6FED"/>
                </a:solidFill>
                <a:latin typeface="Segoe UI"/>
              </a:rPr>
              <a:t>Modular · deploy the Canvas incrementally</a:t>
            </a:r>
          </a:p>
        </p:txBody>
      </p:sp>
    </p:spTree>
  </p:cSld>
  <p:clrMapOvr>
    <a:masterClrMapping/>
  </p:clrMapOvr>
  <mc:AlternateContent xmlns:mc="http://schemas.openxmlformats.org/markup-compatibility/2006">
    <mc:Choice xmlns:p14="http://schemas.microsoft.com/office/powerpoint/2010/main" Requires="p14">
      <p:transition spd="slow" p14:dur="2000" advTm="22300"/>
    </mc:Choice>
    <mc:Fallback>
      <p:transition spd="slow" advTm="2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grpId="0" nodeType="withEffect">
                                  <p:stCondLst>
                                    <p:cond delay="24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65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nodeType="withEffect">
                                  <p:stCondLst>
                                    <p:cond delay="66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childTnLst>
                                </p:cTn>
                              </p:par>
                              <p:par>
                                <p:cTn id="20" presetID="10" presetClass="entr" presetSubtype="0" fill="hold" nodeType="withEffect">
                                  <p:stCondLst>
                                    <p:cond delay="68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600"/>
                                        <p:tgtEl>
                                          <p:spTgt spid="17"/>
                                        </p:tgtEl>
                                      </p:cBhvr>
                                    </p:animEffect>
                                  </p:childTnLst>
                                </p:cTn>
                              </p:par>
                              <p:par>
                                <p:cTn id="23" presetID="10" presetClass="entr" presetSubtype="0" fill="hold" nodeType="withEffect">
                                  <p:stCondLst>
                                    <p:cond delay="695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600"/>
                                        <p:tgtEl>
                                          <p:spTgt spid="21"/>
                                        </p:tgtEl>
                                      </p:cBhvr>
                                    </p:animEffect>
                                  </p:childTnLst>
                                </p:cTn>
                              </p:par>
                              <p:par>
                                <p:cTn id="26" presetID="10" presetClass="entr" presetSubtype="0" fill="hold" nodeType="withEffect">
                                  <p:stCondLst>
                                    <p:cond delay="710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600"/>
                                        <p:tgtEl>
                                          <p:spTgt spid="25"/>
                                        </p:tgtEl>
                                      </p:cBhvr>
                                    </p:animEffect>
                                  </p:childTnLst>
                                </p:cTn>
                              </p:par>
                              <p:par>
                                <p:cTn id="29" presetID="10" presetClass="entr" presetSubtype="0" fill="hold" nodeType="withEffect">
                                  <p:stCondLst>
                                    <p:cond delay="725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600"/>
                                        <p:tgtEl>
                                          <p:spTgt spid="29"/>
                                        </p:tgtEl>
                                      </p:cBhvr>
                                    </p:animEffect>
                                  </p:childTnLst>
                                </p:cTn>
                              </p:par>
                              <p:par>
                                <p:cTn id="32" presetID="10" presetClass="entr" presetSubtype="0" fill="hold" nodeType="withEffect">
                                  <p:stCondLst>
                                    <p:cond delay="740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600"/>
                                        <p:tgtEl>
                                          <p:spTgt spid="33"/>
                                        </p:tgtEl>
                                      </p:cBhvr>
                                    </p:animEffect>
                                  </p:childTnLst>
                                </p:cTn>
                              </p:par>
                              <p:par>
                                <p:cTn id="35" presetID="58" presetClass="entr" presetSubtype="0" accel="100000" fill="hold" grpId="0" nodeType="withEffect">
                                  <p:stCondLst>
                                    <p:cond delay="980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strVal val="#ppt_w*2.5"/>
                                          </p:val>
                                        </p:tav>
                                        <p:tav tm="100000">
                                          <p:val>
                                            <p:strVal val="#ppt_w"/>
                                          </p:val>
                                        </p:tav>
                                      </p:tavLst>
                                    </p:anim>
                                    <p:anim calcmode="lin" valueType="num">
                                      <p:cBhvr>
                                        <p:cTn id="38" dur="500" fill="hold"/>
                                        <p:tgtEl>
                                          <p:spTgt spid="10"/>
                                        </p:tgtEl>
                                        <p:attrNameLst>
                                          <p:attrName>ppt_h</p:attrName>
                                        </p:attrNameLst>
                                      </p:cBhvr>
                                      <p:tavLst>
                                        <p:tav tm="0">
                                          <p:val>
                                            <p:strVal val="#ppt_h*0.01"/>
                                          </p:val>
                                        </p:tav>
                                        <p:tav tm="100000">
                                          <p:val>
                                            <p:strVal val="#ppt_h"/>
                                          </p:val>
                                        </p:tav>
                                      </p:tavLst>
                                    </p:anim>
                                    <p:anim calcmode="lin" valueType="num">
                                      <p:cBhvr>
                                        <p:cTn id="39" dur="500" fill="hold"/>
                                        <p:tgtEl>
                                          <p:spTgt spid="10"/>
                                        </p:tgtEl>
                                        <p:attrNameLst>
                                          <p:attrName>ppt_x</p:attrName>
                                        </p:attrNameLst>
                                      </p:cBhvr>
                                      <p:tavLst>
                                        <p:tav tm="0">
                                          <p:val>
                                            <p:strVal val="#ppt_x"/>
                                          </p:val>
                                        </p:tav>
                                        <p:tav tm="100000">
                                          <p:val>
                                            <p:strVal val="#ppt_x"/>
                                          </p:val>
                                        </p:tav>
                                      </p:tavLst>
                                    </p:anim>
                                    <p:anim calcmode="lin" valueType="num">
                                      <p:cBhvr>
                                        <p:cTn id="40" dur="500" fill="hold"/>
                                        <p:tgtEl>
                                          <p:spTgt spid="10"/>
                                        </p:tgtEl>
                                        <p:attrNameLst>
                                          <p:attrName>ppt_y</p:attrName>
                                        </p:attrNameLst>
                                      </p:cBhvr>
                                      <p:tavLst>
                                        <p:tav tm="0">
                                          <p:val>
                                            <p:strVal val="#ppt_h+1"/>
                                          </p:val>
                                        </p:tav>
                                        <p:tav tm="100000">
                                          <p:val>
                                            <p:strVal val="#ppt_y"/>
                                          </p:val>
                                        </p:tav>
                                      </p:tavLst>
                                    </p:anim>
                                    <p:animEffect transition="in" filter="fade">
                                      <p:cBhvr>
                                        <p:cTn id="41" dur="500"/>
                                        <p:tgtEl>
                                          <p:spTgt spid="10"/>
                                        </p:tgtEl>
                                      </p:cBhvr>
                                    </p:animEffect>
                                  </p:childTnLst>
                                </p:cTn>
                              </p:par>
                              <p:par>
                                <p:cTn id="42" presetID="58" presetClass="entr" presetSubtype="0" accel="100000" fill="hold" grpId="0" nodeType="withEffect">
                                  <p:stCondLst>
                                    <p:cond delay="1080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strVal val="#ppt_w*2.5"/>
                                          </p:val>
                                        </p:tav>
                                        <p:tav tm="100000">
                                          <p:val>
                                            <p:strVal val="#ppt_w"/>
                                          </p:val>
                                        </p:tav>
                                      </p:tavLst>
                                    </p:anim>
                                    <p:anim calcmode="lin" valueType="num">
                                      <p:cBhvr>
                                        <p:cTn id="45" dur="500" fill="hold"/>
                                        <p:tgtEl>
                                          <p:spTgt spid="14"/>
                                        </p:tgtEl>
                                        <p:attrNameLst>
                                          <p:attrName>ppt_h</p:attrName>
                                        </p:attrNameLst>
                                      </p:cBhvr>
                                      <p:tavLst>
                                        <p:tav tm="0">
                                          <p:val>
                                            <p:strVal val="#ppt_h*0.01"/>
                                          </p:val>
                                        </p:tav>
                                        <p:tav tm="100000">
                                          <p:val>
                                            <p:strVal val="#ppt_h"/>
                                          </p:val>
                                        </p:tav>
                                      </p:tavLst>
                                    </p:anim>
                                    <p:anim calcmode="lin" valueType="num">
                                      <p:cBhvr>
                                        <p:cTn id="46" dur="500" fill="hold"/>
                                        <p:tgtEl>
                                          <p:spTgt spid="14"/>
                                        </p:tgtEl>
                                        <p:attrNameLst>
                                          <p:attrName>ppt_x</p:attrName>
                                        </p:attrNameLst>
                                      </p:cBhvr>
                                      <p:tavLst>
                                        <p:tav tm="0">
                                          <p:val>
                                            <p:strVal val="#ppt_x"/>
                                          </p:val>
                                        </p:tav>
                                        <p:tav tm="100000">
                                          <p:val>
                                            <p:strVal val="#ppt_x"/>
                                          </p:val>
                                        </p:tav>
                                      </p:tavLst>
                                    </p:anim>
                                    <p:anim calcmode="lin" valueType="num">
                                      <p:cBhvr>
                                        <p:cTn id="47" dur="500" fill="hold"/>
                                        <p:tgtEl>
                                          <p:spTgt spid="14"/>
                                        </p:tgtEl>
                                        <p:attrNameLst>
                                          <p:attrName>ppt_y</p:attrName>
                                        </p:attrNameLst>
                                      </p:cBhvr>
                                      <p:tavLst>
                                        <p:tav tm="0">
                                          <p:val>
                                            <p:strVal val="#ppt_h+1"/>
                                          </p:val>
                                        </p:tav>
                                        <p:tav tm="100000">
                                          <p:val>
                                            <p:strVal val="#ppt_y"/>
                                          </p:val>
                                        </p:tav>
                                      </p:tavLst>
                                    </p:anim>
                                    <p:animEffect transition="in" filter="fade">
                                      <p:cBhvr>
                                        <p:cTn id="48" dur="500"/>
                                        <p:tgtEl>
                                          <p:spTgt spid="14"/>
                                        </p:tgtEl>
                                      </p:cBhvr>
                                    </p:animEffect>
                                  </p:childTnLst>
                                </p:cTn>
                              </p:par>
                              <p:par>
                                <p:cTn id="49" presetID="58" presetClass="entr" presetSubtype="0" accel="100000" fill="hold" grpId="0" nodeType="withEffect">
                                  <p:stCondLst>
                                    <p:cond delay="11600"/>
                                  </p:stCondLst>
                                  <p:childTnLst>
                                    <p:set>
                                      <p:cBhvr>
                                        <p:cTn id="50" dur="1" fill="hold">
                                          <p:stCondLst>
                                            <p:cond delay="0"/>
                                          </p:stCondLst>
                                        </p:cTn>
                                        <p:tgtEl>
                                          <p:spTgt spid="18"/>
                                        </p:tgtEl>
                                        <p:attrNameLst>
                                          <p:attrName>style.visibility</p:attrName>
                                        </p:attrNameLst>
                                      </p:cBhvr>
                                      <p:to>
                                        <p:strVal val="visible"/>
                                      </p:to>
                                    </p:set>
                                    <p:anim calcmode="lin" valueType="num">
                                      <p:cBhvr>
                                        <p:cTn id="51" dur="500" fill="hold"/>
                                        <p:tgtEl>
                                          <p:spTgt spid="18"/>
                                        </p:tgtEl>
                                        <p:attrNameLst>
                                          <p:attrName>ppt_w</p:attrName>
                                        </p:attrNameLst>
                                      </p:cBhvr>
                                      <p:tavLst>
                                        <p:tav tm="0">
                                          <p:val>
                                            <p:strVal val="#ppt_w*2.5"/>
                                          </p:val>
                                        </p:tav>
                                        <p:tav tm="100000">
                                          <p:val>
                                            <p:strVal val="#ppt_w"/>
                                          </p:val>
                                        </p:tav>
                                      </p:tavLst>
                                    </p:anim>
                                    <p:anim calcmode="lin" valueType="num">
                                      <p:cBhvr>
                                        <p:cTn id="52" dur="500" fill="hold"/>
                                        <p:tgtEl>
                                          <p:spTgt spid="18"/>
                                        </p:tgtEl>
                                        <p:attrNameLst>
                                          <p:attrName>ppt_h</p:attrName>
                                        </p:attrNameLst>
                                      </p:cBhvr>
                                      <p:tavLst>
                                        <p:tav tm="0">
                                          <p:val>
                                            <p:strVal val="#ppt_h*0.01"/>
                                          </p:val>
                                        </p:tav>
                                        <p:tav tm="100000">
                                          <p:val>
                                            <p:strVal val="#ppt_h"/>
                                          </p:val>
                                        </p:tav>
                                      </p:tavLst>
                                    </p:anim>
                                    <p:anim calcmode="lin" valueType="num">
                                      <p:cBhvr>
                                        <p:cTn id="53" dur="500" fill="hold"/>
                                        <p:tgtEl>
                                          <p:spTgt spid="18"/>
                                        </p:tgtEl>
                                        <p:attrNameLst>
                                          <p:attrName>ppt_x</p:attrName>
                                        </p:attrNameLst>
                                      </p:cBhvr>
                                      <p:tavLst>
                                        <p:tav tm="0">
                                          <p:val>
                                            <p:strVal val="#ppt_x"/>
                                          </p:val>
                                        </p:tav>
                                        <p:tav tm="100000">
                                          <p:val>
                                            <p:strVal val="#ppt_x"/>
                                          </p:val>
                                        </p:tav>
                                      </p:tavLst>
                                    </p:anim>
                                    <p:anim calcmode="lin" valueType="num">
                                      <p:cBhvr>
                                        <p:cTn id="54" dur="500" fill="hold"/>
                                        <p:tgtEl>
                                          <p:spTgt spid="18"/>
                                        </p:tgtEl>
                                        <p:attrNameLst>
                                          <p:attrName>ppt_y</p:attrName>
                                        </p:attrNameLst>
                                      </p:cBhvr>
                                      <p:tavLst>
                                        <p:tav tm="0">
                                          <p:val>
                                            <p:strVal val="#ppt_h+1"/>
                                          </p:val>
                                        </p:tav>
                                        <p:tav tm="100000">
                                          <p:val>
                                            <p:strVal val="#ppt_y"/>
                                          </p:val>
                                        </p:tav>
                                      </p:tavLst>
                                    </p:anim>
                                    <p:animEffect transition="in" filter="fade">
                                      <p:cBhvr>
                                        <p:cTn id="55" dur="500"/>
                                        <p:tgtEl>
                                          <p:spTgt spid="18"/>
                                        </p:tgtEl>
                                      </p:cBhvr>
                                    </p:animEffect>
                                  </p:childTnLst>
                                </p:cTn>
                              </p:par>
                              <p:par>
                                <p:cTn id="56" presetID="58" presetClass="entr" presetSubtype="0" accel="100000" fill="hold" grpId="0" nodeType="withEffect">
                                  <p:stCondLst>
                                    <p:cond delay="12200"/>
                                  </p:stCondLst>
                                  <p:childTnLst>
                                    <p:set>
                                      <p:cBhvr>
                                        <p:cTn id="57" dur="1" fill="hold">
                                          <p:stCondLst>
                                            <p:cond delay="0"/>
                                          </p:stCondLst>
                                        </p:cTn>
                                        <p:tgtEl>
                                          <p:spTgt spid="22"/>
                                        </p:tgtEl>
                                        <p:attrNameLst>
                                          <p:attrName>style.visibility</p:attrName>
                                        </p:attrNameLst>
                                      </p:cBhvr>
                                      <p:to>
                                        <p:strVal val="visible"/>
                                      </p:to>
                                    </p:set>
                                    <p:anim calcmode="lin" valueType="num">
                                      <p:cBhvr>
                                        <p:cTn id="58" dur="500" fill="hold"/>
                                        <p:tgtEl>
                                          <p:spTgt spid="22"/>
                                        </p:tgtEl>
                                        <p:attrNameLst>
                                          <p:attrName>ppt_w</p:attrName>
                                        </p:attrNameLst>
                                      </p:cBhvr>
                                      <p:tavLst>
                                        <p:tav tm="0">
                                          <p:val>
                                            <p:strVal val="#ppt_w*2.5"/>
                                          </p:val>
                                        </p:tav>
                                        <p:tav tm="100000">
                                          <p:val>
                                            <p:strVal val="#ppt_w"/>
                                          </p:val>
                                        </p:tav>
                                      </p:tavLst>
                                    </p:anim>
                                    <p:anim calcmode="lin" valueType="num">
                                      <p:cBhvr>
                                        <p:cTn id="59" dur="500" fill="hold"/>
                                        <p:tgtEl>
                                          <p:spTgt spid="22"/>
                                        </p:tgtEl>
                                        <p:attrNameLst>
                                          <p:attrName>ppt_h</p:attrName>
                                        </p:attrNameLst>
                                      </p:cBhvr>
                                      <p:tavLst>
                                        <p:tav tm="0">
                                          <p:val>
                                            <p:strVal val="#ppt_h*0.01"/>
                                          </p:val>
                                        </p:tav>
                                        <p:tav tm="100000">
                                          <p:val>
                                            <p:strVal val="#ppt_h"/>
                                          </p:val>
                                        </p:tav>
                                      </p:tavLst>
                                    </p:anim>
                                    <p:anim calcmode="lin" valueType="num">
                                      <p:cBhvr>
                                        <p:cTn id="60" dur="500" fill="hold"/>
                                        <p:tgtEl>
                                          <p:spTgt spid="22"/>
                                        </p:tgtEl>
                                        <p:attrNameLst>
                                          <p:attrName>ppt_x</p:attrName>
                                        </p:attrNameLst>
                                      </p:cBhvr>
                                      <p:tavLst>
                                        <p:tav tm="0">
                                          <p:val>
                                            <p:strVal val="#ppt_x"/>
                                          </p:val>
                                        </p:tav>
                                        <p:tav tm="100000">
                                          <p:val>
                                            <p:strVal val="#ppt_x"/>
                                          </p:val>
                                        </p:tav>
                                      </p:tavLst>
                                    </p:anim>
                                    <p:anim calcmode="lin" valueType="num">
                                      <p:cBhvr>
                                        <p:cTn id="61" dur="500" fill="hold"/>
                                        <p:tgtEl>
                                          <p:spTgt spid="22"/>
                                        </p:tgtEl>
                                        <p:attrNameLst>
                                          <p:attrName>ppt_y</p:attrName>
                                        </p:attrNameLst>
                                      </p:cBhvr>
                                      <p:tavLst>
                                        <p:tav tm="0">
                                          <p:val>
                                            <p:strVal val="#ppt_h+1"/>
                                          </p:val>
                                        </p:tav>
                                        <p:tav tm="100000">
                                          <p:val>
                                            <p:strVal val="#ppt_y"/>
                                          </p:val>
                                        </p:tav>
                                      </p:tavLst>
                                    </p:anim>
                                    <p:animEffect transition="in" filter="fade">
                                      <p:cBhvr>
                                        <p:cTn id="62" dur="500"/>
                                        <p:tgtEl>
                                          <p:spTgt spid="22"/>
                                        </p:tgtEl>
                                      </p:cBhvr>
                                    </p:animEffect>
                                  </p:childTnLst>
                                </p:cTn>
                              </p:par>
                              <p:par>
                                <p:cTn id="63" presetID="58" presetClass="entr" presetSubtype="0" accel="100000" fill="hold" grpId="0" nodeType="withEffect">
                                  <p:stCondLst>
                                    <p:cond delay="14200"/>
                                  </p:stCondLst>
                                  <p:childTnLst>
                                    <p:set>
                                      <p:cBhvr>
                                        <p:cTn id="64" dur="1" fill="hold">
                                          <p:stCondLst>
                                            <p:cond delay="0"/>
                                          </p:stCondLst>
                                        </p:cTn>
                                        <p:tgtEl>
                                          <p:spTgt spid="26"/>
                                        </p:tgtEl>
                                        <p:attrNameLst>
                                          <p:attrName>style.visibility</p:attrName>
                                        </p:attrNameLst>
                                      </p:cBhvr>
                                      <p:to>
                                        <p:strVal val="visible"/>
                                      </p:to>
                                    </p:set>
                                    <p:anim calcmode="lin" valueType="num">
                                      <p:cBhvr>
                                        <p:cTn id="65" dur="500" fill="hold"/>
                                        <p:tgtEl>
                                          <p:spTgt spid="26"/>
                                        </p:tgtEl>
                                        <p:attrNameLst>
                                          <p:attrName>ppt_w</p:attrName>
                                        </p:attrNameLst>
                                      </p:cBhvr>
                                      <p:tavLst>
                                        <p:tav tm="0">
                                          <p:val>
                                            <p:strVal val="#ppt_w*2.5"/>
                                          </p:val>
                                        </p:tav>
                                        <p:tav tm="100000">
                                          <p:val>
                                            <p:strVal val="#ppt_w"/>
                                          </p:val>
                                        </p:tav>
                                      </p:tavLst>
                                    </p:anim>
                                    <p:anim calcmode="lin" valueType="num">
                                      <p:cBhvr>
                                        <p:cTn id="66" dur="500" fill="hold"/>
                                        <p:tgtEl>
                                          <p:spTgt spid="26"/>
                                        </p:tgtEl>
                                        <p:attrNameLst>
                                          <p:attrName>ppt_h</p:attrName>
                                        </p:attrNameLst>
                                      </p:cBhvr>
                                      <p:tavLst>
                                        <p:tav tm="0">
                                          <p:val>
                                            <p:strVal val="#ppt_h*0.01"/>
                                          </p:val>
                                        </p:tav>
                                        <p:tav tm="100000">
                                          <p:val>
                                            <p:strVal val="#ppt_h"/>
                                          </p:val>
                                        </p:tav>
                                      </p:tavLst>
                                    </p:anim>
                                    <p:anim calcmode="lin" valueType="num">
                                      <p:cBhvr>
                                        <p:cTn id="67" dur="500" fill="hold"/>
                                        <p:tgtEl>
                                          <p:spTgt spid="26"/>
                                        </p:tgtEl>
                                        <p:attrNameLst>
                                          <p:attrName>ppt_x</p:attrName>
                                        </p:attrNameLst>
                                      </p:cBhvr>
                                      <p:tavLst>
                                        <p:tav tm="0">
                                          <p:val>
                                            <p:strVal val="#ppt_x"/>
                                          </p:val>
                                        </p:tav>
                                        <p:tav tm="100000">
                                          <p:val>
                                            <p:strVal val="#ppt_x"/>
                                          </p:val>
                                        </p:tav>
                                      </p:tavLst>
                                    </p:anim>
                                    <p:anim calcmode="lin" valueType="num">
                                      <p:cBhvr>
                                        <p:cTn id="68" dur="500" fill="hold"/>
                                        <p:tgtEl>
                                          <p:spTgt spid="26"/>
                                        </p:tgtEl>
                                        <p:attrNameLst>
                                          <p:attrName>ppt_y</p:attrName>
                                        </p:attrNameLst>
                                      </p:cBhvr>
                                      <p:tavLst>
                                        <p:tav tm="0">
                                          <p:val>
                                            <p:strVal val="#ppt_h+1"/>
                                          </p:val>
                                        </p:tav>
                                        <p:tav tm="100000">
                                          <p:val>
                                            <p:strVal val="#ppt_y"/>
                                          </p:val>
                                        </p:tav>
                                      </p:tavLst>
                                    </p:anim>
                                    <p:animEffect transition="in" filter="fade">
                                      <p:cBhvr>
                                        <p:cTn id="69" dur="500"/>
                                        <p:tgtEl>
                                          <p:spTgt spid="26"/>
                                        </p:tgtEl>
                                      </p:cBhvr>
                                    </p:animEffect>
                                  </p:childTnLst>
                                </p:cTn>
                              </p:par>
                              <p:par>
                                <p:cTn id="70" presetID="58" presetClass="entr" presetSubtype="0" accel="100000" fill="hold" grpId="0" nodeType="withEffect">
                                  <p:stCondLst>
                                    <p:cond delay="15000"/>
                                  </p:stCondLst>
                                  <p:childTnLst>
                                    <p:set>
                                      <p:cBhvr>
                                        <p:cTn id="71" dur="1" fill="hold">
                                          <p:stCondLst>
                                            <p:cond delay="0"/>
                                          </p:stCondLst>
                                        </p:cTn>
                                        <p:tgtEl>
                                          <p:spTgt spid="30"/>
                                        </p:tgtEl>
                                        <p:attrNameLst>
                                          <p:attrName>style.visibility</p:attrName>
                                        </p:attrNameLst>
                                      </p:cBhvr>
                                      <p:to>
                                        <p:strVal val="visible"/>
                                      </p:to>
                                    </p:set>
                                    <p:anim calcmode="lin" valueType="num">
                                      <p:cBhvr>
                                        <p:cTn id="72" dur="500" fill="hold"/>
                                        <p:tgtEl>
                                          <p:spTgt spid="30"/>
                                        </p:tgtEl>
                                        <p:attrNameLst>
                                          <p:attrName>ppt_w</p:attrName>
                                        </p:attrNameLst>
                                      </p:cBhvr>
                                      <p:tavLst>
                                        <p:tav tm="0">
                                          <p:val>
                                            <p:strVal val="#ppt_w*2.5"/>
                                          </p:val>
                                        </p:tav>
                                        <p:tav tm="100000">
                                          <p:val>
                                            <p:strVal val="#ppt_w"/>
                                          </p:val>
                                        </p:tav>
                                      </p:tavLst>
                                    </p:anim>
                                    <p:anim calcmode="lin" valueType="num">
                                      <p:cBhvr>
                                        <p:cTn id="73" dur="500" fill="hold"/>
                                        <p:tgtEl>
                                          <p:spTgt spid="30"/>
                                        </p:tgtEl>
                                        <p:attrNameLst>
                                          <p:attrName>ppt_h</p:attrName>
                                        </p:attrNameLst>
                                      </p:cBhvr>
                                      <p:tavLst>
                                        <p:tav tm="0">
                                          <p:val>
                                            <p:strVal val="#ppt_h*0.01"/>
                                          </p:val>
                                        </p:tav>
                                        <p:tav tm="100000">
                                          <p:val>
                                            <p:strVal val="#ppt_h"/>
                                          </p:val>
                                        </p:tav>
                                      </p:tavLst>
                                    </p:anim>
                                    <p:anim calcmode="lin" valueType="num">
                                      <p:cBhvr>
                                        <p:cTn id="74" dur="500" fill="hold"/>
                                        <p:tgtEl>
                                          <p:spTgt spid="30"/>
                                        </p:tgtEl>
                                        <p:attrNameLst>
                                          <p:attrName>ppt_x</p:attrName>
                                        </p:attrNameLst>
                                      </p:cBhvr>
                                      <p:tavLst>
                                        <p:tav tm="0">
                                          <p:val>
                                            <p:strVal val="#ppt_x"/>
                                          </p:val>
                                        </p:tav>
                                        <p:tav tm="100000">
                                          <p:val>
                                            <p:strVal val="#ppt_x"/>
                                          </p:val>
                                        </p:tav>
                                      </p:tavLst>
                                    </p:anim>
                                    <p:anim calcmode="lin" valueType="num">
                                      <p:cBhvr>
                                        <p:cTn id="75" dur="500" fill="hold"/>
                                        <p:tgtEl>
                                          <p:spTgt spid="30"/>
                                        </p:tgtEl>
                                        <p:attrNameLst>
                                          <p:attrName>ppt_y</p:attrName>
                                        </p:attrNameLst>
                                      </p:cBhvr>
                                      <p:tavLst>
                                        <p:tav tm="0">
                                          <p:val>
                                            <p:strVal val="#ppt_h+1"/>
                                          </p:val>
                                        </p:tav>
                                        <p:tav tm="100000">
                                          <p:val>
                                            <p:strVal val="#ppt_y"/>
                                          </p:val>
                                        </p:tav>
                                      </p:tavLst>
                                    </p:anim>
                                    <p:animEffect transition="in" filter="fade">
                                      <p:cBhvr>
                                        <p:cTn id="76" dur="500"/>
                                        <p:tgtEl>
                                          <p:spTgt spid="30"/>
                                        </p:tgtEl>
                                      </p:cBhvr>
                                    </p:animEffect>
                                  </p:childTnLst>
                                </p:cTn>
                              </p:par>
                              <p:par>
                                <p:cTn id="77" presetID="58" presetClass="entr" presetSubtype="0" accel="100000" fill="hold" grpId="0" nodeType="withEffect">
                                  <p:stCondLst>
                                    <p:cond delay="15600"/>
                                  </p:stCondLst>
                                  <p:childTnLst>
                                    <p:set>
                                      <p:cBhvr>
                                        <p:cTn id="78" dur="1" fill="hold">
                                          <p:stCondLst>
                                            <p:cond delay="0"/>
                                          </p:stCondLst>
                                        </p:cTn>
                                        <p:tgtEl>
                                          <p:spTgt spid="34"/>
                                        </p:tgtEl>
                                        <p:attrNameLst>
                                          <p:attrName>style.visibility</p:attrName>
                                        </p:attrNameLst>
                                      </p:cBhvr>
                                      <p:to>
                                        <p:strVal val="visible"/>
                                      </p:to>
                                    </p:set>
                                    <p:anim calcmode="lin" valueType="num">
                                      <p:cBhvr>
                                        <p:cTn id="79" dur="500" fill="hold"/>
                                        <p:tgtEl>
                                          <p:spTgt spid="34"/>
                                        </p:tgtEl>
                                        <p:attrNameLst>
                                          <p:attrName>ppt_w</p:attrName>
                                        </p:attrNameLst>
                                      </p:cBhvr>
                                      <p:tavLst>
                                        <p:tav tm="0">
                                          <p:val>
                                            <p:strVal val="#ppt_w*2.5"/>
                                          </p:val>
                                        </p:tav>
                                        <p:tav tm="100000">
                                          <p:val>
                                            <p:strVal val="#ppt_w"/>
                                          </p:val>
                                        </p:tav>
                                      </p:tavLst>
                                    </p:anim>
                                    <p:anim calcmode="lin" valueType="num">
                                      <p:cBhvr>
                                        <p:cTn id="80" dur="500" fill="hold"/>
                                        <p:tgtEl>
                                          <p:spTgt spid="34"/>
                                        </p:tgtEl>
                                        <p:attrNameLst>
                                          <p:attrName>ppt_h</p:attrName>
                                        </p:attrNameLst>
                                      </p:cBhvr>
                                      <p:tavLst>
                                        <p:tav tm="0">
                                          <p:val>
                                            <p:strVal val="#ppt_h*0.01"/>
                                          </p:val>
                                        </p:tav>
                                        <p:tav tm="100000">
                                          <p:val>
                                            <p:strVal val="#ppt_h"/>
                                          </p:val>
                                        </p:tav>
                                      </p:tavLst>
                                    </p:anim>
                                    <p:anim calcmode="lin" valueType="num">
                                      <p:cBhvr>
                                        <p:cTn id="81" dur="500" fill="hold"/>
                                        <p:tgtEl>
                                          <p:spTgt spid="34"/>
                                        </p:tgtEl>
                                        <p:attrNameLst>
                                          <p:attrName>ppt_x</p:attrName>
                                        </p:attrNameLst>
                                      </p:cBhvr>
                                      <p:tavLst>
                                        <p:tav tm="0">
                                          <p:val>
                                            <p:strVal val="#ppt_x"/>
                                          </p:val>
                                        </p:tav>
                                        <p:tav tm="100000">
                                          <p:val>
                                            <p:strVal val="#ppt_x"/>
                                          </p:val>
                                        </p:tav>
                                      </p:tavLst>
                                    </p:anim>
                                    <p:anim calcmode="lin" valueType="num">
                                      <p:cBhvr>
                                        <p:cTn id="82" dur="500" fill="hold"/>
                                        <p:tgtEl>
                                          <p:spTgt spid="34"/>
                                        </p:tgtEl>
                                        <p:attrNameLst>
                                          <p:attrName>ppt_y</p:attrName>
                                        </p:attrNameLst>
                                      </p:cBhvr>
                                      <p:tavLst>
                                        <p:tav tm="0">
                                          <p:val>
                                            <p:strVal val="#ppt_h+1"/>
                                          </p:val>
                                        </p:tav>
                                        <p:tav tm="100000">
                                          <p:val>
                                            <p:strVal val="#ppt_y"/>
                                          </p:val>
                                        </p:tav>
                                      </p:tavLst>
                                    </p:anim>
                                    <p:animEffect transition="in" filter="fade">
                                      <p:cBhvr>
                                        <p:cTn id="83" dur="500"/>
                                        <p:tgtEl>
                                          <p:spTgt spid="34"/>
                                        </p:tgtEl>
                                      </p:cBhvr>
                                    </p:animEffect>
                                  </p:childTnLst>
                                </p:cTn>
                              </p:par>
                              <p:par>
                                <p:cTn id="84" presetID="10" presetClass="entr" presetSubtype="0" fill="hold" grpId="0" nodeType="withEffect">
                                  <p:stCondLst>
                                    <p:cond delay="1620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600"/>
                                        <p:tgtEl>
                                          <p:spTgt spid="35"/>
                                        </p:tgtEl>
                                      </p:cBhvr>
                                    </p:animEffect>
                                  </p:childTnLst>
                                </p:cTn>
                              </p:par>
                              <p:par>
                                <p:cTn id="87" presetID="10" presetClass="entr" presetSubtype="0" fill="hold" grpId="0" nodeType="withEffect">
                                  <p:stCondLst>
                                    <p:cond delay="1680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6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animBg="1"/>
      <p:bldP spid="14" grpId="0" animBg="1"/>
      <p:bldP spid="18" grpId="0" animBg="1"/>
      <p:bldP spid="22" grpId="0" animBg="1"/>
      <p:bldP spid="26" grpId="0" animBg="1"/>
      <p:bldP spid="30" grpId="0" animBg="1"/>
      <p:bldP spid="34" grpId="0" animBg="1"/>
      <p:bldP spid="35" grpId="0"/>
      <p:bldP spid="36"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Built together</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CONCLUSION</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Built together</a:t>
            </a:r>
          </a:p>
        </p:txBody>
      </p:sp>
      <p:grpSp>
        <p:nvGrpSpPr>
          <p:cNvPr id="10" name="Canvas"/>
          <p:cNvGrpSpPr/>
          <p:nvPr/>
        </p:nvGrpSpPr>
        <p:grpSpPr>
          <a:xfrm>
            <a:off x="3873500" y="2317750"/>
            <a:ext cx="4445000" cy="2721372"/>
            <a:chOff x="3873500" y="2317750"/>
            <a:chExt cx="4445000" cy="2721372"/>
          </a:xfrm>
        </p:grpSpPr>
        <p:pic>
          <p:nvPicPr>
            <p:cNvPr id="6" name="Shape 4" descr="canvas-dark.png"/>
            <p:cNvPicPr>
              <a:picLocks noChangeAspect="1"/>
            </p:cNvPicPr>
            <p:nvPr/>
          </p:nvPicPr>
          <p:blipFill>
            <a:blip r:embed="rId4"/>
            <a:stretch>
              <a:fillRect/>
            </a:stretch>
          </p:blipFill>
          <p:spPr>
            <a:xfrm>
              <a:off x="3873500" y="3397250"/>
              <a:ext cx="4445000" cy="1641872"/>
            </a:xfrm>
            <a:prstGeom prst="rect">
              <a:avLst/>
            </a:prstGeom>
          </p:spPr>
        </p:pic>
        <p:pic>
          <p:nvPicPr>
            <p:cNvPr id="7" name="Shape 5" descr="oda.png"/>
            <p:cNvPicPr>
              <a:picLocks noChangeAspect="1"/>
            </p:cNvPicPr>
            <p:nvPr/>
          </p:nvPicPr>
          <p:blipFill>
            <a:blip r:embed="rId5"/>
            <a:stretch>
              <a:fillRect/>
            </a:stretch>
          </p:blipFill>
          <p:spPr>
            <a:xfrm>
              <a:off x="4381500" y="2317750"/>
              <a:ext cx="1079500" cy="1019528"/>
            </a:xfrm>
            <a:prstGeom prst="rect">
              <a:avLst/>
            </a:prstGeom>
          </p:spPr>
        </p:pic>
        <p:pic>
          <p:nvPicPr>
            <p:cNvPr id="8" name="Shape 6" descr="oda-agent.png"/>
            <p:cNvPicPr>
              <a:picLocks noChangeAspect="1"/>
            </p:cNvPicPr>
            <p:nvPr/>
          </p:nvPicPr>
          <p:blipFill>
            <a:blip r:embed="rId6"/>
            <a:stretch>
              <a:fillRect/>
            </a:stretch>
          </p:blipFill>
          <p:spPr>
            <a:xfrm>
              <a:off x="5556250" y="2317750"/>
              <a:ext cx="1079500" cy="1019528"/>
            </a:xfrm>
            <a:prstGeom prst="rect">
              <a:avLst/>
            </a:prstGeom>
          </p:spPr>
        </p:pic>
        <p:pic>
          <p:nvPicPr>
            <p:cNvPr id="9" name="Shape 7" descr="oda.png"/>
            <p:cNvPicPr>
              <a:picLocks noChangeAspect="1"/>
            </p:cNvPicPr>
            <p:nvPr/>
          </p:nvPicPr>
          <p:blipFill>
            <a:blip r:embed="rId5"/>
            <a:stretch>
              <a:fillRect/>
            </a:stretch>
          </p:blipFill>
          <p:spPr>
            <a:xfrm>
              <a:off x="6731000" y="2317750"/>
              <a:ext cx="1079500" cy="1019528"/>
            </a:xfrm>
            <a:prstGeom prst="rect">
              <a:avLst/>
            </a:prstGeom>
          </p:spPr>
        </p:pic>
      </p:grpSp>
      <p:grpSp>
        <p:nvGrpSpPr>
          <p:cNvPr id="14" name="Role 1"/>
          <p:cNvGrpSpPr/>
          <p:nvPr/>
        </p:nvGrpSpPr>
        <p:grpSpPr>
          <a:xfrm>
            <a:off x="762000" y="1397000"/>
            <a:ext cx="2540000" cy="1473200"/>
            <a:chOff x="762000" y="1397000"/>
            <a:chExt cx="2540000" cy="1473200"/>
          </a:xfrm>
        </p:grpSpPr>
        <p:sp>
          <p:nvSpPr>
            <p:cNvPr id="11" name="Shape 9"/>
            <p:cNvSpPr/>
            <p:nvPr/>
          </p:nvSpPr>
          <p:spPr>
            <a:xfrm>
              <a:off x="1587500" y="1397000"/>
              <a:ext cx="889000" cy="889000"/>
            </a:xfrm>
            <a:prstGeom prst="ellipse">
              <a:avLst/>
            </a:prstGeom>
            <a:solidFill>
              <a:srgbClr val="F5A623">
                <a:alpha val="15000"/>
              </a:srgbClr>
            </a:solidFill>
            <a:ln w="254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Shape 10" descr="icon-cube-f5a623.png"/>
            <p:cNvPicPr>
              <a:picLocks noChangeAspect="1"/>
            </p:cNvPicPr>
            <p:nvPr/>
          </p:nvPicPr>
          <p:blipFill>
            <a:blip r:embed="rId7"/>
            <a:stretch>
              <a:fillRect/>
            </a:stretch>
          </p:blipFill>
          <p:spPr>
            <a:xfrm>
              <a:off x="1778000" y="1587500"/>
              <a:ext cx="508000" cy="508000"/>
            </a:xfrm>
            <a:prstGeom prst="rect">
              <a:avLst/>
            </a:prstGeom>
          </p:spPr>
        </p:pic>
        <p:sp>
          <p:nvSpPr>
            <p:cNvPr id="13" name="Shape 11"/>
            <p:cNvSpPr txBox="1"/>
            <p:nvPr/>
          </p:nvSpPr>
          <p:spPr>
            <a:xfrm>
              <a:off x="762000" y="2362200"/>
              <a:ext cx="2540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Software vendors</a:t>
              </a:r>
            </a:p>
          </p:txBody>
        </p:sp>
      </p:grpSp>
      <p:cxnSp>
        <p:nvCxnSpPr>
          <p:cNvPr id="15" name="Link 1"/>
          <p:cNvCxnSpPr/>
          <p:nvPr/>
        </p:nvCxnSpPr>
        <p:spPr>
          <a:xfrm>
            <a:off x="2502397" y="1996576"/>
            <a:ext cx="1514243" cy="499201"/>
          </a:xfrm>
          <a:prstGeom prst="line">
            <a:avLst/>
          </a:prstGeom>
          <a:ln w="25400">
            <a:solidFill>
              <a:srgbClr val="F5A623"/>
            </a:solidFill>
            <a:tailEnd type="triangle" w="med"/>
          </a:ln>
        </p:spPr>
        <p:style>
          <a:lnRef idx="2">
            <a:schemeClr val="accent1"/>
          </a:lnRef>
          <a:fillRef idx="0">
            <a:schemeClr val="accent1"/>
          </a:fillRef>
          <a:effectRef idx="1">
            <a:schemeClr val="accent1"/>
          </a:effectRef>
          <a:fontRef idx="minor">
            <a:schemeClr val="tx1"/>
          </a:fontRef>
        </p:style>
      </p:cxnSp>
      <p:grpSp>
        <p:nvGrpSpPr>
          <p:cNvPr id="19" name="Role 2"/>
          <p:cNvGrpSpPr/>
          <p:nvPr/>
        </p:nvGrpSpPr>
        <p:grpSpPr>
          <a:xfrm>
            <a:off x="8890000" y="1397000"/>
            <a:ext cx="2540000" cy="1473200"/>
            <a:chOff x="8890000" y="1397000"/>
            <a:chExt cx="2540000" cy="1473200"/>
          </a:xfrm>
        </p:grpSpPr>
        <p:sp>
          <p:nvSpPr>
            <p:cNvPr id="16" name="Shape 14"/>
            <p:cNvSpPr/>
            <p:nvPr/>
          </p:nvSpPr>
          <p:spPr>
            <a:xfrm>
              <a:off x="9715500" y="1397000"/>
              <a:ext cx="889000" cy="889000"/>
            </a:xfrm>
            <a:prstGeom prst="ellipse">
              <a:avLst/>
            </a:prstGeom>
            <a:solidFill>
              <a:srgbClr val="1FC7A8">
                <a:alpha val="15000"/>
              </a:srgbClr>
            </a:solidFill>
            <a:ln w="25400">
              <a:solidFill>
                <a:srgbClr val="1FC7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Shape 15" descr="icon-handshake-1fc7a8.png"/>
            <p:cNvPicPr>
              <a:picLocks noChangeAspect="1"/>
            </p:cNvPicPr>
            <p:nvPr/>
          </p:nvPicPr>
          <p:blipFill>
            <a:blip r:embed="rId8"/>
            <a:stretch>
              <a:fillRect/>
            </a:stretch>
          </p:blipFill>
          <p:spPr>
            <a:xfrm>
              <a:off x="9906000" y="1587500"/>
              <a:ext cx="508000" cy="508000"/>
            </a:xfrm>
            <a:prstGeom prst="rect">
              <a:avLst/>
            </a:prstGeom>
          </p:spPr>
        </p:pic>
        <p:sp>
          <p:nvSpPr>
            <p:cNvPr id="18" name="Shape 16"/>
            <p:cNvSpPr txBox="1"/>
            <p:nvPr/>
          </p:nvSpPr>
          <p:spPr>
            <a:xfrm>
              <a:off x="8890000" y="2362200"/>
              <a:ext cx="2540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Systems integrators</a:t>
              </a:r>
            </a:p>
          </p:txBody>
        </p:sp>
      </p:grpSp>
      <p:cxnSp>
        <p:nvCxnSpPr>
          <p:cNvPr id="20" name="Link 2"/>
          <p:cNvCxnSpPr/>
          <p:nvPr/>
        </p:nvCxnSpPr>
        <p:spPr>
          <a:xfrm flipH="1">
            <a:off x="8175360" y="1996576"/>
            <a:ext cx="1514243" cy="499201"/>
          </a:xfrm>
          <a:prstGeom prst="line">
            <a:avLst/>
          </a:prstGeom>
          <a:ln w="25400">
            <a:solidFill>
              <a:srgbClr val="1FC7A8"/>
            </a:solidFill>
            <a:tailEnd type="triangle" w="med"/>
          </a:ln>
        </p:spPr>
        <p:style>
          <a:lnRef idx="2">
            <a:schemeClr val="accent1"/>
          </a:lnRef>
          <a:fillRef idx="0">
            <a:schemeClr val="accent1"/>
          </a:fillRef>
          <a:effectRef idx="1">
            <a:schemeClr val="accent1"/>
          </a:effectRef>
          <a:fontRef idx="minor">
            <a:schemeClr val="tx1"/>
          </a:fontRef>
        </p:style>
      </p:cxnSp>
      <p:grpSp>
        <p:nvGrpSpPr>
          <p:cNvPr id="24" name="Role 3"/>
          <p:cNvGrpSpPr/>
          <p:nvPr/>
        </p:nvGrpSpPr>
        <p:grpSpPr>
          <a:xfrm>
            <a:off x="762000" y="3429000"/>
            <a:ext cx="2540000" cy="1473200"/>
            <a:chOff x="762000" y="3429000"/>
            <a:chExt cx="2540000" cy="1473200"/>
          </a:xfrm>
        </p:grpSpPr>
        <p:sp>
          <p:nvSpPr>
            <p:cNvPr id="21" name="Shape 19"/>
            <p:cNvSpPr/>
            <p:nvPr/>
          </p:nvSpPr>
          <p:spPr>
            <a:xfrm>
              <a:off x="1587500" y="3429000"/>
              <a:ext cx="889000" cy="889000"/>
            </a:xfrm>
            <a:prstGeom prst="ellipse">
              <a:avLst/>
            </a:prstGeom>
            <a:solidFill>
              <a:srgbClr val="E6007E">
                <a:alpha val="15000"/>
              </a:srgbClr>
            </a:solidFill>
            <a:ln w="25400">
              <a:solidFill>
                <a:srgbClr val="E60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Shape 20" descr="icon-globe-e6007e.png"/>
            <p:cNvPicPr>
              <a:picLocks noChangeAspect="1"/>
            </p:cNvPicPr>
            <p:nvPr/>
          </p:nvPicPr>
          <p:blipFill>
            <a:blip r:embed="rId9"/>
            <a:stretch>
              <a:fillRect/>
            </a:stretch>
          </p:blipFill>
          <p:spPr>
            <a:xfrm>
              <a:off x="1778000" y="3619500"/>
              <a:ext cx="508000" cy="508000"/>
            </a:xfrm>
            <a:prstGeom prst="rect">
              <a:avLst/>
            </a:prstGeom>
          </p:spPr>
        </p:pic>
        <p:sp>
          <p:nvSpPr>
            <p:cNvPr id="23" name="Shape 21"/>
            <p:cNvSpPr txBox="1"/>
            <p:nvPr/>
          </p:nvSpPr>
          <p:spPr>
            <a:xfrm>
              <a:off x="762000" y="4394200"/>
              <a:ext cx="2540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Communication service providers</a:t>
              </a:r>
            </a:p>
          </p:txBody>
        </p:sp>
      </p:grpSp>
      <p:cxnSp>
        <p:nvCxnSpPr>
          <p:cNvPr id="25" name="Link 3"/>
          <p:cNvCxnSpPr/>
          <p:nvPr/>
        </p:nvCxnSpPr>
        <p:spPr>
          <a:xfrm>
            <a:off x="2516676" y="3975537"/>
            <a:ext cx="996255" cy="209738"/>
          </a:xfrm>
          <a:prstGeom prst="line">
            <a:avLst/>
          </a:prstGeom>
          <a:ln w="25400">
            <a:solidFill>
              <a:srgbClr val="E6007E"/>
            </a:solidFill>
            <a:tailEnd type="triangle" w="med"/>
          </a:ln>
        </p:spPr>
        <p:style>
          <a:lnRef idx="2">
            <a:schemeClr val="accent1"/>
          </a:lnRef>
          <a:fillRef idx="0">
            <a:schemeClr val="accent1"/>
          </a:fillRef>
          <a:effectRef idx="1">
            <a:schemeClr val="accent1"/>
          </a:effectRef>
          <a:fontRef idx="minor">
            <a:schemeClr val="tx1"/>
          </a:fontRef>
        </p:style>
      </p:cxnSp>
      <p:grpSp>
        <p:nvGrpSpPr>
          <p:cNvPr id="29" name="Role 4"/>
          <p:cNvGrpSpPr/>
          <p:nvPr/>
        </p:nvGrpSpPr>
        <p:grpSpPr>
          <a:xfrm>
            <a:off x="8890000" y="3429000"/>
            <a:ext cx="2540000" cy="1473200"/>
            <a:chOff x="8890000" y="3429000"/>
            <a:chExt cx="2540000" cy="1473200"/>
          </a:xfrm>
        </p:grpSpPr>
        <p:sp>
          <p:nvSpPr>
            <p:cNvPr id="26" name="Shape 24"/>
            <p:cNvSpPr/>
            <p:nvPr/>
          </p:nvSpPr>
          <p:spPr>
            <a:xfrm>
              <a:off x="9715500" y="3429000"/>
              <a:ext cx="889000" cy="889000"/>
            </a:xfrm>
            <a:prstGeom prst="ellipse">
              <a:avLst/>
            </a:prstGeom>
            <a:solidFill>
              <a:srgbClr val="2F6FED">
                <a:alpha val="15000"/>
              </a:srgbClr>
            </a:solidFill>
            <a:ln w="25400">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Shape 25" descr="icon-cloud-2f6fed.png"/>
            <p:cNvPicPr>
              <a:picLocks noChangeAspect="1"/>
            </p:cNvPicPr>
            <p:nvPr/>
          </p:nvPicPr>
          <p:blipFill>
            <a:blip r:embed="rId10"/>
            <a:stretch>
              <a:fillRect/>
            </a:stretch>
          </p:blipFill>
          <p:spPr>
            <a:xfrm>
              <a:off x="9906000" y="3619500"/>
              <a:ext cx="508000" cy="508000"/>
            </a:xfrm>
            <a:prstGeom prst="rect">
              <a:avLst/>
            </a:prstGeom>
          </p:spPr>
        </p:pic>
        <p:sp>
          <p:nvSpPr>
            <p:cNvPr id="28" name="Shape 26"/>
            <p:cNvSpPr txBox="1"/>
            <p:nvPr/>
          </p:nvSpPr>
          <p:spPr>
            <a:xfrm>
              <a:off x="8890000" y="4394200"/>
              <a:ext cx="2540000" cy="508000"/>
            </a:xfrm>
            <a:prstGeom prst="rect">
              <a:avLst/>
            </a:prstGeom>
            <a:noFill/>
          </p:spPr>
          <p:txBody>
            <a:bodyPr wrap="square" lIns="0" tIns="0" rIns="0" bIns="0" anchor="t">
              <a:spAutoFit/>
            </a:bodyPr>
            <a:lstStyle/>
            <a:p>
              <a:pPr algn="ctr">
                <a:lnSpc>
                  <a:spcPct val="115000"/>
                </a:lnSpc>
              </a:pPr>
              <a:r>
                <a:rPr sz="1500" b="1">
                  <a:solidFill>
                    <a:srgbClr val="F2F5FB"/>
                  </a:solidFill>
                  <a:latin typeface="Segoe UI"/>
                </a:rPr>
                <a:t>Cloud providers</a:t>
              </a:r>
            </a:p>
          </p:txBody>
        </p:sp>
      </p:grpSp>
      <p:cxnSp>
        <p:nvCxnSpPr>
          <p:cNvPr id="30" name="Link 4"/>
          <p:cNvCxnSpPr/>
          <p:nvPr/>
        </p:nvCxnSpPr>
        <p:spPr>
          <a:xfrm flipH="1">
            <a:off x="8679069" y="3975537"/>
            <a:ext cx="996255" cy="209738"/>
          </a:xfrm>
          <a:prstGeom prst="line">
            <a:avLst/>
          </a:prstGeom>
          <a:ln w="25400">
            <a:solidFill>
              <a:srgbClr val="2F6FED"/>
            </a:solidFill>
            <a:tailEnd type="triangle" w="med"/>
          </a:ln>
        </p:spPr>
        <p:style>
          <a:lnRef idx="2">
            <a:schemeClr val="accent1"/>
          </a:lnRef>
          <a:fillRef idx="0">
            <a:schemeClr val="accent1"/>
          </a:fillRef>
          <a:effectRef idx="1">
            <a:schemeClr val="accent1"/>
          </a:effectRef>
          <a:fontRef idx="minor">
            <a:schemeClr val="tx1"/>
          </a:fontRef>
        </p:style>
      </p:cxnSp>
      <p:grpSp>
        <p:nvGrpSpPr>
          <p:cNvPr id="33" name="Manifesto"/>
          <p:cNvGrpSpPr/>
          <p:nvPr/>
        </p:nvGrpSpPr>
        <p:grpSpPr>
          <a:xfrm>
            <a:off x="0" y="5207000"/>
            <a:ext cx="12192000" cy="635000"/>
            <a:chOff x="0" y="5207000"/>
            <a:chExt cx="12192000" cy="635000"/>
          </a:xfrm>
        </p:grpSpPr>
        <p:sp>
          <p:nvSpPr>
            <p:cNvPr id="31" name="Shape 29"/>
            <p:cNvSpPr txBox="1"/>
            <p:nvPr/>
          </p:nvSpPr>
          <p:spPr>
            <a:xfrm>
              <a:off x="0" y="5207000"/>
              <a:ext cx="12192000" cy="254000"/>
            </a:xfrm>
            <a:prstGeom prst="rect">
              <a:avLst/>
            </a:prstGeom>
            <a:noFill/>
          </p:spPr>
          <p:txBody>
            <a:bodyPr wrap="square" lIns="0" tIns="0" rIns="0" bIns="0" anchor="t">
              <a:spAutoFit/>
            </a:bodyPr>
            <a:lstStyle/>
            <a:p>
              <a:pPr algn="ctr">
                <a:lnSpc>
                  <a:spcPct val="115000"/>
                </a:lnSpc>
              </a:pPr>
              <a:r>
                <a:rPr sz="1300" b="1" spc="200">
                  <a:solidFill>
                    <a:srgbClr val="E6007E"/>
                  </a:solidFill>
                  <a:latin typeface="Segoe UI"/>
                </a:rPr>
                <a:t>ODA MANIFESTO</a:t>
              </a:r>
            </a:p>
          </p:txBody>
        </p:sp>
        <p:sp>
          <p:nvSpPr>
            <p:cNvPr id="32" name="Shape 30"/>
            <p:cNvSpPr txBox="1"/>
            <p:nvPr/>
          </p:nvSpPr>
          <p:spPr>
            <a:xfrm>
              <a:off x="0" y="5461000"/>
              <a:ext cx="12192000" cy="381000"/>
            </a:xfrm>
            <a:prstGeom prst="rect">
              <a:avLst/>
            </a:prstGeom>
            <a:noFill/>
          </p:spPr>
          <p:txBody>
            <a:bodyPr wrap="square" lIns="0" tIns="0" rIns="0" bIns="0" anchor="t">
              <a:spAutoFit/>
            </a:bodyPr>
            <a:lstStyle/>
            <a:p>
              <a:pPr algn="ctr">
                <a:lnSpc>
                  <a:spcPct val="115000"/>
                </a:lnSpc>
              </a:pPr>
              <a:r>
                <a:rPr sz="2000" b="1">
                  <a:solidFill>
                    <a:srgbClr val="F2F5FB"/>
                  </a:solidFill>
                  <a:latin typeface="Segoe UI"/>
                </a:rPr>
                <a:t>A standard execution environment for ODA Components</a:t>
              </a:r>
            </a:p>
          </p:txBody>
        </p:sp>
      </p:grpSp>
      <p:sp>
        <p:nvSpPr>
          <p:cNvPr id="34" name="Together"/>
          <p:cNvSpPr txBox="1"/>
          <p:nvPr/>
        </p:nvSpPr>
        <p:spPr>
          <a:xfrm>
            <a:off x="0" y="6096000"/>
            <a:ext cx="12192000" cy="317500"/>
          </a:xfrm>
          <a:prstGeom prst="rect">
            <a:avLst/>
          </a:prstGeom>
          <a:noFill/>
        </p:spPr>
        <p:txBody>
          <a:bodyPr wrap="square" lIns="0" tIns="0" rIns="0" bIns="0" anchor="t">
            <a:spAutoFit/>
          </a:bodyPr>
          <a:lstStyle/>
          <a:p>
            <a:pPr algn="ctr">
              <a:lnSpc>
                <a:spcPct val="115000"/>
              </a:lnSpc>
            </a:pPr>
            <a:r>
              <a:rPr sz="1600" b="0">
                <a:solidFill>
                  <a:srgbClr val="F472B6"/>
                </a:solidFill>
                <a:latin typeface="Segoe UI"/>
              </a:rPr>
              <a:t>Adopting new capabilities — including AI — faster, together</a:t>
            </a:r>
          </a:p>
        </p:txBody>
      </p:sp>
    </p:spTree>
  </p:cSld>
  <p:clrMapOvr>
    <a:masterClrMapping/>
  </p:clrMapOvr>
  <mc:AlternateContent xmlns:mc="http://schemas.openxmlformats.org/markup-compatibility/2006">
    <mc:Choice xmlns:p14="http://schemas.microsoft.com/office/powerpoint/2010/main" Requires="p14">
      <p:transition spd="slow" p14:dur="2000" advTm="24700"/>
    </mc:Choice>
    <mc:Fallback>
      <p:transition spd="slow" advTm="2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58" presetClass="entr" presetSubtype="0" accel="100000" fill="hold" nodeType="withEffect">
                                  <p:stCondLst>
                                    <p:cond delay="1200"/>
                                  </p:stCondLst>
                                  <p:childTnLst>
                                    <p:set>
                                      <p:cBhvr>
                                        <p:cTn id="12" dur="1" fill="hold">
                                          <p:stCondLst>
                                            <p:cond delay="0"/>
                                          </p:stCondLst>
                                        </p:cTn>
                                        <p:tgtEl>
                                          <p:spTgt spid="14"/>
                                        </p:tgtEl>
                                        <p:attrNameLst>
                                          <p:attrName>style.visibility</p:attrName>
                                        </p:attrNameLst>
                                      </p:cBhvr>
                                      <p:to>
                                        <p:strVal val="visible"/>
                                      </p:to>
                                    </p:set>
                                    <p:anim calcmode="lin" valueType="num">
                                      <p:cBhvr>
                                        <p:cTn id="13" dur="600" fill="hold"/>
                                        <p:tgtEl>
                                          <p:spTgt spid="14"/>
                                        </p:tgtEl>
                                        <p:attrNameLst>
                                          <p:attrName>ppt_w</p:attrName>
                                        </p:attrNameLst>
                                      </p:cBhvr>
                                      <p:tavLst>
                                        <p:tav tm="0">
                                          <p:val>
                                            <p:strVal val="#ppt_w*2.5"/>
                                          </p:val>
                                        </p:tav>
                                        <p:tav tm="100000">
                                          <p:val>
                                            <p:strVal val="#ppt_w"/>
                                          </p:val>
                                        </p:tav>
                                      </p:tavLst>
                                    </p:anim>
                                    <p:anim calcmode="lin" valueType="num">
                                      <p:cBhvr>
                                        <p:cTn id="14" dur="600" fill="hold"/>
                                        <p:tgtEl>
                                          <p:spTgt spid="14"/>
                                        </p:tgtEl>
                                        <p:attrNameLst>
                                          <p:attrName>ppt_h</p:attrName>
                                        </p:attrNameLst>
                                      </p:cBhvr>
                                      <p:tavLst>
                                        <p:tav tm="0">
                                          <p:val>
                                            <p:strVal val="#ppt_h*0.01"/>
                                          </p:val>
                                        </p:tav>
                                        <p:tav tm="100000">
                                          <p:val>
                                            <p:strVal val="#ppt_h"/>
                                          </p:val>
                                        </p:tav>
                                      </p:tavLst>
                                    </p:anim>
                                    <p:anim calcmode="lin" valueType="num">
                                      <p:cBhvr>
                                        <p:cTn id="15" dur="600" fill="hold"/>
                                        <p:tgtEl>
                                          <p:spTgt spid="14"/>
                                        </p:tgtEl>
                                        <p:attrNameLst>
                                          <p:attrName>ppt_x</p:attrName>
                                        </p:attrNameLst>
                                      </p:cBhvr>
                                      <p:tavLst>
                                        <p:tav tm="0">
                                          <p:val>
                                            <p:strVal val="#ppt_x"/>
                                          </p:val>
                                        </p:tav>
                                        <p:tav tm="100000">
                                          <p:val>
                                            <p:strVal val="#ppt_x"/>
                                          </p:val>
                                        </p:tav>
                                      </p:tavLst>
                                    </p:anim>
                                    <p:anim calcmode="lin" valueType="num">
                                      <p:cBhvr>
                                        <p:cTn id="16" dur="600" fill="hold"/>
                                        <p:tgtEl>
                                          <p:spTgt spid="14"/>
                                        </p:tgtEl>
                                        <p:attrNameLst>
                                          <p:attrName>ppt_y</p:attrName>
                                        </p:attrNameLst>
                                      </p:cBhvr>
                                      <p:tavLst>
                                        <p:tav tm="0">
                                          <p:val>
                                            <p:strVal val="#ppt_h+1"/>
                                          </p:val>
                                        </p:tav>
                                        <p:tav tm="100000">
                                          <p:val>
                                            <p:strVal val="#ppt_y"/>
                                          </p:val>
                                        </p:tav>
                                      </p:tavLst>
                                    </p:anim>
                                    <p:animEffect transition="in" filter="fade">
                                      <p:cBhvr>
                                        <p:cTn id="17" dur="600"/>
                                        <p:tgtEl>
                                          <p:spTgt spid="14"/>
                                        </p:tgtEl>
                                      </p:cBhvr>
                                    </p:animEffect>
                                  </p:childTnLst>
                                </p:cTn>
                              </p:par>
                              <p:par>
                                <p:cTn id="18" presetID="58" presetClass="entr" presetSubtype="0" accel="100000" fill="hold" nodeType="withEffect">
                                  <p:stCondLst>
                                    <p:cond delay="1800"/>
                                  </p:stCondLst>
                                  <p:childTnLst>
                                    <p:set>
                                      <p:cBhvr>
                                        <p:cTn id="19" dur="1" fill="hold">
                                          <p:stCondLst>
                                            <p:cond delay="0"/>
                                          </p:stCondLst>
                                        </p:cTn>
                                        <p:tgtEl>
                                          <p:spTgt spid="19"/>
                                        </p:tgtEl>
                                        <p:attrNameLst>
                                          <p:attrName>style.visibility</p:attrName>
                                        </p:attrNameLst>
                                      </p:cBhvr>
                                      <p:to>
                                        <p:strVal val="visible"/>
                                      </p:to>
                                    </p:set>
                                    <p:anim calcmode="lin" valueType="num">
                                      <p:cBhvr>
                                        <p:cTn id="20" dur="600" fill="hold"/>
                                        <p:tgtEl>
                                          <p:spTgt spid="19"/>
                                        </p:tgtEl>
                                        <p:attrNameLst>
                                          <p:attrName>ppt_w</p:attrName>
                                        </p:attrNameLst>
                                      </p:cBhvr>
                                      <p:tavLst>
                                        <p:tav tm="0">
                                          <p:val>
                                            <p:strVal val="#ppt_w*2.5"/>
                                          </p:val>
                                        </p:tav>
                                        <p:tav tm="100000">
                                          <p:val>
                                            <p:strVal val="#ppt_w"/>
                                          </p:val>
                                        </p:tav>
                                      </p:tavLst>
                                    </p:anim>
                                    <p:anim calcmode="lin" valueType="num">
                                      <p:cBhvr>
                                        <p:cTn id="21" dur="600" fill="hold"/>
                                        <p:tgtEl>
                                          <p:spTgt spid="19"/>
                                        </p:tgtEl>
                                        <p:attrNameLst>
                                          <p:attrName>ppt_h</p:attrName>
                                        </p:attrNameLst>
                                      </p:cBhvr>
                                      <p:tavLst>
                                        <p:tav tm="0">
                                          <p:val>
                                            <p:strVal val="#ppt_h*0.01"/>
                                          </p:val>
                                        </p:tav>
                                        <p:tav tm="100000">
                                          <p:val>
                                            <p:strVal val="#ppt_h"/>
                                          </p:val>
                                        </p:tav>
                                      </p:tavLst>
                                    </p:anim>
                                    <p:anim calcmode="lin" valueType="num">
                                      <p:cBhvr>
                                        <p:cTn id="22" dur="600" fill="hold"/>
                                        <p:tgtEl>
                                          <p:spTgt spid="19"/>
                                        </p:tgtEl>
                                        <p:attrNameLst>
                                          <p:attrName>ppt_x</p:attrName>
                                        </p:attrNameLst>
                                      </p:cBhvr>
                                      <p:tavLst>
                                        <p:tav tm="0">
                                          <p:val>
                                            <p:strVal val="#ppt_x"/>
                                          </p:val>
                                        </p:tav>
                                        <p:tav tm="100000">
                                          <p:val>
                                            <p:strVal val="#ppt_x"/>
                                          </p:val>
                                        </p:tav>
                                      </p:tavLst>
                                    </p:anim>
                                    <p:anim calcmode="lin" valueType="num">
                                      <p:cBhvr>
                                        <p:cTn id="23" dur="600" fill="hold"/>
                                        <p:tgtEl>
                                          <p:spTgt spid="19"/>
                                        </p:tgtEl>
                                        <p:attrNameLst>
                                          <p:attrName>ppt_y</p:attrName>
                                        </p:attrNameLst>
                                      </p:cBhvr>
                                      <p:tavLst>
                                        <p:tav tm="0">
                                          <p:val>
                                            <p:strVal val="#ppt_h+1"/>
                                          </p:val>
                                        </p:tav>
                                        <p:tav tm="100000">
                                          <p:val>
                                            <p:strVal val="#ppt_y"/>
                                          </p:val>
                                        </p:tav>
                                      </p:tavLst>
                                    </p:anim>
                                    <p:animEffect transition="in" filter="fade">
                                      <p:cBhvr>
                                        <p:cTn id="24" dur="600"/>
                                        <p:tgtEl>
                                          <p:spTgt spid="19"/>
                                        </p:tgtEl>
                                      </p:cBhvr>
                                    </p:animEffect>
                                  </p:childTnLst>
                                </p:cTn>
                              </p:par>
                              <p:par>
                                <p:cTn id="25" presetID="58" presetClass="entr" presetSubtype="0" accel="100000" fill="hold" nodeType="withEffect">
                                  <p:stCondLst>
                                    <p:cond delay="2400"/>
                                  </p:stCondLst>
                                  <p:childTnLst>
                                    <p:set>
                                      <p:cBhvr>
                                        <p:cTn id="26" dur="1" fill="hold">
                                          <p:stCondLst>
                                            <p:cond delay="0"/>
                                          </p:stCondLst>
                                        </p:cTn>
                                        <p:tgtEl>
                                          <p:spTgt spid="24"/>
                                        </p:tgtEl>
                                        <p:attrNameLst>
                                          <p:attrName>style.visibility</p:attrName>
                                        </p:attrNameLst>
                                      </p:cBhvr>
                                      <p:to>
                                        <p:strVal val="visible"/>
                                      </p:to>
                                    </p:set>
                                    <p:anim calcmode="lin" valueType="num">
                                      <p:cBhvr>
                                        <p:cTn id="27" dur="600" fill="hold"/>
                                        <p:tgtEl>
                                          <p:spTgt spid="24"/>
                                        </p:tgtEl>
                                        <p:attrNameLst>
                                          <p:attrName>ppt_w</p:attrName>
                                        </p:attrNameLst>
                                      </p:cBhvr>
                                      <p:tavLst>
                                        <p:tav tm="0">
                                          <p:val>
                                            <p:strVal val="#ppt_w*2.5"/>
                                          </p:val>
                                        </p:tav>
                                        <p:tav tm="100000">
                                          <p:val>
                                            <p:strVal val="#ppt_w"/>
                                          </p:val>
                                        </p:tav>
                                      </p:tavLst>
                                    </p:anim>
                                    <p:anim calcmode="lin" valueType="num">
                                      <p:cBhvr>
                                        <p:cTn id="28" dur="600" fill="hold"/>
                                        <p:tgtEl>
                                          <p:spTgt spid="24"/>
                                        </p:tgtEl>
                                        <p:attrNameLst>
                                          <p:attrName>ppt_h</p:attrName>
                                        </p:attrNameLst>
                                      </p:cBhvr>
                                      <p:tavLst>
                                        <p:tav tm="0">
                                          <p:val>
                                            <p:strVal val="#ppt_h*0.01"/>
                                          </p:val>
                                        </p:tav>
                                        <p:tav tm="100000">
                                          <p:val>
                                            <p:strVal val="#ppt_h"/>
                                          </p:val>
                                        </p:tav>
                                      </p:tavLst>
                                    </p:anim>
                                    <p:anim calcmode="lin" valueType="num">
                                      <p:cBhvr>
                                        <p:cTn id="29" dur="600" fill="hold"/>
                                        <p:tgtEl>
                                          <p:spTgt spid="24"/>
                                        </p:tgtEl>
                                        <p:attrNameLst>
                                          <p:attrName>ppt_x</p:attrName>
                                        </p:attrNameLst>
                                      </p:cBhvr>
                                      <p:tavLst>
                                        <p:tav tm="0">
                                          <p:val>
                                            <p:strVal val="#ppt_x"/>
                                          </p:val>
                                        </p:tav>
                                        <p:tav tm="100000">
                                          <p:val>
                                            <p:strVal val="#ppt_x"/>
                                          </p:val>
                                        </p:tav>
                                      </p:tavLst>
                                    </p:anim>
                                    <p:anim calcmode="lin" valueType="num">
                                      <p:cBhvr>
                                        <p:cTn id="30" dur="600" fill="hold"/>
                                        <p:tgtEl>
                                          <p:spTgt spid="24"/>
                                        </p:tgtEl>
                                        <p:attrNameLst>
                                          <p:attrName>ppt_y</p:attrName>
                                        </p:attrNameLst>
                                      </p:cBhvr>
                                      <p:tavLst>
                                        <p:tav tm="0">
                                          <p:val>
                                            <p:strVal val="#ppt_h+1"/>
                                          </p:val>
                                        </p:tav>
                                        <p:tav tm="100000">
                                          <p:val>
                                            <p:strVal val="#ppt_y"/>
                                          </p:val>
                                        </p:tav>
                                      </p:tavLst>
                                    </p:anim>
                                    <p:animEffect transition="in" filter="fade">
                                      <p:cBhvr>
                                        <p:cTn id="31" dur="600"/>
                                        <p:tgtEl>
                                          <p:spTgt spid="24"/>
                                        </p:tgtEl>
                                      </p:cBhvr>
                                    </p:animEffect>
                                  </p:childTnLst>
                                </p:cTn>
                              </p:par>
                              <p:par>
                                <p:cTn id="32" presetID="58" presetClass="entr" presetSubtype="0" accel="100000" fill="hold" nodeType="withEffect">
                                  <p:stCondLst>
                                    <p:cond delay="3000"/>
                                  </p:stCondLst>
                                  <p:childTnLst>
                                    <p:set>
                                      <p:cBhvr>
                                        <p:cTn id="33" dur="1" fill="hold">
                                          <p:stCondLst>
                                            <p:cond delay="0"/>
                                          </p:stCondLst>
                                        </p:cTn>
                                        <p:tgtEl>
                                          <p:spTgt spid="29"/>
                                        </p:tgtEl>
                                        <p:attrNameLst>
                                          <p:attrName>style.visibility</p:attrName>
                                        </p:attrNameLst>
                                      </p:cBhvr>
                                      <p:to>
                                        <p:strVal val="visible"/>
                                      </p:to>
                                    </p:set>
                                    <p:anim calcmode="lin" valueType="num">
                                      <p:cBhvr>
                                        <p:cTn id="34" dur="600" fill="hold"/>
                                        <p:tgtEl>
                                          <p:spTgt spid="29"/>
                                        </p:tgtEl>
                                        <p:attrNameLst>
                                          <p:attrName>ppt_w</p:attrName>
                                        </p:attrNameLst>
                                      </p:cBhvr>
                                      <p:tavLst>
                                        <p:tav tm="0">
                                          <p:val>
                                            <p:strVal val="#ppt_w*2.5"/>
                                          </p:val>
                                        </p:tav>
                                        <p:tav tm="100000">
                                          <p:val>
                                            <p:strVal val="#ppt_w"/>
                                          </p:val>
                                        </p:tav>
                                      </p:tavLst>
                                    </p:anim>
                                    <p:anim calcmode="lin" valueType="num">
                                      <p:cBhvr>
                                        <p:cTn id="35" dur="600" fill="hold"/>
                                        <p:tgtEl>
                                          <p:spTgt spid="29"/>
                                        </p:tgtEl>
                                        <p:attrNameLst>
                                          <p:attrName>ppt_h</p:attrName>
                                        </p:attrNameLst>
                                      </p:cBhvr>
                                      <p:tavLst>
                                        <p:tav tm="0">
                                          <p:val>
                                            <p:strVal val="#ppt_h*0.01"/>
                                          </p:val>
                                        </p:tav>
                                        <p:tav tm="100000">
                                          <p:val>
                                            <p:strVal val="#ppt_h"/>
                                          </p:val>
                                        </p:tav>
                                      </p:tavLst>
                                    </p:anim>
                                    <p:anim calcmode="lin" valueType="num">
                                      <p:cBhvr>
                                        <p:cTn id="36" dur="600" fill="hold"/>
                                        <p:tgtEl>
                                          <p:spTgt spid="29"/>
                                        </p:tgtEl>
                                        <p:attrNameLst>
                                          <p:attrName>ppt_x</p:attrName>
                                        </p:attrNameLst>
                                      </p:cBhvr>
                                      <p:tavLst>
                                        <p:tav tm="0">
                                          <p:val>
                                            <p:strVal val="#ppt_x"/>
                                          </p:val>
                                        </p:tav>
                                        <p:tav tm="100000">
                                          <p:val>
                                            <p:strVal val="#ppt_x"/>
                                          </p:val>
                                        </p:tav>
                                      </p:tavLst>
                                    </p:anim>
                                    <p:anim calcmode="lin" valueType="num">
                                      <p:cBhvr>
                                        <p:cTn id="37" dur="600" fill="hold"/>
                                        <p:tgtEl>
                                          <p:spTgt spid="29"/>
                                        </p:tgtEl>
                                        <p:attrNameLst>
                                          <p:attrName>ppt_y</p:attrName>
                                        </p:attrNameLst>
                                      </p:cBhvr>
                                      <p:tavLst>
                                        <p:tav tm="0">
                                          <p:val>
                                            <p:strVal val="#ppt_h+1"/>
                                          </p:val>
                                        </p:tav>
                                        <p:tav tm="100000">
                                          <p:val>
                                            <p:strVal val="#ppt_y"/>
                                          </p:val>
                                        </p:tav>
                                      </p:tavLst>
                                    </p:anim>
                                    <p:animEffect transition="in" filter="fade">
                                      <p:cBhvr>
                                        <p:cTn id="38" dur="600"/>
                                        <p:tgtEl>
                                          <p:spTgt spid="29"/>
                                        </p:tgtEl>
                                      </p:cBhvr>
                                    </p:animEffect>
                                  </p:childTnLst>
                                </p:cTn>
                              </p:par>
                              <p:par>
                                <p:cTn id="39" presetID="10" presetClass="entr" presetSubtype="0" fill="hold" nodeType="withEffect">
                                  <p:stCondLst>
                                    <p:cond delay="50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nodeType="withEffect">
                                  <p:stCondLst>
                                    <p:cond delay="530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560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par>
                                <p:cTn id="48" presetID="10" presetClass="entr" presetSubtype="0" fill="hold" nodeType="withEffect">
                                  <p:stCondLst>
                                    <p:cond delay="590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par>
                                <p:cTn id="51" presetID="2" presetClass="entr" presetSubtype="4" fill="hold" nodeType="withEffect">
                                  <p:stCondLst>
                                    <p:cond delay="600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800" fill="hold"/>
                                        <p:tgtEl>
                                          <p:spTgt spid="10"/>
                                        </p:tgtEl>
                                        <p:attrNameLst>
                                          <p:attrName>ppt_x</p:attrName>
                                        </p:attrNameLst>
                                      </p:cBhvr>
                                      <p:tavLst>
                                        <p:tav tm="0">
                                          <p:val>
                                            <p:strVal val="#ppt_x"/>
                                          </p:val>
                                        </p:tav>
                                        <p:tav tm="100000">
                                          <p:val>
                                            <p:strVal val="#ppt_x"/>
                                          </p:val>
                                        </p:tav>
                                      </p:tavLst>
                                    </p:anim>
                                    <p:anim calcmode="lin" valueType="num">
                                      <p:cBhvr additive="base">
                                        <p:cTn id="54" dur="800" fill="hold"/>
                                        <p:tgtEl>
                                          <p:spTgt spid="10"/>
                                        </p:tgtEl>
                                        <p:attrNameLst>
                                          <p:attrName>ppt_y</p:attrName>
                                        </p:attrNameLst>
                                      </p:cBhvr>
                                      <p:tavLst>
                                        <p:tav tm="0">
                                          <p:val>
                                            <p:strVal val="1+#ppt_h/2"/>
                                          </p:val>
                                        </p:tav>
                                        <p:tav tm="100000">
                                          <p:val>
                                            <p:strVal val="#ppt_y"/>
                                          </p:val>
                                        </p:tav>
                                      </p:tavLst>
                                    </p:anim>
                                  </p:childTnLst>
                                </p:cTn>
                              </p:par>
                              <p:par>
                                <p:cTn id="55" presetID="10" presetClass="entr" presetSubtype="0" fill="hold" nodeType="withEffect">
                                  <p:stCondLst>
                                    <p:cond delay="960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600"/>
                                        <p:tgtEl>
                                          <p:spTgt spid="33"/>
                                        </p:tgtEl>
                                      </p:cBhvr>
                                    </p:animEffect>
                                  </p:childTnLst>
                                </p:cTn>
                              </p:par>
                              <p:par>
                                <p:cTn id="58" presetID="10" presetClass="entr" presetSubtype="0" fill="hold" grpId="0" nodeType="withEffect">
                                  <p:stCondLst>
                                    <p:cond delay="1550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6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titl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What's next</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E6007E"/>
                </a:solidFill>
                <a:latin typeface="Segoe UI"/>
              </a:rPr>
              <a:t>COMING UP IN THE SERIES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What's next</a:t>
            </a:r>
          </a:p>
        </p:txBody>
      </p:sp>
      <p:grpSp>
        <p:nvGrpSpPr>
          <p:cNvPr id="10" name="Part 2"/>
          <p:cNvGrpSpPr/>
          <p:nvPr/>
        </p:nvGrpSpPr>
        <p:grpSpPr>
          <a:xfrm>
            <a:off x="762000" y="1905000"/>
            <a:ext cx="2540000" cy="2095500"/>
            <a:chOff x="762000" y="1905000"/>
            <a:chExt cx="2540000" cy="2095500"/>
          </a:xfrm>
        </p:grpSpPr>
        <p:sp>
          <p:nvSpPr>
            <p:cNvPr id="6" name="Shape 4"/>
            <p:cNvSpPr/>
            <p:nvPr/>
          </p:nvSpPr>
          <p:spPr>
            <a:xfrm>
              <a:off x="762000" y="1905000"/>
              <a:ext cx="2540000" cy="2095500"/>
            </a:xfrm>
            <a:prstGeom prst="roundRect">
              <a:avLst>
                <a:gd name="adj" fmla="val 7878"/>
              </a:avLst>
            </a:prstGeom>
            <a:solidFill>
              <a:srgbClr val="111A30"/>
            </a:solidFill>
            <a:ln w="19050">
              <a:solidFill>
                <a:srgbClr val="2F6FE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p:cNvSpPr txBox="1"/>
            <p:nvPr/>
          </p:nvSpPr>
          <p:spPr>
            <a:xfrm>
              <a:off x="977900" y="2120900"/>
              <a:ext cx="1905000" cy="215900"/>
            </a:xfrm>
            <a:prstGeom prst="rect">
              <a:avLst/>
            </a:prstGeom>
            <a:noFill/>
          </p:spPr>
          <p:txBody>
            <a:bodyPr wrap="square" lIns="0" tIns="0" rIns="0" bIns="0" anchor="t">
              <a:spAutoFit/>
            </a:bodyPr>
            <a:lstStyle/>
            <a:p>
              <a:pPr algn="l">
                <a:lnSpc>
                  <a:spcPct val="115000"/>
                </a:lnSpc>
              </a:pPr>
              <a:r>
                <a:rPr sz="1200" b="1">
                  <a:solidFill>
                    <a:srgbClr val="8F9BB8"/>
                  </a:solidFill>
                  <a:latin typeface="Segoe UI"/>
                </a:rPr>
                <a:t>PART 2</a:t>
              </a:r>
            </a:p>
          </p:txBody>
        </p:sp>
        <p:pic>
          <p:nvPicPr>
            <p:cNvPr id="8" name="Shape 6" descr="icon-layers-2f6fed.png"/>
            <p:cNvPicPr>
              <a:picLocks noChangeAspect="1"/>
            </p:cNvPicPr>
            <p:nvPr/>
          </p:nvPicPr>
          <p:blipFill>
            <a:blip r:embed="rId4"/>
            <a:stretch>
              <a:fillRect/>
            </a:stretch>
          </p:blipFill>
          <p:spPr>
            <a:xfrm>
              <a:off x="977900" y="2413000"/>
              <a:ext cx="533400" cy="533400"/>
            </a:xfrm>
            <a:prstGeom prst="rect">
              <a:avLst/>
            </a:prstGeom>
          </p:spPr>
        </p:pic>
        <p:sp>
          <p:nvSpPr>
            <p:cNvPr id="9" name="Shape 7"/>
            <p:cNvSpPr txBox="1"/>
            <p:nvPr/>
          </p:nvSpPr>
          <p:spPr>
            <a:xfrm>
              <a:off x="977900" y="3073400"/>
              <a:ext cx="2108200" cy="825500"/>
            </a:xfrm>
            <a:prstGeom prst="rect">
              <a:avLst/>
            </a:prstGeom>
            <a:noFill/>
          </p:spPr>
          <p:txBody>
            <a:bodyPr wrap="square" lIns="0" tIns="0" rIns="0" bIns="0" anchor="t">
              <a:spAutoFit/>
            </a:bodyPr>
            <a:lstStyle/>
            <a:p>
              <a:pPr algn="l">
                <a:lnSpc>
                  <a:spcPct val="110000"/>
                </a:lnSpc>
              </a:pPr>
              <a:r>
                <a:rPr sz="1700" b="1">
                  <a:solidFill>
                    <a:srgbClr val="F2F5FB"/>
                  </a:solidFill>
                  <a:latin typeface="Segoe UI"/>
                </a:rPr>
                <a:t>How do I buy or build an ODA Canvas?</a:t>
              </a:r>
            </a:p>
          </p:txBody>
        </p:sp>
      </p:grpSp>
      <p:grpSp>
        <p:nvGrpSpPr>
          <p:cNvPr id="15" name="Part 3"/>
          <p:cNvGrpSpPr/>
          <p:nvPr/>
        </p:nvGrpSpPr>
        <p:grpSpPr>
          <a:xfrm>
            <a:off x="3492500" y="1905000"/>
            <a:ext cx="2540000" cy="2095500"/>
            <a:chOff x="3492500" y="1905000"/>
            <a:chExt cx="2540000" cy="2095500"/>
          </a:xfrm>
        </p:grpSpPr>
        <p:sp>
          <p:nvSpPr>
            <p:cNvPr id="11" name="Shape 9"/>
            <p:cNvSpPr/>
            <p:nvPr/>
          </p:nvSpPr>
          <p:spPr>
            <a:xfrm>
              <a:off x="3492500" y="1905000"/>
              <a:ext cx="2540000" cy="2095500"/>
            </a:xfrm>
            <a:prstGeom prst="roundRect">
              <a:avLst>
                <a:gd name="adj" fmla="val 7878"/>
              </a:avLst>
            </a:prstGeom>
            <a:solidFill>
              <a:srgbClr val="111A30"/>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Shape 10"/>
            <p:cNvSpPr txBox="1"/>
            <p:nvPr/>
          </p:nvSpPr>
          <p:spPr>
            <a:xfrm>
              <a:off x="3708400" y="2120900"/>
              <a:ext cx="1905000" cy="215900"/>
            </a:xfrm>
            <a:prstGeom prst="rect">
              <a:avLst/>
            </a:prstGeom>
            <a:noFill/>
          </p:spPr>
          <p:txBody>
            <a:bodyPr wrap="square" lIns="0" tIns="0" rIns="0" bIns="0" anchor="t">
              <a:spAutoFit/>
            </a:bodyPr>
            <a:lstStyle/>
            <a:p>
              <a:pPr algn="l">
                <a:lnSpc>
                  <a:spcPct val="115000"/>
                </a:lnSpc>
              </a:pPr>
              <a:r>
                <a:rPr sz="1200" b="1">
                  <a:solidFill>
                    <a:srgbClr val="8F9BB8"/>
                  </a:solidFill>
                  <a:latin typeface="Segoe UI"/>
                </a:rPr>
                <a:t>PART 3</a:t>
              </a:r>
            </a:p>
          </p:txBody>
        </p:sp>
        <p:pic>
          <p:nvPicPr>
            <p:cNvPr id="13" name="Shape 11" descr="icon-shield-ff6b6b.png"/>
            <p:cNvPicPr>
              <a:picLocks noChangeAspect="1"/>
            </p:cNvPicPr>
            <p:nvPr/>
          </p:nvPicPr>
          <p:blipFill>
            <a:blip r:embed="rId5"/>
            <a:stretch>
              <a:fillRect/>
            </a:stretch>
          </p:blipFill>
          <p:spPr>
            <a:xfrm>
              <a:off x="3708400" y="2413000"/>
              <a:ext cx="533400" cy="533400"/>
            </a:xfrm>
            <a:prstGeom prst="rect">
              <a:avLst/>
            </a:prstGeom>
          </p:spPr>
        </p:pic>
        <p:sp>
          <p:nvSpPr>
            <p:cNvPr id="14" name="Shape 12"/>
            <p:cNvSpPr txBox="1"/>
            <p:nvPr/>
          </p:nvSpPr>
          <p:spPr>
            <a:xfrm>
              <a:off x="3708400" y="3073400"/>
              <a:ext cx="2108200" cy="825500"/>
            </a:xfrm>
            <a:prstGeom prst="rect">
              <a:avLst/>
            </a:prstGeom>
            <a:noFill/>
          </p:spPr>
          <p:txBody>
            <a:bodyPr wrap="square" lIns="0" tIns="0" rIns="0" bIns="0" anchor="t">
              <a:spAutoFit/>
            </a:bodyPr>
            <a:lstStyle/>
            <a:p>
              <a:pPr algn="l">
                <a:lnSpc>
                  <a:spcPct val="110000"/>
                </a:lnSpc>
              </a:pPr>
              <a:r>
                <a:rPr sz="1700" b="1">
                  <a:solidFill>
                    <a:srgbClr val="F2F5FB"/>
                  </a:solidFill>
                  <a:latin typeface="Segoe UI"/>
                </a:rPr>
                <a:t>Authentication &amp; authorization</a:t>
              </a:r>
            </a:p>
          </p:txBody>
        </p:sp>
      </p:grpSp>
      <p:grpSp>
        <p:nvGrpSpPr>
          <p:cNvPr id="20" name="Part 4"/>
          <p:cNvGrpSpPr/>
          <p:nvPr/>
        </p:nvGrpSpPr>
        <p:grpSpPr>
          <a:xfrm>
            <a:off x="6223000" y="1905000"/>
            <a:ext cx="2540000" cy="2095500"/>
            <a:chOff x="6223000" y="1905000"/>
            <a:chExt cx="2540000" cy="2095500"/>
          </a:xfrm>
        </p:grpSpPr>
        <p:sp>
          <p:nvSpPr>
            <p:cNvPr id="16" name="Shape 14"/>
            <p:cNvSpPr/>
            <p:nvPr/>
          </p:nvSpPr>
          <p:spPr>
            <a:xfrm>
              <a:off x="6223000" y="1905000"/>
              <a:ext cx="2540000" cy="2095500"/>
            </a:xfrm>
            <a:prstGeom prst="roundRect">
              <a:avLst>
                <a:gd name="adj" fmla="val 7878"/>
              </a:avLst>
            </a:prstGeom>
            <a:solidFill>
              <a:srgbClr val="111A30"/>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Shape 15"/>
            <p:cNvSpPr txBox="1"/>
            <p:nvPr/>
          </p:nvSpPr>
          <p:spPr>
            <a:xfrm>
              <a:off x="6438900" y="2120900"/>
              <a:ext cx="1905000" cy="215900"/>
            </a:xfrm>
            <a:prstGeom prst="rect">
              <a:avLst/>
            </a:prstGeom>
            <a:noFill/>
          </p:spPr>
          <p:txBody>
            <a:bodyPr wrap="square" lIns="0" tIns="0" rIns="0" bIns="0" anchor="t">
              <a:spAutoFit/>
            </a:bodyPr>
            <a:lstStyle/>
            <a:p>
              <a:pPr algn="l">
                <a:lnSpc>
                  <a:spcPct val="115000"/>
                </a:lnSpc>
              </a:pPr>
              <a:r>
                <a:rPr sz="1200" b="1">
                  <a:solidFill>
                    <a:srgbClr val="8F9BB8"/>
                  </a:solidFill>
                  <a:latin typeface="Segoe UI"/>
                </a:rPr>
                <a:t>PART 4</a:t>
              </a:r>
            </a:p>
          </p:txBody>
        </p:sp>
        <p:pic>
          <p:nvPicPr>
            <p:cNvPr id="18" name="Shape 16" descr="icon-spark-f472b6.png"/>
            <p:cNvPicPr>
              <a:picLocks noChangeAspect="1"/>
            </p:cNvPicPr>
            <p:nvPr/>
          </p:nvPicPr>
          <p:blipFill>
            <a:blip r:embed="rId6"/>
            <a:stretch>
              <a:fillRect/>
            </a:stretch>
          </p:blipFill>
          <p:spPr>
            <a:xfrm>
              <a:off x="6438900" y="2413000"/>
              <a:ext cx="533400" cy="533400"/>
            </a:xfrm>
            <a:prstGeom prst="rect">
              <a:avLst/>
            </a:prstGeom>
          </p:spPr>
        </p:pic>
        <p:sp>
          <p:nvSpPr>
            <p:cNvPr id="19" name="Shape 17"/>
            <p:cNvSpPr txBox="1"/>
            <p:nvPr/>
          </p:nvSpPr>
          <p:spPr>
            <a:xfrm>
              <a:off x="6438900" y="3073400"/>
              <a:ext cx="2108200" cy="825500"/>
            </a:xfrm>
            <a:prstGeom prst="rect">
              <a:avLst/>
            </a:prstGeom>
            <a:noFill/>
          </p:spPr>
          <p:txBody>
            <a:bodyPr wrap="square" lIns="0" tIns="0" rIns="0" bIns="0" anchor="t">
              <a:spAutoFit/>
            </a:bodyPr>
            <a:lstStyle/>
            <a:p>
              <a:pPr algn="l">
                <a:lnSpc>
                  <a:spcPct val="110000"/>
                </a:lnSpc>
              </a:pPr>
              <a:r>
                <a:rPr sz="1700" b="1">
                  <a:solidFill>
                    <a:srgbClr val="F2F5FB"/>
                  </a:solidFill>
                  <a:latin typeface="Segoe UI"/>
                </a:rPr>
                <a:t>AI-Native ODA Canvas</a:t>
              </a:r>
            </a:p>
          </p:txBody>
        </p:sp>
      </p:grpSp>
      <p:grpSp>
        <p:nvGrpSpPr>
          <p:cNvPr id="25" name="Part 5"/>
          <p:cNvGrpSpPr/>
          <p:nvPr/>
        </p:nvGrpSpPr>
        <p:grpSpPr>
          <a:xfrm>
            <a:off x="8953500" y="1905000"/>
            <a:ext cx="2540000" cy="2095500"/>
            <a:chOff x="8953500" y="1905000"/>
            <a:chExt cx="2540000" cy="2095500"/>
          </a:xfrm>
        </p:grpSpPr>
        <p:sp>
          <p:nvSpPr>
            <p:cNvPr id="21" name="Shape 19"/>
            <p:cNvSpPr/>
            <p:nvPr/>
          </p:nvSpPr>
          <p:spPr>
            <a:xfrm>
              <a:off x="8953500" y="1905000"/>
              <a:ext cx="2540000" cy="2095500"/>
            </a:xfrm>
            <a:prstGeom prst="roundRect">
              <a:avLst>
                <a:gd name="adj" fmla="val 7878"/>
              </a:avLst>
            </a:prstGeom>
            <a:solidFill>
              <a:srgbClr val="111A30"/>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Shape 20"/>
            <p:cNvSpPr txBox="1"/>
            <p:nvPr/>
          </p:nvSpPr>
          <p:spPr>
            <a:xfrm>
              <a:off x="9169400" y="2120900"/>
              <a:ext cx="1905000" cy="215900"/>
            </a:xfrm>
            <a:prstGeom prst="rect">
              <a:avLst/>
            </a:prstGeom>
            <a:noFill/>
          </p:spPr>
          <p:txBody>
            <a:bodyPr wrap="square" lIns="0" tIns="0" rIns="0" bIns="0" anchor="t">
              <a:spAutoFit/>
            </a:bodyPr>
            <a:lstStyle/>
            <a:p>
              <a:pPr algn="l">
                <a:lnSpc>
                  <a:spcPct val="115000"/>
                </a:lnSpc>
              </a:pPr>
              <a:r>
                <a:rPr sz="1200" b="1">
                  <a:solidFill>
                    <a:srgbClr val="8F9BB8"/>
                  </a:solidFill>
                  <a:latin typeface="Segoe UI"/>
                </a:rPr>
                <a:t>PART 5</a:t>
              </a:r>
            </a:p>
          </p:txBody>
        </p:sp>
        <p:pic>
          <p:nvPicPr>
            <p:cNvPr id="23" name="Shape 21" descr="icon-leaf-34d399.png"/>
            <p:cNvPicPr>
              <a:picLocks noChangeAspect="1"/>
            </p:cNvPicPr>
            <p:nvPr/>
          </p:nvPicPr>
          <p:blipFill>
            <a:blip r:embed="rId7"/>
            <a:stretch>
              <a:fillRect/>
            </a:stretch>
          </p:blipFill>
          <p:spPr>
            <a:xfrm>
              <a:off x="9169400" y="2413000"/>
              <a:ext cx="533400" cy="533400"/>
            </a:xfrm>
            <a:prstGeom prst="rect">
              <a:avLst/>
            </a:prstGeom>
          </p:spPr>
        </p:pic>
        <p:sp>
          <p:nvSpPr>
            <p:cNvPr id="24" name="Shape 22"/>
            <p:cNvSpPr txBox="1"/>
            <p:nvPr/>
          </p:nvSpPr>
          <p:spPr>
            <a:xfrm>
              <a:off x="9169400" y="3073400"/>
              <a:ext cx="2108200" cy="825500"/>
            </a:xfrm>
            <a:prstGeom prst="rect">
              <a:avLst/>
            </a:prstGeom>
            <a:noFill/>
          </p:spPr>
          <p:txBody>
            <a:bodyPr wrap="square" lIns="0" tIns="0" rIns="0" bIns="0" anchor="t">
              <a:spAutoFit/>
            </a:bodyPr>
            <a:lstStyle/>
            <a:p>
              <a:pPr algn="l">
                <a:lnSpc>
                  <a:spcPct val="110000"/>
                </a:lnSpc>
              </a:pPr>
              <a:r>
                <a:rPr sz="1700" b="1">
                  <a:solidFill>
                    <a:srgbClr val="F2F5FB"/>
                  </a:solidFill>
                  <a:latin typeface="Segoe UI"/>
                </a:rPr>
                <a:t>Carbon-aware software</a:t>
              </a:r>
            </a:p>
          </p:txBody>
        </p:sp>
      </p:grpSp>
      <p:grpSp>
        <p:nvGrpSpPr>
          <p:cNvPr id="29" name="Links"/>
          <p:cNvGrpSpPr/>
          <p:nvPr/>
        </p:nvGrpSpPr>
        <p:grpSpPr>
          <a:xfrm>
            <a:off x="762000" y="4699000"/>
            <a:ext cx="8890000" cy="755650"/>
            <a:chOff x="762000" y="4699000"/>
            <a:chExt cx="8890000" cy="755650"/>
          </a:xfrm>
        </p:grpSpPr>
        <p:sp>
          <p:nvSpPr>
            <p:cNvPr id="26" name="Shape 24"/>
            <p:cNvSpPr txBox="1"/>
            <p:nvPr/>
          </p:nvSpPr>
          <p:spPr>
            <a:xfrm>
              <a:off x="762000" y="4699000"/>
              <a:ext cx="8890000" cy="279400"/>
            </a:xfrm>
            <a:prstGeom prst="rect">
              <a:avLst/>
            </a:prstGeom>
            <a:noFill/>
          </p:spPr>
          <p:txBody>
            <a:bodyPr wrap="square" lIns="0" tIns="0" rIns="0" bIns="0" anchor="t">
              <a:spAutoFit/>
            </a:bodyPr>
            <a:lstStyle/>
            <a:p>
              <a:pPr algn="l">
                <a:lnSpc>
                  <a:spcPct val="115000"/>
                </a:lnSpc>
              </a:pPr>
              <a:r>
                <a:rPr sz="1500" b="0">
                  <a:solidFill>
                    <a:srgbClr val="8F9BB8"/>
                  </a:solidFill>
                  <a:latin typeface="Segoe UI"/>
                </a:rPr>
                <a:t>Reference implementation, docs and use-case library</a:t>
              </a:r>
            </a:p>
          </p:txBody>
        </p:sp>
        <p:sp>
          <p:nvSpPr>
            <p:cNvPr id="27" name="Shape 25">
              <a:hlinkClick r:id="rId8"/>
            </p:cNvPr>
            <p:cNvSpPr/>
            <p:nvPr/>
          </p:nvSpPr>
          <p:spPr>
            <a:xfrm>
              <a:off x="762000" y="5054600"/>
              <a:ext cx="4502150" cy="400050"/>
            </a:xfrm>
            <a:prstGeom prst="roundRect">
              <a:avLst>
                <a:gd name="adj" fmla="val 50000"/>
              </a:avLst>
            </a:prstGeom>
            <a:solidFill>
              <a:srgbClr val="E6007E">
                <a:alpha val="15000"/>
              </a:srgbClr>
            </a:solidFill>
            <a:ln w="12700">
              <a:solidFill>
                <a:srgbClr val="E6007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800" b="1">
                  <a:solidFill>
                    <a:srgbClr val="F2F5FB"/>
                  </a:solidFill>
                  <a:latin typeface="Segoe UI"/>
                </a:rPr>
                <a:t>github.com/tmforum-oda/oda-canvas</a:t>
              </a:r>
            </a:p>
          </p:txBody>
        </p:sp>
        <p:sp>
          <p:nvSpPr>
            <p:cNvPr id="28" name="Shape 26">
              <a:hlinkClick r:id="rId9"/>
            </p:cNvPr>
            <p:cNvSpPr/>
            <p:nvPr/>
          </p:nvSpPr>
          <p:spPr>
            <a:xfrm>
              <a:off x="5416550" y="5054600"/>
              <a:ext cx="3479800" cy="400050"/>
            </a:xfrm>
            <a:prstGeom prst="roundRect">
              <a:avLst>
                <a:gd name="adj" fmla="val 50000"/>
              </a:avLst>
            </a:prstGeom>
            <a:solidFill>
              <a:srgbClr val="F5A623">
                <a:alpha val="15000"/>
              </a:srgbClr>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800" b="1">
                  <a:solidFill>
                    <a:srgbClr val="F2F5FB"/>
                  </a:solidFill>
                  <a:latin typeface="Segoe UI"/>
                </a:rPr>
                <a:t>tmforum.org/oda/directory</a:t>
              </a:r>
            </a:p>
          </p:txBody>
        </p:sp>
      </p:grpSp>
      <p:sp>
        <p:nvSpPr>
          <p:cNvPr id="30" name="Welcome"/>
          <p:cNvSpPr txBox="1"/>
          <p:nvPr/>
        </p:nvSpPr>
        <p:spPr>
          <a:xfrm>
            <a:off x="762000" y="5905500"/>
            <a:ext cx="7620000" cy="381000"/>
          </a:xfrm>
          <a:prstGeom prst="rect">
            <a:avLst/>
          </a:prstGeom>
          <a:noFill/>
        </p:spPr>
        <p:txBody>
          <a:bodyPr wrap="square" lIns="0" tIns="0" rIns="0" bIns="0" anchor="t">
            <a:spAutoFit/>
          </a:bodyPr>
          <a:lstStyle/>
          <a:p>
            <a:pPr algn="l">
              <a:lnSpc>
                <a:spcPct val="115000"/>
              </a:lnSpc>
            </a:pPr>
            <a:r>
              <a:rPr sz="2000" b="1">
                <a:solidFill>
                  <a:srgbClr val="1FC7A8"/>
                </a:solidFill>
                <a:latin typeface="Segoe UI"/>
              </a:rPr>
              <a:t>Contributions welcome.</a:t>
            </a:r>
          </a:p>
        </p:txBody>
      </p:sp>
    </p:spTree>
  </p:cSld>
  <p:clrMapOvr>
    <a:masterClrMapping/>
  </p:clrMapOvr>
  <mc:AlternateContent xmlns:mc="http://schemas.openxmlformats.org/markup-compatibility/2006">
    <mc:Choice xmlns:p14="http://schemas.microsoft.com/office/powerpoint/2010/main" Requires="p14">
      <p:transition spd="slow" p14:dur="2000" advTm="21900"/>
    </mc:Choice>
    <mc:Fallback>
      <p:transition spd="slow" advTm="21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240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700" fill="hold"/>
                                        <p:tgtEl>
                                          <p:spTgt spid="10"/>
                                        </p:tgtEl>
                                        <p:attrNameLst>
                                          <p:attrName>ppt_x</p:attrName>
                                        </p:attrNameLst>
                                      </p:cBhvr>
                                      <p:tavLst>
                                        <p:tav tm="0">
                                          <p:val>
                                            <p:strVal val="#ppt_x"/>
                                          </p:val>
                                        </p:tav>
                                        <p:tav tm="100000">
                                          <p:val>
                                            <p:strVal val="#ppt_x"/>
                                          </p:val>
                                        </p:tav>
                                      </p:tavLst>
                                    </p:anim>
                                    <p:anim calcmode="lin" valueType="num">
                                      <p:cBhvr additive="base">
                                        <p:cTn id="14" dur="7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400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700" fill="hold"/>
                                        <p:tgtEl>
                                          <p:spTgt spid="15"/>
                                        </p:tgtEl>
                                        <p:attrNameLst>
                                          <p:attrName>ppt_x</p:attrName>
                                        </p:attrNameLst>
                                      </p:cBhvr>
                                      <p:tavLst>
                                        <p:tav tm="0">
                                          <p:val>
                                            <p:strVal val="#ppt_x"/>
                                          </p:val>
                                        </p:tav>
                                        <p:tav tm="100000">
                                          <p:val>
                                            <p:strVal val="#ppt_x"/>
                                          </p:val>
                                        </p:tav>
                                      </p:tavLst>
                                    </p:anim>
                                    <p:anim calcmode="lin" valueType="num">
                                      <p:cBhvr additive="base">
                                        <p:cTn id="18" dur="7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560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700" fill="hold"/>
                                        <p:tgtEl>
                                          <p:spTgt spid="20"/>
                                        </p:tgtEl>
                                        <p:attrNameLst>
                                          <p:attrName>ppt_x</p:attrName>
                                        </p:attrNameLst>
                                      </p:cBhvr>
                                      <p:tavLst>
                                        <p:tav tm="0">
                                          <p:val>
                                            <p:strVal val="#ppt_x"/>
                                          </p:val>
                                        </p:tav>
                                        <p:tav tm="100000">
                                          <p:val>
                                            <p:strVal val="#ppt_x"/>
                                          </p:val>
                                        </p:tav>
                                      </p:tavLst>
                                    </p:anim>
                                    <p:anim calcmode="lin" valueType="num">
                                      <p:cBhvr additive="base">
                                        <p:cTn id="22" dur="700" fill="hold"/>
                                        <p:tgtEl>
                                          <p:spTgt spid="2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720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700" fill="hold"/>
                                        <p:tgtEl>
                                          <p:spTgt spid="25"/>
                                        </p:tgtEl>
                                        <p:attrNameLst>
                                          <p:attrName>ppt_x</p:attrName>
                                        </p:attrNameLst>
                                      </p:cBhvr>
                                      <p:tavLst>
                                        <p:tav tm="0">
                                          <p:val>
                                            <p:strVal val="#ppt_x"/>
                                          </p:val>
                                        </p:tav>
                                        <p:tav tm="100000">
                                          <p:val>
                                            <p:strVal val="#ppt_x"/>
                                          </p:val>
                                        </p:tav>
                                      </p:tavLst>
                                    </p:anim>
                                    <p:anim calcmode="lin" valueType="num">
                                      <p:cBhvr additive="base">
                                        <p:cTn id="26" dur="700" fill="hold"/>
                                        <p:tgtEl>
                                          <p:spTgt spid="25"/>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1050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600" fill="hold"/>
                                        <p:tgtEl>
                                          <p:spTgt spid="29"/>
                                        </p:tgtEl>
                                        <p:attrNameLst>
                                          <p:attrName>ppt_x</p:attrName>
                                        </p:attrNameLst>
                                      </p:cBhvr>
                                      <p:tavLst>
                                        <p:tav tm="0">
                                          <p:val>
                                            <p:strVal val="#ppt_x"/>
                                          </p:val>
                                        </p:tav>
                                        <p:tav tm="100000">
                                          <p:val>
                                            <p:strVal val="#ppt_x"/>
                                          </p:val>
                                        </p:tav>
                                      </p:tavLst>
                                    </p:anim>
                                    <p:anim calcmode="lin" valueType="num">
                                      <p:cBhvr additive="base">
                                        <p:cTn id="30" dur="600" fill="hold"/>
                                        <p:tgtEl>
                                          <p:spTgt spid="29"/>
                                        </p:tgtEl>
                                        <p:attrNameLst>
                                          <p:attrName>ppt_y</p:attrName>
                                        </p:attrNameLst>
                                      </p:cBhvr>
                                      <p:tavLst>
                                        <p:tav tm="0">
                                          <p:val>
                                            <p:strVal val="1+#ppt_h/2"/>
                                          </p:val>
                                        </p:tav>
                                        <p:tav tm="100000">
                                          <p:val>
                                            <p:strVal val="#ppt_y"/>
                                          </p:val>
                                        </p:tav>
                                      </p:tavLst>
                                    </p:anim>
                                  </p:childTnLst>
                                </p:cTn>
                              </p:par>
                              <p:par>
                                <p:cTn id="31" presetID="10" presetClass="entr" presetSubtype="0" fill="hold" grpId="0" nodeType="withEffect">
                                  <p:stCondLst>
                                    <p:cond delay="1500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2509</Words>
  <Application>Microsoft Office PowerPoint</Application>
  <PresentationFormat>Widescreen</PresentationFormat>
  <Paragraphs>179</Paragraphs>
  <Slides>27</Slides>
  <Notes>27</Notes>
  <HiddenSlides>0</HiddenSlides>
  <MMClips>17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Segoe UI</vt:lpstr>
      <vt:lpstr>Office Theme</vt:lpstr>
      <vt:lpstr>Title card</vt:lpstr>
      <vt:lpstr>Who this is for</vt:lpstr>
      <vt:lpstr>Roadmap</vt:lpstr>
      <vt:lpstr>Frameworks and the problem of interpretation</vt:lpstr>
      <vt:lpstr>The Open API programme</vt:lpstr>
      <vt:lpstr>The remaining gap</vt:lpstr>
      <vt:lpstr>What is an ODA Component?</vt:lpstr>
      <vt:lpstr>What is the ODA Canvas?</vt:lpstr>
      <vt:lpstr>Composable IT with ODA</vt:lpstr>
      <vt:lpstr>Composable AI with Agentic ODA</vt:lpstr>
      <vt:lpstr>Example: identity is declared, not implemented</vt:lpstr>
      <vt:lpstr>Example: secrets without bootstrap credentials</vt:lpstr>
      <vt:lpstr>Six benefits</vt:lpstr>
      <vt:lpstr>An order-of-magnitude goal</vt:lpstr>
      <vt:lpstr>The component standard in two layers</vt:lpstr>
      <vt:lpstr>Live demo: the ODA Component Directory</vt:lpstr>
      <vt:lpstr>The component YAML</vt:lpstr>
      <vt:lpstr>The Canvas as a set of operators</vt:lpstr>
      <vt:lpstr>Worked example: API exposure</vt:lpstr>
      <vt:lpstr>Live demo: the component inventory</vt:lpstr>
      <vt:lpstr>Live demo: deploying a component</vt:lpstr>
      <vt:lpstr>Identity configuration</vt:lpstr>
      <vt:lpstr>Observability</vt:lpstr>
      <vt:lpstr>Available today, experimental, planned</vt:lpstr>
      <vt:lpstr>Measuring Canvas adoption</vt:lpstr>
      <vt:lpstr>Built together</vt:lpstr>
      <vt:lpstr>What's 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ODA Canvas</dc:title>
  <dc:subject/>
  <dc:creator/>
  <cp:keywords/>
  <dc:description>generated using python-pptx</dc:description>
  <cp:lastModifiedBy>Lester Thomas</cp:lastModifiedBy>
  <cp:revision>2</cp:revision>
  <dcterms:created xsi:type="dcterms:W3CDTF">2013-01-27T09:14:16Z</dcterms:created>
  <dcterms:modified xsi:type="dcterms:W3CDTF">2026-10-17T13:42:05Z</dcterms:modified>
  <cp:category/>
</cp:coreProperties>
</file>